
<file path=[Content_Types].xml><?xml version="1.0" encoding="utf-8"?>
<Types xmlns="http://schemas.openxmlformats.org/package/2006/content-types">
  <Default Extension="emf" ContentType="image/x-emf"/>
  <Default Extension="jpe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6"/>
  </p:notesMasterIdLst>
  <p:sldIdLst>
    <p:sldId id="511" r:id="rId2"/>
    <p:sldId id="258" r:id="rId3"/>
    <p:sldId id="574" r:id="rId4"/>
    <p:sldId id="578" r:id="rId5"/>
    <p:sldId id="577" r:id="rId6"/>
    <p:sldId id="306" r:id="rId7"/>
    <p:sldId id="579" r:id="rId8"/>
    <p:sldId id="580" r:id="rId9"/>
    <p:sldId id="581" r:id="rId10"/>
    <p:sldId id="567" r:id="rId11"/>
    <p:sldId id="582" r:id="rId12"/>
    <p:sldId id="505" r:id="rId13"/>
    <p:sldId id="281" r:id="rId14"/>
    <p:sldId id="290" r:id="rId15"/>
    <p:sldId id="584" r:id="rId16"/>
    <p:sldId id="585" r:id="rId17"/>
    <p:sldId id="586" r:id="rId18"/>
    <p:sldId id="583" r:id="rId19"/>
    <p:sldId id="587" r:id="rId20"/>
    <p:sldId id="588" r:id="rId21"/>
    <p:sldId id="589" r:id="rId22"/>
    <p:sldId id="590" r:id="rId23"/>
    <p:sldId id="591" r:id="rId24"/>
    <p:sldId id="593" r:id="rId25"/>
    <p:sldId id="592" r:id="rId26"/>
    <p:sldId id="560" r:id="rId27"/>
    <p:sldId id="619" r:id="rId28"/>
    <p:sldId id="596" r:id="rId29"/>
    <p:sldId id="597" r:id="rId30"/>
    <p:sldId id="524" r:id="rId31"/>
    <p:sldId id="623" r:id="rId32"/>
    <p:sldId id="598" r:id="rId33"/>
    <p:sldId id="599" r:id="rId34"/>
    <p:sldId id="483" r:id="rId35"/>
    <p:sldId id="537" r:id="rId36"/>
    <p:sldId id="600" r:id="rId37"/>
    <p:sldId id="601" r:id="rId38"/>
    <p:sldId id="546" r:id="rId39"/>
    <p:sldId id="604" r:id="rId40"/>
    <p:sldId id="539" r:id="rId41"/>
    <p:sldId id="605" r:id="rId42"/>
    <p:sldId id="606" r:id="rId43"/>
    <p:sldId id="607" r:id="rId44"/>
    <p:sldId id="608" r:id="rId45"/>
    <p:sldId id="609" r:id="rId46"/>
    <p:sldId id="622" r:id="rId47"/>
    <p:sldId id="485" r:id="rId48"/>
    <p:sldId id="610" r:id="rId49"/>
    <p:sldId id="550" r:id="rId50"/>
    <p:sldId id="613" r:id="rId51"/>
    <p:sldId id="553" r:id="rId52"/>
    <p:sldId id="263" r:id="rId53"/>
    <p:sldId id="611" r:id="rId54"/>
    <p:sldId id="620" r:id="rId55"/>
    <p:sldId id="624" r:id="rId56"/>
    <p:sldId id="621" r:id="rId57"/>
    <p:sldId id="603" r:id="rId58"/>
    <p:sldId id="614" r:id="rId59"/>
    <p:sldId id="615" r:id="rId60"/>
    <p:sldId id="616" r:id="rId61"/>
    <p:sldId id="257" r:id="rId62"/>
    <p:sldId id="264" r:id="rId63"/>
    <p:sldId id="507" r:id="rId64"/>
    <p:sldId id="508" r:id="rId65"/>
    <p:sldId id="509" r:id="rId66"/>
    <p:sldId id="457" r:id="rId67"/>
    <p:sldId id="512" r:id="rId68"/>
    <p:sldId id="260" r:id="rId69"/>
    <p:sldId id="535" r:id="rId70"/>
    <p:sldId id="536" r:id="rId71"/>
    <p:sldId id="279" r:id="rId72"/>
    <p:sldId id="530" r:id="rId73"/>
    <p:sldId id="455" r:id="rId74"/>
    <p:sldId id="617" r:id="rId75"/>
    <p:sldId id="618" r:id="rId76"/>
    <p:sldId id="526" r:id="rId77"/>
    <p:sldId id="525" r:id="rId78"/>
    <p:sldId id="528" r:id="rId79"/>
    <p:sldId id="527" r:id="rId80"/>
    <p:sldId id="529" r:id="rId81"/>
    <p:sldId id="489" r:id="rId82"/>
    <p:sldId id="544" r:id="rId83"/>
    <p:sldId id="540" r:id="rId84"/>
    <p:sldId id="541" r:id="rId85"/>
    <p:sldId id="545" r:id="rId86"/>
    <p:sldId id="542" r:id="rId87"/>
    <p:sldId id="543" r:id="rId88"/>
    <p:sldId id="491" r:id="rId89"/>
    <p:sldId id="551" r:id="rId90"/>
    <p:sldId id="547" r:id="rId91"/>
    <p:sldId id="549" r:id="rId92"/>
    <p:sldId id="555" r:id="rId93"/>
    <p:sldId id="552" r:id="rId94"/>
    <p:sldId id="521"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3377"/>
    <a:srgbClr val="332288"/>
    <a:srgbClr val="CC6677"/>
    <a:srgbClr val="66CCEE"/>
    <a:srgbClr val="AA4499"/>
    <a:srgbClr val="4477AA"/>
    <a:srgbClr val="9B9CA1"/>
    <a:srgbClr val="BBBBBB"/>
    <a:srgbClr val="228833"/>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779"/>
    <p:restoredTop sz="74468"/>
  </p:normalViewPr>
  <p:slideViewPr>
    <p:cSldViewPr snapToGrid="0">
      <p:cViewPr varScale="1">
        <p:scale>
          <a:sx n="44" d="100"/>
          <a:sy n="44" d="100"/>
        </p:scale>
        <p:origin x="216" y="792"/>
      </p:cViewPr>
      <p:guideLst/>
    </p:cSldViewPr>
  </p:slideViewPr>
  <p:notesTextViewPr>
    <p:cViewPr>
      <p:scale>
        <a:sx n="110" d="100"/>
        <a:sy n="11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BDF60-914F-D44D-BEBD-97931F5E0C2E}" type="datetimeFigureOut">
              <a:rPr lang="en-US" smtClean="0"/>
              <a:t>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DC69EC-9432-3442-A0D7-F47D1FE63727}" type="slidenum">
              <a:rPr lang="en-US" smtClean="0"/>
              <a:t>‹#›</a:t>
            </a:fld>
            <a:endParaRPr lang="en-US"/>
          </a:p>
        </p:txBody>
      </p:sp>
    </p:spTree>
    <p:extLst>
      <p:ext uri="{BB962C8B-B14F-4D97-AF65-F5344CB8AC3E}">
        <p14:creationId xmlns:p14="http://schemas.microsoft.com/office/powerpoint/2010/main" val="3803716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BBA99-2FF8-5104-C59B-D5BDAC26F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BC657-1C50-4417-A739-C7E27942F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9E6E01-16CD-4109-4299-587CF2D9BF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you for coming to the defense of my dissertation, titled: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[slow down when reading the title]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dissertation deals with these three main theoretical frameworks, which I’ve color coded through the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also want to note that, if any relevant parties have any interest, all of my research instruments, data, and analysis materials are on this open science framework page</a:t>
            </a:r>
          </a:p>
          <a:p>
            <a:endParaRPr lang="en-US" dirty="0"/>
          </a:p>
          <a:p>
            <a:r>
              <a:rPr lang="en-US" dirty="0"/>
              <a:t> </a:t>
            </a:r>
          </a:p>
        </p:txBody>
      </p:sp>
      <p:sp>
        <p:nvSpPr>
          <p:cNvPr id="4" name="Slide Number Placeholder 3">
            <a:extLst>
              <a:ext uri="{FF2B5EF4-FFF2-40B4-BE49-F238E27FC236}">
                <a16:creationId xmlns:a16="http://schemas.microsoft.com/office/drawing/2014/main" id="{45F9D4F1-9AEF-EDA3-7B68-D845A60983B2}"/>
              </a:ext>
            </a:extLst>
          </p:cNvPr>
          <p:cNvSpPr>
            <a:spLocks noGrp="1"/>
          </p:cNvSpPr>
          <p:nvPr>
            <p:ph type="sldNum" sz="quarter" idx="5"/>
          </p:nvPr>
        </p:nvSpPr>
        <p:spPr/>
        <p:txBody>
          <a:bodyPr/>
          <a:lstStyle/>
          <a:p>
            <a:fld id="{A5DC69EC-9432-3442-A0D7-F47D1FE63727}" type="slidenum">
              <a:rPr lang="en-US" smtClean="0"/>
              <a:t>1</a:t>
            </a:fld>
            <a:endParaRPr lang="en-US"/>
          </a:p>
        </p:txBody>
      </p:sp>
    </p:spTree>
    <p:extLst>
      <p:ext uri="{BB962C8B-B14F-4D97-AF65-F5344CB8AC3E}">
        <p14:creationId xmlns:p14="http://schemas.microsoft.com/office/powerpoint/2010/main" val="3130067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will briefly explain the background literature for these three topics that lead to my research questions</a:t>
            </a:r>
          </a:p>
        </p:txBody>
      </p:sp>
      <p:sp>
        <p:nvSpPr>
          <p:cNvPr id="4" name="Slide Number Placeholder 3"/>
          <p:cNvSpPr>
            <a:spLocks noGrp="1"/>
          </p:cNvSpPr>
          <p:nvPr>
            <p:ph type="sldNum" sz="quarter" idx="5"/>
          </p:nvPr>
        </p:nvSpPr>
        <p:spPr/>
        <p:txBody>
          <a:bodyPr/>
          <a:lstStyle/>
          <a:p>
            <a:fld id="{A5DC69EC-9432-3442-A0D7-F47D1FE63727}" type="slidenum">
              <a:rPr lang="en-US" smtClean="0"/>
              <a:t>2</a:t>
            </a:fld>
            <a:endParaRPr lang="en-US"/>
          </a:p>
        </p:txBody>
      </p:sp>
    </p:spTree>
    <p:extLst>
      <p:ext uri="{BB962C8B-B14F-4D97-AF65-F5344CB8AC3E}">
        <p14:creationId xmlns:p14="http://schemas.microsoft.com/office/powerpoint/2010/main" val="1919417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problem I aimed to solve with my dissertation project is the fact that learning L2 phonemic contrasts is difficult for adults. when I say phonemic contrast, I am referring to a pair of speech sounds that change the meaning of the word when one is replaced by the other.</a:t>
            </a:r>
          </a:p>
        </p:txBody>
      </p:sp>
      <p:sp>
        <p:nvSpPr>
          <p:cNvPr id="4" name="Slide Number Placeholder 3"/>
          <p:cNvSpPr>
            <a:spLocks noGrp="1"/>
          </p:cNvSpPr>
          <p:nvPr>
            <p:ph type="sldNum" sz="quarter" idx="5"/>
          </p:nvPr>
        </p:nvSpPr>
        <p:spPr/>
        <p:txBody>
          <a:bodyPr/>
          <a:lstStyle/>
          <a:p>
            <a:fld id="{A5DC69EC-9432-3442-A0D7-F47D1FE63727}" type="slidenum">
              <a:rPr lang="en-US" smtClean="0"/>
              <a:t>3</a:t>
            </a:fld>
            <a:endParaRPr lang="en-US"/>
          </a:p>
        </p:txBody>
      </p:sp>
    </p:spTree>
    <p:extLst>
      <p:ext uri="{BB962C8B-B14F-4D97-AF65-F5344CB8AC3E}">
        <p14:creationId xmlns:p14="http://schemas.microsoft.com/office/powerpoint/2010/main" val="1073845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E3313-3D3A-736C-8CAE-F113BF11D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B3C11-E77A-CC30-AB14-A6AE73C2B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7F458-20C1-71BA-B9BA-41E7796669A3}"/>
              </a:ext>
            </a:extLst>
          </p:cNvPr>
          <p:cNvSpPr>
            <a:spLocks noGrp="1"/>
          </p:cNvSpPr>
          <p:nvPr>
            <p:ph type="body" idx="1"/>
          </p:nvPr>
        </p:nvSpPr>
        <p:spPr/>
        <p:txBody>
          <a:bodyPr/>
          <a:lstStyle/>
          <a:p>
            <a:r>
              <a:rPr lang="en-US" dirty="0"/>
              <a:t>for example, in </a:t>
            </a:r>
            <a:r>
              <a:rPr lang="en-US" dirty="0" err="1"/>
              <a:t>english</a:t>
            </a:r>
            <a:r>
              <a:rPr lang="en-US" dirty="0"/>
              <a:t>, the speech sounds “a” and “aa” are acoustically different in duration, but if you take a word with one sound, </a:t>
            </a:r>
          </a:p>
          <a:p>
            <a:endParaRPr lang="en-US" dirty="0"/>
          </a:p>
          <a:p>
            <a:r>
              <a:rPr lang="en-US" dirty="0"/>
              <a:t>say “call”, as in the phrase “don’t call him” and replace it with the other sound, </a:t>
            </a:r>
          </a:p>
          <a:p>
            <a:endParaRPr lang="en-US" dirty="0"/>
          </a:p>
          <a:p>
            <a:r>
              <a:rPr lang="en-US" dirty="0"/>
              <a:t>say “</a:t>
            </a:r>
            <a:r>
              <a:rPr lang="en-US" dirty="0" err="1"/>
              <a:t>caall</a:t>
            </a:r>
            <a:r>
              <a:rPr lang="en-US" dirty="0"/>
              <a:t>”, as in the phrase “don’t </a:t>
            </a:r>
            <a:r>
              <a:rPr lang="en-US" dirty="0" err="1"/>
              <a:t>caall</a:t>
            </a:r>
            <a:r>
              <a:rPr lang="en-US" dirty="0"/>
              <a:t> him” </a:t>
            </a:r>
          </a:p>
          <a:p>
            <a:endParaRPr lang="en-US" dirty="0"/>
          </a:p>
          <a:p>
            <a:r>
              <a:rPr lang="en-US" dirty="0"/>
              <a:t>these are understood to carry the same meaning, with one just more emphasized than the other</a:t>
            </a:r>
          </a:p>
          <a:p>
            <a:endParaRPr lang="en-US" dirty="0"/>
          </a:p>
          <a:p>
            <a:r>
              <a:rPr lang="en-US" dirty="0"/>
              <a:t>that is because these two sounds that vary in duration are mapped to the same phoneme in English – this is the process of speech categorization</a:t>
            </a:r>
          </a:p>
        </p:txBody>
      </p:sp>
      <p:sp>
        <p:nvSpPr>
          <p:cNvPr id="4" name="Slide Number Placeholder 3">
            <a:extLst>
              <a:ext uri="{FF2B5EF4-FFF2-40B4-BE49-F238E27FC236}">
                <a16:creationId xmlns:a16="http://schemas.microsoft.com/office/drawing/2014/main" id="{32FF9CB2-1658-6BAE-00D8-438DE63C7F79}"/>
              </a:ext>
            </a:extLst>
          </p:cNvPr>
          <p:cNvSpPr>
            <a:spLocks noGrp="1"/>
          </p:cNvSpPr>
          <p:nvPr>
            <p:ph type="sldNum" sz="quarter" idx="5"/>
          </p:nvPr>
        </p:nvSpPr>
        <p:spPr/>
        <p:txBody>
          <a:bodyPr/>
          <a:lstStyle/>
          <a:p>
            <a:fld id="{A5DC69EC-9432-3442-A0D7-F47D1FE63727}" type="slidenum">
              <a:rPr lang="en-US" smtClean="0"/>
              <a:t>4</a:t>
            </a:fld>
            <a:endParaRPr lang="en-US"/>
          </a:p>
        </p:txBody>
      </p:sp>
    </p:spTree>
    <p:extLst>
      <p:ext uri="{BB962C8B-B14F-4D97-AF65-F5344CB8AC3E}">
        <p14:creationId xmlns:p14="http://schemas.microsoft.com/office/powerpoint/2010/main" val="2723648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A1532-1127-0B7A-664F-30DE03213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B50B7-F031-AFCB-3D65-E600D2805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A1A5A-ADB0-A0B3-5FAC-E2CEE974B2DA}"/>
              </a:ext>
            </a:extLst>
          </p:cNvPr>
          <p:cNvSpPr>
            <a:spLocks noGrp="1"/>
          </p:cNvSpPr>
          <p:nvPr>
            <p:ph type="body" idx="1"/>
          </p:nvPr>
        </p:nvSpPr>
        <p:spPr/>
        <p:txBody>
          <a:bodyPr/>
          <a:lstStyle/>
          <a:p>
            <a:r>
              <a:rPr lang="en-US" dirty="0"/>
              <a:t>however, in Japanese, if you take those same two sounds, “a” and “aa”, as in </a:t>
            </a:r>
          </a:p>
          <a:p>
            <a:endParaRPr lang="en-US" dirty="0"/>
          </a:p>
          <a:p>
            <a:r>
              <a:rPr lang="en-US" dirty="0"/>
              <a:t>“obasan” and </a:t>
            </a:r>
          </a:p>
          <a:p>
            <a:endParaRPr lang="en-US" dirty="0"/>
          </a:p>
          <a:p>
            <a:r>
              <a:rPr lang="en-US" dirty="0"/>
              <a:t>“</a:t>
            </a:r>
            <a:r>
              <a:rPr lang="en-US" dirty="0" err="1"/>
              <a:t>obaasan</a:t>
            </a:r>
            <a:r>
              <a:rPr lang="en-US" dirty="0"/>
              <a:t>” this change in sound *does* lead to a change in the meaning of the word. that is to say, the two sounds form a *phonemic contrast* because changing the phoneme changes the meaning of the word. for a language like Japanese, it is very important to be able to perceive and produce these sounds distinctively, otherwise you risk offending </a:t>
            </a:r>
          </a:p>
          <a:p>
            <a:endParaRPr lang="en-US" dirty="0"/>
          </a:p>
          <a:p>
            <a:r>
              <a:rPr lang="en-US" dirty="0"/>
              <a:t>a middle-aged woman by calling her </a:t>
            </a:r>
          </a:p>
          <a:p>
            <a:endParaRPr lang="en-US" dirty="0"/>
          </a:p>
          <a:p>
            <a:r>
              <a:rPr lang="en-US" dirty="0"/>
              <a:t>a grandma. this is because these two sounds that vary in duration </a:t>
            </a:r>
          </a:p>
          <a:p>
            <a:endParaRPr lang="en-US" dirty="0"/>
          </a:p>
          <a:p>
            <a:r>
              <a:rPr lang="en-US" dirty="0"/>
              <a:t>are mapped to different speech categories in Japanese. for L2 learners whose native language does not differentiate vowels by duration, such as English, learning the vowel length phonemic contrast can be a struggle because it involves using a familiar acoustic cue, here duration, in an unfamiliar way – and this process faces interference due to the existing L1 categories</a:t>
            </a:r>
          </a:p>
        </p:txBody>
      </p:sp>
      <p:sp>
        <p:nvSpPr>
          <p:cNvPr id="4" name="Slide Number Placeholder 3">
            <a:extLst>
              <a:ext uri="{FF2B5EF4-FFF2-40B4-BE49-F238E27FC236}">
                <a16:creationId xmlns:a16="http://schemas.microsoft.com/office/drawing/2014/main" id="{D3F652FF-38D7-4127-90F0-3F1C77B9673B}"/>
              </a:ext>
            </a:extLst>
          </p:cNvPr>
          <p:cNvSpPr>
            <a:spLocks noGrp="1"/>
          </p:cNvSpPr>
          <p:nvPr>
            <p:ph type="sldNum" sz="quarter" idx="5"/>
          </p:nvPr>
        </p:nvSpPr>
        <p:spPr/>
        <p:txBody>
          <a:bodyPr/>
          <a:lstStyle/>
          <a:p>
            <a:fld id="{C765626C-32D2-BC48-9B00-73D03834D9C2}" type="slidenum">
              <a:rPr lang="en-US" smtClean="0"/>
              <a:t>5</a:t>
            </a:fld>
            <a:endParaRPr lang="en-US"/>
          </a:p>
        </p:txBody>
      </p:sp>
    </p:spTree>
    <p:extLst>
      <p:ext uri="{BB962C8B-B14F-4D97-AF65-F5344CB8AC3E}">
        <p14:creationId xmlns:p14="http://schemas.microsoft.com/office/powerpoint/2010/main" val="8481709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(slow down - ) so what can we do to make learning these speech contrasts easier for L2 learners?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solution I explored in my dissertation research was multilingualism.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specifically, I explored how linguistic diversity plays a role in L2 speech learning. this hypothesis came from several pieces of evidence in the literature that found that multilingualism – either speaking multiple languages or being exposed to/engaging in multiple languages, may make processing unfamiliar non-native sounds easier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A5D6B064-0EEE-374E-BF10-D19F80FA8825}" type="slidenum">
              <a:rPr lang="en-US" smtClean="0"/>
              <a:t>6</a:t>
            </a:fld>
            <a:endParaRPr lang="en-US"/>
          </a:p>
        </p:txBody>
      </p:sp>
    </p:spTree>
    <p:extLst>
      <p:ext uri="{BB962C8B-B14F-4D97-AF65-F5344CB8AC3E}">
        <p14:creationId xmlns:p14="http://schemas.microsoft.com/office/powerpoint/2010/main" val="2098191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notable that this evidence was not limited multilinguals speakers. it was found that monolingual speakers in more linguistically diverse geographical areas showed higher neural sensitivity when learning novel L2 words, compared to monolinguals in a less linguistically diverse geographical area</a:t>
            </a:r>
          </a:p>
        </p:txBody>
      </p:sp>
      <p:sp>
        <p:nvSpPr>
          <p:cNvPr id="4" name="Slide Number Placeholder 3"/>
          <p:cNvSpPr>
            <a:spLocks noGrp="1"/>
          </p:cNvSpPr>
          <p:nvPr>
            <p:ph type="sldNum" sz="quarter" idx="5"/>
          </p:nvPr>
        </p:nvSpPr>
        <p:spPr/>
        <p:txBody>
          <a:bodyPr/>
          <a:lstStyle/>
          <a:p>
            <a:fld id="{A5DC69EC-9432-3442-A0D7-F47D1FE63727}" type="slidenum">
              <a:rPr lang="en-US" smtClean="0"/>
              <a:t>7</a:t>
            </a:fld>
            <a:endParaRPr lang="en-US"/>
          </a:p>
        </p:txBody>
      </p:sp>
    </p:spTree>
    <p:extLst>
      <p:ext uri="{BB962C8B-B14F-4D97-AF65-F5344CB8AC3E}">
        <p14:creationId xmlns:p14="http://schemas.microsoft.com/office/powerpoint/2010/main" val="1745080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A6CAC-D12D-74BA-443E-87623598B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22359-BBEA-797B-778F-3C9CC18E4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72BF66-6004-411A-ABF7-43FD4508B6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similarly, there is evidence that among multilinguals, there is a perceptual advantage with having specific language knowledge with languages that share a similar phonemic contrast or primary acoustic cue as the target language.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seems to be the case that there is not just a broad, generalized multilingual advantage, On the left, multilinguals with knowledge of a language that distinguishes between aspirated and </a:t>
            </a:r>
            <a:r>
              <a:rPr lang="en-US" dirty="0" err="1"/>
              <a:t>nonaspirated</a:t>
            </a:r>
            <a:r>
              <a:rPr lang="en-US" dirty="0"/>
              <a:t> consonants did better in discriminating between Korean aspirated and non-aspirated contrast, and these were all listeners equally unfamiliar with Korean. On the right was with regards to perception of Japanese pitch accent, those with knowledge of Mandarin, which has a lexical contrast that primarily uses fundamental frequency like pitch accent did, did better than those without knowledge of Mandarin, and the advantage was additive such that those knowledge of Japanese and Mandarin outperformed monolingual Japanese or Mandarin speakers.]</a:t>
            </a:r>
          </a:p>
        </p:txBody>
      </p:sp>
      <p:sp>
        <p:nvSpPr>
          <p:cNvPr id="4" name="Slide Number Placeholder 3">
            <a:extLst>
              <a:ext uri="{FF2B5EF4-FFF2-40B4-BE49-F238E27FC236}">
                <a16:creationId xmlns:a16="http://schemas.microsoft.com/office/drawing/2014/main" id="{32FB31F9-1668-2FFD-5C06-0F403C0EC1B4}"/>
              </a:ext>
            </a:extLst>
          </p:cNvPr>
          <p:cNvSpPr>
            <a:spLocks noGrp="1"/>
          </p:cNvSpPr>
          <p:nvPr>
            <p:ph type="sldNum" sz="quarter" idx="5"/>
          </p:nvPr>
        </p:nvSpPr>
        <p:spPr/>
        <p:txBody>
          <a:bodyPr/>
          <a:lstStyle/>
          <a:p>
            <a:fld id="{A5DC69EC-9432-3442-A0D7-F47D1FE63727}" type="slidenum">
              <a:rPr lang="en-US" smtClean="0"/>
              <a:t>8</a:t>
            </a:fld>
            <a:endParaRPr lang="en-US"/>
          </a:p>
        </p:txBody>
      </p:sp>
    </p:spTree>
    <p:extLst>
      <p:ext uri="{BB962C8B-B14F-4D97-AF65-F5344CB8AC3E}">
        <p14:creationId xmlns:p14="http://schemas.microsoft.com/office/powerpoint/2010/main" val="1293222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7CA03-3425-3ED6-0EE7-C14013F0E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BBCBD-3735-2397-A816-B00003469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A3195-11BB-5F27-7353-D1E7616665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I have a background in cognitive psychology, I was interested in investigating not only the association between linguistic diversity and L2 speech learning, but the perceptual mechanism that may be behind this potential association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I had reason to believe that gradient categorization was link</a:t>
            </a:r>
          </a:p>
        </p:txBody>
      </p:sp>
      <p:sp>
        <p:nvSpPr>
          <p:cNvPr id="4" name="Slide Number Placeholder 3">
            <a:extLst>
              <a:ext uri="{FF2B5EF4-FFF2-40B4-BE49-F238E27FC236}">
                <a16:creationId xmlns:a16="http://schemas.microsoft.com/office/drawing/2014/main" id="{631FAD86-C026-07D4-749A-02A80BF83C6D}"/>
              </a:ext>
            </a:extLst>
          </p:cNvPr>
          <p:cNvSpPr>
            <a:spLocks noGrp="1"/>
          </p:cNvSpPr>
          <p:nvPr>
            <p:ph type="sldNum" sz="quarter" idx="5"/>
          </p:nvPr>
        </p:nvSpPr>
        <p:spPr/>
        <p:txBody>
          <a:bodyPr/>
          <a:lstStyle/>
          <a:p>
            <a:fld id="{A5D6B064-0EEE-374E-BF10-D19F80FA8825}" type="slidenum">
              <a:rPr lang="en-US" smtClean="0"/>
              <a:t>9</a:t>
            </a:fld>
            <a:endParaRPr lang="en-US"/>
          </a:p>
        </p:txBody>
      </p:sp>
    </p:spTree>
    <p:extLst>
      <p:ext uri="{BB962C8B-B14F-4D97-AF65-F5344CB8AC3E}">
        <p14:creationId xmlns:p14="http://schemas.microsoft.com/office/powerpoint/2010/main" val="1126076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3E183-6654-30ED-43CA-8598A3776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DD507-6757-7BE8-2DDE-1FAE6EF37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9E8C4-8F57-1B4A-5B4F-FFDC7F8842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I want to briefly explain what I mean by gradient categorization. Gradient categorization describes categorization that retains the continuous features of the acoustic input of speech after mapping the input to speech categories. The ideas is that gradient perception allows you not only to track the minute differences in the acoustic signal, but to store those differences when encoding from acoustic signal to linguistic representation.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[audio: Thus, we can predict that by being familiar with different languages that have different perceptual boundaries, that enables a person to move around their own perceptual boundary as necessary depending on their language demands. This is called perceptual flexibility]</a:t>
            </a:r>
          </a:p>
          <a:p>
            <a:endParaRPr lang="en-US" dirty="0"/>
          </a:p>
        </p:txBody>
      </p:sp>
      <p:sp>
        <p:nvSpPr>
          <p:cNvPr id="4" name="Slide Number Placeholder 3">
            <a:extLst>
              <a:ext uri="{FF2B5EF4-FFF2-40B4-BE49-F238E27FC236}">
                <a16:creationId xmlns:a16="http://schemas.microsoft.com/office/drawing/2014/main" id="{67A907D6-EE1C-45B3-2DC0-8029BF51189A}"/>
              </a:ext>
            </a:extLst>
          </p:cNvPr>
          <p:cNvSpPr>
            <a:spLocks noGrp="1"/>
          </p:cNvSpPr>
          <p:nvPr>
            <p:ph type="sldNum" sz="quarter" idx="5"/>
          </p:nvPr>
        </p:nvSpPr>
        <p:spPr/>
        <p:txBody>
          <a:bodyPr/>
          <a:lstStyle/>
          <a:p>
            <a:fld id="{C765626C-32D2-BC48-9B00-73D03834D9C2}" type="slidenum">
              <a:rPr lang="en-US" smtClean="0"/>
              <a:t>10</a:t>
            </a:fld>
            <a:endParaRPr lang="en-US"/>
          </a:p>
        </p:txBody>
      </p:sp>
    </p:spTree>
    <p:extLst>
      <p:ext uri="{BB962C8B-B14F-4D97-AF65-F5344CB8AC3E}">
        <p14:creationId xmlns:p14="http://schemas.microsoft.com/office/powerpoint/2010/main" val="1563855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0F94-154E-0F0E-0835-A69B6011F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B6E59-0497-0AA6-1A42-AAA0059BE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5E413C-8D94-2A6E-AD53-13A968E83C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were to plot a listener’s responses to speech that varied along the acoustic dimension in equal steps,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categorical responder’s response curve would be steeper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while a gradient responder’s response curve would be more shallow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[audio: Thus, we can predict that by being familiar with different languages that have different perceptual boundaries, that enables a person to move around their own perceptual boundary as necessary depending on their language demands. This is called perceptual flexibility]</a:t>
            </a:r>
          </a:p>
          <a:p>
            <a:endParaRPr lang="en-US" dirty="0"/>
          </a:p>
        </p:txBody>
      </p:sp>
      <p:sp>
        <p:nvSpPr>
          <p:cNvPr id="4" name="Slide Number Placeholder 3">
            <a:extLst>
              <a:ext uri="{FF2B5EF4-FFF2-40B4-BE49-F238E27FC236}">
                <a16:creationId xmlns:a16="http://schemas.microsoft.com/office/drawing/2014/main" id="{E5D87EA6-8A2B-1790-4731-50B156DD480F}"/>
              </a:ext>
            </a:extLst>
          </p:cNvPr>
          <p:cNvSpPr>
            <a:spLocks noGrp="1"/>
          </p:cNvSpPr>
          <p:nvPr>
            <p:ph type="sldNum" sz="quarter" idx="5"/>
          </p:nvPr>
        </p:nvSpPr>
        <p:spPr/>
        <p:txBody>
          <a:bodyPr/>
          <a:lstStyle/>
          <a:p>
            <a:fld id="{C765626C-32D2-BC48-9B00-73D03834D9C2}" type="slidenum">
              <a:rPr lang="en-US" smtClean="0"/>
              <a:t>11</a:t>
            </a:fld>
            <a:endParaRPr lang="en-US"/>
          </a:p>
        </p:txBody>
      </p:sp>
    </p:spTree>
    <p:extLst>
      <p:ext uri="{BB962C8B-B14F-4D97-AF65-F5344CB8AC3E}">
        <p14:creationId xmlns:p14="http://schemas.microsoft.com/office/powerpoint/2010/main" val="514735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phrase slowly) It is relevant to point out that individuals vary in their degree of categorization gradiency, which itself is on a continuous spectrum, as some people fall in between strictly categorical and strictly gradient. So what might lead to individuals having different perceptual strategies? One possibility could be the individuals linguistic environment</a:t>
            </a:r>
          </a:p>
        </p:txBody>
      </p:sp>
      <p:sp>
        <p:nvSpPr>
          <p:cNvPr id="4" name="Slide Number Placeholder 3"/>
          <p:cNvSpPr>
            <a:spLocks noGrp="1"/>
          </p:cNvSpPr>
          <p:nvPr>
            <p:ph type="sldNum" sz="quarter" idx="5"/>
          </p:nvPr>
        </p:nvSpPr>
        <p:spPr/>
        <p:txBody>
          <a:bodyPr/>
          <a:lstStyle/>
          <a:p>
            <a:fld id="{477E7BED-2DE9-8945-A544-0A6176E9AC37}" type="slidenum">
              <a:rPr lang="en-US" smtClean="0"/>
              <a:t>12</a:t>
            </a:fld>
            <a:endParaRPr lang="en-US"/>
          </a:p>
        </p:txBody>
      </p:sp>
    </p:spTree>
    <p:extLst>
      <p:ext uri="{BB962C8B-B14F-4D97-AF65-F5344CB8AC3E}">
        <p14:creationId xmlns:p14="http://schemas.microsoft.com/office/powerpoint/2010/main" val="802800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hypothesis comes from the empirical evidence that that children with more linguistically diverse social networks are more likely to respond gradiently, rather than categorically, or noisily. this suggests that there might an effect on the perceptual system of those with linguistically diverse networks. so, what is the connection with L2 learning?</a:t>
            </a:r>
          </a:p>
        </p:txBody>
      </p:sp>
      <p:sp>
        <p:nvSpPr>
          <p:cNvPr id="4" name="Slide Number Placeholder 3"/>
          <p:cNvSpPr>
            <a:spLocks noGrp="1"/>
          </p:cNvSpPr>
          <p:nvPr>
            <p:ph type="sldNum" sz="quarter" idx="5"/>
          </p:nvPr>
        </p:nvSpPr>
        <p:spPr/>
        <p:txBody>
          <a:bodyPr/>
          <a:lstStyle/>
          <a:p>
            <a:fld id="{477E7BED-2DE9-8945-A544-0A6176E9AC37}" type="slidenum">
              <a:rPr lang="en-US" smtClean="0"/>
              <a:t>13</a:t>
            </a:fld>
            <a:endParaRPr lang="en-US"/>
          </a:p>
        </p:txBody>
      </p:sp>
    </p:spTree>
    <p:extLst>
      <p:ext uri="{BB962C8B-B14F-4D97-AF65-F5344CB8AC3E}">
        <p14:creationId xmlns:p14="http://schemas.microsoft.com/office/powerpoint/2010/main" val="4161025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ability to gradiently track acoustics of speech input is relevant for second language acquisition, because</a:t>
            </a:r>
          </a:p>
          <a:p>
            <a:endParaRPr lang="en-US" dirty="0"/>
          </a:p>
          <a:p>
            <a:r>
              <a:rPr lang="en-US" dirty="0"/>
              <a:t>languages can use the same acoustic cues for the same phonemes,</a:t>
            </a:r>
          </a:p>
          <a:p>
            <a:endParaRPr lang="en-US" dirty="0"/>
          </a:p>
          <a:p>
            <a:r>
              <a:rPr lang="en-US" dirty="0"/>
              <a:t>but have different perceptual boundaries. Those that have experience with different languages have to recognize different category boundaries depending on the linguistic context. Thus, I predicted that experience with or exposure to different languages that have different perceptual boundaries </a:t>
            </a:r>
          </a:p>
          <a:p>
            <a:endParaRPr lang="en-US" dirty="0"/>
          </a:p>
          <a:p>
            <a:r>
              <a:rPr lang="en-US" dirty="0"/>
              <a:t>enables a person to move around their own perceptual boundary as necessary depending on their language demands</a:t>
            </a:r>
          </a:p>
        </p:txBody>
      </p:sp>
      <p:sp>
        <p:nvSpPr>
          <p:cNvPr id="4" name="Slide Number Placeholder 3"/>
          <p:cNvSpPr>
            <a:spLocks noGrp="1"/>
          </p:cNvSpPr>
          <p:nvPr>
            <p:ph type="sldNum" sz="quarter" idx="5"/>
          </p:nvPr>
        </p:nvSpPr>
        <p:spPr/>
        <p:txBody>
          <a:bodyPr/>
          <a:lstStyle/>
          <a:p>
            <a:fld id="{A5D6B064-0EEE-374E-BF10-D19F80FA8825}" type="slidenum">
              <a:rPr lang="en-US" smtClean="0"/>
              <a:t>14</a:t>
            </a:fld>
            <a:endParaRPr lang="en-US"/>
          </a:p>
        </p:txBody>
      </p:sp>
    </p:spTree>
    <p:extLst>
      <p:ext uri="{BB962C8B-B14F-4D97-AF65-F5344CB8AC3E}">
        <p14:creationId xmlns:p14="http://schemas.microsoft.com/office/powerpoint/2010/main" val="3052905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191C-FF88-822D-376A-039FE1537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11E82-5AC7-8F87-35B8-A4BD505D85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34C870-A9C7-235E-BB68-47C4DFCAAEFC}"/>
              </a:ext>
            </a:extLst>
          </p:cNvPr>
          <p:cNvSpPr>
            <a:spLocks noGrp="1"/>
          </p:cNvSpPr>
          <p:nvPr>
            <p:ph type="body" idx="1"/>
          </p:nvPr>
        </p:nvSpPr>
        <p:spPr/>
        <p:txBody>
          <a:bodyPr/>
          <a:lstStyle/>
          <a:p>
            <a:r>
              <a:rPr lang="en-US" dirty="0"/>
              <a:t>to summarize the main pieces of evidence motivating this work,</a:t>
            </a:r>
          </a:p>
          <a:p>
            <a:endParaRPr lang="en-US" dirty="0"/>
          </a:p>
          <a:p>
            <a:r>
              <a:rPr lang="en-US" dirty="0"/>
              <a:t>linguistic diversity and language experience have been found to be perceptually advantageous for learning novel phonemic contrasts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AA3377"/>
                </a:solidFill>
              </a:rPr>
              <a:t>Gradient perception has been found to be c</a:t>
            </a:r>
            <a:r>
              <a:rPr lang="en-US" dirty="0"/>
              <a:t>orrelated with having a </a:t>
            </a:r>
            <a:r>
              <a:rPr lang="en-US" dirty="0">
                <a:solidFill>
                  <a:srgbClr val="4477AA"/>
                </a:solidFill>
              </a:rPr>
              <a:t>linguistically diverse social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4477AA"/>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4477AA"/>
                </a:solidFill>
              </a:rPr>
              <a:t>and g</a:t>
            </a:r>
            <a:r>
              <a:rPr lang="en-US" dirty="0">
                <a:solidFill>
                  <a:srgbClr val="AA3377"/>
                </a:solidFill>
              </a:rPr>
              <a:t>radient perception </a:t>
            </a:r>
            <a:r>
              <a:rPr lang="en-US" dirty="0"/>
              <a:t>is associated with perceptual flexibility, which is theoretically advantageous for </a:t>
            </a:r>
            <a:r>
              <a:rPr lang="en-US" dirty="0">
                <a:solidFill>
                  <a:srgbClr val="228833"/>
                </a:solidFill>
              </a:rPr>
              <a:t>L2 speech category learning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4477AA"/>
              </a:solidFill>
            </a:endParaRPr>
          </a:p>
        </p:txBody>
      </p:sp>
      <p:sp>
        <p:nvSpPr>
          <p:cNvPr id="4" name="Slide Number Placeholder 3">
            <a:extLst>
              <a:ext uri="{FF2B5EF4-FFF2-40B4-BE49-F238E27FC236}">
                <a16:creationId xmlns:a16="http://schemas.microsoft.com/office/drawing/2014/main" id="{674ECC71-1477-7ECF-C158-A5A61F549D7F}"/>
              </a:ext>
            </a:extLst>
          </p:cNvPr>
          <p:cNvSpPr>
            <a:spLocks noGrp="1"/>
          </p:cNvSpPr>
          <p:nvPr>
            <p:ph type="sldNum" sz="quarter" idx="5"/>
          </p:nvPr>
        </p:nvSpPr>
        <p:spPr/>
        <p:txBody>
          <a:bodyPr/>
          <a:lstStyle/>
          <a:p>
            <a:fld id="{A5D6B064-0EEE-374E-BF10-D19F80FA8825}" type="slidenum">
              <a:rPr lang="en-US" smtClean="0"/>
              <a:t>15</a:t>
            </a:fld>
            <a:endParaRPr lang="en-US"/>
          </a:p>
        </p:txBody>
      </p:sp>
    </p:spTree>
    <p:extLst>
      <p:ext uri="{BB962C8B-B14F-4D97-AF65-F5344CB8AC3E}">
        <p14:creationId xmlns:p14="http://schemas.microsoft.com/office/powerpoint/2010/main" val="1759668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0EE25-DBAD-598E-99B0-F29353E2B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B5DD7-B46F-A54D-47DA-263A06E09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E772E-4A82-09E2-7B2A-F04F8FD5EB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remains unclear from the literature is that linguistic diversity has not connected directly with novel speech learning within active L2 learners,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4477AA"/>
              </a:solidFill>
            </a:endParaRPr>
          </a:p>
        </p:txBody>
      </p:sp>
      <p:sp>
        <p:nvSpPr>
          <p:cNvPr id="4" name="Slide Number Placeholder 3">
            <a:extLst>
              <a:ext uri="{FF2B5EF4-FFF2-40B4-BE49-F238E27FC236}">
                <a16:creationId xmlns:a16="http://schemas.microsoft.com/office/drawing/2014/main" id="{B83961E7-89A6-A892-B742-0A92B1BE8878}"/>
              </a:ext>
            </a:extLst>
          </p:cNvPr>
          <p:cNvSpPr>
            <a:spLocks noGrp="1"/>
          </p:cNvSpPr>
          <p:nvPr>
            <p:ph type="sldNum" sz="quarter" idx="5"/>
          </p:nvPr>
        </p:nvSpPr>
        <p:spPr/>
        <p:txBody>
          <a:bodyPr/>
          <a:lstStyle/>
          <a:p>
            <a:fld id="{A5D6B064-0EEE-374E-BF10-D19F80FA8825}" type="slidenum">
              <a:rPr lang="en-US" smtClean="0"/>
              <a:t>16</a:t>
            </a:fld>
            <a:endParaRPr lang="en-US"/>
          </a:p>
        </p:txBody>
      </p:sp>
    </p:spTree>
    <p:extLst>
      <p:ext uri="{BB962C8B-B14F-4D97-AF65-F5344CB8AC3E}">
        <p14:creationId xmlns:p14="http://schemas.microsoft.com/office/powerpoint/2010/main" val="19567190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374E4-4905-C3CA-99C9-638CF15AA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24AA8-9AB9-B725-E25C-D046EBFB4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4C30A-3FC6-B509-5EA9-52F1F8DF99B9}"/>
              </a:ext>
            </a:extLst>
          </p:cNvPr>
          <p:cNvSpPr>
            <a:spLocks noGrp="1"/>
          </p:cNvSpPr>
          <p:nvPr>
            <p:ph type="body" idx="1"/>
          </p:nvPr>
        </p:nvSpPr>
        <p:spPr/>
        <p:txBody>
          <a:bodyPr/>
          <a:lstStyle/>
          <a:p>
            <a:r>
              <a:rPr lang="en-US" dirty="0"/>
              <a:t>it is unclear how linguistic diversity is associated with gradient categorization of L2 speech and whether linguistic diversity can be used as an experimental manipulation to impact either of these two factors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4477AA"/>
              </a:solidFill>
            </a:endParaRPr>
          </a:p>
        </p:txBody>
      </p:sp>
      <p:sp>
        <p:nvSpPr>
          <p:cNvPr id="4" name="Slide Number Placeholder 3">
            <a:extLst>
              <a:ext uri="{FF2B5EF4-FFF2-40B4-BE49-F238E27FC236}">
                <a16:creationId xmlns:a16="http://schemas.microsoft.com/office/drawing/2014/main" id="{692C6578-CC61-3388-5522-E5101593F550}"/>
              </a:ext>
            </a:extLst>
          </p:cNvPr>
          <p:cNvSpPr>
            <a:spLocks noGrp="1"/>
          </p:cNvSpPr>
          <p:nvPr>
            <p:ph type="sldNum" sz="quarter" idx="5"/>
          </p:nvPr>
        </p:nvSpPr>
        <p:spPr/>
        <p:txBody>
          <a:bodyPr/>
          <a:lstStyle/>
          <a:p>
            <a:fld id="{A5D6B064-0EEE-374E-BF10-D19F80FA8825}" type="slidenum">
              <a:rPr lang="en-US" smtClean="0"/>
              <a:t>17</a:t>
            </a:fld>
            <a:endParaRPr lang="en-US"/>
          </a:p>
        </p:txBody>
      </p:sp>
    </p:spTree>
    <p:extLst>
      <p:ext uri="{BB962C8B-B14F-4D97-AF65-F5344CB8AC3E}">
        <p14:creationId xmlns:p14="http://schemas.microsoft.com/office/powerpoint/2010/main" val="3503346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265AC-73B2-F4C9-4F2C-7A303369B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164C7-56F6-4F58-39C7-8EDC4AAD8A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A9B86-3F8B-9DD4-64EE-AB6C458D7CCF}"/>
              </a:ext>
            </a:extLst>
          </p:cNvPr>
          <p:cNvSpPr>
            <a:spLocks noGrp="1"/>
          </p:cNvSpPr>
          <p:nvPr>
            <p:ph type="body" idx="1"/>
          </p:nvPr>
        </p:nvSpPr>
        <p:spPr/>
        <p:txBody>
          <a:bodyPr/>
          <a:lstStyle/>
          <a:p>
            <a:r>
              <a:rPr lang="en-US" dirty="0"/>
              <a:t>and, the evidence of the perceptual advantage of gradient categorization in L2 speech learning is also unclear</a:t>
            </a:r>
          </a:p>
        </p:txBody>
      </p:sp>
      <p:sp>
        <p:nvSpPr>
          <p:cNvPr id="4" name="Slide Number Placeholder 3">
            <a:extLst>
              <a:ext uri="{FF2B5EF4-FFF2-40B4-BE49-F238E27FC236}">
                <a16:creationId xmlns:a16="http://schemas.microsoft.com/office/drawing/2014/main" id="{FF54D1E6-B042-E2E5-49E2-5A810C6E7753}"/>
              </a:ext>
            </a:extLst>
          </p:cNvPr>
          <p:cNvSpPr>
            <a:spLocks noGrp="1"/>
          </p:cNvSpPr>
          <p:nvPr>
            <p:ph type="sldNum" sz="quarter" idx="5"/>
          </p:nvPr>
        </p:nvSpPr>
        <p:spPr/>
        <p:txBody>
          <a:bodyPr/>
          <a:lstStyle/>
          <a:p>
            <a:fld id="{A5D6B064-0EEE-374E-BF10-D19F80FA8825}" type="slidenum">
              <a:rPr lang="en-US" smtClean="0"/>
              <a:t>18</a:t>
            </a:fld>
            <a:endParaRPr lang="en-US"/>
          </a:p>
        </p:txBody>
      </p:sp>
    </p:spTree>
    <p:extLst>
      <p:ext uri="{BB962C8B-B14F-4D97-AF65-F5344CB8AC3E}">
        <p14:creationId xmlns:p14="http://schemas.microsoft.com/office/powerpoint/2010/main" val="3277996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D4483-6B61-0E75-D544-01C910279C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72BA1-D125-76EC-CA7B-08AC33311A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4FE281-3621-732D-1886-621BED036FAD}"/>
              </a:ext>
            </a:extLst>
          </p:cNvPr>
          <p:cNvSpPr>
            <a:spLocks noGrp="1"/>
          </p:cNvSpPr>
          <p:nvPr>
            <p:ph type="body" idx="1"/>
          </p:nvPr>
        </p:nvSpPr>
        <p:spPr/>
        <p:txBody>
          <a:bodyPr/>
          <a:lstStyle/>
          <a:p>
            <a:r>
              <a:rPr lang="en-US" dirty="0"/>
              <a:t>this led me to the hypothesis that drove my experiments, which was to intentionally expose listeners listeners to a specific kind of linguistic diversity to push their perceptual systems towards the degree of gradiency needed for efficient L2 speech category learning. </a:t>
            </a:r>
          </a:p>
          <a:p>
            <a:endParaRPr lang="en-US" dirty="0"/>
          </a:p>
          <a:p>
            <a:r>
              <a:rPr lang="en-US" dirty="0"/>
              <a:t>to explore the relationship between these three factors, I conducted three studies, with Japanese vowel length and consonant length as the target L2 phoneme, for example</a:t>
            </a:r>
          </a:p>
          <a:p>
            <a:endParaRPr lang="en-US" dirty="0"/>
          </a:p>
        </p:txBody>
      </p:sp>
      <p:sp>
        <p:nvSpPr>
          <p:cNvPr id="4" name="Slide Number Placeholder 3">
            <a:extLst>
              <a:ext uri="{FF2B5EF4-FFF2-40B4-BE49-F238E27FC236}">
                <a16:creationId xmlns:a16="http://schemas.microsoft.com/office/drawing/2014/main" id="{074A6DD1-5D31-C0C5-217B-2A0235558669}"/>
              </a:ext>
            </a:extLst>
          </p:cNvPr>
          <p:cNvSpPr>
            <a:spLocks noGrp="1"/>
          </p:cNvSpPr>
          <p:nvPr>
            <p:ph type="sldNum" sz="quarter" idx="5"/>
          </p:nvPr>
        </p:nvSpPr>
        <p:spPr/>
        <p:txBody>
          <a:bodyPr/>
          <a:lstStyle/>
          <a:p>
            <a:fld id="{A5D6B064-0EEE-374E-BF10-D19F80FA8825}" type="slidenum">
              <a:rPr lang="en-US" smtClean="0"/>
              <a:t>19</a:t>
            </a:fld>
            <a:endParaRPr lang="en-US"/>
          </a:p>
        </p:txBody>
      </p:sp>
    </p:spTree>
    <p:extLst>
      <p:ext uri="{BB962C8B-B14F-4D97-AF65-F5344CB8AC3E}">
        <p14:creationId xmlns:p14="http://schemas.microsoft.com/office/powerpoint/2010/main" val="25893506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A4309-958F-B514-719D-4127F6EAF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8E3D4-79D6-2D36-56C6-F45E11B2C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DC6A3-F7E5-8D11-8760-5F714A33F258}"/>
              </a:ext>
            </a:extLst>
          </p:cNvPr>
          <p:cNvSpPr>
            <a:spLocks noGrp="1"/>
          </p:cNvSpPr>
          <p:nvPr>
            <p:ph type="body" idx="1"/>
          </p:nvPr>
        </p:nvSpPr>
        <p:spPr/>
        <p:txBody>
          <a:bodyPr/>
          <a:lstStyle/>
          <a:p>
            <a:r>
              <a:rPr lang="en-US" dirty="0"/>
              <a:t>first in Study 1, I investigated whether not only speaking multiple languages, but being exposed to multiple languages through one’s activities and environment have an impact on the degree of gradiency in both L1 and L2 speech categorization – this was referred to experiential linguistic diversity, from one’s experiences</a:t>
            </a:r>
          </a:p>
        </p:txBody>
      </p:sp>
      <p:sp>
        <p:nvSpPr>
          <p:cNvPr id="4" name="Slide Number Placeholder 3">
            <a:extLst>
              <a:ext uri="{FF2B5EF4-FFF2-40B4-BE49-F238E27FC236}">
                <a16:creationId xmlns:a16="http://schemas.microsoft.com/office/drawing/2014/main" id="{CB9E01CE-2519-2B81-1B3A-254D27FECC6F}"/>
              </a:ext>
            </a:extLst>
          </p:cNvPr>
          <p:cNvSpPr>
            <a:spLocks noGrp="1"/>
          </p:cNvSpPr>
          <p:nvPr>
            <p:ph type="sldNum" sz="quarter" idx="5"/>
          </p:nvPr>
        </p:nvSpPr>
        <p:spPr/>
        <p:txBody>
          <a:bodyPr/>
          <a:lstStyle/>
          <a:p>
            <a:fld id="{A5D6B064-0EEE-374E-BF10-D19F80FA8825}" type="slidenum">
              <a:rPr lang="en-US" smtClean="0"/>
              <a:t>20</a:t>
            </a:fld>
            <a:endParaRPr lang="en-US"/>
          </a:p>
        </p:txBody>
      </p:sp>
    </p:spTree>
    <p:extLst>
      <p:ext uri="{BB962C8B-B14F-4D97-AF65-F5344CB8AC3E}">
        <p14:creationId xmlns:p14="http://schemas.microsoft.com/office/powerpoint/2010/main" val="3428892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5442E-E307-83A1-1685-CA1911237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388D9-BD0D-9A8C-C543-23FBB7C00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7DD15D-B3E7-E86C-9914-D9AEFA23867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in Study 2, I exposed listeners to that specific linguistic diversity and assessed whether the manipulation had an impact on L2 perceptual discrimination and on gradient categorization, as well as whether any changes in gradient categorization were associated with different learning outcomes</a:t>
            </a:r>
          </a:p>
        </p:txBody>
      </p:sp>
      <p:sp>
        <p:nvSpPr>
          <p:cNvPr id="4" name="Slide Number Placeholder 3">
            <a:extLst>
              <a:ext uri="{FF2B5EF4-FFF2-40B4-BE49-F238E27FC236}">
                <a16:creationId xmlns:a16="http://schemas.microsoft.com/office/drawing/2014/main" id="{14BB47D6-9499-FB4E-9CD2-C350AE1A3862}"/>
              </a:ext>
            </a:extLst>
          </p:cNvPr>
          <p:cNvSpPr>
            <a:spLocks noGrp="1"/>
          </p:cNvSpPr>
          <p:nvPr>
            <p:ph type="sldNum" sz="quarter" idx="5"/>
          </p:nvPr>
        </p:nvSpPr>
        <p:spPr/>
        <p:txBody>
          <a:bodyPr/>
          <a:lstStyle/>
          <a:p>
            <a:fld id="{A5D6B064-0EEE-374E-BF10-D19F80FA8825}" type="slidenum">
              <a:rPr lang="en-US" smtClean="0"/>
              <a:t>21</a:t>
            </a:fld>
            <a:endParaRPr lang="en-US"/>
          </a:p>
        </p:txBody>
      </p:sp>
    </p:spTree>
    <p:extLst>
      <p:ext uri="{BB962C8B-B14F-4D97-AF65-F5344CB8AC3E}">
        <p14:creationId xmlns:p14="http://schemas.microsoft.com/office/powerpoint/2010/main" val="8093226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4E534-1A68-C2CD-85FB-51C9BA3DB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9E273-B176-7645-863C-D5367C12C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051A7-61ED-468E-ECFE-873DC0F0D8FA}"/>
              </a:ext>
            </a:extLst>
          </p:cNvPr>
          <p:cNvSpPr>
            <a:spLocks noGrp="1"/>
          </p:cNvSpPr>
          <p:nvPr>
            <p:ph type="body" idx="1"/>
          </p:nvPr>
        </p:nvSpPr>
        <p:spPr/>
        <p:txBody>
          <a:bodyPr/>
          <a:lstStyle/>
          <a:p>
            <a:r>
              <a:rPr lang="en-US" dirty="0"/>
              <a:t>Study 3 was an extension of Study 2, where I extended the training paradigm to be a longitudinal study, I targeted L2 classroom learners, and I also assessed L2 listening using a custom-designed listening assessment task. Here I focused more on the effect of specific LD on the other two factors, rather than the connection between gradient categorization and L2 learning outcomes</a:t>
            </a:r>
          </a:p>
        </p:txBody>
      </p:sp>
      <p:sp>
        <p:nvSpPr>
          <p:cNvPr id="4" name="Slide Number Placeholder 3">
            <a:extLst>
              <a:ext uri="{FF2B5EF4-FFF2-40B4-BE49-F238E27FC236}">
                <a16:creationId xmlns:a16="http://schemas.microsoft.com/office/drawing/2014/main" id="{E7D72303-E627-5237-544F-1B6FF22ABC9C}"/>
              </a:ext>
            </a:extLst>
          </p:cNvPr>
          <p:cNvSpPr>
            <a:spLocks noGrp="1"/>
          </p:cNvSpPr>
          <p:nvPr>
            <p:ph type="sldNum" sz="quarter" idx="5"/>
          </p:nvPr>
        </p:nvSpPr>
        <p:spPr/>
        <p:txBody>
          <a:bodyPr/>
          <a:lstStyle/>
          <a:p>
            <a:fld id="{A5D6B064-0EEE-374E-BF10-D19F80FA8825}" type="slidenum">
              <a:rPr lang="en-US" smtClean="0"/>
              <a:t>22</a:t>
            </a:fld>
            <a:endParaRPr lang="en-US"/>
          </a:p>
        </p:txBody>
      </p:sp>
    </p:spTree>
    <p:extLst>
      <p:ext uri="{BB962C8B-B14F-4D97-AF65-F5344CB8AC3E}">
        <p14:creationId xmlns:p14="http://schemas.microsoft.com/office/powerpoint/2010/main" val="35453427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move onto the methods and results of study 1</a:t>
            </a:r>
          </a:p>
        </p:txBody>
      </p:sp>
      <p:sp>
        <p:nvSpPr>
          <p:cNvPr id="4" name="Slide Number Placeholder 3"/>
          <p:cNvSpPr>
            <a:spLocks noGrp="1"/>
          </p:cNvSpPr>
          <p:nvPr>
            <p:ph type="sldNum" sz="quarter" idx="5"/>
          </p:nvPr>
        </p:nvSpPr>
        <p:spPr/>
        <p:txBody>
          <a:bodyPr/>
          <a:lstStyle/>
          <a:p>
            <a:fld id="{A5DC69EC-9432-3442-A0D7-F47D1FE63727}" type="slidenum">
              <a:rPr lang="en-US" smtClean="0"/>
              <a:t>23</a:t>
            </a:fld>
            <a:endParaRPr lang="en-US"/>
          </a:p>
        </p:txBody>
      </p:sp>
    </p:spTree>
    <p:extLst>
      <p:ext uri="{BB962C8B-B14F-4D97-AF65-F5344CB8AC3E}">
        <p14:creationId xmlns:p14="http://schemas.microsoft.com/office/powerpoint/2010/main" val="1158832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recruited 76 native English speakers online, welcoming all monolingual and multilingual speakers, and had them complete the linguistic diversity questionnaire, the LDQ, to measure experiential linguistic diversity, and the visual analog scale task, the VAS task, to measure gradient categorization of L1 and L2 speech</a:t>
            </a:r>
          </a:p>
        </p:txBody>
      </p:sp>
      <p:sp>
        <p:nvSpPr>
          <p:cNvPr id="4" name="Slide Number Placeholder 3"/>
          <p:cNvSpPr>
            <a:spLocks noGrp="1"/>
          </p:cNvSpPr>
          <p:nvPr>
            <p:ph type="sldNum" sz="quarter" idx="5"/>
          </p:nvPr>
        </p:nvSpPr>
        <p:spPr/>
        <p:txBody>
          <a:bodyPr/>
          <a:lstStyle/>
          <a:p>
            <a:fld id="{A5DC69EC-9432-3442-A0D7-F47D1FE63727}" type="slidenum">
              <a:rPr lang="en-US" smtClean="0"/>
              <a:t>24</a:t>
            </a:fld>
            <a:endParaRPr lang="en-US"/>
          </a:p>
        </p:txBody>
      </p:sp>
    </p:spTree>
    <p:extLst>
      <p:ext uri="{BB962C8B-B14F-4D97-AF65-F5344CB8AC3E}">
        <p14:creationId xmlns:p14="http://schemas.microsoft.com/office/powerpoint/2010/main" val="23952189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created the LDQ to produce quantitative scores measuring experiential linguistic diversity in two parts, with the first part derived from the existing Language History Questionnaire 3, which measured active multilingual language diversity in the aspects of speaking, listening, reading, and writing. the second part were questions I created inspired by number of other existing questionnaires and surveys, and measured passive use of language in the aspects of reading and listening, but not speaking  and writing, so for example, a student at Carnegie Mellon who is exposed to a multitude of foreign languages due to the high international student population on campus. MLD scores at 0 indicate being a complete monolingual, while increasing scores up to 2 indicate increasing integrated use and exposure to 2, 3, and 4 languages</a:t>
            </a:r>
          </a:p>
        </p:txBody>
      </p:sp>
      <p:sp>
        <p:nvSpPr>
          <p:cNvPr id="4" name="Slide Number Placeholder 3"/>
          <p:cNvSpPr>
            <a:spLocks noGrp="1"/>
          </p:cNvSpPr>
          <p:nvPr>
            <p:ph type="sldNum" sz="quarter" idx="5"/>
          </p:nvPr>
        </p:nvSpPr>
        <p:spPr/>
        <p:txBody>
          <a:bodyPr/>
          <a:lstStyle/>
          <a:p>
            <a:fld id="{A5DC69EC-9432-3442-A0D7-F47D1FE63727}" type="slidenum">
              <a:rPr lang="en-US" smtClean="0"/>
              <a:t>25</a:t>
            </a:fld>
            <a:endParaRPr lang="en-US"/>
          </a:p>
        </p:txBody>
      </p:sp>
    </p:spTree>
    <p:extLst>
      <p:ext uri="{BB962C8B-B14F-4D97-AF65-F5344CB8AC3E}">
        <p14:creationId xmlns:p14="http://schemas.microsoft.com/office/powerpoint/2010/main" val="9302684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the VAS task to measure categorization responses for both L1 and L2 speech, using synthesized speech continua that morphed continuously from one word to the other in equal acoustic steps, which sounds like this</a:t>
            </a:r>
          </a:p>
          <a:p>
            <a:endParaRPr lang="en-US" dirty="0"/>
          </a:p>
          <a:p>
            <a:r>
              <a:rPr lang="en-US" dirty="0"/>
              <a:t>so I used two contrast pairs in English and two contrast pairs in Japanese</a:t>
            </a:r>
          </a:p>
        </p:txBody>
      </p:sp>
      <p:sp>
        <p:nvSpPr>
          <p:cNvPr id="4" name="Slide Number Placeholder 3"/>
          <p:cNvSpPr>
            <a:spLocks noGrp="1"/>
          </p:cNvSpPr>
          <p:nvPr>
            <p:ph type="sldNum" sz="quarter" idx="5"/>
          </p:nvPr>
        </p:nvSpPr>
        <p:spPr/>
        <p:txBody>
          <a:bodyPr/>
          <a:lstStyle/>
          <a:p>
            <a:fld id="{8B1D326A-7124-D34B-B1E9-4422F4940B90}" type="slidenum">
              <a:rPr lang="en-US" smtClean="0"/>
              <a:t>26</a:t>
            </a:fld>
            <a:endParaRPr lang="en-US"/>
          </a:p>
        </p:txBody>
      </p:sp>
    </p:spTree>
    <p:extLst>
      <p:ext uri="{BB962C8B-B14F-4D97-AF65-F5344CB8AC3E}">
        <p14:creationId xmlns:p14="http://schemas.microsoft.com/office/powerpoint/2010/main" val="40858396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reminder, VAS responses can be plotted as a response curve, which is the average rating to the speech continuum at each step, and two values are derived from this curve, which are slope and response variability. </a:t>
            </a:r>
          </a:p>
          <a:p>
            <a:endParaRPr lang="en-US" dirty="0"/>
          </a:p>
          <a:p>
            <a:r>
              <a:rPr lang="en-US" dirty="0"/>
              <a:t>high slope values correspond to a steeper, more categorical curve, whereas low slope values correspond to a shallower curve. response variability differentiates </a:t>
            </a:r>
          </a:p>
          <a:p>
            <a:endParaRPr lang="en-US" dirty="0"/>
          </a:p>
          <a:p>
            <a:r>
              <a:rPr lang="en-US" dirty="0"/>
              <a:t>gradient curves, which are low in response variability with points close to the curve, and </a:t>
            </a:r>
          </a:p>
          <a:p>
            <a:endParaRPr lang="en-US" dirty="0"/>
          </a:p>
          <a:p>
            <a:r>
              <a:rPr lang="en-US" dirty="0"/>
              <a:t>noisy curves, which are high in response variability with points at variable distances from the curve</a:t>
            </a:r>
          </a:p>
          <a:p>
            <a:endParaRPr lang="en-US" dirty="0"/>
          </a:p>
          <a:p>
            <a:r>
              <a:rPr lang="en-US" dirty="0"/>
              <a:t>the prior work from Kutlu, which found that children with linguistically diverse social networks showed more gradient categorization, used the VAS measures of slope and response variability to class the children into these response pattern profiles. although my data didn’t look exactly like this, I used this general heuristic when evaluating the results, </a:t>
            </a:r>
          </a:p>
          <a:p>
            <a:endParaRPr lang="en-US" dirty="0"/>
          </a:p>
          <a:p>
            <a:r>
              <a:rPr lang="en-US" dirty="0"/>
              <a:t>as my interest was in gradient response patterns, I was looking for values of low slope and low response variability</a:t>
            </a:r>
          </a:p>
        </p:txBody>
      </p:sp>
      <p:sp>
        <p:nvSpPr>
          <p:cNvPr id="4" name="Slide Number Placeholder 3"/>
          <p:cNvSpPr>
            <a:spLocks noGrp="1"/>
          </p:cNvSpPr>
          <p:nvPr>
            <p:ph type="sldNum" sz="quarter" idx="5"/>
          </p:nvPr>
        </p:nvSpPr>
        <p:spPr/>
        <p:txBody>
          <a:bodyPr/>
          <a:lstStyle/>
          <a:p>
            <a:fld id="{A5DC69EC-9432-3442-A0D7-F47D1FE63727}" type="slidenum">
              <a:rPr lang="en-US" smtClean="0"/>
              <a:t>27</a:t>
            </a:fld>
            <a:endParaRPr lang="en-US"/>
          </a:p>
        </p:txBody>
      </p:sp>
    </p:spTree>
    <p:extLst>
      <p:ext uri="{BB962C8B-B14F-4D97-AF65-F5344CB8AC3E}">
        <p14:creationId xmlns:p14="http://schemas.microsoft.com/office/powerpoint/2010/main" val="18212625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8CDA9-40AE-D354-437A-3EC8A67FB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00814-4BE4-296C-2B33-1B129FE8ED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E9B626-BBB1-223C-3FBE-C11064DCAD67}"/>
              </a:ext>
            </a:extLst>
          </p:cNvPr>
          <p:cNvSpPr>
            <a:spLocks noGrp="1"/>
          </p:cNvSpPr>
          <p:nvPr>
            <p:ph type="body" idx="1"/>
          </p:nvPr>
        </p:nvSpPr>
        <p:spPr/>
        <p:txBody>
          <a:bodyPr/>
          <a:lstStyle/>
          <a:p>
            <a:r>
              <a:rPr lang="en-US" dirty="0"/>
              <a:t>as was seen in previous research, participants in Study 1 varied substantially in how gradiently or categorically they responded to the VAS contrast pairs. what was also novel and interesting about study 1 was that I found that listeners varied in their response patterns not only between each other, varied in their own consistency to the different languages. participant 5096 was an example of someone who was consistent across all four pairs in only using the two end points. participant 5178 was an example of someone who had different response patterns for each language, as they were categorical in English but gradient in Japanese, and other people were not even consistent for pairs of the same language, like participant 7187, who was closer to categorical for indent-intent and toru-tooru, but more gradient for reason-risen and kata-katta</a:t>
            </a:r>
          </a:p>
          <a:p>
            <a:endParaRPr lang="en-US" dirty="0"/>
          </a:p>
          <a:p>
            <a:r>
              <a:rPr lang="en-US" dirty="0"/>
              <a:t>[transition sentence] -</a:t>
            </a:r>
          </a:p>
          <a:p>
            <a:r>
              <a:rPr lang="en-US" dirty="0"/>
              <a:t>so this finding demonstrates that it's clear people are different in how they categorize L1 and L2 contrast pairs, and I wanted to determine whether linguistic diversity predicted those differences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DA9C449B-8C21-E584-567A-217E4C172C3F}"/>
              </a:ext>
            </a:extLst>
          </p:cNvPr>
          <p:cNvSpPr>
            <a:spLocks noGrp="1"/>
          </p:cNvSpPr>
          <p:nvPr>
            <p:ph type="sldNum" sz="quarter" idx="5"/>
          </p:nvPr>
        </p:nvSpPr>
        <p:spPr/>
        <p:txBody>
          <a:bodyPr/>
          <a:lstStyle/>
          <a:p>
            <a:fld id="{A5DC69EC-9432-3442-A0D7-F47D1FE63727}" type="slidenum">
              <a:rPr lang="en-US" smtClean="0"/>
              <a:t>28</a:t>
            </a:fld>
            <a:endParaRPr lang="en-US"/>
          </a:p>
        </p:txBody>
      </p:sp>
    </p:spTree>
    <p:extLst>
      <p:ext uri="{BB962C8B-B14F-4D97-AF65-F5344CB8AC3E}">
        <p14:creationId xmlns:p14="http://schemas.microsoft.com/office/powerpoint/2010/main" val="15249007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I hypothesized that higher degrees of linguistic diversity would predict more gradient categorization, I expected this relationship, with high MLD scores predicting lower slope and lower response variability, for both the L1 English and L2 Japanese pairs</a:t>
            </a:r>
          </a:p>
          <a:p>
            <a:endParaRPr lang="en-US" dirty="0"/>
          </a:p>
        </p:txBody>
      </p:sp>
      <p:sp>
        <p:nvSpPr>
          <p:cNvPr id="4" name="Slide Number Placeholder 3"/>
          <p:cNvSpPr>
            <a:spLocks noGrp="1"/>
          </p:cNvSpPr>
          <p:nvPr>
            <p:ph type="sldNum" sz="quarter" idx="5"/>
          </p:nvPr>
        </p:nvSpPr>
        <p:spPr/>
        <p:txBody>
          <a:bodyPr/>
          <a:lstStyle/>
          <a:p>
            <a:fld id="{A5DC69EC-9432-3442-A0D7-F47D1FE63727}" type="slidenum">
              <a:rPr lang="en-US" smtClean="0"/>
              <a:t>29</a:t>
            </a:fld>
            <a:endParaRPr lang="en-US"/>
          </a:p>
        </p:txBody>
      </p:sp>
    </p:spTree>
    <p:extLst>
      <p:ext uri="{BB962C8B-B14F-4D97-AF65-F5344CB8AC3E}">
        <p14:creationId xmlns:p14="http://schemas.microsoft.com/office/powerpoint/2010/main" val="19155167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saw instead was mostly flat trends for the relationship between the MLD scores and the slope and response variability values, and also these trends look like they might be different between the English and Japanese pairs, the results were not statistically significant</a:t>
            </a:r>
          </a:p>
          <a:p>
            <a:endParaRPr lang="en-US" dirty="0"/>
          </a:p>
          <a:p>
            <a:r>
              <a:rPr lang="en-US" dirty="0"/>
              <a:t>that means that this data did not show evidence that experiential linguistic diversity is associated with gradient categorization, or any particular categorization pattern</a:t>
            </a:r>
          </a:p>
        </p:txBody>
      </p:sp>
      <p:sp>
        <p:nvSpPr>
          <p:cNvPr id="4" name="Slide Number Placeholder 3"/>
          <p:cNvSpPr>
            <a:spLocks noGrp="1"/>
          </p:cNvSpPr>
          <p:nvPr>
            <p:ph type="sldNum" sz="quarter" idx="5"/>
          </p:nvPr>
        </p:nvSpPr>
        <p:spPr/>
        <p:txBody>
          <a:bodyPr/>
          <a:lstStyle/>
          <a:p>
            <a:fld id="{A5DC69EC-9432-3442-A0D7-F47D1FE63727}" type="slidenum">
              <a:rPr lang="en-US" smtClean="0"/>
              <a:t>30</a:t>
            </a:fld>
            <a:endParaRPr lang="en-US"/>
          </a:p>
        </p:txBody>
      </p:sp>
    </p:spTree>
    <p:extLst>
      <p:ext uri="{BB962C8B-B14F-4D97-AF65-F5344CB8AC3E}">
        <p14:creationId xmlns:p14="http://schemas.microsoft.com/office/powerpoint/2010/main" val="3571261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C445E-8528-4DE4-0A7D-E7193CE6E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5BA1E7-1896-4861-AC53-9FB40FF36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262523-C90C-D72C-EF73-BC361E4B1021}"/>
              </a:ext>
            </a:extLst>
          </p:cNvPr>
          <p:cNvSpPr>
            <a:spLocks noGrp="1"/>
          </p:cNvSpPr>
          <p:nvPr>
            <p:ph type="body" idx="1"/>
          </p:nvPr>
        </p:nvSpPr>
        <p:spPr/>
        <p:txBody>
          <a:bodyPr/>
          <a:lstStyle/>
          <a:p>
            <a:r>
              <a:rPr lang="en-US" dirty="0"/>
              <a:t>so the overall take away for study 1 we saw highly variable differences within and among individuals, but linguistic diversity did not explain these individual differences</a:t>
            </a:r>
          </a:p>
        </p:txBody>
      </p:sp>
      <p:sp>
        <p:nvSpPr>
          <p:cNvPr id="4" name="Slide Number Placeholder 3">
            <a:extLst>
              <a:ext uri="{FF2B5EF4-FFF2-40B4-BE49-F238E27FC236}">
                <a16:creationId xmlns:a16="http://schemas.microsoft.com/office/drawing/2014/main" id="{CEA41947-6D97-9BCF-13F7-DF12B22A5568}"/>
              </a:ext>
            </a:extLst>
          </p:cNvPr>
          <p:cNvSpPr>
            <a:spLocks noGrp="1"/>
          </p:cNvSpPr>
          <p:nvPr>
            <p:ph type="sldNum" sz="quarter" idx="5"/>
          </p:nvPr>
        </p:nvSpPr>
        <p:spPr/>
        <p:txBody>
          <a:bodyPr/>
          <a:lstStyle/>
          <a:p>
            <a:fld id="{A5DC69EC-9432-3442-A0D7-F47D1FE63727}" type="slidenum">
              <a:rPr lang="en-US" smtClean="0"/>
              <a:t>31</a:t>
            </a:fld>
            <a:endParaRPr lang="en-US"/>
          </a:p>
        </p:txBody>
      </p:sp>
    </p:spTree>
    <p:extLst>
      <p:ext uri="{BB962C8B-B14F-4D97-AF65-F5344CB8AC3E}">
        <p14:creationId xmlns:p14="http://schemas.microsoft.com/office/powerpoint/2010/main" val="26937712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C4324-3CF1-7F53-7B74-3D33FE732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CB0C4-0C7D-83C9-6C83-BE696CF72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51410-8265-706F-8B2E-E1E4336D293E}"/>
              </a:ext>
            </a:extLst>
          </p:cNvPr>
          <p:cNvSpPr>
            <a:spLocks noGrp="1"/>
          </p:cNvSpPr>
          <p:nvPr>
            <p:ph type="body" idx="1"/>
          </p:nvPr>
        </p:nvSpPr>
        <p:spPr/>
        <p:txBody>
          <a:bodyPr/>
          <a:lstStyle/>
          <a:p>
            <a:r>
              <a:rPr lang="en-US" dirty="0"/>
              <a:t>for study 2, I moved on to explore linguistic diversity as a speech training manipulation to see its effects on L2 speech learning outcomes</a:t>
            </a:r>
          </a:p>
        </p:txBody>
      </p:sp>
      <p:sp>
        <p:nvSpPr>
          <p:cNvPr id="4" name="Slide Number Placeholder 3">
            <a:extLst>
              <a:ext uri="{FF2B5EF4-FFF2-40B4-BE49-F238E27FC236}">
                <a16:creationId xmlns:a16="http://schemas.microsoft.com/office/drawing/2014/main" id="{9F1776CE-BEC0-4403-D40C-B769A7ADA995}"/>
              </a:ext>
            </a:extLst>
          </p:cNvPr>
          <p:cNvSpPr>
            <a:spLocks noGrp="1"/>
          </p:cNvSpPr>
          <p:nvPr>
            <p:ph type="sldNum" sz="quarter" idx="5"/>
          </p:nvPr>
        </p:nvSpPr>
        <p:spPr/>
        <p:txBody>
          <a:bodyPr/>
          <a:lstStyle/>
          <a:p>
            <a:fld id="{A5DC69EC-9432-3442-A0D7-F47D1FE63727}" type="slidenum">
              <a:rPr lang="en-US" smtClean="0"/>
              <a:t>32</a:t>
            </a:fld>
            <a:endParaRPr lang="en-US"/>
          </a:p>
        </p:txBody>
      </p:sp>
    </p:spTree>
    <p:extLst>
      <p:ext uri="{BB962C8B-B14F-4D97-AF65-F5344CB8AC3E}">
        <p14:creationId xmlns:p14="http://schemas.microsoft.com/office/powerpoint/2010/main" val="13421414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D26D0-8E08-1AE5-7099-F65EEFCA9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8F485-C75E-764B-F298-47316ABA7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7FFA84-1FBB-3968-CE0A-50A1F072DCBA}"/>
              </a:ext>
            </a:extLst>
          </p:cNvPr>
          <p:cNvSpPr>
            <a:spLocks noGrp="1"/>
          </p:cNvSpPr>
          <p:nvPr>
            <p:ph type="body" idx="1"/>
          </p:nvPr>
        </p:nvSpPr>
        <p:spPr/>
        <p:txBody>
          <a:bodyPr/>
          <a:lstStyle/>
          <a:p>
            <a:r>
              <a:rPr lang="en-US" dirty="0"/>
              <a:t>I recruited 80 monolingual native English speakers online, where they performed 30-minutes of perceptual training in one of two experimental groups, along with an AX discrimination test of L2 Japanese minimal pairs and the VAS task with L1 English and L2 Japanese pairs (same as study 1 just a bit shorter) immediately before and 24 hours after the training session.</a:t>
            </a:r>
          </a:p>
        </p:txBody>
      </p:sp>
      <p:sp>
        <p:nvSpPr>
          <p:cNvPr id="4" name="Slide Number Placeholder 3">
            <a:extLst>
              <a:ext uri="{FF2B5EF4-FFF2-40B4-BE49-F238E27FC236}">
                <a16:creationId xmlns:a16="http://schemas.microsoft.com/office/drawing/2014/main" id="{9E9E55FE-9D56-8E3E-7E2D-EC495E0E2F49}"/>
              </a:ext>
            </a:extLst>
          </p:cNvPr>
          <p:cNvSpPr>
            <a:spLocks noGrp="1"/>
          </p:cNvSpPr>
          <p:nvPr>
            <p:ph type="sldNum" sz="quarter" idx="5"/>
          </p:nvPr>
        </p:nvSpPr>
        <p:spPr/>
        <p:txBody>
          <a:bodyPr/>
          <a:lstStyle/>
          <a:p>
            <a:fld id="{A5DC69EC-9432-3442-A0D7-F47D1FE63727}" type="slidenum">
              <a:rPr lang="en-US" smtClean="0"/>
              <a:t>33</a:t>
            </a:fld>
            <a:endParaRPr lang="en-US"/>
          </a:p>
        </p:txBody>
      </p:sp>
    </p:spTree>
    <p:extLst>
      <p:ext uri="{BB962C8B-B14F-4D97-AF65-F5344CB8AC3E}">
        <p14:creationId xmlns:p14="http://schemas.microsoft.com/office/powerpoint/2010/main" val="3209095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briefly explain the perceptual discrimination pre- and posttests, this is the general trial structure the task, where participants had to discriminate between Japanese minimal pairs that differ by vowel length or consonant length. in the AX discrimination task, participants hear two sounds, stimulus A followed by stimulus X, and have to respond whether the two words were the same or different, for example</a:t>
            </a:r>
          </a:p>
          <a:p>
            <a:endParaRPr lang="en-US" dirty="0"/>
          </a:p>
        </p:txBody>
      </p:sp>
      <p:sp>
        <p:nvSpPr>
          <p:cNvPr id="4" name="Slide Number Placeholder 3"/>
          <p:cNvSpPr>
            <a:spLocks noGrp="1"/>
          </p:cNvSpPr>
          <p:nvPr>
            <p:ph type="sldNum" sz="quarter" idx="5"/>
          </p:nvPr>
        </p:nvSpPr>
        <p:spPr/>
        <p:txBody>
          <a:bodyPr/>
          <a:lstStyle/>
          <a:p>
            <a:fld id="{A5DC69EC-9432-3442-A0D7-F47D1FE63727}" type="slidenum">
              <a:rPr lang="en-US" smtClean="0"/>
              <a:t>34</a:t>
            </a:fld>
            <a:endParaRPr lang="en-US"/>
          </a:p>
        </p:txBody>
      </p:sp>
    </p:spTree>
    <p:extLst>
      <p:ext uri="{BB962C8B-B14F-4D97-AF65-F5344CB8AC3E}">
        <p14:creationId xmlns:p14="http://schemas.microsoft.com/office/powerpoint/2010/main" val="4378561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perceptual discrimination training has same trial structure, but participants received feedback after their responses to help them learn. because these are monolingual English speakers, I didn’t expect them to recognize any of the words they were hearing, so the feedback screen gave them a chance to read transcripts and word meanings.</a:t>
            </a:r>
          </a:p>
          <a:p>
            <a:endParaRPr lang="en-US" dirty="0"/>
          </a:p>
        </p:txBody>
      </p:sp>
      <p:sp>
        <p:nvSpPr>
          <p:cNvPr id="4" name="Slide Number Placeholder 3"/>
          <p:cNvSpPr>
            <a:spLocks noGrp="1"/>
          </p:cNvSpPr>
          <p:nvPr>
            <p:ph type="sldNum" sz="quarter" idx="5"/>
          </p:nvPr>
        </p:nvSpPr>
        <p:spPr/>
        <p:txBody>
          <a:bodyPr/>
          <a:lstStyle/>
          <a:p>
            <a:fld id="{A5DC69EC-9432-3442-A0D7-F47D1FE63727}" type="slidenum">
              <a:rPr lang="en-US" smtClean="0"/>
              <a:t>35</a:t>
            </a:fld>
            <a:endParaRPr lang="en-US"/>
          </a:p>
        </p:txBody>
      </p:sp>
    </p:spTree>
    <p:extLst>
      <p:ext uri="{BB962C8B-B14F-4D97-AF65-F5344CB8AC3E}">
        <p14:creationId xmlns:p14="http://schemas.microsoft.com/office/powerpoint/2010/main" val="8741448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part of this training paradigm, and the most important part of study two, is how it was used to introduce specific linguistic diversity. participants were randomly assigned to either the low linguistic diversity group,</a:t>
            </a:r>
          </a:p>
          <a:p>
            <a:endParaRPr lang="en-US" dirty="0"/>
          </a:p>
          <a:p>
            <a:r>
              <a:rPr lang="en-US" dirty="0"/>
              <a:t>where they only trained with Japanese minimal pairs. or they were assigned to the high linguistic diversity group, </a:t>
            </a:r>
          </a:p>
          <a:p>
            <a:endParaRPr lang="en-US" dirty="0"/>
          </a:p>
          <a:p>
            <a:r>
              <a:rPr lang="en-US" dirty="0"/>
              <a:t>where they trained with Japanese minimal pairs and another language that contrasts words by vowel and consonant length,</a:t>
            </a:r>
          </a:p>
          <a:p>
            <a:endParaRPr lang="en-US" dirty="0"/>
          </a:p>
          <a:p>
            <a:r>
              <a:rPr lang="en-US" dirty="0"/>
              <a:t>which is Modern Standard Arabic, or MSA. so I called this “specific” linguistic diversity because I’m not just exposing listeners to another language, but another language that specifically contains the same phonemic contrasts as the target language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[other languages with independent vowel and consonant length: </a:t>
            </a:r>
            <a:r>
              <a:rPr lang="en-US" sz="1200" b="0" i="0" kern="1200" dirty="0">
                <a:solidFill>
                  <a:schemeClr val="tx1"/>
                </a:solidFill>
                <a:effectLst/>
                <a:latin typeface="+mn-lt"/>
                <a:ea typeface="+mn-ea"/>
                <a:cs typeface="+mn-cs"/>
              </a:rPr>
              <a:t>Arabic, Japanese, Hungarian, Malayalam, Tamil, and Finnish]</a:t>
            </a:r>
            <a:endParaRPr lang="en-US" dirty="0"/>
          </a:p>
          <a:p>
            <a:endParaRPr lang="en-US" dirty="0"/>
          </a:p>
        </p:txBody>
      </p:sp>
      <p:sp>
        <p:nvSpPr>
          <p:cNvPr id="4" name="Slide Number Placeholder 3"/>
          <p:cNvSpPr>
            <a:spLocks noGrp="1"/>
          </p:cNvSpPr>
          <p:nvPr>
            <p:ph type="sldNum" sz="quarter" idx="5"/>
          </p:nvPr>
        </p:nvSpPr>
        <p:spPr/>
        <p:txBody>
          <a:bodyPr/>
          <a:lstStyle/>
          <a:p>
            <a:fld id="{A5DC69EC-9432-3442-A0D7-F47D1FE63727}" type="slidenum">
              <a:rPr lang="en-US" smtClean="0"/>
              <a:t>36</a:t>
            </a:fld>
            <a:endParaRPr lang="en-US"/>
          </a:p>
        </p:txBody>
      </p:sp>
    </p:spTree>
    <p:extLst>
      <p:ext uri="{BB962C8B-B14F-4D97-AF65-F5344CB8AC3E}">
        <p14:creationId xmlns:p14="http://schemas.microsoft.com/office/powerpoint/2010/main" val="31937542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explore whether specific linguistic diversity had an impact on gradient categorization, I compared the two groups to see how they differed in the change in the categorization measures of slope and response variability from before to after training. since all participants were monolinguals, I expected both groups to become more gradient in their categorization, so lower slope and lower response variability, but that the change would be stronger for the high LD group</a:t>
            </a:r>
          </a:p>
        </p:txBody>
      </p:sp>
      <p:sp>
        <p:nvSpPr>
          <p:cNvPr id="4" name="Slide Number Placeholder 3"/>
          <p:cNvSpPr>
            <a:spLocks noGrp="1"/>
          </p:cNvSpPr>
          <p:nvPr>
            <p:ph type="sldNum" sz="quarter" idx="5"/>
          </p:nvPr>
        </p:nvSpPr>
        <p:spPr/>
        <p:txBody>
          <a:bodyPr/>
          <a:lstStyle/>
          <a:p>
            <a:fld id="{A5DC69EC-9432-3442-A0D7-F47D1FE63727}" type="slidenum">
              <a:rPr lang="en-US" smtClean="0"/>
              <a:t>37</a:t>
            </a:fld>
            <a:endParaRPr lang="en-US"/>
          </a:p>
        </p:txBody>
      </p:sp>
    </p:spTree>
    <p:extLst>
      <p:ext uri="{BB962C8B-B14F-4D97-AF65-F5344CB8AC3E}">
        <p14:creationId xmlns:p14="http://schemas.microsoft.com/office/powerpoint/2010/main" val="12563594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I saw there were not significant differences between the low LD and high LD groups for either of the categorization measures for L1 English or L2 Japanese pairs</a:t>
            </a:r>
          </a:p>
          <a:p>
            <a:endParaRPr lang="en-US" dirty="0"/>
          </a:p>
          <a:p>
            <a:r>
              <a:rPr lang="en-US" dirty="0"/>
              <a:t>in fact, for both groups, the perceptual training did not seem to lead to changes at all in the categorization measures, as the average values for slope and response variability were relatively the same from before to after training</a:t>
            </a:r>
          </a:p>
        </p:txBody>
      </p:sp>
      <p:sp>
        <p:nvSpPr>
          <p:cNvPr id="4" name="Slide Number Placeholder 3"/>
          <p:cNvSpPr>
            <a:spLocks noGrp="1"/>
          </p:cNvSpPr>
          <p:nvPr>
            <p:ph type="sldNum" sz="quarter" idx="5"/>
          </p:nvPr>
        </p:nvSpPr>
        <p:spPr/>
        <p:txBody>
          <a:bodyPr/>
          <a:lstStyle/>
          <a:p>
            <a:fld id="{A5DC69EC-9432-3442-A0D7-F47D1FE63727}" type="slidenum">
              <a:rPr lang="en-US" smtClean="0"/>
              <a:t>38</a:t>
            </a:fld>
            <a:endParaRPr lang="en-US"/>
          </a:p>
        </p:txBody>
      </p:sp>
    </p:spTree>
    <p:extLst>
      <p:ext uri="{BB962C8B-B14F-4D97-AF65-F5344CB8AC3E}">
        <p14:creationId xmlns:p14="http://schemas.microsoft.com/office/powerpoint/2010/main" val="35512472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F942E-2F6D-C94E-B075-82EA4E702B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30622-CE6E-EABF-15DC-473EF17DF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0A2A9-C3A5-2F9F-79BF-477E46CE4F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impact of specific linguistic diversity on L2 perceptual discrimination, I expected for both groups to improve in discrimination accuracy after training, but for the improvement to be higher for the High LD group</a:t>
            </a:r>
          </a:p>
          <a:p>
            <a:endParaRPr lang="en-US" dirty="0"/>
          </a:p>
        </p:txBody>
      </p:sp>
      <p:sp>
        <p:nvSpPr>
          <p:cNvPr id="4" name="Slide Number Placeholder 3">
            <a:extLst>
              <a:ext uri="{FF2B5EF4-FFF2-40B4-BE49-F238E27FC236}">
                <a16:creationId xmlns:a16="http://schemas.microsoft.com/office/drawing/2014/main" id="{6553C55C-6742-BC09-29DF-DAA4F2F92048}"/>
              </a:ext>
            </a:extLst>
          </p:cNvPr>
          <p:cNvSpPr>
            <a:spLocks noGrp="1"/>
          </p:cNvSpPr>
          <p:nvPr>
            <p:ph type="sldNum" sz="quarter" idx="5"/>
          </p:nvPr>
        </p:nvSpPr>
        <p:spPr/>
        <p:txBody>
          <a:bodyPr/>
          <a:lstStyle/>
          <a:p>
            <a:fld id="{A5DC69EC-9432-3442-A0D7-F47D1FE63727}" type="slidenum">
              <a:rPr lang="en-US" smtClean="0"/>
              <a:t>39</a:t>
            </a:fld>
            <a:endParaRPr lang="en-US"/>
          </a:p>
        </p:txBody>
      </p:sp>
    </p:spTree>
    <p:extLst>
      <p:ext uri="{BB962C8B-B14F-4D97-AF65-F5344CB8AC3E}">
        <p14:creationId xmlns:p14="http://schemas.microsoft.com/office/powerpoint/2010/main" val="39195405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see that both groups improved in discrimination accuracy, which demonstrates some L2 learning,</a:t>
            </a:r>
          </a:p>
          <a:p>
            <a:endParaRPr lang="en-US" dirty="0"/>
          </a:p>
          <a:p>
            <a:r>
              <a:rPr lang="en-US" dirty="0"/>
              <a:t>but the improvement from before to after training was not significantly different between the Low LD and High LD groups</a:t>
            </a:r>
          </a:p>
          <a:p>
            <a:endParaRPr lang="en-US" dirty="0"/>
          </a:p>
          <a:p>
            <a:r>
              <a:rPr lang="en-US" dirty="0"/>
              <a:t>the takeaway from this result is that training with multiple languages didn’t provide an additional learning advantage in this learning task</a:t>
            </a:r>
          </a:p>
        </p:txBody>
      </p:sp>
      <p:sp>
        <p:nvSpPr>
          <p:cNvPr id="4" name="Slide Number Placeholder 3"/>
          <p:cNvSpPr>
            <a:spLocks noGrp="1"/>
          </p:cNvSpPr>
          <p:nvPr>
            <p:ph type="sldNum" sz="quarter" idx="5"/>
          </p:nvPr>
        </p:nvSpPr>
        <p:spPr/>
        <p:txBody>
          <a:bodyPr/>
          <a:lstStyle/>
          <a:p>
            <a:fld id="{A5DC69EC-9432-3442-A0D7-F47D1FE63727}" type="slidenum">
              <a:rPr lang="en-US" smtClean="0"/>
              <a:t>40</a:t>
            </a:fld>
            <a:endParaRPr lang="en-US"/>
          </a:p>
        </p:txBody>
      </p:sp>
    </p:spTree>
    <p:extLst>
      <p:ext uri="{BB962C8B-B14F-4D97-AF65-F5344CB8AC3E}">
        <p14:creationId xmlns:p14="http://schemas.microsoft.com/office/powerpoint/2010/main" val="23155918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8650F-0C7C-EE3B-04E1-02BE7D237C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86465-6246-66D5-CCAD-3B5E1FEA3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65B4E-067E-8E40-D340-5053E518A21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finally, to see whether gradient categorization predicted L2 perceptual discrimination ability, I collapsed the data between the two groups to look at the association between slope and response variability and discrimination accuracy at pretest and posttest, and I expected to see that low slope and response variability values, i.e. gradient categorization, would be associated with higher discrimination accuracy</a:t>
            </a:r>
          </a:p>
          <a:p>
            <a:endParaRPr lang="en-US" dirty="0"/>
          </a:p>
        </p:txBody>
      </p:sp>
      <p:sp>
        <p:nvSpPr>
          <p:cNvPr id="4" name="Slide Number Placeholder 3">
            <a:extLst>
              <a:ext uri="{FF2B5EF4-FFF2-40B4-BE49-F238E27FC236}">
                <a16:creationId xmlns:a16="http://schemas.microsoft.com/office/drawing/2014/main" id="{64B4EF31-6F1D-2C40-9E68-11AC7C232FE7}"/>
              </a:ext>
            </a:extLst>
          </p:cNvPr>
          <p:cNvSpPr>
            <a:spLocks noGrp="1"/>
          </p:cNvSpPr>
          <p:nvPr>
            <p:ph type="sldNum" sz="quarter" idx="5"/>
          </p:nvPr>
        </p:nvSpPr>
        <p:spPr/>
        <p:txBody>
          <a:bodyPr/>
          <a:lstStyle/>
          <a:p>
            <a:fld id="{A5DC69EC-9432-3442-A0D7-F47D1FE63727}" type="slidenum">
              <a:rPr lang="en-US" smtClean="0"/>
              <a:t>41</a:t>
            </a:fld>
            <a:endParaRPr lang="en-US"/>
          </a:p>
        </p:txBody>
      </p:sp>
    </p:spTree>
    <p:extLst>
      <p:ext uri="{BB962C8B-B14F-4D97-AF65-F5344CB8AC3E}">
        <p14:creationId xmlns:p14="http://schemas.microsoft.com/office/powerpoint/2010/main" val="34290443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26266-D64F-1A27-7678-E55CF3171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704DE-C9E7-3432-74C3-A94F7DD1E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70CB06-A4D1-525B-B8E0-C4E0BEFE3D43}"/>
              </a:ext>
            </a:extLst>
          </p:cNvPr>
          <p:cNvSpPr>
            <a:spLocks noGrp="1"/>
          </p:cNvSpPr>
          <p:nvPr>
            <p:ph type="body" idx="1"/>
          </p:nvPr>
        </p:nvSpPr>
        <p:spPr/>
        <p:txBody>
          <a:bodyPr/>
          <a:lstStyle/>
          <a:p>
            <a:r>
              <a:rPr lang="en-US" dirty="0"/>
              <a:t>instead, the data showed that at both pretest and posttest, </a:t>
            </a:r>
          </a:p>
          <a:p>
            <a:endParaRPr lang="en-US" dirty="0"/>
          </a:p>
          <a:p>
            <a:r>
              <a:rPr lang="en-US" dirty="0"/>
              <a:t>there was no significant correlation between slope or response variability and discrimination accuracy, for either L1 or L2 categorization, as indicated by the flat trend lines</a:t>
            </a:r>
          </a:p>
          <a:p>
            <a:endParaRPr lang="en-US" dirty="0"/>
          </a:p>
          <a:p>
            <a:r>
              <a:rPr lang="en-US" dirty="0"/>
              <a:t>the takeaway from this result was that gradient categorization did not play a role in improving perceptual discrimination discrimination accuracy</a:t>
            </a:r>
          </a:p>
        </p:txBody>
      </p:sp>
      <p:sp>
        <p:nvSpPr>
          <p:cNvPr id="4" name="Slide Number Placeholder 3">
            <a:extLst>
              <a:ext uri="{FF2B5EF4-FFF2-40B4-BE49-F238E27FC236}">
                <a16:creationId xmlns:a16="http://schemas.microsoft.com/office/drawing/2014/main" id="{C552F836-FE85-B3BD-9A27-2695FFE4593E}"/>
              </a:ext>
            </a:extLst>
          </p:cNvPr>
          <p:cNvSpPr>
            <a:spLocks noGrp="1"/>
          </p:cNvSpPr>
          <p:nvPr>
            <p:ph type="sldNum" sz="quarter" idx="5"/>
          </p:nvPr>
        </p:nvSpPr>
        <p:spPr/>
        <p:txBody>
          <a:bodyPr/>
          <a:lstStyle/>
          <a:p>
            <a:fld id="{A5DC69EC-9432-3442-A0D7-F47D1FE63727}" type="slidenum">
              <a:rPr lang="en-US" smtClean="0"/>
              <a:t>42</a:t>
            </a:fld>
            <a:endParaRPr lang="en-US"/>
          </a:p>
        </p:txBody>
      </p:sp>
    </p:spTree>
    <p:extLst>
      <p:ext uri="{BB962C8B-B14F-4D97-AF65-F5344CB8AC3E}">
        <p14:creationId xmlns:p14="http://schemas.microsoft.com/office/powerpoint/2010/main" val="32357508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474C7-1263-C723-5BC5-881A4B171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699E6-571C-6C19-8568-792F82F3E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395EC-A45B-3202-C163-492491CA122C}"/>
              </a:ext>
            </a:extLst>
          </p:cNvPr>
          <p:cNvSpPr>
            <a:spLocks noGrp="1"/>
          </p:cNvSpPr>
          <p:nvPr>
            <p:ph type="body" idx="1"/>
          </p:nvPr>
        </p:nvSpPr>
        <p:spPr/>
        <p:txBody>
          <a:bodyPr/>
          <a:lstStyle/>
          <a:p>
            <a:r>
              <a:rPr lang="en-US" dirty="0"/>
              <a:t>so that was a bummer, but I moved on to explore using this perceptual training paradigm in an applied setting with classroom learners to see if training with linguistic diversity can boost learning when used as a classroom supplement</a:t>
            </a:r>
          </a:p>
        </p:txBody>
      </p:sp>
      <p:sp>
        <p:nvSpPr>
          <p:cNvPr id="4" name="Slide Number Placeholder 3">
            <a:extLst>
              <a:ext uri="{FF2B5EF4-FFF2-40B4-BE49-F238E27FC236}">
                <a16:creationId xmlns:a16="http://schemas.microsoft.com/office/drawing/2014/main" id="{E81B2C0A-C84E-A331-89C5-54EC664777A8}"/>
              </a:ext>
            </a:extLst>
          </p:cNvPr>
          <p:cNvSpPr>
            <a:spLocks noGrp="1"/>
          </p:cNvSpPr>
          <p:nvPr>
            <p:ph type="sldNum" sz="quarter" idx="5"/>
          </p:nvPr>
        </p:nvSpPr>
        <p:spPr/>
        <p:txBody>
          <a:bodyPr/>
          <a:lstStyle/>
          <a:p>
            <a:fld id="{A5DC69EC-9432-3442-A0D7-F47D1FE63727}" type="slidenum">
              <a:rPr lang="en-US" smtClean="0"/>
              <a:t>43</a:t>
            </a:fld>
            <a:endParaRPr lang="en-US"/>
          </a:p>
        </p:txBody>
      </p:sp>
    </p:spTree>
    <p:extLst>
      <p:ext uri="{BB962C8B-B14F-4D97-AF65-F5344CB8AC3E}">
        <p14:creationId xmlns:p14="http://schemas.microsoft.com/office/powerpoint/2010/main" val="31215022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3491-9B94-1EC3-AA03-DC5326835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B7A29-8F7E-D684-DDC1-419A5CAE0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B12F36-DED6-07AD-FF68-B89C35EC55D8}"/>
              </a:ext>
            </a:extLst>
          </p:cNvPr>
          <p:cNvSpPr>
            <a:spLocks noGrp="1"/>
          </p:cNvSpPr>
          <p:nvPr>
            <p:ph type="body" idx="1"/>
          </p:nvPr>
        </p:nvSpPr>
        <p:spPr/>
        <p:txBody>
          <a:bodyPr/>
          <a:lstStyle/>
          <a:p>
            <a:r>
              <a:rPr lang="en-US" dirty="0"/>
              <a:t>I recruited 18 participants from university-level Japanese language classes for a longitudinal experiment during the semester from several American universities. everyone completed the VAS task, the perceptual discrimination test, and an L2 listening assessment before and after the period of training. The VAS task and perceptual discrimination pre and posttests were the same as in Study 2, and the perceptual training session was the same as in study 2, just repeated for six training sessions across 3-4 weeks</a:t>
            </a:r>
          </a:p>
        </p:txBody>
      </p:sp>
      <p:sp>
        <p:nvSpPr>
          <p:cNvPr id="4" name="Slide Number Placeholder 3">
            <a:extLst>
              <a:ext uri="{FF2B5EF4-FFF2-40B4-BE49-F238E27FC236}">
                <a16:creationId xmlns:a16="http://schemas.microsoft.com/office/drawing/2014/main" id="{B903B705-BD0C-5887-898F-A185C9E9C67B}"/>
              </a:ext>
            </a:extLst>
          </p:cNvPr>
          <p:cNvSpPr>
            <a:spLocks noGrp="1"/>
          </p:cNvSpPr>
          <p:nvPr>
            <p:ph type="sldNum" sz="quarter" idx="5"/>
          </p:nvPr>
        </p:nvSpPr>
        <p:spPr/>
        <p:txBody>
          <a:bodyPr/>
          <a:lstStyle/>
          <a:p>
            <a:fld id="{A5DC69EC-9432-3442-A0D7-F47D1FE63727}" type="slidenum">
              <a:rPr lang="en-US" smtClean="0"/>
              <a:t>44</a:t>
            </a:fld>
            <a:endParaRPr lang="en-US"/>
          </a:p>
        </p:txBody>
      </p:sp>
    </p:spTree>
    <p:extLst>
      <p:ext uri="{BB962C8B-B14F-4D97-AF65-F5344CB8AC3E}">
        <p14:creationId xmlns:p14="http://schemas.microsoft.com/office/powerpoint/2010/main" val="36625242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2FFB4-3677-7322-EA4A-716C87561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460338-AEDE-6CA5-2484-081C0A28D1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94031-E7E2-E9E9-C81C-705486114474}"/>
              </a:ext>
            </a:extLst>
          </p:cNvPr>
          <p:cNvSpPr>
            <a:spLocks noGrp="1"/>
          </p:cNvSpPr>
          <p:nvPr>
            <p:ph type="body" idx="1"/>
          </p:nvPr>
        </p:nvSpPr>
        <p:spPr/>
        <p:txBody>
          <a:bodyPr/>
          <a:lstStyle/>
          <a:p>
            <a:r>
              <a:rPr lang="en-US" dirty="0"/>
              <a:t>I randomly assigned students to either the Low LD or High LD experimental groups, and I also had a control group who did not undergo perceptual training, just received typical classroom instruction same as everyone else, and waited an equivalent amount of time as the training groups in between the pre and posttest time points. </a:t>
            </a:r>
          </a:p>
        </p:txBody>
      </p:sp>
      <p:sp>
        <p:nvSpPr>
          <p:cNvPr id="4" name="Slide Number Placeholder 3">
            <a:extLst>
              <a:ext uri="{FF2B5EF4-FFF2-40B4-BE49-F238E27FC236}">
                <a16:creationId xmlns:a16="http://schemas.microsoft.com/office/drawing/2014/main" id="{687D6F53-0829-BD07-C03C-105699EAA845}"/>
              </a:ext>
            </a:extLst>
          </p:cNvPr>
          <p:cNvSpPr>
            <a:spLocks noGrp="1"/>
          </p:cNvSpPr>
          <p:nvPr>
            <p:ph type="sldNum" sz="quarter" idx="5"/>
          </p:nvPr>
        </p:nvSpPr>
        <p:spPr/>
        <p:txBody>
          <a:bodyPr/>
          <a:lstStyle/>
          <a:p>
            <a:fld id="{A5DC69EC-9432-3442-A0D7-F47D1FE63727}" type="slidenum">
              <a:rPr lang="en-US" smtClean="0"/>
              <a:t>45</a:t>
            </a:fld>
            <a:endParaRPr lang="en-US"/>
          </a:p>
        </p:txBody>
      </p:sp>
    </p:spTree>
    <p:extLst>
      <p:ext uri="{BB962C8B-B14F-4D97-AF65-F5344CB8AC3E}">
        <p14:creationId xmlns:p14="http://schemas.microsoft.com/office/powerpoint/2010/main" val="23431953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universities: Carnegie Mellon University, University of Pittsburgh, Western Michigan University, Emory University, Northwestern University, University of Washington</a:t>
            </a:r>
          </a:p>
        </p:txBody>
      </p:sp>
      <p:sp>
        <p:nvSpPr>
          <p:cNvPr id="4" name="Slide Number Placeholder 3"/>
          <p:cNvSpPr>
            <a:spLocks noGrp="1"/>
          </p:cNvSpPr>
          <p:nvPr>
            <p:ph type="sldNum" sz="quarter" idx="5"/>
          </p:nvPr>
        </p:nvSpPr>
        <p:spPr/>
        <p:txBody>
          <a:bodyPr/>
          <a:lstStyle/>
          <a:p>
            <a:fld id="{A5DC69EC-9432-3442-A0D7-F47D1FE63727}" type="slidenum">
              <a:rPr lang="en-US" smtClean="0"/>
              <a:t>46</a:t>
            </a:fld>
            <a:endParaRPr lang="en-US"/>
          </a:p>
        </p:txBody>
      </p:sp>
    </p:spTree>
    <p:extLst>
      <p:ext uri="{BB962C8B-B14F-4D97-AF65-F5344CB8AC3E}">
        <p14:creationId xmlns:p14="http://schemas.microsoft.com/office/powerpoint/2010/main" val="1825006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 mentioned, the VAS and discrimination pre and posttests were the same as in Study 2, but the addition to study 3 was a listening assessment task where I tested participants abilities to accurately perceive the target phonemic contrasts in naturalistic speech recordings to simulate the kind of language demands they might actually face in the wild. </a:t>
            </a:r>
          </a:p>
          <a:p>
            <a:endParaRPr lang="en-US" dirty="0"/>
          </a:p>
          <a:p>
            <a:r>
              <a:rPr lang="en-US" dirty="0"/>
              <a:t>In the task, participants read a sentence with a missing word and needed choose the most appropriate answer after listening to the recording, like this</a:t>
            </a:r>
          </a:p>
          <a:p>
            <a:endParaRPr lang="en-US" dirty="0"/>
          </a:p>
          <a:p>
            <a:r>
              <a:rPr lang="en-US" dirty="0"/>
              <a:t>however, the tricky part is that I designed all of the choices to be the contrasting word in the minimal pair to be phonemically or phonetically similar to the correct answer, </a:t>
            </a:r>
          </a:p>
          <a:p>
            <a:endParaRPr lang="en-US" dirty="0"/>
          </a:p>
          <a:p>
            <a:r>
              <a:rPr lang="en-US" dirty="0"/>
              <a:t>which in this case is </a:t>
            </a:r>
            <a:r>
              <a:rPr lang="en-US" dirty="0" err="1"/>
              <a:t>kiita</a:t>
            </a:r>
            <a:r>
              <a:rPr lang="en-US" dirty="0"/>
              <a:t>, so this tests participants’ listening accuracy in the face of phonemically similar competition. the sentences were all syntactically ambiguous, and so this simulates a real world hearing situation where a person might be confused on if they heard </a:t>
            </a:r>
            <a:r>
              <a:rPr lang="en-US" dirty="0" err="1"/>
              <a:t>kiita</a:t>
            </a:r>
            <a:r>
              <a:rPr lang="en-US" dirty="0"/>
              <a:t> or kitta. they have to rely on accurate perception, and not context clues, to parse what what said</a:t>
            </a:r>
          </a:p>
        </p:txBody>
      </p:sp>
      <p:sp>
        <p:nvSpPr>
          <p:cNvPr id="4" name="Slide Number Placeholder 3"/>
          <p:cNvSpPr>
            <a:spLocks noGrp="1"/>
          </p:cNvSpPr>
          <p:nvPr>
            <p:ph type="sldNum" sz="quarter" idx="5"/>
          </p:nvPr>
        </p:nvSpPr>
        <p:spPr/>
        <p:txBody>
          <a:bodyPr/>
          <a:lstStyle/>
          <a:p>
            <a:fld id="{A5DC69EC-9432-3442-A0D7-F47D1FE63727}" type="slidenum">
              <a:rPr lang="en-US" smtClean="0"/>
              <a:t>47</a:t>
            </a:fld>
            <a:endParaRPr lang="en-US"/>
          </a:p>
        </p:txBody>
      </p:sp>
    </p:spTree>
    <p:extLst>
      <p:ext uri="{BB962C8B-B14F-4D97-AF65-F5344CB8AC3E}">
        <p14:creationId xmlns:p14="http://schemas.microsoft.com/office/powerpoint/2010/main" val="6574428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move onto the results of study 3, I first explored whether the longitudinal specific LD training paradigm lead listeners to more gradient categorization, so low slope and response variability, after training, and I predicted the strongest effect for the high LD group, follow by the Low LD group, with no effect for the control group who did not undergo perceptual training</a:t>
            </a:r>
          </a:p>
        </p:txBody>
      </p:sp>
      <p:sp>
        <p:nvSpPr>
          <p:cNvPr id="4" name="Slide Number Placeholder 3"/>
          <p:cNvSpPr>
            <a:spLocks noGrp="1"/>
          </p:cNvSpPr>
          <p:nvPr>
            <p:ph type="sldNum" sz="quarter" idx="5"/>
          </p:nvPr>
        </p:nvSpPr>
        <p:spPr/>
        <p:txBody>
          <a:bodyPr/>
          <a:lstStyle/>
          <a:p>
            <a:fld id="{A5DC69EC-9432-3442-A0D7-F47D1FE63727}" type="slidenum">
              <a:rPr lang="en-US" smtClean="0"/>
              <a:t>48</a:t>
            </a:fld>
            <a:endParaRPr lang="en-US"/>
          </a:p>
        </p:txBody>
      </p:sp>
    </p:spTree>
    <p:extLst>
      <p:ext uri="{BB962C8B-B14F-4D97-AF65-F5344CB8AC3E}">
        <p14:creationId xmlns:p14="http://schemas.microsoft.com/office/powerpoint/2010/main" val="41740837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like study 2, the categorization measures were not very different between the Low LD and High LD training groups. interestingly, for response variability, there seems to be a trend that the training groups differed from the control group, however, this effect was not statistically significant. in fact, the average group values for slope and response variability were not statistically significantly different from before to after the training period for any of the groups.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given the low sample sizes, I was hesitant to come to any strong conclusion for these results one way or the other, and have deemed this result, for now, inconclusive</a:t>
            </a:r>
          </a:p>
        </p:txBody>
      </p:sp>
      <p:sp>
        <p:nvSpPr>
          <p:cNvPr id="4" name="Slide Number Placeholder 3"/>
          <p:cNvSpPr>
            <a:spLocks noGrp="1"/>
          </p:cNvSpPr>
          <p:nvPr>
            <p:ph type="sldNum" sz="quarter" idx="5"/>
          </p:nvPr>
        </p:nvSpPr>
        <p:spPr/>
        <p:txBody>
          <a:bodyPr/>
          <a:lstStyle/>
          <a:p>
            <a:fld id="{A5DC69EC-9432-3442-A0D7-F47D1FE63727}" type="slidenum">
              <a:rPr lang="en-US" smtClean="0"/>
              <a:t>49</a:t>
            </a:fld>
            <a:endParaRPr lang="en-US"/>
          </a:p>
        </p:txBody>
      </p:sp>
    </p:spTree>
    <p:extLst>
      <p:ext uri="{BB962C8B-B14F-4D97-AF65-F5344CB8AC3E}">
        <p14:creationId xmlns:p14="http://schemas.microsoft.com/office/powerpoint/2010/main" val="27980854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5EAA1-9510-51DE-22EB-FDCC61BF4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C8F5D-6722-49F8-2D79-BC57ECEA1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B2CEA2-A305-36F6-26B6-950E3976EC27}"/>
              </a:ext>
            </a:extLst>
          </p:cNvPr>
          <p:cNvSpPr>
            <a:spLocks noGrp="1"/>
          </p:cNvSpPr>
          <p:nvPr>
            <p:ph type="body" idx="1"/>
          </p:nvPr>
        </p:nvSpPr>
        <p:spPr/>
        <p:txBody>
          <a:bodyPr/>
          <a:lstStyle/>
          <a:p>
            <a:r>
              <a:rPr lang="en-US" dirty="0"/>
              <a:t>for the effect of the specific LD training on the two L2 learning outcomes, I predicted similar outcomes between the two tasks where all groups would show signs of learning after the period of training, or just classroom instruction for the control group, but that learning would be greater for the two training groups, and greatest for the High LD group</a:t>
            </a:r>
          </a:p>
        </p:txBody>
      </p:sp>
      <p:sp>
        <p:nvSpPr>
          <p:cNvPr id="4" name="Slide Number Placeholder 3">
            <a:extLst>
              <a:ext uri="{FF2B5EF4-FFF2-40B4-BE49-F238E27FC236}">
                <a16:creationId xmlns:a16="http://schemas.microsoft.com/office/drawing/2014/main" id="{CC7FC644-8C20-33E9-1875-70FA229E43D3}"/>
              </a:ext>
            </a:extLst>
          </p:cNvPr>
          <p:cNvSpPr>
            <a:spLocks noGrp="1"/>
          </p:cNvSpPr>
          <p:nvPr>
            <p:ph type="sldNum" sz="quarter" idx="5"/>
          </p:nvPr>
        </p:nvSpPr>
        <p:spPr/>
        <p:txBody>
          <a:bodyPr/>
          <a:lstStyle/>
          <a:p>
            <a:fld id="{A5DC69EC-9432-3442-A0D7-F47D1FE63727}" type="slidenum">
              <a:rPr lang="en-US" smtClean="0"/>
              <a:t>50</a:t>
            </a:fld>
            <a:endParaRPr lang="en-US"/>
          </a:p>
        </p:txBody>
      </p:sp>
    </p:spTree>
    <p:extLst>
      <p:ext uri="{BB962C8B-B14F-4D97-AF65-F5344CB8AC3E}">
        <p14:creationId xmlns:p14="http://schemas.microsoft.com/office/powerpoint/2010/main" val="32902821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what I saw was, despite these trend lines, the three groups did not significantly improve in perceptual discrimination and listening assessment accuracy from pretest to posttest. however, although there was no difference between the low LD and high LD groups, these trends *seem* to show a difference between the control groups and training groups,</a:t>
            </a:r>
          </a:p>
          <a:p>
            <a:endParaRPr lang="en-US" dirty="0"/>
          </a:p>
          <a:p>
            <a:r>
              <a:rPr lang="en-US" dirty="0"/>
              <a:t>suggesting that the perceptual training *may* have had some sort of effect on L2 perceptual accuracy that was captured in both of these tasks separately. </a:t>
            </a:r>
          </a:p>
          <a:p>
            <a:endParaRPr lang="en-US" dirty="0"/>
          </a:p>
          <a:p>
            <a:r>
              <a:rPr lang="en-US" dirty="0"/>
              <a:t>this effect was not significant, so this study would benefit from a replication using larger sample sizes to determine if there is a true effect of perceptual training as a supplement to classroom instruction</a:t>
            </a:r>
          </a:p>
        </p:txBody>
      </p:sp>
      <p:sp>
        <p:nvSpPr>
          <p:cNvPr id="4" name="Slide Number Placeholder 3"/>
          <p:cNvSpPr>
            <a:spLocks noGrp="1"/>
          </p:cNvSpPr>
          <p:nvPr>
            <p:ph type="sldNum" sz="quarter" idx="5"/>
          </p:nvPr>
        </p:nvSpPr>
        <p:spPr/>
        <p:txBody>
          <a:bodyPr/>
          <a:lstStyle/>
          <a:p>
            <a:fld id="{A5DC69EC-9432-3442-A0D7-F47D1FE63727}" type="slidenum">
              <a:rPr lang="en-US" smtClean="0"/>
              <a:t>51</a:t>
            </a:fld>
            <a:endParaRPr lang="en-US"/>
          </a:p>
        </p:txBody>
      </p:sp>
    </p:spTree>
    <p:extLst>
      <p:ext uri="{BB962C8B-B14F-4D97-AF65-F5344CB8AC3E}">
        <p14:creationId xmlns:p14="http://schemas.microsoft.com/office/powerpoint/2010/main" val="10798888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findings of all three studies</a:t>
            </a:r>
          </a:p>
        </p:txBody>
      </p:sp>
      <p:sp>
        <p:nvSpPr>
          <p:cNvPr id="4" name="Slide Number Placeholder 3"/>
          <p:cNvSpPr>
            <a:spLocks noGrp="1"/>
          </p:cNvSpPr>
          <p:nvPr>
            <p:ph type="sldNum" sz="quarter" idx="5"/>
          </p:nvPr>
        </p:nvSpPr>
        <p:spPr/>
        <p:txBody>
          <a:bodyPr/>
          <a:lstStyle/>
          <a:p>
            <a:fld id="{A5DC69EC-9432-3442-A0D7-F47D1FE63727}" type="slidenum">
              <a:rPr lang="en-US" smtClean="0"/>
              <a:t>52</a:t>
            </a:fld>
            <a:endParaRPr lang="en-US"/>
          </a:p>
        </p:txBody>
      </p:sp>
    </p:spTree>
    <p:extLst>
      <p:ext uri="{BB962C8B-B14F-4D97-AF65-F5344CB8AC3E}">
        <p14:creationId xmlns:p14="http://schemas.microsoft.com/office/powerpoint/2010/main" val="37167967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3434E-0AD2-3A44-09D7-00B949E57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02DEB-27F6-C91F-5130-656054255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7EA4E6-EC40-6E9F-0EB2-F6960F6E1884}"/>
              </a:ext>
            </a:extLst>
          </p:cNvPr>
          <p:cNvSpPr>
            <a:spLocks noGrp="1"/>
          </p:cNvSpPr>
          <p:nvPr>
            <p:ph type="body" idx="1"/>
          </p:nvPr>
        </p:nvSpPr>
        <p:spPr/>
        <p:txBody>
          <a:bodyPr/>
          <a:lstStyle/>
          <a:p>
            <a:pPr algn="l"/>
            <a:r>
              <a:rPr lang="en-US" sz="1200" dirty="0">
                <a:solidFill>
                  <a:schemeClr val="tx1"/>
                </a:solidFill>
              </a:rPr>
              <a:t>I go back to my original overarching research question and the relationships I looked at between each of these three factors. first, I found that </a:t>
            </a:r>
          </a:p>
          <a:p>
            <a:pPr algn="l"/>
            <a:endParaRPr lang="en-US" sz="1200" dirty="0">
              <a:solidFill>
                <a:schemeClr val="tx1"/>
              </a:solidFill>
            </a:endParaRPr>
          </a:p>
          <a:p>
            <a:pPr algn="l"/>
            <a:r>
              <a:rPr lang="en-US" sz="1200" dirty="0">
                <a:solidFill>
                  <a:schemeClr val="tx1"/>
                </a:solidFill>
              </a:rPr>
              <a:t>Linguistic diversity did not explain the individual differences in categorization response patterns. second, I found that</a:t>
            </a:r>
          </a:p>
          <a:p>
            <a:pPr algn="l"/>
            <a:endParaRPr lang="en-US" sz="1200" dirty="0">
              <a:solidFill>
                <a:schemeClr val="tx1"/>
              </a:solidFill>
            </a:endParaRPr>
          </a:p>
          <a:p>
            <a:pPr algn="l"/>
            <a:r>
              <a:rPr lang="en-US" sz="1200" dirty="0">
                <a:solidFill>
                  <a:schemeClr val="tx1"/>
                </a:solidFill>
              </a:rPr>
              <a:t>that training with multiple languages did not provide an additional learning advantage beyond training with just the target language. lastly, I found that </a:t>
            </a:r>
          </a:p>
          <a:p>
            <a:pPr algn="l"/>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gradient categorization did not play a role in improving perceptual discrimination accuracy.</a:t>
            </a:r>
            <a:endParaRPr lang="en-US" dirty="0"/>
          </a:p>
          <a:p>
            <a:endParaRPr lang="en-US" dirty="0"/>
          </a:p>
        </p:txBody>
      </p:sp>
      <p:sp>
        <p:nvSpPr>
          <p:cNvPr id="4" name="Slide Number Placeholder 3">
            <a:extLst>
              <a:ext uri="{FF2B5EF4-FFF2-40B4-BE49-F238E27FC236}">
                <a16:creationId xmlns:a16="http://schemas.microsoft.com/office/drawing/2014/main" id="{00BFBCF0-862E-720A-C436-F2C210D69074}"/>
              </a:ext>
            </a:extLst>
          </p:cNvPr>
          <p:cNvSpPr>
            <a:spLocks noGrp="1"/>
          </p:cNvSpPr>
          <p:nvPr>
            <p:ph type="sldNum" sz="quarter" idx="5"/>
          </p:nvPr>
        </p:nvSpPr>
        <p:spPr/>
        <p:txBody>
          <a:bodyPr/>
          <a:lstStyle/>
          <a:p>
            <a:fld id="{A5D6B064-0EEE-374E-BF10-D19F80FA8825}" type="slidenum">
              <a:rPr lang="en-US" smtClean="0"/>
              <a:t>53</a:t>
            </a:fld>
            <a:endParaRPr lang="en-US"/>
          </a:p>
        </p:txBody>
      </p:sp>
    </p:spTree>
    <p:extLst>
      <p:ext uri="{BB962C8B-B14F-4D97-AF65-F5344CB8AC3E}">
        <p14:creationId xmlns:p14="http://schemas.microsoft.com/office/powerpoint/2010/main" val="20471435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steps for this research of course to replicate the studies with larger sample sizes, but the research also benefit from refining and validating the research instruments I created. this could involve validating Part 2 of the LDQ, expanding the specific LD training paradigm to include more languages and/or different contrasts, and perhaps having the training be a semester-long or year-long supplement, using the VAS task to assess perception for a wider range of languages and contrasts</a:t>
            </a:r>
          </a:p>
          <a:p>
            <a:endParaRPr lang="en-US" dirty="0"/>
          </a:p>
        </p:txBody>
      </p:sp>
      <p:sp>
        <p:nvSpPr>
          <p:cNvPr id="4" name="Slide Number Placeholder 3"/>
          <p:cNvSpPr>
            <a:spLocks noGrp="1"/>
          </p:cNvSpPr>
          <p:nvPr>
            <p:ph type="sldNum" sz="quarter" idx="5"/>
          </p:nvPr>
        </p:nvSpPr>
        <p:spPr/>
        <p:txBody>
          <a:bodyPr/>
          <a:lstStyle/>
          <a:p>
            <a:fld id="{A5DC69EC-9432-3442-A0D7-F47D1FE63727}" type="slidenum">
              <a:rPr lang="en-US" smtClean="0"/>
              <a:t>54</a:t>
            </a:fld>
            <a:endParaRPr lang="en-US"/>
          </a:p>
        </p:txBody>
      </p:sp>
    </p:spTree>
    <p:extLst>
      <p:ext uri="{BB962C8B-B14F-4D97-AF65-F5344CB8AC3E}">
        <p14:creationId xmlns:p14="http://schemas.microsoft.com/office/powerpoint/2010/main" val="28296225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regarding the multiple choice partial dictation task, future research should further validate the task, and it could be used in a classroom setting not just as a summative assessment, but as a diagnostic assessment to identify and address particularly problematic phonemic contrasts, and which contrasts are difficult for which students depending on their language backgrounds.</a:t>
            </a:r>
          </a:p>
          <a:p>
            <a:endParaRPr lang="en-US" dirty="0"/>
          </a:p>
        </p:txBody>
      </p:sp>
      <p:sp>
        <p:nvSpPr>
          <p:cNvPr id="4" name="Slide Number Placeholder 3"/>
          <p:cNvSpPr>
            <a:spLocks noGrp="1"/>
          </p:cNvSpPr>
          <p:nvPr>
            <p:ph type="sldNum" sz="quarter" idx="5"/>
          </p:nvPr>
        </p:nvSpPr>
        <p:spPr/>
        <p:txBody>
          <a:bodyPr/>
          <a:lstStyle/>
          <a:p>
            <a:fld id="{A5DC69EC-9432-3442-A0D7-F47D1FE63727}" type="slidenum">
              <a:rPr lang="en-US" smtClean="0"/>
              <a:t>55</a:t>
            </a:fld>
            <a:endParaRPr lang="en-US"/>
          </a:p>
        </p:txBody>
      </p:sp>
    </p:spTree>
    <p:extLst>
      <p:ext uri="{BB962C8B-B14F-4D97-AF65-F5344CB8AC3E}">
        <p14:creationId xmlns:p14="http://schemas.microsoft.com/office/powerpoint/2010/main" val="13356410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regards to classroom learning, I want to return to this takeaway that there may be a perceptual benefit to including perceptual training to supplement classroom instruction. that may not look exactly as it did in this research project, and the data didn’t suggest that it needs to be linguistic diversity training, but providing L2 learners with more opportunities to focus on difficult speech contrasts seems to lead to improvements beyond learning gained from classroom instruction. this is important because there is only so much classroom time and a lot of material to learn in a lot of different aspects, so focusing on minimal pairs is often not viewed as a priority. this research provides at least some preliminary evidence that giving learners focused time with something as simple as minimal pair training outside of class time can be meaningful in their L2 speech learning journeys. Thank you.</a:t>
            </a:r>
          </a:p>
        </p:txBody>
      </p:sp>
      <p:sp>
        <p:nvSpPr>
          <p:cNvPr id="4" name="Slide Number Placeholder 3"/>
          <p:cNvSpPr>
            <a:spLocks noGrp="1"/>
          </p:cNvSpPr>
          <p:nvPr>
            <p:ph type="sldNum" sz="quarter" idx="5"/>
          </p:nvPr>
        </p:nvSpPr>
        <p:spPr/>
        <p:txBody>
          <a:bodyPr/>
          <a:lstStyle/>
          <a:p>
            <a:fld id="{A5DC69EC-9432-3442-A0D7-F47D1FE63727}" type="slidenum">
              <a:rPr lang="en-US" smtClean="0"/>
              <a:t>56</a:t>
            </a:fld>
            <a:endParaRPr lang="en-US"/>
          </a:p>
        </p:txBody>
      </p:sp>
    </p:spTree>
    <p:extLst>
      <p:ext uri="{BB962C8B-B14F-4D97-AF65-F5344CB8AC3E}">
        <p14:creationId xmlns:p14="http://schemas.microsoft.com/office/powerpoint/2010/main" val="22920246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[script needed]</a:t>
            </a:r>
          </a:p>
          <a:p>
            <a:endParaRPr lang="en-US" dirty="0"/>
          </a:p>
        </p:txBody>
      </p:sp>
      <p:sp>
        <p:nvSpPr>
          <p:cNvPr id="4" name="Slide Number Placeholder 3"/>
          <p:cNvSpPr>
            <a:spLocks noGrp="1"/>
          </p:cNvSpPr>
          <p:nvPr>
            <p:ph type="sldNum" sz="quarter" idx="5"/>
          </p:nvPr>
        </p:nvSpPr>
        <p:spPr/>
        <p:txBody>
          <a:bodyPr/>
          <a:lstStyle/>
          <a:p>
            <a:fld id="{A5DC69EC-9432-3442-A0D7-F47D1FE63727}" type="slidenum">
              <a:rPr lang="en-US" smtClean="0"/>
              <a:t>57</a:t>
            </a:fld>
            <a:endParaRPr lang="en-US"/>
          </a:p>
        </p:txBody>
      </p:sp>
    </p:spTree>
    <p:extLst>
      <p:ext uri="{BB962C8B-B14F-4D97-AF65-F5344CB8AC3E}">
        <p14:creationId xmlns:p14="http://schemas.microsoft.com/office/powerpoint/2010/main" val="18612110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FF32-0DA2-A0E0-D26E-9E06BE63D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7E74F-805B-47F9-DAB1-296F173B96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4AEB1-F682-9DEB-EC66-7BB542B251C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[script needed]</a:t>
            </a:r>
          </a:p>
          <a:p>
            <a:endParaRPr lang="en-US" dirty="0"/>
          </a:p>
        </p:txBody>
      </p:sp>
      <p:sp>
        <p:nvSpPr>
          <p:cNvPr id="4" name="Slide Number Placeholder 3">
            <a:extLst>
              <a:ext uri="{FF2B5EF4-FFF2-40B4-BE49-F238E27FC236}">
                <a16:creationId xmlns:a16="http://schemas.microsoft.com/office/drawing/2014/main" id="{ADD5BCE9-7DBD-3DBA-1067-77F4465F1B5C}"/>
              </a:ext>
            </a:extLst>
          </p:cNvPr>
          <p:cNvSpPr>
            <a:spLocks noGrp="1"/>
          </p:cNvSpPr>
          <p:nvPr>
            <p:ph type="sldNum" sz="quarter" idx="5"/>
          </p:nvPr>
        </p:nvSpPr>
        <p:spPr/>
        <p:txBody>
          <a:bodyPr/>
          <a:lstStyle/>
          <a:p>
            <a:fld id="{A5D6B064-0EEE-374E-BF10-D19F80FA8825}" type="slidenum">
              <a:rPr lang="en-US" smtClean="0"/>
              <a:t>58</a:t>
            </a:fld>
            <a:endParaRPr lang="en-US"/>
          </a:p>
        </p:txBody>
      </p:sp>
    </p:spTree>
    <p:extLst>
      <p:ext uri="{BB962C8B-B14F-4D97-AF65-F5344CB8AC3E}">
        <p14:creationId xmlns:p14="http://schemas.microsoft.com/office/powerpoint/2010/main" val="12370255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991A3-D49A-A18E-2775-2DF72FAEB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501B6-61B9-38AF-3EDD-F31176ADB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822EE-AD1A-596B-2FAA-D93AC50A44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[script needed]</a:t>
            </a:r>
          </a:p>
          <a:p>
            <a:endParaRPr lang="en-US" dirty="0"/>
          </a:p>
        </p:txBody>
      </p:sp>
      <p:sp>
        <p:nvSpPr>
          <p:cNvPr id="4" name="Slide Number Placeholder 3">
            <a:extLst>
              <a:ext uri="{FF2B5EF4-FFF2-40B4-BE49-F238E27FC236}">
                <a16:creationId xmlns:a16="http://schemas.microsoft.com/office/drawing/2014/main" id="{6C3E9826-D817-CA9D-7568-5B395A1C9732}"/>
              </a:ext>
            </a:extLst>
          </p:cNvPr>
          <p:cNvSpPr>
            <a:spLocks noGrp="1"/>
          </p:cNvSpPr>
          <p:nvPr>
            <p:ph type="sldNum" sz="quarter" idx="5"/>
          </p:nvPr>
        </p:nvSpPr>
        <p:spPr/>
        <p:txBody>
          <a:bodyPr/>
          <a:lstStyle/>
          <a:p>
            <a:fld id="{A5D6B064-0EEE-374E-BF10-D19F80FA8825}" type="slidenum">
              <a:rPr lang="en-US" smtClean="0"/>
              <a:t>59</a:t>
            </a:fld>
            <a:endParaRPr lang="en-US"/>
          </a:p>
        </p:txBody>
      </p:sp>
    </p:spTree>
    <p:extLst>
      <p:ext uri="{BB962C8B-B14F-4D97-AF65-F5344CB8AC3E}">
        <p14:creationId xmlns:p14="http://schemas.microsoft.com/office/powerpoint/2010/main" val="33226558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68BB1-2496-B321-F4D7-9A03142E1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9B7E6-7162-678B-E21E-01B339ED71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CF18D8-3BDB-2281-547E-A28CB81FB30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[script needed]</a:t>
            </a:r>
          </a:p>
          <a:p>
            <a:endParaRPr lang="en-US" dirty="0"/>
          </a:p>
        </p:txBody>
      </p:sp>
      <p:sp>
        <p:nvSpPr>
          <p:cNvPr id="4" name="Slide Number Placeholder 3">
            <a:extLst>
              <a:ext uri="{FF2B5EF4-FFF2-40B4-BE49-F238E27FC236}">
                <a16:creationId xmlns:a16="http://schemas.microsoft.com/office/drawing/2014/main" id="{B0A9B790-224D-C958-EF93-1AEAB0391833}"/>
              </a:ext>
            </a:extLst>
          </p:cNvPr>
          <p:cNvSpPr>
            <a:spLocks noGrp="1"/>
          </p:cNvSpPr>
          <p:nvPr>
            <p:ph type="sldNum" sz="quarter" idx="5"/>
          </p:nvPr>
        </p:nvSpPr>
        <p:spPr/>
        <p:txBody>
          <a:bodyPr/>
          <a:lstStyle/>
          <a:p>
            <a:fld id="{A5D6B064-0EEE-374E-BF10-D19F80FA8825}" type="slidenum">
              <a:rPr lang="en-US" smtClean="0"/>
              <a:t>60</a:t>
            </a:fld>
            <a:endParaRPr lang="en-US"/>
          </a:p>
        </p:txBody>
      </p:sp>
    </p:spTree>
    <p:extLst>
      <p:ext uri="{BB962C8B-B14F-4D97-AF65-F5344CB8AC3E}">
        <p14:creationId xmlns:p14="http://schemas.microsoft.com/office/powerpoint/2010/main" val="38623102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lot I cannot talk about due to time but I welcome questions</a:t>
            </a:r>
          </a:p>
        </p:txBody>
      </p:sp>
      <p:sp>
        <p:nvSpPr>
          <p:cNvPr id="4" name="Slide Number Placeholder 3"/>
          <p:cNvSpPr>
            <a:spLocks noGrp="1"/>
          </p:cNvSpPr>
          <p:nvPr>
            <p:ph type="sldNum" sz="quarter" idx="5"/>
          </p:nvPr>
        </p:nvSpPr>
        <p:spPr/>
        <p:txBody>
          <a:bodyPr/>
          <a:lstStyle/>
          <a:p>
            <a:fld id="{A5DC69EC-9432-3442-A0D7-F47D1FE63727}" type="slidenum">
              <a:rPr lang="en-US" smtClean="0"/>
              <a:t>61</a:t>
            </a:fld>
            <a:endParaRPr lang="en-US"/>
          </a:p>
        </p:txBody>
      </p:sp>
    </p:spTree>
    <p:extLst>
      <p:ext uri="{BB962C8B-B14F-4D97-AF65-F5344CB8AC3E}">
        <p14:creationId xmlns:p14="http://schemas.microsoft.com/office/powerpoint/2010/main" val="1409235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points should last no more than 30 seconds</a:t>
            </a:r>
          </a:p>
          <a:p>
            <a:r>
              <a:rPr lang="en-US" dirty="0"/>
              <a:t>they can all be slide titles</a:t>
            </a:r>
          </a:p>
        </p:txBody>
      </p:sp>
      <p:sp>
        <p:nvSpPr>
          <p:cNvPr id="4" name="Slide Number Placeholder 3"/>
          <p:cNvSpPr>
            <a:spLocks noGrp="1"/>
          </p:cNvSpPr>
          <p:nvPr>
            <p:ph type="sldNum" sz="quarter" idx="5"/>
          </p:nvPr>
        </p:nvSpPr>
        <p:spPr/>
        <p:txBody>
          <a:bodyPr/>
          <a:lstStyle/>
          <a:p>
            <a:fld id="{A5DC69EC-9432-3442-A0D7-F47D1FE63727}" type="slidenum">
              <a:rPr lang="en-US" smtClean="0"/>
              <a:t>62</a:t>
            </a:fld>
            <a:endParaRPr lang="en-US"/>
          </a:p>
        </p:txBody>
      </p:sp>
    </p:spTree>
    <p:extLst>
      <p:ext uri="{BB962C8B-B14F-4D97-AF65-F5344CB8AC3E}">
        <p14:creationId xmlns:p14="http://schemas.microsoft.com/office/powerpoint/2010/main" val="36813458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targeted exposure to linguistic diversity related to L2 linguistic targets shift the perceptual system towards gradient perception?</a:t>
            </a:r>
          </a:p>
          <a:p>
            <a:r>
              <a:rPr lang="en-US" dirty="0"/>
              <a:t>Does this linguistic diversity perceptual training lead to changes in L2 cue-weighting strategies?</a:t>
            </a:r>
          </a:p>
          <a:p>
            <a:r>
              <a:rPr lang="en-US" dirty="0"/>
              <a:t>Does this linguistic diversity perceptual training result in measurable improvement L2 speech perception as measured through listening assessments?</a:t>
            </a:r>
          </a:p>
          <a:p>
            <a:endParaRPr lang="en-US" dirty="0"/>
          </a:p>
        </p:txBody>
      </p:sp>
      <p:sp>
        <p:nvSpPr>
          <p:cNvPr id="4" name="Slide Number Placeholder 3"/>
          <p:cNvSpPr>
            <a:spLocks noGrp="1"/>
          </p:cNvSpPr>
          <p:nvPr>
            <p:ph type="sldNum" sz="quarter" idx="5"/>
          </p:nvPr>
        </p:nvSpPr>
        <p:spPr/>
        <p:txBody>
          <a:bodyPr/>
          <a:lstStyle/>
          <a:p>
            <a:fld id="{D067DEF4-12E1-704E-99CF-5EE797459BC3}" type="slidenum">
              <a:rPr lang="en-US" smtClean="0"/>
              <a:t>63</a:t>
            </a:fld>
            <a:endParaRPr lang="en-US"/>
          </a:p>
        </p:txBody>
      </p:sp>
    </p:spTree>
    <p:extLst>
      <p:ext uri="{BB962C8B-B14F-4D97-AF65-F5344CB8AC3E}">
        <p14:creationId xmlns:p14="http://schemas.microsoft.com/office/powerpoint/2010/main" val="23059812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targeted exposure to linguistic diversity related to L2 linguistic targets shift the perceptual system towards gradient perception?</a:t>
            </a:r>
          </a:p>
          <a:p>
            <a:r>
              <a:rPr lang="en-US" dirty="0"/>
              <a:t>Does this linguistic diversity perceptual training lead to changes in L2 cue-weighting strategies?</a:t>
            </a:r>
          </a:p>
          <a:p>
            <a:r>
              <a:rPr lang="en-US" dirty="0"/>
              <a:t>Does this linguistic diversity perceptual training result in measurable improvement L2 speech perception as measured through listening assessments?</a:t>
            </a:r>
          </a:p>
          <a:p>
            <a:endParaRPr lang="en-US" dirty="0"/>
          </a:p>
        </p:txBody>
      </p:sp>
      <p:sp>
        <p:nvSpPr>
          <p:cNvPr id="4" name="Slide Number Placeholder 3"/>
          <p:cNvSpPr>
            <a:spLocks noGrp="1"/>
          </p:cNvSpPr>
          <p:nvPr>
            <p:ph type="sldNum" sz="quarter" idx="5"/>
          </p:nvPr>
        </p:nvSpPr>
        <p:spPr/>
        <p:txBody>
          <a:bodyPr/>
          <a:lstStyle/>
          <a:p>
            <a:fld id="{D067DEF4-12E1-704E-99CF-5EE797459BC3}" type="slidenum">
              <a:rPr lang="en-US" smtClean="0"/>
              <a:t>64</a:t>
            </a:fld>
            <a:endParaRPr lang="en-US"/>
          </a:p>
        </p:txBody>
      </p:sp>
    </p:spTree>
    <p:extLst>
      <p:ext uri="{BB962C8B-B14F-4D97-AF65-F5344CB8AC3E}">
        <p14:creationId xmlns:p14="http://schemas.microsoft.com/office/powerpoint/2010/main" val="30590030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targeted exposure to linguistic diversity related to L2 linguistic targets shift the perceptual system towards gradient perception?</a:t>
            </a:r>
          </a:p>
          <a:p>
            <a:r>
              <a:rPr lang="en-US" dirty="0"/>
              <a:t>Does this linguistic diversity perceptual training lead to changes in L2 cue-weighting strategies?</a:t>
            </a:r>
          </a:p>
          <a:p>
            <a:r>
              <a:rPr lang="en-US" dirty="0"/>
              <a:t>Does this linguistic diversity perceptual training result in measurable improvement L2 speech perception as measured through listening assessments?</a:t>
            </a:r>
          </a:p>
          <a:p>
            <a:endParaRPr lang="en-US" dirty="0"/>
          </a:p>
        </p:txBody>
      </p:sp>
      <p:sp>
        <p:nvSpPr>
          <p:cNvPr id="4" name="Slide Number Placeholder 3"/>
          <p:cNvSpPr>
            <a:spLocks noGrp="1"/>
          </p:cNvSpPr>
          <p:nvPr>
            <p:ph type="sldNum" sz="quarter" idx="5"/>
          </p:nvPr>
        </p:nvSpPr>
        <p:spPr/>
        <p:txBody>
          <a:bodyPr/>
          <a:lstStyle/>
          <a:p>
            <a:fld id="{D067DEF4-12E1-704E-99CF-5EE797459BC3}" type="slidenum">
              <a:rPr lang="en-US" smtClean="0"/>
              <a:t>65</a:t>
            </a:fld>
            <a:endParaRPr lang="en-US"/>
          </a:p>
        </p:txBody>
      </p:sp>
    </p:spTree>
    <p:extLst>
      <p:ext uri="{BB962C8B-B14F-4D97-AF65-F5344CB8AC3E}">
        <p14:creationId xmlns:p14="http://schemas.microsoft.com/office/powerpoint/2010/main" val="10654980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recruited L1 English monolinguals and multilinguals from prolific</a:t>
            </a:r>
          </a:p>
          <a:p>
            <a:endParaRPr lang="en-US" dirty="0"/>
          </a:p>
          <a:p>
            <a:r>
              <a:rPr lang="en-US" dirty="0"/>
              <a:t>(just list the four pairs, and share example of continuum)</a:t>
            </a:r>
          </a:p>
          <a:p>
            <a:endParaRPr lang="en-US" dirty="0"/>
          </a:p>
          <a:p>
            <a:r>
              <a:rPr lang="en-US" dirty="0"/>
              <a:t>this is too busy, redo this in the previous slide</a:t>
            </a:r>
          </a:p>
        </p:txBody>
      </p:sp>
      <p:sp>
        <p:nvSpPr>
          <p:cNvPr id="4" name="Slide Number Placeholder 3"/>
          <p:cNvSpPr>
            <a:spLocks noGrp="1"/>
          </p:cNvSpPr>
          <p:nvPr>
            <p:ph type="sldNum" sz="quarter" idx="5"/>
          </p:nvPr>
        </p:nvSpPr>
        <p:spPr/>
        <p:txBody>
          <a:bodyPr/>
          <a:lstStyle/>
          <a:p>
            <a:fld id="{A5DC69EC-9432-3442-A0D7-F47D1FE63727}" type="slidenum">
              <a:rPr lang="en-US" smtClean="0"/>
              <a:t>68</a:t>
            </a:fld>
            <a:endParaRPr lang="en-US"/>
          </a:p>
        </p:txBody>
      </p:sp>
    </p:spTree>
    <p:extLst>
      <p:ext uri="{BB962C8B-B14F-4D97-AF65-F5344CB8AC3E}">
        <p14:creationId xmlns:p14="http://schemas.microsoft.com/office/powerpoint/2010/main" val="115032762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quantify experiential linguistic diversity, the LDQ scored two factors using the multilingual language diversity, or MLD, index, a measure based on language entropy. this index offers a continuous measure of multilingualism by quantifying </a:t>
            </a:r>
            <a:r>
              <a:rPr lang="en-US" i="1" dirty="0"/>
              <a:t>balanced</a:t>
            </a:r>
            <a:r>
              <a:rPr lang="en-US" i="0" dirty="0"/>
              <a:t> language use, or the integration of multiple languages in a given context. we don’t have time to go into the math, but just know that the MLD index has a range of 0 to 2, where 0 indicates use of only a single language, and scores of 1, 1.58, and 2 indicate balanced use of 2, 3, and 4 languages respectively</a:t>
            </a:r>
          </a:p>
          <a:p>
            <a:r>
              <a:rPr lang="en-US" i="0" dirty="0"/>
              <a:t>I used the LDQ to create two MLD measures, MLD-A which measures active language use and exposure, taking into account all native and learned languages in the four language aspects of speaking, listening, reading, and writing, and passive language use and exposure to languages the participant reported knowing and not knowing in the domains of listening and reading but not speaking and writing for 10 daily contexts, so for example, overhearing a foreign language in the workplace if you work in a diverse office space.</a:t>
            </a:r>
          </a:p>
          <a:p>
            <a:endParaRPr lang="en-US" i="0" dirty="0"/>
          </a:p>
          <a:p>
            <a:endParaRPr lang="en-US" i="0" dirty="0"/>
          </a:p>
          <a:p>
            <a:r>
              <a:rPr lang="en-US" i="0" dirty="0"/>
              <a:t>instead of trying to explain all of this, I can say</a:t>
            </a:r>
          </a:p>
          <a:p>
            <a:endParaRPr lang="en-US" i="0" dirty="0"/>
          </a:p>
          <a:p>
            <a:r>
              <a:rPr lang="en-US" i="0" dirty="0"/>
              <a:t>I used two scores calculated from responses to the LDQ that ranged from 0 to 2, with 0 indicating complete monolingual, and increasing numbers indicating use of or exposure to more languages</a:t>
            </a:r>
            <a:endParaRPr lang="en-US" dirty="0"/>
          </a:p>
        </p:txBody>
      </p:sp>
      <p:sp>
        <p:nvSpPr>
          <p:cNvPr id="4" name="Slide Number Placeholder 3"/>
          <p:cNvSpPr>
            <a:spLocks noGrp="1"/>
          </p:cNvSpPr>
          <p:nvPr>
            <p:ph type="sldNum" sz="quarter" idx="5"/>
          </p:nvPr>
        </p:nvSpPr>
        <p:spPr/>
        <p:txBody>
          <a:bodyPr/>
          <a:lstStyle/>
          <a:p>
            <a:fld id="{A5DC69EC-9432-3442-A0D7-F47D1FE63727}" type="slidenum">
              <a:rPr lang="en-US" smtClean="0"/>
              <a:t>69</a:t>
            </a:fld>
            <a:endParaRPr lang="en-US"/>
          </a:p>
        </p:txBody>
      </p:sp>
    </p:spTree>
    <p:extLst>
      <p:ext uri="{BB962C8B-B14F-4D97-AF65-F5344CB8AC3E}">
        <p14:creationId xmlns:p14="http://schemas.microsoft.com/office/powerpoint/2010/main" val="30718293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71</a:t>
            </a:fld>
            <a:endParaRPr lang="en-US"/>
          </a:p>
        </p:txBody>
      </p:sp>
    </p:spTree>
    <p:extLst>
      <p:ext uri="{BB962C8B-B14F-4D97-AF65-F5344CB8AC3E}">
        <p14:creationId xmlns:p14="http://schemas.microsoft.com/office/powerpoint/2010/main" val="231247128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hard to see, but most participants points lie on top of each other at 0, 0, indicating that they only speak one language in both active and passive contexts</a:t>
            </a:r>
          </a:p>
          <a:p>
            <a:endParaRPr lang="en-US" dirty="0"/>
          </a:p>
          <a:p>
            <a:r>
              <a:rPr lang="en-US" dirty="0"/>
              <a:t>not going to talk about this</a:t>
            </a:r>
          </a:p>
        </p:txBody>
      </p:sp>
      <p:sp>
        <p:nvSpPr>
          <p:cNvPr id="4" name="Slide Number Placeholder 3"/>
          <p:cNvSpPr>
            <a:spLocks noGrp="1"/>
          </p:cNvSpPr>
          <p:nvPr>
            <p:ph type="sldNum" sz="quarter" idx="5"/>
          </p:nvPr>
        </p:nvSpPr>
        <p:spPr/>
        <p:txBody>
          <a:bodyPr/>
          <a:lstStyle/>
          <a:p>
            <a:fld id="{A5DC69EC-9432-3442-A0D7-F47D1FE63727}" type="slidenum">
              <a:rPr lang="en-US" smtClean="0"/>
              <a:t>72</a:t>
            </a:fld>
            <a:endParaRPr lang="en-US"/>
          </a:p>
        </p:txBody>
      </p:sp>
    </p:spTree>
    <p:extLst>
      <p:ext uri="{BB962C8B-B14F-4D97-AF65-F5344CB8AC3E}">
        <p14:creationId xmlns:p14="http://schemas.microsoft.com/office/powerpoint/2010/main" val="38954472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VAS</a:t>
            </a:r>
          </a:p>
        </p:txBody>
      </p:sp>
      <p:sp>
        <p:nvSpPr>
          <p:cNvPr id="4" name="Slide Number Placeholder 3"/>
          <p:cNvSpPr>
            <a:spLocks noGrp="1"/>
          </p:cNvSpPr>
          <p:nvPr>
            <p:ph type="sldNum" sz="quarter" idx="5"/>
          </p:nvPr>
        </p:nvSpPr>
        <p:spPr/>
        <p:txBody>
          <a:bodyPr/>
          <a:lstStyle/>
          <a:p>
            <a:fld id="{8B1D326A-7124-D34B-B1E9-4422F4940B90}" type="slidenum">
              <a:rPr lang="en-US" smtClean="0"/>
              <a:t>73</a:t>
            </a:fld>
            <a:endParaRPr lang="en-US"/>
          </a:p>
        </p:txBody>
      </p:sp>
    </p:spTree>
    <p:extLst>
      <p:ext uri="{BB962C8B-B14F-4D97-AF65-F5344CB8AC3E}">
        <p14:creationId xmlns:p14="http://schemas.microsoft.com/office/powerpoint/2010/main" val="343074559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slope - the measure of gradiency</a:t>
            </a:r>
          </a:p>
          <a:p>
            <a:r>
              <a:rPr lang="en-US" dirty="0"/>
              <a:t>response variability - how close the dots are to the line</a:t>
            </a:r>
          </a:p>
          <a:p>
            <a:r>
              <a:rPr lang="en-US" dirty="0"/>
              <a:t>redo this graph, hide this slide</a:t>
            </a:r>
          </a:p>
          <a:p>
            <a:r>
              <a:rPr lang="en-US" dirty="0"/>
              <a:t>transition sentence -</a:t>
            </a:r>
          </a:p>
          <a:p>
            <a:r>
              <a:rPr lang="en-US" dirty="0"/>
              <a:t>so it's clear people are different, and I wanted to see what is associated with these differences, so the purpose of this study is that I wanted to see if experience with linguistic diversity predicts they way in which people are different gradiently/categorically</a:t>
            </a:r>
          </a:p>
        </p:txBody>
      </p:sp>
      <p:sp>
        <p:nvSpPr>
          <p:cNvPr id="4" name="Slide Number Placeholder 3"/>
          <p:cNvSpPr>
            <a:spLocks noGrp="1"/>
          </p:cNvSpPr>
          <p:nvPr>
            <p:ph type="sldNum" sz="quarter" idx="5"/>
          </p:nvPr>
        </p:nvSpPr>
        <p:spPr/>
        <p:txBody>
          <a:bodyPr/>
          <a:lstStyle/>
          <a:p>
            <a:fld id="{A5DC69EC-9432-3442-A0D7-F47D1FE63727}" type="slidenum">
              <a:rPr lang="en-US" smtClean="0"/>
              <a:t>78</a:t>
            </a:fld>
            <a:endParaRPr lang="en-US"/>
          </a:p>
        </p:txBody>
      </p:sp>
    </p:spTree>
    <p:extLst>
      <p:ext uri="{BB962C8B-B14F-4D97-AF65-F5344CB8AC3E}">
        <p14:creationId xmlns:p14="http://schemas.microsoft.com/office/powerpoint/2010/main" val="90116645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might not discuss secondary cue use during defense presentation</a:t>
            </a:r>
          </a:p>
        </p:txBody>
      </p:sp>
      <p:sp>
        <p:nvSpPr>
          <p:cNvPr id="4" name="Slide Number Placeholder 3"/>
          <p:cNvSpPr>
            <a:spLocks noGrp="1"/>
          </p:cNvSpPr>
          <p:nvPr>
            <p:ph type="sldNum" sz="quarter" idx="5"/>
          </p:nvPr>
        </p:nvSpPr>
        <p:spPr/>
        <p:txBody>
          <a:bodyPr/>
          <a:lstStyle/>
          <a:p>
            <a:fld id="{A5DC69EC-9432-3442-A0D7-F47D1FE63727}" type="slidenum">
              <a:rPr lang="en-US" smtClean="0"/>
              <a:t>80</a:t>
            </a:fld>
            <a:endParaRPr lang="en-US"/>
          </a:p>
        </p:txBody>
      </p:sp>
    </p:spTree>
    <p:extLst>
      <p:ext uri="{BB962C8B-B14F-4D97-AF65-F5344CB8AC3E}">
        <p14:creationId xmlns:p14="http://schemas.microsoft.com/office/powerpoint/2010/main" val="27991248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was the structure of study 2, they did VAS pre and post training, pre- and pos—test for discrimination, and the training itself, there was at least 24 hours in between</a:t>
            </a:r>
          </a:p>
          <a:p>
            <a:r>
              <a:rPr lang="en-US" dirty="0"/>
              <a:t>I will be comparing VAS pre/post training and discrimination pre/post test</a:t>
            </a:r>
          </a:p>
        </p:txBody>
      </p:sp>
      <p:sp>
        <p:nvSpPr>
          <p:cNvPr id="4" name="Slide Number Placeholder 3"/>
          <p:cNvSpPr>
            <a:spLocks noGrp="1"/>
          </p:cNvSpPr>
          <p:nvPr>
            <p:ph type="sldNum" sz="quarter" idx="5"/>
          </p:nvPr>
        </p:nvSpPr>
        <p:spPr/>
        <p:txBody>
          <a:bodyPr/>
          <a:lstStyle/>
          <a:p>
            <a:fld id="{477E7BED-2DE9-8945-A544-0A6176E9AC37}" type="slidenum">
              <a:rPr lang="en-US" smtClean="0"/>
              <a:t>81</a:t>
            </a:fld>
            <a:endParaRPr lang="en-US"/>
          </a:p>
        </p:txBody>
      </p:sp>
    </p:spTree>
    <p:extLst>
      <p:ext uri="{BB962C8B-B14F-4D97-AF65-F5344CB8AC3E}">
        <p14:creationId xmlns:p14="http://schemas.microsoft.com/office/powerpoint/2010/main" val="356888049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DC69EC-9432-3442-A0D7-F47D1FE63727}" type="slidenum">
              <a:rPr lang="en-US" smtClean="0"/>
              <a:t>83</a:t>
            </a:fld>
            <a:endParaRPr lang="en-US"/>
          </a:p>
        </p:txBody>
      </p:sp>
    </p:spTree>
    <p:extLst>
      <p:ext uri="{BB962C8B-B14F-4D97-AF65-F5344CB8AC3E}">
        <p14:creationId xmlns:p14="http://schemas.microsoft.com/office/powerpoint/2010/main" val="6837398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reaction time</a:t>
            </a:r>
          </a:p>
        </p:txBody>
      </p:sp>
      <p:sp>
        <p:nvSpPr>
          <p:cNvPr id="4" name="Slide Number Placeholder 3"/>
          <p:cNvSpPr>
            <a:spLocks noGrp="1"/>
          </p:cNvSpPr>
          <p:nvPr>
            <p:ph type="sldNum" sz="quarter" idx="5"/>
          </p:nvPr>
        </p:nvSpPr>
        <p:spPr/>
        <p:txBody>
          <a:bodyPr/>
          <a:lstStyle/>
          <a:p>
            <a:fld id="{A5DC69EC-9432-3442-A0D7-F47D1FE63727}" type="slidenum">
              <a:rPr lang="en-US" smtClean="0"/>
              <a:t>85</a:t>
            </a:fld>
            <a:endParaRPr lang="en-US"/>
          </a:p>
        </p:txBody>
      </p:sp>
    </p:spTree>
    <p:extLst>
      <p:ext uri="{BB962C8B-B14F-4D97-AF65-F5344CB8AC3E}">
        <p14:creationId xmlns:p14="http://schemas.microsoft.com/office/powerpoint/2010/main" val="289171964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remake this graph to be more simple</a:t>
            </a:r>
          </a:p>
        </p:txBody>
      </p:sp>
      <p:sp>
        <p:nvSpPr>
          <p:cNvPr id="4" name="Slide Number Placeholder 3"/>
          <p:cNvSpPr>
            <a:spLocks noGrp="1"/>
          </p:cNvSpPr>
          <p:nvPr>
            <p:ph type="sldNum" sz="quarter" idx="5"/>
          </p:nvPr>
        </p:nvSpPr>
        <p:spPr/>
        <p:txBody>
          <a:bodyPr/>
          <a:lstStyle/>
          <a:p>
            <a:fld id="{A5DC69EC-9432-3442-A0D7-F47D1FE63727}" type="slidenum">
              <a:rPr lang="en-US" smtClean="0"/>
              <a:t>86</a:t>
            </a:fld>
            <a:endParaRPr lang="en-US"/>
          </a:p>
        </p:txBody>
      </p:sp>
    </p:spTree>
    <p:extLst>
      <p:ext uri="{BB962C8B-B14F-4D97-AF65-F5344CB8AC3E}">
        <p14:creationId xmlns:p14="http://schemas.microsoft.com/office/powerpoint/2010/main" val="168006185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VAS x reaction time</a:t>
            </a:r>
          </a:p>
        </p:txBody>
      </p:sp>
      <p:sp>
        <p:nvSpPr>
          <p:cNvPr id="4" name="Slide Number Placeholder 3"/>
          <p:cNvSpPr>
            <a:spLocks noGrp="1"/>
          </p:cNvSpPr>
          <p:nvPr>
            <p:ph type="sldNum" sz="quarter" idx="5"/>
          </p:nvPr>
        </p:nvSpPr>
        <p:spPr/>
        <p:txBody>
          <a:bodyPr/>
          <a:lstStyle/>
          <a:p>
            <a:fld id="{A5DC69EC-9432-3442-A0D7-F47D1FE63727}" type="slidenum">
              <a:rPr lang="en-US" smtClean="0"/>
              <a:t>87</a:t>
            </a:fld>
            <a:endParaRPr lang="en-US"/>
          </a:p>
        </p:txBody>
      </p:sp>
    </p:spTree>
    <p:extLst>
      <p:ext uri="{BB962C8B-B14F-4D97-AF65-F5344CB8AC3E}">
        <p14:creationId xmlns:p14="http://schemas.microsoft.com/office/powerpoint/2010/main" val="224593530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88</a:t>
            </a:fld>
            <a:endParaRPr lang="en-US"/>
          </a:p>
        </p:txBody>
      </p:sp>
    </p:spTree>
    <p:extLst>
      <p:ext uri="{BB962C8B-B14F-4D97-AF65-F5344CB8AC3E}">
        <p14:creationId xmlns:p14="http://schemas.microsoft.com/office/powerpoint/2010/main" val="302698333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[script needed]</a:t>
            </a:r>
          </a:p>
          <a:p>
            <a:endParaRPr lang="en-US" dirty="0"/>
          </a:p>
        </p:txBody>
      </p:sp>
      <p:sp>
        <p:nvSpPr>
          <p:cNvPr id="4" name="Slide Number Placeholder 3"/>
          <p:cNvSpPr>
            <a:spLocks noGrp="1"/>
          </p:cNvSpPr>
          <p:nvPr>
            <p:ph type="sldNum" sz="quarter" idx="5"/>
          </p:nvPr>
        </p:nvSpPr>
        <p:spPr/>
        <p:txBody>
          <a:bodyPr/>
          <a:lstStyle/>
          <a:p>
            <a:fld id="{A5DC69EC-9432-3442-A0D7-F47D1FE63727}" type="slidenum">
              <a:rPr lang="en-US" smtClean="0"/>
              <a:t>94</a:t>
            </a:fld>
            <a:endParaRPr lang="en-US"/>
          </a:p>
        </p:txBody>
      </p:sp>
    </p:spTree>
    <p:extLst>
      <p:ext uri="{BB962C8B-B14F-4D97-AF65-F5344CB8AC3E}">
        <p14:creationId xmlns:p14="http://schemas.microsoft.com/office/powerpoint/2010/main" val="1997091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89E44-0EC4-0BCA-862D-F39EF80472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486044-F523-9276-83E1-2450DD7829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63EBFC-EF5D-003A-7441-DC46853E7733}"/>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5" name="Footer Placeholder 4">
            <a:extLst>
              <a:ext uri="{FF2B5EF4-FFF2-40B4-BE49-F238E27FC236}">
                <a16:creationId xmlns:a16="http://schemas.microsoft.com/office/drawing/2014/main" id="{189301C6-9528-0AC5-C999-85DA79E54F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9DD27-1754-3E0F-4C8D-19106E276462}"/>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1607586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E11A4-463B-D981-812D-5C86901C50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55DAFD-7E12-C64F-8D23-BB3A0B974F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87ECBF-206E-F0E9-BE99-C77E345B9E0A}"/>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5" name="Footer Placeholder 4">
            <a:extLst>
              <a:ext uri="{FF2B5EF4-FFF2-40B4-BE49-F238E27FC236}">
                <a16:creationId xmlns:a16="http://schemas.microsoft.com/office/drawing/2014/main" id="{40C7F011-10AD-5DA2-ED4F-3A65CBEC62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658C4C-445D-1021-4468-D99884C0BF02}"/>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533012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532FB-987B-5223-9A20-03EE00B819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1F1494-EF95-E404-FF65-CA1B140D00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444F2F-C550-D5B9-75C5-40BD57B429C4}"/>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5" name="Footer Placeholder 4">
            <a:extLst>
              <a:ext uri="{FF2B5EF4-FFF2-40B4-BE49-F238E27FC236}">
                <a16:creationId xmlns:a16="http://schemas.microsoft.com/office/drawing/2014/main" id="{CBFA7459-3632-6318-D6D9-D138960768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ACD81-3B1D-9380-F5BF-472ECE0421C0}"/>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4054833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0EB76-D4AD-3DBB-0978-BC76E52DCB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E2D8E5-99A7-34F6-E961-3C99CE37CF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BBF7DF-C7AE-7D07-A908-F407689AE2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AF6738-A6AD-B4D1-3F53-F8ADF1FB0B3C}"/>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6" name="Footer Placeholder 5">
            <a:extLst>
              <a:ext uri="{FF2B5EF4-FFF2-40B4-BE49-F238E27FC236}">
                <a16:creationId xmlns:a16="http://schemas.microsoft.com/office/drawing/2014/main" id="{CC3B168B-8545-0E5F-3B69-780E62B289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ACA417-4FD4-EE6E-25F7-A3874B77529F}"/>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3685188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66F8B-150D-A898-FE05-1AF0301B9F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221A43-7AF7-E2B5-9180-96A45125BA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A9CDEE-17F0-58E8-9126-B9DCFB33A3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C348CD-67CB-148B-8DAB-7BDE88B9FD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10ACA-130B-1D48-CE55-8CB4C5D425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FBEAA8-53CB-BB0E-3704-11B117C6101E}"/>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8" name="Footer Placeholder 7">
            <a:extLst>
              <a:ext uri="{FF2B5EF4-FFF2-40B4-BE49-F238E27FC236}">
                <a16:creationId xmlns:a16="http://schemas.microsoft.com/office/drawing/2014/main" id="{88287440-626E-7AEF-34B5-C320185CC1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10AA87-159D-EA26-5E80-F4E96CB099DE}"/>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3986471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6522-43EA-80C9-3B2F-FE1DAB79E8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533347-AAF7-E6A5-A47B-67668508AAAD}"/>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4" name="Footer Placeholder 3">
            <a:extLst>
              <a:ext uri="{FF2B5EF4-FFF2-40B4-BE49-F238E27FC236}">
                <a16:creationId xmlns:a16="http://schemas.microsoft.com/office/drawing/2014/main" id="{FED52C7C-60DB-C30A-51EF-2925F15DAA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E66825-50FA-5A78-BEF1-51AD5B2D1F56}"/>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172403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EC5E14-5B7C-5C84-E026-F31C33EA6ED8}"/>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3" name="Footer Placeholder 2">
            <a:extLst>
              <a:ext uri="{FF2B5EF4-FFF2-40B4-BE49-F238E27FC236}">
                <a16:creationId xmlns:a16="http://schemas.microsoft.com/office/drawing/2014/main" id="{668C4587-A781-1BAD-7905-ED769713C6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8D38B2-93F4-ED60-C016-7D8E715F711D}"/>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1067069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6AE03-F551-9901-BAB8-99AE97DB4D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1C8AF3-B87F-82B5-4CA3-393580DC65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9A1AD7-78E2-CB71-2BD1-E24C57539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3D8D68-8F73-8AD6-760D-ED3E05952E31}"/>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6" name="Footer Placeholder 5">
            <a:extLst>
              <a:ext uri="{FF2B5EF4-FFF2-40B4-BE49-F238E27FC236}">
                <a16:creationId xmlns:a16="http://schemas.microsoft.com/office/drawing/2014/main" id="{5F187408-9A47-FB70-5176-974F32F5B4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56AE70-CE3C-5599-AB94-89BAA21E43A5}"/>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1528760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8F863-003F-E0DF-171B-A1A0800480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9630FA-8055-DD21-A4F9-AB5149F9D3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561F5-E9D4-57C9-4701-283E1B1A3E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AEB983-E12A-6C0A-C08F-FA420EBF0189}"/>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6" name="Footer Placeholder 5">
            <a:extLst>
              <a:ext uri="{FF2B5EF4-FFF2-40B4-BE49-F238E27FC236}">
                <a16:creationId xmlns:a16="http://schemas.microsoft.com/office/drawing/2014/main" id="{700E1E88-CFE5-499B-6623-1B175F1AF1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0F547C-68D8-088E-C656-C9986B4DD35C}"/>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3312743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F7B17-6275-8FF1-AC6E-E5BEF70E77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190119-1D04-AF1A-C80A-F12BB44082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248518-FBC9-3D75-1DB1-DDEEF5501BE1}"/>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5" name="Footer Placeholder 4">
            <a:extLst>
              <a:ext uri="{FF2B5EF4-FFF2-40B4-BE49-F238E27FC236}">
                <a16:creationId xmlns:a16="http://schemas.microsoft.com/office/drawing/2014/main" id="{6CF9D762-9A89-AE5B-690B-D24D9D6451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E6C8FC-5AAF-44C1-292E-17C564E9B982}"/>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53053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7ED1A5-BDBF-389B-1B84-0242712F45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140E4E-51CF-274D-004E-9F41945981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FAFC9A-0F4A-B792-51A5-4A10B6ED84B8}"/>
              </a:ext>
            </a:extLst>
          </p:cNvPr>
          <p:cNvSpPr>
            <a:spLocks noGrp="1"/>
          </p:cNvSpPr>
          <p:nvPr>
            <p:ph type="dt" sz="half" idx="10"/>
          </p:nvPr>
        </p:nvSpPr>
        <p:spPr/>
        <p:txBody>
          <a:bodyPr/>
          <a:lstStyle/>
          <a:p>
            <a:fld id="{D25BBC60-8D6F-3149-B677-7B60FF551739}" type="datetimeFigureOut">
              <a:rPr lang="en-US" smtClean="0"/>
              <a:t>11/2/25</a:t>
            </a:fld>
            <a:endParaRPr lang="en-US"/>
          </a:p>
        </p:txBody>
      </p:sp>
      <p:sp>
        <p:nvSpPr>
          <p:cNvPr id="5" name="Footer Placeholder 4">
            <a:extLst>
              <a:ext uri="{FF2B5EF4-FFF2-40B4-BE49-F238E27FC236}">
                <a16:creationId xmlns:a16="http://schemas.microsoft.com/office/drawing/2014/main" id="{CEA7CFDE-1941-63CD-25C2-1B7705F70C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D967A0-F347-B59B-8AAB-F265D48D25E7}"/>
              </a:ext>
            </a:extLst>
          </p:cNvPr>
          <p:cNvSpPr>
            <a:spLocks noGrp="1"/>
          </p:cNvSpPr>
          <p:nvPr>
            <p:ph type="sldNum" sz="quarter" idx="12"/>
          </p:nvPr>
        </p:nvSpPr>
        <p:spPr/>
        <p:txBody>
          <a:bodyPr/>
          <a:lstStyle/>
          <a:p>
            <a:fld id="{E2411F29-8454-6C4A-B2AB-99FAED094531}" type="slidenum">
              <a:rPr lang="en-US" smtClean="0"/>
              <a:t>‹#›</a:t>
            </a:fld>
            <a:endParaRPr lang="en-US"/>
          </a:p>
        </p:txBody>
      </p:sp>
    </p:spTree>
    <p:extLst>
      <p:ext uri="{BB962C8B-B14F-4D97-AF65-F5344CB8AC3E}">
        <p14:creationId xmlns:p14="http://schemas.microsoft.com/office/powerpoint/2010/main" val="3416359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0F9075-B43B-359A-03D4-386004EE2E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3E7212-A0B0-60CE-EDB2-A89E66E3A9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C8C54D-5913-E612-FEAF-7608EBE349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5BBC60-8D6F-3149-B677-7B60FF551739}" type="datetimeFigureOut">
              <a:rPr lang="en-US" smtClean="0"/>
              <a:t>11/2/25</a:t>
            </a:fld>
            <a:endParaRPr lang="en-US"/>
          </a:p>
        </p:txBody>
      </p:sp>
      <p:sp>
        <p:nvSpPr>
          <p:cNvPr id="5" name="Footer Placeholder 4">
            <a:extLst>
              <a:ext uri="{FF2B5EF4-FFF2-40B4-BE49-F238E27FC236}">
                <a16:creationId xmlns:a16="http://schemas.microsoft.com/office/drawing/2014/main" id="{2ABEE3C0-5BC4-9FF1-1551-ADC8882374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099986-9974-6F33-FB26-C1FF1AB0ED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411F29-8454-6C4A-B2AB-99FAED094531}" type="slidenum">
              <a:rPr lang="en-US" smtClean="0"/>
              <a:t>‹#›</a:t>
            </a:fld>
            <a:endParaRPr lang="en-US"/>
          </a:p>
        </p:txBody>
      </p:sp>
    </p:spTree>
    <p:extLst>
      <p:ext uri="{BB962C8B-B14F-4D97-AF65-F5344CB8AC3E}">
        <p14:creationId xmlns:p14="http://schemas.microsoft.com/office/powerpoint/2010/main" val="18178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0.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audio" Target="../media/media4.mp3"/><Relationship Id="rId13" Type="http://schemas.microsoft.com/office/2007/relationships/media" Target="../media/media7.mp3"/><Relationship Id="rId3" Type="http://schemas.microsoft.com/office/2007/relationships/media" Target="../media/media2.mp3"/><Relationship Id="rId7" Type="http://schemas.microsoft.com/office/2007/relationships/media" Target="../media/media4.mp3"/><Relationship Id="rId12" Type="http://schemas.openxmlformats.org/officeDocument/2006/relationships/audio" Target="../media/media6.mp3"/><Relationship Id="rId17" Type="http://schemas.openxmlformats.org/officeDocument/2006/relationships/image" Target="../media/image16.png"/><Relationship Id="rId2" Type="http://schemas.openxmlformats.org/officeDocument/2006/relationships/audio" Target="../media/media1.mp3"/><Relationship Id="rId16" Type="http://schemas.openxmlformats.org/officeDocument/2006/relationships/notesSlide" Target="../notesSlides/notesSlide26.xml"/><Relationship Id="rId1" Type="http://schemas.microsoft.com/office/2007/relationships/media" Target="../media/media1.mp3"/><Relationship Id="rId6" Type="http://schemas.openxmlformats.org/officeDocument/2006/relationships/audio" Target="../media/media3.mp3"/><Relationship Id="rId11" Type="http://schemas.microsoft.com/office/2007/relationships/media" Target="../media/media6.mp3"/><Relationship Id="rId5" Type="http://schemas.microsoft.com/office/2007/relationships/media" Target="../media/media3.mp3"/><Relationship Id="rId15" Type="http://schemas.openxmlformats.org/officeDocument/2006/relationships/slideLayout" Target="../slideLayouts/slideLayout6.xml"/><Relationship Id="rId10" Type="http://schemas.openxmlformats.org/officeDocument/2006/relationships/audio" Target="../media/media5.mp3"/><Relationship Id="rId4" Type="http://schemas.openxmlformats.org/officeDocument/2006/relationships/audio" Target="../media/media2.mp3"/><Relationship Id="rId9" Type="http://schemas.microsoft.com/office/2007/relationships/media" Target="../media/media5.mp3"/><Relationship Id="rId14" Type="http://schemas.openxmlformats.org/officeDocument/2006/relationships/audio" Target="../media/media7.mp3"/></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19.emf"/></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21.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8" Type="http://schemas.openxmlformats.org/officeDocument/2006/relationships/image" Target="../media/image23.png"/><Relationship Id="rId3" Type="http://schemas.microsoft.com/office/2007/relationships/media" Target="../media/media9.mp3"/><Relationship Id="rId7" Type="http://schemas.openxmlformats.org/officeDocument/2006/relationships/image" Target="../media/image22.png"/><Relationship Id="rId12" Type="http://schemas.openxmlformats.org/officeDocument/2006/relationships/image" Target="../media/image16.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notesSlide" Target="../notesSlides/notesSlide34.xml"/><Relationship Id="rId11" Type="http://schemas.openxmlformats.org/officeDocument/2006/relationships/image" Target="../media/image26.png"/><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audio" Target="../media/media9.mp3"/><Relationship Id="rId9"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6.png"/><Relationship Id="rId5" Type="http://schemas.openxmlformats.org/officeDocument/2006/relationships/image" Target="../media/image33.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image" Target="../media/image33.png"/><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8.emf"/><Relationship Id="rId7" Type="http://schemas.openxmlformats.org/officeDocument/2006/relationships/image" Target="../media/image42.svg"/><Relationship Id="rId2" Type="http://schemas.openxmlformats.org/officeDocument/2006/relationships/notesSlide" Target="../notesSlides/notesSlide66.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39.png"/></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40.sv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png"/><Relationship Id="rId7" Type="http://schemas.openxmlformats.org/officeDocument/2006/relationships/image" Target="../media/image52.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8.png"/><Relationship Id="rId4" Type="http://schemas.openxmlformats.org/officeDocument/2006/relationships/image" Target="../media/image2.png"/><Relationship Id="rId9" Type="http://schemas.openxmlformats.org/officeDocument/2006/relationships/image" Target="../media/image70.png"/></Relationships>
</file>

<file path=ppt/slides/_rels/slide7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9.xml"/><Relationship Id="rId1" Type="http://schemas.openxmlformats.org/officeDocument/2006/relationships/slideLayout" Target="../slideLayouts/slideLayout6.xml"/><Relationship Id="rId5" Type="http://schemas.openxmlformats.org/officeDocument/2006/relationships/image" Target="../media/image40.svg"/><Relationship Id="rId4" Type="http://schemas.openxmlformats.org/officeDocument/2006/relationships/image" Target="../media/image39.png"/></Relationships>
</file>

<file path=ppt/slides/_rels/slide73.xml.rels><?xml version="1.0" encoding="UTF-8" standalone="yes"?>
<Relationships xmlns="http://schemas.openxmlformats.org/package/2006/relationships"><Relationship Id="rId8" Type="http://schemas.openxmlformats.org/officeDocument/2006/relationships/audio" Target="../media/media14.mp3"/><Relationship Id="rId13" Type="http://schemas.microsoft.com/office/2007/relationships/media" Target="../media/media17.mp3"/><Relationship Id="rId18" Type="http://schemas.openxmlformats.org/officeDocument/2006/relationships/image" Target="../media/image42.svg"/><Relationship Id="rId3" Type="http://schemas.microsoft.com/office/2007/relationships/media" Target="../media/media12.mp3"/><Relationship Id="rId7" Type="http://schemas.microsoft.com/office/2007/relationships/media" Target="../media/media14.mp3"/><Relationship Id="rId12" Type="http://schemas.openxmlformats.org/officeDocument/2006/relationships/audio" Target="../media/media16.mp3"/><Relationship Id="rId17" Type="http://schemas.openxmlformats.org/officeDocument/2006/relationships/image" Target="../media/image41.png"/><Relationship Id="rId2" Type="http://schemas.openxmlformats.org/officeDocument/2006/relationships/audio" Target="../media/media11.mp3"/><Relationship Id="rId16" Type="http://schemas.openxmlformats.org/officeDocument/2006/relationships/notesSlide" Target="../notesSlides/notesSlide70.xml"/><Relationship Id="rId1" Type="http://schemas.microsoft.com/office/2007/relationships/media" Target="../media/media11.mp3"/><Relationship Id="rId6" Type="http://schemas.openxmlformats.org/officeDocument/2006/relationships/audio" Target="../media/media13.mp3"/><Relationship Id="rId11" Type="http://schemas.microsoft.com/office/2007/relationships/media" Target="../media/media16.mp3"/><Relationship Id="rId5" Type="http://schemas.microsoft.com/office/2007/relationships/media" Target="../media/media13.mp3"/><Relationship Id="rId15" Type="http://schemas.openxmlformats.org/officeDocument/2006/relationships/slideLayout" Target="../slideLayouts/slideLayout2.xml"/><Relationship Id="rId10" Type="http://schemas.openxmlformats.org/officeDocument/2006/relationships/audio" Target="../media/media15.mp3"/><Relationship Id="rId19" Type="http://schemas.openxmlformats.org/officeDocument/2006/relationships/image" Target="../media/image16.png"/><Relationship Id="rId4" Type="http://schemas.openxmlformats.org/officeDocument/2006/relationships/audio" Target="../media/media12.mp3"/><Relationship Id="rId9" Type="http://schemas.microsoft.com/office/2007/relationships/media" Target="../media/media15.mp3"/><Relationship Id="rId14" Type="http://schemas.openxmlformats.org/officeDocument/2006/relationships/audio" Target="../media/media17.mp3"/></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1.png"/><Relationship Id="rId7" Type="http://schemas.openxmlformats.org/officeDocument/2006/relationships/image" Target="../media/image51.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png"/><Relationship Id="rId10" Type="http://schemas.openxmlformats.org/officeDocument/2006/relationships/image" Target="../media/image54.svg"/><Relationship Id="rId4" Type="http://schemas.openxmlformats.org/officeDocument/2006/relationships/image" Target="../media/image42.svg"/><Relationship Id="rId9" Type="http://schemas.openxmlformats.org/officeDocument/2006/relationships/image" Target="../media/image53.png"/></Relationships>
</file>

<file path=ppt/slides/_rels/slide8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41.png"/><Relationship Id="rId7" Type="http://schemas.openxmlformats.org/officeDocument/2006/relationships/image" Target="../media/image51.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png"/><Relationship Id="rId10" Type="http://schemas.openxmlformats.org/officeDocument/2006/relationships/image" Target="../media/image63.svg"/><Relationship Id="rId4" Type="http://schemas.openxmlformats.org/officeDocument/2006/relationships/image" Target="../media/image61.svg"/><Relationship Id="rId9" Type="http://schemas.openxmlformats.org/officeDocument/2006/relationships/image" Target="../media/image53.png"/></Relationships>
</file>

<file path=ppt/slides/_rels/slide8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3.svg"/></Relationships>
</file>

<file path=ppt/slides/_rels/slide9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78190-DE17-2A6B-4C26-2F4D232A72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3CAE4-0A45-6685-72C0-0E4D8B36E366}"/>
              </a:ext>
            </a:extLst>
          </p:cNvPr>
          <p:cNvSpPr>
            <a:spLocks noGrp="1"/>
          </p:cNvSpPr>
          <p:nvPr>
            <p:ph type="ctrTitle"/>
          </p:nvPr>
        </p:nvSpPr>
        <p:spPr>
          <a:xfrm>
            <a:off x="859436" y="1041400"/>
            <a:ext cx="10473128" cy="2387600"/>
          </a:xfrm>
        </p:spPr>
        <p:txBody>
          <a:bodyPr>
            <a:noAutofit/>
          </a:bodyPr>
          <a:lstStyle/>
          <a:p>
            <a:pPr algn="l"/>
            <a:r>
              <a:rPr lang="en-US" sz="4000" b="1" dirty="0">
                <a:solidFill>
                  <a:srgbClr val="AA3377"/>
                </a:solidFill>
              </a:rPr>
              <a:t>Gradient Categorization</a:t>
            </a:r>
            <a:r>
              <a:rPr lang="en-US" sz="4000" b="1" dirty="0"/>
              <a:t>, </a:t>
            </a:r>
            <a:r>
              <a:rPr lang="en-US" sz="4000" b="1" dirty="0">
                <a:solidFill>
                  <a:srgbClr val="4477AA"/>
                </a:solidFill>
              </a:rPr>
              <a:t>Linguistic Diversity</a:t>
            </a:r>
            <a:r>
              <a:rPr lang="en-US" sz="4000" b="1" dirty="0"/>
              <a:t>, and </a:t>
            </a:r>
            <a:r>
              <a:rPr lang="en-US" sz="4000" b="1" dirty="0">
                <a:solidFill>
                  <a:srgbClr val="228833"/>
                </a:solidFill>
              </a:rPr>
              <a:t>Second Language Acquisition</a:t>
            </a:r>
            <a:r>
              <a:rPr lang="en-US" sz="4000" b="1" dirty="0"/>
              <a:t>:</a:t>
            </a:r>
            <a:br>
              <a:rPr lang="en-US" sz="4000" dirty="0"/>
            </a:br>
            <a:r>
              <a:rPr lang="en-US" sz="4000" dirty="0"/>
              <a:t>Perceptual Learning of L2 Phonemic Contrasts Using a Multilingual Training Paradigm</a:t>
            </a:r>
          </a:p>
        </p:txBody>
      </p:sp>
      <p:sp>
        <p:nvSpPr>
          <p:cNvPr id="3" name="Subtitle 2">
            <a:extLst>
              <a:ext uri="{FF2B5EF4-FFF2-40B4-BE49-F238E27FC236}">
                <a16:creationId xmlns:a16="http://schemas.microsoft.com/office/drawing/2014/main" id="{5537F6C2-AC10-3517-F0AA-CFE3D06579F8}"/>
              </a:ext>
            </a:extLst>
          </p:cNvPr>
          <p:cNvSpPr>
            <a:spLocks noGrp="1"/>
          </p:cNvSpPr>
          <p:nvPr>
            <p:ph type="subTitle" idx="1"/>
          </p:nvPr>
        </p:nvSpPr>
        <p:spPr>
          <a:xfrm>
            <a:off x="859436" y="4671718"/>
            <a:ext cx="9144000" cy="1655762"/>
          </a:xfrm>
        </p:spPr>
        <p:txBody>
          <a:bodyPr/>
          <a:lstStyle/>
          <a:p>
            <a:pPr algn="l"/>
            <a:r>
              <a:rPr lang="en-US"/>
              <a:t>Chisom O. Obasih</a:t>
            </a:r>
            <a:endParaRPr lang="en-US" dirty="0"/>
          </a:p>
          <a:p>
            <a:pPr algn="l"/>
            <a:r>
              <a:rPr lang="en-US" dirty="0"/>
              <a:t>Dissertation Chair: Dr. Seth Wiener</a:t>
            </a:r>
          </a:p>
          <a:p>
            <a:pPr algn="l"/>
            <a:r>
              <a:rPr lang="en-US" dirty="0"/>
              <a:t>Monday, August 4, 2025</a:t>
            </a:r>
          </a:p>
        </p:txBody>
      </p:sp>
    </p:spTree>
    <p:extLst>
      <p:ext uri="{BB962C8B-B14F-4D97-AF65-F5344CB8AC3E}">
        <p14:creationId xmlns:p14="http://schemas.microsoft.com/office/powerpoint/2010/main" val="3736552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DB2BB-B4AB-ED30-13BF-EAD88183A4D3}"/>
              </a:ext>
            </a:extLst>
          </p:cNvPr>
          <p:cNvSpPr>
            <a:spLocks noGrp="1"/>
          </p:cNvSpPr>
          <p:nvPr>
            <p:ph type="title"/>
          </p:nvPr>
        </p:nvSpPr>
        <p:spPr>
          <a:xfrm>
            <a:off x="415925" y="1736726"/>
            <a:ext cx="11360150" cy="2852737"/>
          </a:xfrm>
        </p:spPr>
        <p:txBody>
          <a:bodyPr/>
          <a:lstStyle/>
          <a:p>
            <a:r>
              <a:rPr lang="en-US" dirty="0"/>
              <a:t>Background and Research Question</a:t>
            </a:r>
          </a:p>
        </p:txBody>
      </p:sp>
      <p:sp>
        <p:nvSpPr>
          <p:cNvPr id="3" name="Text Placeholder 2">
            <a:extLst>
              <a:ext uri="{FF2B5EF4-FFF2-40B4-BE49-F238E27FC236}">
                <a16:creationId xmlns:a16="http://schemas.microsoft.com/office/drawing/2014/main" id="{E13CF766-0DAD-9BD4-A4ED-23B704CB317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08080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88991-5F4E-EEF8-9A91-8D35D16D63DD}"/>
              </a:ext>
            </a:extLst>
          </p:cNvPr>
          <p:cNvSpPr>
            <a:spLocks noGrp="1"/>
          </p:cNvSpPr>
          <p:nvPr>
            <p:ph type="title"/>
          </p:nvPr>
        </p:nvSpPr>
        <p:spPr/>
        <p:txBody>
          <a:bodyPr/>
          <a:lstStyle/>
          <a:p>
            <a:r>
              <a:rPr lang="en-US" dirty="0"/>
              <a:t>Learning new</a:t>
            </a:r>
            <a:r>
              <a:rPr lang="en-US" dirty="0">
                <a:solidFill>
                  <a:srgbClr val="228833"/>
                </a:solidFill>
              </a:rPr>
              <a:t> L2 phonemic contrasts </a:t>
            </a:r>
            <a:r>
              <a:rPr lang="en-US" dirty="0"/>
              <a:t>is difficult for adults</a:t>
            </a:r>
          </a:p>
        </p:txBody>
      </p:sp>
      <p:sp>
        <p:nvSpPr>
          <p:cNvPr id="3" name="Content Placeholder 2">
            <a:extLst>
              <a:ext uri="{FF2B5EF4-FFF2-40B4-BE49-F238E27FC236}">
                <a16:creationId xmlns:a16="http://schemas.microsoft.com/office/drawing/2014/main" id="{D8907AA9-06CA-C362-0C70-03D8247652F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76265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245BF-CCC7-51EE-5639-ABEB1D770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8D4B49-8229-4BA9-DE7C-68C92DE25C92}"/>
              </a:ext>
            </a:extLst>
          </p:cNvPr>
          <p:cNvSpPr>
            <a:spLocks noGrp="1"/>
          </p:cNvSpPr>
          <p:nvPr>
            <p:ph type="title"/>
          </p:nvPr>
        </p:nvSpPr>
        <p:spPr/>
        <p:txBody>
          <a:bodyPr/>
          <a:lstStyle/>
          <a:p>
            <a:r>
              <a:rPr lang="en-US" dirty="0"/>
              <a:t>Learning new</a:t>
            </a:r>
            <a:r>
              <a:rPr lang="en-US" dirty="0">
                <a:solidFill>
                  <a:srgbClr val="228833"/>
                </a:solidFill>
              </a:rPr>
              <a:t> L2 phonemic contrasts </a:t>
            </a:r>
            <a:r>
              <a:rPr lang="en-US" dirty="0"/>
              <a:t>is difficult for adults</a:t>
            </a:r>
          </a:p>
        </p:txBody>
      </p:sp>
      <p:grpSp>
        <p:nvGrpSpPr>
          <p:cNvPr id="4" name="Group 3">
            <a:extLst>
              <a:ext uri="{FF2B5EF4-FFF2-40B4-BE49-F238E27FC236}">
                <a16:creationId xmlns:a16="http://schemas.microsoft.com/office/drawing/2014/main" id="{1872D10B-911D-698F-998F-79A2372427EE}"/>
              </a:ext>
            </a:extLst>
          </p:cNvPr>
          <p:cNvGrpSpPr/>
          <p:nvPr/>
        </p:nvGrpSpPr>
        <p:grpSpPr>
          <a:xfrm>
            <a:off x="671205" y="4889010"/>
            <a:ext cx="2617694" cy="1218211"/>
            <a:chOff x="671205" y="4889010"/>
            <a:chExt cx="2617694" cy="1218211"/>
          </a:xfrm>
        </p:grpSpPr>
        <p:grpSp>
          <p:nvGrpSpPr>
            <p:cNvPr id="5" name="Group 4">
              <a:extLst>
                <a:ext uri="{FF2B5EF4-FFF2-40B4-BE49-F238E27FC236}">
                  <a16:creationId xmlns:a16="http://schemas.microsoft.com/office/drawing/2014/main" id="{ED6F1B78-F322-F028-2795-8D0D2837CF1B}"/>
                </a:ext>
              </a:extLst>
            </p:cNvPr>
            <p:cNvGrpSpPr/>
            <p:nvPr/>
          </p:nvGrpSpPr>
          <p:grpSpPr>
            <a:xfrm>
              <a:off x="671205" y="4889010"/>
              <a:ext cx="2617694" cy="1218211"/>
              <a:chOff x="5199758" y="2753944"/>
              <a:chExt cx="2617694" cy="1218211"/>
            </a:xfrm>
          </p:grpSpPr>
          <p:cxnSp>
            <p:nvCxnSpPr>
              <p:cNvPr id="8" name="Straight Connector 7">
                <a:extLst>
                  <a:ext uri="{FF2B5EF4-FFF2-40B4-BE49-F238E27FC236}">
                    <a16:creationId xmlns:a16="http://schemas.microsoft.com/office/drawing/2014/main" id="{875AE93C-AF5C-125D-6D41-34356E74D6AD}"/>
                  </a:ext>
                </a:extLst>
              </p:cNvPr>
              <p:cNvCxnSpPr/>
              <p:nvPr/>
            </p:nvCxnSpPr>
            <p:spPr>
              <a:xfrm>
                <a:off x="5199758" y="2901167"/>
                <a:ext cx="2617694" cy="0"/>
              </a:xfrm>
              <a:prstGeom prst="line">
                <a:avLst/>
              </a:prstGeom>
              <a:ln w="38100">
                <a:solidFill>
                  <a:schemeClr val="accent2"/>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CED2E84-FAD3-EA81-C41D-7B7B927DE6A3}"/>
                  </a:ext>
                </a:extLst>
              </p:cNvPr>
              <p:cNvSpPr txBox="1"/>
              <p:nvPr/>
            </p:nvSpPr>
            <p:spPr>
              <a:xfrm>
                <a:off x="5510110" y="3510490"/>
                <a:ext cx="2077172" cy="461665"/>
              </a:xfrm>
              <a:prstGeom prst="rect">
                <a:avLst/>
              </a:prstGeom>
              <a:noFill/>
            </p:spPr>
            <p:txBody>
              <a:bodyPr wrap="none" rtlCol="0">
                <a:spAutoFit/>
              </a:bodyPr>
              <a:lstStyle/>
              <a:p>
                <a:r>
                  <a:rPr lang="en-US" sz="2400" dirty="0"/>
                  <a:t>duration in ms</a:t>
                </a:r>
              </a:p>
            </p:txBody>
          </p:sp>
          <p:cxnSp>
            <p:nvCxnSpPr>
              <p:cNvPr id="10" name="Straight Connector 9">
                <a:extLst>
                  <a:ext uri="{FF2B5EF4-FFF2-40B4-BE49-F238E27FC236}">
                    <a16:creationId xmlns:a16="http://schemas.microsoft.com/office/drawing/2014/main" id="{B2C4E4E5-245C-1BDE-23EE-73E3910B5FA9}"/>
                  </a:ext>
                </a:extLst>
              </p:cNvPr>
              <p:cNvCxnSpPr/>
              <p:nvPr/>
            </p:nvCxnSpPr>
            <p:spPr>
              <a:xfrm>
                <a:off x="5826181" y="2753944"/>
                <a:ext cx="0" cy="289438"/>
              </a:xfrm>
              <a:prstGeom prst="line">
                <a:avLst/>
              </a:prstGeom>
              <a:ln w="2222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3CE1471-B7E5-DB18-9508-8F498D62B99D}"/>
                  </a:ext>
                </a:extLst>
              </p:cNvPr>
              <p:cNvCxnSpPr/>
              <p:nvPr/>
            </p:nvCxnSpPr>
            <p:spPr>
              <a:xfrm>
                <a:off x="7237109" y="2761629"/>
                <a:ext cx="0" cy="289438"/>
              </a:xfrm>
              <a:prstGeom prst="line">
                <a:avLst/>
              </a:prstGeom>
              <a:ln w="22225">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98800942-242C-80D3-7F02-18F20E6E0DAE}"/>
                </a:ext>
              </a:extLst>
            </p:cNvPr>
            <p:cNvSpPr txBox="1"/>
            <p:nvPr/>
          </p:nvSpPr>
          <p:spPr>
            <a:xfrm>
              <a:off x="1040184" y="5236099"/>
              <a:ext cx="514885" cy="461665"/>
            </a:xfrm>
            <a:prstGeom prst="rect">
              <a:avLst/>
            </a:prstGeom>
            <a:noFill/>
          </p:spPr>
          <p:txBody>
            <a:bodyPr wrap="none" rtlCol="0">
              <a:spAutoFit/>
            </a:bodyPr>
            <a:lstStyle/>
            <a:p>
              <a:r>
                <a:rPr lang="en-US" sz="2400" dirty="0"/>
                <a:t>10</a:t>
              </a:r>
            </a:p>
          </p:txBody>
        </p:sp>
        <p:sp>
          <p:nvSpPr>
            <p:cNvPr id="7" name="TextBox 6">
              <a:extLst>
                <a:ext uri="{FF2B5EF4-FFF2-40B4-BE49-F238E27FC236}">
                  <a16:creationId xmlns:a16="http://schemas.microsoft.com/office/drawing/2014/main" id="{58705CAA-9933-0C9A-F4A8-82DB17199E20}"/>
                </a:ext>
              </a:extLst>
            </p:cNvPr>
            <p:cNvSpPr txBox="1"/>
            <p:nvPr/>
          </p:nvSpPr>
          <p:spPr>
            <a:xfrm>
              <a:off x="2451112" y="5226989"/>
              <a:ext cx="514885" cy="461665"/>
            </a:xfrm>
            <a:prstGeom prst="rect">
              <a:avLst/>
            </a:prstGeom>
            <a:noFill/>
          </p:spPr>
          <p:txBody>
            <a:bodyPr wrap="none" rtlCol="0">
              <a:spAutoFit/>
            </a:bodyPr>
            <a:lstStyle/>
            <a:p>
              <a:r>
                <a:rPr lang="en-US" sz="2400" dirty="0"/>
                <a:t>30</a:t>
              </a:r>
            </a:p>
          </p:txBody>
        </p:sp>
      </p:grpSp>
      <p:sp>
        <p:nvSpPr>
          <p:cNvPr id="12" name="Freeform 11">
            <a:extLst>
              <a:ext uri="{FF2B5EF4-FFF2-40B4-BE49-F238E27FC236}">
                <a16:creationId xmlns:a16="http://schemas.microsoft.com/office/drawing/2014/main" id="{FB4BFC44-CBD1-9C11-87DE-83B7B87C34C3}"/>
              </a:ext>
            </a:extLst>
          </p:cNvPr>
          <p:cNvSpPr/>
          <p:nvPr/>
        </p:nvSpPr>
        <p:spPr>
          <a:xfrm>
            <a:off x="758132" y="3903645"/>
            <a:ext cx="1078987" cy="941833"/>
          </a:xfrm>
          <a:custGeom>
            <a:avLst/>
            <a:gdLst>
              <a:gd name="connsiteX0" fmla="*/ 0 w 1078987"/>
              <a:gd name="connsiteY0" fmla="*/ 94183 h 941833"/>
              <a:gd name="connsiteX1" fmla="*/ 94183 w 1078987"/>
              <a:gd name="connsiteY1" fmla="*/ 0 h 941833"/>
              <a:gd name="connsiteX2" fmla="*/ 984804 w 1078987"/>
              <a:gd name="connsiteY2" fmla="*/ 0 h 941833"/>
              <a:gd name="connsiteX3" fmla="*/ 1078987 w 1078987"/>
              <a:gd name="connsiteY3" fmla="*/ 94183 h 941833"/>
              <a:gd name="connsiteX4" fmla="*/ 1078987 w 1078987"/>
              <a:gd name="connsiteY4" fmla="*/ 847650 h 941833"/>
              <a:gd name="connsiteX5" fmla="*/ 984804 w 1078987"/>
              <a:gd name="connsiteY5" fmla="*/ 941833 h 941833"/>
              <a:gd name="connsiteX6" fmla="*/ 94183 w 1078987"/>
              <a:gd name="connsiteY6" fmla="*/ 941833 h 941833"/>
              <a:gd name="connsiteX7" fmla="*/ 0 w 1078987"/>
              <a:gd name="connsiteY7" fmla="*/ 847650 h 941833"/>
              <a:gd name="connsiteX8" fmla="*/ 0 w 1078987"/>
              <a:gd name="connsiteY8" fmla="*/ 94183 h 941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8987" h="941833">
                <a:moveTo>
                  <a:pt x="0" y="94183"/>
                </a:moveTo>
                <a:cubicBezTo>
                  <a:pt x="0" y="42167"/>
                  <a:pt x="42167" y="0"/>
                  <a:pt x="94183" y="0"/>
                </a:cubicBezTo>
                <a:lnTo>
                  <a:pt x="984804" y="0"/>
                </a:lnTo>
                <a:cubicBezTo>
                  <a:pt x="1036820" y="0"/>
                  <a:pt x="1078987" y="42167"/>
                  <a:pt x="1078987" y="94183"/>
                </a:cubicBezTo>
                <a:lnTo>
                  <a:pt x="1078987" y="847650"/>
                </a:lnTo>
                <a:cubicBezTo>
                  <a:pt x="1078987" y="899666"/>
                  <a:pt x="1036820" y="941833"/>
                  <a:pt x="984804" y="941833"/>
                </a:cubicBezTo>
                <a:lnTo>
                  <a:pt x="94183" y="941833"/>
                </a:lnTo>
                <a:cubicBezTo>
                  <a:pt x="42167" y="941833"/>
                  <a:pt x="0" y="899666"/>
                  <a:pt x="0" y="847650"/>
                </a:cubicBezTo>
                <a:lnTo>
                  <a:pt x="0" y="94183"/>
                </a:lnTo>
                <a:close/>
              </a:path>
            </a:pathLst>
          </a:custGeom>
          <a:solidFill>
            <a:schemeClr val="accent6">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930" tIns="120930" rIns="120930" bIns="120930" numCol="1" spcCol="1270" anchor="ctr" anchorCtr="0">
            <a:noAutofit/>
          </a:bodyPr>
          <a:lstStyle/>
          <a:p>
            <a:pPr algn="ctr" defTabSz="2178050">
              <a:lnSpc>
                <a:spcPct val="90000"/>
              </a:lnSpc>
              <a:spcBef>
                <a:spcPct val="0"/>
              </a:spcBef>
              <a:spcAft>
                <a:spcPct val="35000"/>
              </a:spcAft>
            </a:pPr>
            <a:r>
              <a:rPr lang="en-US" sz="3600" kern="1200" dirty="0">
                <a:cs typeface="Times New Roman" panose="02020603050405020304" pitchFamily="18" charset="0"/>
              </a:rPr>
              <a:t>[</a:t>
            </a:r>
            <a:r>
              <a:rPr lang="en-US" sz="3600" kern="1200" dirty="0" err="1">
                <a:cs typeface="Times New Roman" panose="02020603050405020304" pitchFamily="18" charset="0"/>
              </a:rPr>
              <a:t>ɑ</a:t>
            </a:r>
            <a:r>
              <a:rPr lang="en-US" sz="3600" kern="1200" baseline="0" dirty="0">
                <a:cs typeface="Times New Roman" panose="02020603050405020304" pitchFamily="18" charset="0"/>
              </a:rPr>
              <a:t>]</a:t>
            </a:r>
            <a:endParaRPr lang="en-US" sz="3600" kern="1200" dirty="0">
              <a:cs typeface="Times New Roman" panose="02020603050405020304" pitchFamily="18" charset="0"/>
            </a:endParaRPr>
          </a:p>
        </p:txBody>
      </p:sp>
      <p:sp>
        <p:nvSpPr>
          <p:cNvPr id="13" name="Freeform 12">
            <a:extLst>
              <a:ext uri="{FF2B5EF4-FFF2-40B4-BE49-F238E27FC236}">
                <a16:creationId xmlns:a16="http://schemas.microsoft.com/office/drawing/2014/main" id="{4F65DAD1-9E51-AF2B-8F63-CE0E12052A71}"/>
              </a:ext>
            </a:extLst>
          </p:cNvPr>
          <p:cNvSpPr/>
          <p:nvPr/>
        </p:nvSpPr>
        <p:spPr>
          <a:xfrm>
            <a:off x="2169060" y="3893636"/>
            <a:ext cx="1078987" cy="941833"/>
          </a:xfrm>
          <a:custGeom>
            <a:avLst/>
            <a:gdLst>
              <a:gd name="connsiteX0" fmla="*/ 0 w 1078987"/>
              <a:gd name="connsiteY0" fmla="*/ 94183 h 941833"/>
              <a:gd name="connsiteX1" fmla="*/ 94183 w 1078987"/>
              <a:gd name="connsiteY1" fmla="*/ 0 h 941833"/>
              <a:gd name="connsiteX2" fmla="*/ 984804 w 1078987"/>
              <a:gd name="connsiteY2" fmla="*/ 0 h 941833"/>
              <a:gd name="connsiteX3" fmla="*/ 1078987 w 1078987"/>
              <a:gd name="connsiteY3" fmla="*/ 94183 h 941833"/>
              <a:gd name="connsiteX4" fmla="*/ 1078987 w 1078987"/>
              <a:gd name="connsiteY4" fmla="*/ 847650 h 941833"/>
              <a:gd name="connsiteX5" fmla="*/ 984804 w 1078987"/>
              <a:gd name="connsiteY5" fmla="*/ 941833 h 941833"/>
              <a:gd name="connsiteX6" fmla="*/ 94183 w 1078987"/>
              <a:gd name="connsiteY6" fmla="*/ 941833 h 941833"/>
              <a:gd name="connsiteX7" fmla="*/ 0 w 1078987"/>
              <a:gd name="connsiteY7" fmla="*/ 847650 h 941833"/>
              <a:gd name="connsiteX8" fmla="*/ 0 w 1078987"/>
              <a:gd name="connsiteY8" fmla="*/ 94183 h 941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8987" h="941833">
                <a:moveTo>
                  <a:pt x="0" y="94183"/>
                </a:moveTo>
                <a:cubicBezTo>
                  <a:pt x="0" y="42167"/>
                  <a:pt x="42167" y="0"/>
                  <a:pt x="94183" y="0"/>
                </a:cubicBezTo>
                <a:lnTo>
                  <a:pt x="984804" y="0"/>
                </a:lnTo>
                <a:cubicBezTo>
                  <a:pt x="1036820" y="0"/>
                  <a:pt x="1078987" y="42167"/>
                  <a:pt x="1078987" y="94183"/>
                </a:cubicBezTo>
                <a:lnTo>
                  <a:pt x="1078987" y="847650"/>
                </a:lnTo>
                <a:cubicBezTo>
                  <a:pt x="1078987" y="899666"/>
                  <a:pt x="1036820" y="941833"/>
                  <a:pt x="984804" y="941833"/>
                </a:cubicBezTo>
                <a:lnTo>
                  <a:pt x="94183" y="941833"/>
                </a:lnTo>
                <a:cubicBezTo>
                  <a:pt x="42167" y="941833"/>
                  <a:pt x="0" y="899666"/>
                  <a:pt x="0" y="847650"/>
                </a:cubicBezTo>
                <a:lnTo>
                  <a:pt x="0" y="94183"/>
                </a:ln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930" tIns="120930" rIns="120930" bIns="120930" numCol="1" spcCol="1270" anchor="ctr" anchorCtr="0">
            <a:noAutofit/>
          </a:bodyPr>
          <a:lstStyle/>
          <a:p>
            <a:pPr algn="ctr" defTabSz="2178050">
              <a:lnSpc>
                <a:spcPct val="90000"/>
              </a:lnSpc>
              <a:spcBef>
                <a:spcPct val="0"/>
              </a:spcBef>
              <a:spcAft>
                <a:spcPct val="35000"/>
              </a:spcAft>
            </a:pPr>
            <a:r>
              <a:rPr lang="en-US" sz="3600" kern="1200" dirty="0">
                <a:cs typeface="Times New Roman" panose="02020603050405020304" pitchFamily="18" charset="0"/>
              </a:rPr>
              <a:t>[</a:t>
            </a:r>
            <a:r>
              <a:rPr lang="en-US" sz="3600" dirty="0" err="1">
                <a:cs typeface="Times New Roman" panose="02020603050405020304" pitchFamily="18" charset="0"/>
              </a:rPr>
              <a:t>ɑɑ</a:t>
            </a:r>
            <a:r>
              <a:rPr lang="en-US" sz="3600" kern="1200" baseline="0" dirty="0">
                <a:cs typeface="Times New Roman" panose="02020603050405020304" pitchFamily="18" charset="0"/>
              </a:rPr>
              <a:t>]</a:t>
            </a:r>
            <a:endParaRPr lang="en-US" sz="3600" kern="1200" dirty="0">
              <a:cs typeface="Times New Roman" panose="02020603050405020304" pitchFamily="18" charset="0"/>
            </a:endParaRPr>
          </a:p>
        </p:txBody>
      </p:sp>
      <p:sp>
        <p:nvSpPr>
          <p:cNvPr id="24" name="TextBox 23">
            <a:extLst>
              <a:ext uri="{FF2B5EF4-FFF2-40B4-BE49-F238E27FC236}">
                <a16:creationId xmlns:a16="http://schemas.microsoft.com/office/drawing/2014/main" id="{FD573603-9738-9DBE-4F05-03CCAD7B6E36}"/>
              </a:ext>
            </a:extLst>
          </p:cNvPr>
          <p:cNvSpPr txBox="1"/>
          <p:nvPr/>
        </p:nvSpPr>
        <p:spPr>
          <a:xfrm>
            <a:off x="5572074" y="2499774"/>
            <a:ext cx="829843" cy="584775"/>
          </a:xfrm>
          <a:prstGeom prst="rect">
            <a:avLst/>
          </a:prstGeom>
          <a:noFill/>
        </p:spPr>
        <p:txBody>
          <a:bodyPr wrap="none" rtlCol="0">
            <a:spAutoFit/>
          </a:bodyPr>
          <a:lstStyle/>
          <a:p>
            <a:r>
              <a:rPr lang="en-US" sz="3200" dirty="0"/>
              <a:t>call</a:t>
            </a:r>
          </a:p>
        </p:txBody>
      </p:sp>
      <p:sp>
        <p:nvSpPr>
          <p:cNvPr id="25" name="TextBox 24">
            <a:extLst>
              <a:ext uri="{FF2B5EF4-FFF2-40B4-BE49-F238E27FC236}">
                <a16:creationId xmlns:a16="http://schemas.microsoft.com/office/drawing/2014/main" id="{6086BEDA-8A8E-64F2-5B71-53F565761D49}"/>
              </a:ext>
            </a:extLst>
          </p:cNvPr>
          <p:cNvSpPr txBox="1"/>
          <p:nvPr/>
        </p:nvSpPr>
        <p:spPr>
          <a:xfrm>
            <a:off x="5354066" y="3883628"/>
            <a:ext cx="1047851" cy="584775"/>
          </a:xfrm>
          <a:prstGeom prst="rect">
            <a:avLst/>
          </a:prstGeom>
          <a:noFill/>
        </p:spPr>
        <p:txBody>
          <a:bodyPr wrap="none" rtlCol="0">
            <a:spAutoFit/>
          </a:bodyPr>
          <a:lstStyle/>
          <a:p>
            <a:r>
              <a:rPr lang="en-US" sz="3200" dirty="0" err="1"/>
              <a:t>caall</a:t>
            </a:r>
            <a:endParaRPr lang="en-US" sz="3200" dirty="0"/>
          </a:p>
        </p:txBody>
      </p:sp>
      <p:cxnSp>
        <p:nvCxnSpPr>
          <p:cNvPr id="28" name="Straight Arrow Connector 27">
            <a:extLst>
              <a:ext uri="{FF2B5EF4-FFF2-40B4-BE49-F238E27FC236}">
                <a16:creationId xmlns:a16="http://schemas.microsoft.com/office/drawing/2014/main" id="{B3C51787-23D1-C296-AF51-32CC797C10CA}"/>
              </a:ext>
            </a:extLst>
          </p:cNvPr>
          <p:cNvCxnSpPr>
            <a:cxnSpLocks/>
            <a:stCxn id="25" idx="3"/>
            <a:endCxn id="30" idx="1"/>
          </p:cNvCxnSpPr>
          <p:nvPr/>
        </p:nvCxnSpPr>
        <p:spPr>
          <a:xfrm flipV="1">
            <a:off x="6401917" y="3324256"/>
            <a:ext cx="2642340" cy="85176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17D160C-EF28-BDCC-4D44-4BE0DC5C4C27}"/>
              </a:ext>
            </a:extLst>
          </p:cNvPr>
          <p:cNvCxnSpPr>
            <a:cxnSpLocks/>
            <a:stCxn id="24" idx="3"/>
          </p:cNvCxnSpPr>
          <p:nvPr/>
        </p:nvCxnSpPr>
        <p:spPr>
          <a:xfrm>
            <a:off x="6401917" y="2792162"/>
            <a:ext cx="2642340" cy="532093"/>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30" name="Graphic 29" descr="Speaker phone with solid fill">
            <a:extLst>
              <a:ext uri="{FF2B5EF4-FFF2-40B4-BE49-F238E27FC236}">
                <a16:creationId xmlns:a16="http://schemas.microsoft.com/office/drawing/2014/main" id="{BEB0E18B-D3FC-9D99-58D1-3C0273780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44257" y="2693683"/>
            <a:ext cx="1261145" cy="1261145"/>
          </a:xfrm>
          <a:prstGeom prst="rect">
            <a:avLst/>
          </a:prstGeom>
        </p:spPr>
      </p:pic>
      <p:cxnSp>
        <p:nvCxnSpPr>
          <p:cNvPr id="39" name="Straight Arrow Connector 38">
            <a:extLst>
              <a:ext uri="{FF2B5EF4-FFF2-40B4-BE49-F238E27FC236}">
                <a16:creationId xmlns:a16="http://schemas.microsoft.com/office/drawing/2014/main" id="{C95CB4AF-B0EF-0A0B-62AA-803C20B18D21}"/>
              </a:ext>
            </a:extLst>
          </p:cNvPr>
          <p:cNvCxnSpPr>
            <a:cxnSpLocks/>
          </p:cNvCxnSpPr>
          <p:nvPr/>
        </p:nvCxnSpPr>
        <p:spPr>
          <a:xfrm flipV="1">
            <a:off x="1275017" y="3380818"/>
            <a:ext cx="280052" cy="50281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C20CC2F-1046-15CB-F62C-EB7845026D00}"/>
              </a:ext>
            </a:extLst>
          </p:cNvPr>
          <p:cNvCxnSpPr>
            <a:cxnSpLocks/>
          </p:cNvCxnSpPr>
          <p:nvPr/>
        </p:nvCxnSpPr>
        <p:spPr>
          <a:xfrm flipH="1" flipV="1">
            <a:off x="2451112" y="3389665"/>
            <a:ext cx="312834" cy="493963"/>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1" name="Freeform 40">
            <a:extLst>
              <a:ext uri="{FF2B5EF4-FFF2-40B4-BE49-F238E27FC236}">
                <a16:creationId xmlns:a16="http://schemas.microsoft.com/office/drawing/2014/main" id="{7B28AA78-9EBF-F87E-EBC1-26030779E39C}"/>
              </a:ext>
            </a:extLst>
          </p:cNvPr>
          <p:cNvSpPr/>
          <p:nvPr/>
        </p:nvSpPr>
        <p:spPr>
          <a:xfrm>
            <a:off x="1276339" y="2046303"/>
            <a:ext cx="1487607" cy="1487607"/>
          </a:xfrm>
          <a:custGeom>
            <a:avLst/>
            <a:gdLst>
              <a:gd name="connsiteX0" fmla="*/ 0 w 1487607"/>
              <a:gd name="connsiteY0" fmla="*/ 743804 h 1487607"/>
              <a:gd name="connsiteX1" fmla="*/ 743804 w 1487607"/>
              <a:gd name="connsiteY1" fmla="*/ 0 h 1487607"/>
              <a:gd name="connsiteX2" fmla="*/ 1487608 w 1487607"/>
              <a:gd name="connsiteY2" fmla="*/ 743804 h 1487607"/>
              <a:gd name="connsiteX3" fmla="*/ 743804 w 1487607"/>
              <a:gd name="connsiteY3" fmla="*/ 1487608 h 1487607"/>
              <a:gd name="connsiteX4" fmla="*/ 0 w 1487607"/>
              <a:gd name="connsiteY4" fmla="*/ 743804 h 1487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7607" h="1487607">
                <a:moveTo>
                  <a:pt x="0" y="743804"/>
                </a:moveTo>
                <a:cubicBezTo>
                  <a:pt x="0" y="333012"/>
                  <a:pt x="333012" y="0"/>
                  <a:pt x="743804" y="0"/>
                </a:cubicBezTo>
                <a:cubicBezTo>
                  <a:pt x="1154596" y="0"/>
                  <a:pt x="1487608" y="333012"/>
                  <a:pt x="1487608" y="743804"/>
                </a:cubicBezTo>
                <a:cubicBezTo>
                  <a:pt x="1487608" y="1154596"/>
                  <a:pt x="1154596" y="1487608"/>
                  <a:pt x="743804" y="1487608"/>
                </a:cubicBezTo>
                <a:cubicBezTo>
                  <a:pt x="333012" y="1487608"/>
                  <a:pt x="0" y="1154596"/>
                  <a:pt x="0" y="743804"/>
                </a:cubicBezTo>
                <a:close/>
              </a:path>
            </a:pathLst>
          </a:custGeom>
          <a:solidFill>
            <a:schemeClr val="accent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none" lIns="235000" tIns="235000" rIns="235000" bIns="235000" numCol="1" spcCol="1270" anchor="ctr" anchorCtr="0">
            <a:noAutofit/>
          </a:bodyPr>
          <a:lstStyle/>
          <a:p>
            <a:pPr marL="0" lvl="0" indent="0" algn="ctr" defTabSz="1200150">
              <a:lnSpc>
                <a:spcPct val="50000"/>
              </a:lnSpc>
              <a:spcBef>
                <a:spcPct val="0"/>
              </a:spcBef>
              <a:spcAft>
                <a:spcPct val="35000"/>
              </a:spcAft>
              <a:buNone/>
            </a:pPr>
            <a:r>
              <a:rPr lang="en-US" sz="2500" dirty="0">
                <a:cs typeface="Times New Roman" panose="02020603050405020304" pitchFamily="18" charset="0"/>
              </a:rPr>
              <a:t>English</a:t>
            </a:r>
          </a:p>
          <a:p>
            <a:pPr algn="ctr" defTabSz="1200150">
              <a:lnSpc>
                <a:spcPct val="50000"/>
              </a:lnSpc>
              <a:spcBef>
                <a:spcPct val="0"/>
              </a:spcBef>
              <a:spcAft>
                <a:spcPct val="35000"/>
              </a:spcAft>
            </a:pPr>
            <a:r>
              <a:rPr lang="en-US" sz="2500" kern="1200" dirty="0">
                <a:cs typeface="Times New Roman" panose="02020603050405020304" pitchFamily="18" charset="0"/>
              </a:rPr>
              <a:t>/</a:t>
            </a:r>
            <a:r>
              <a:rPr lang="en-US" sz="2500" kern="1200" dirty="0" err="1">
                <a:cs typeface="Times New Roman" panose="02020603050405020304" pitchFamily="18" charset="0"/>
              </a:rPr>
              <a:t>ɑ</a:t>
            </a:r>
            <a:r>
              <a:rPr lang="en-US" sz="2500" kern="1200" dirty="0">
                <a:cs typeface="Times New Roman" panose="02020603050405020304" pitchFamily="18" charset="0"/>
              </a:rPr>
              <a:t>/</a:t>
            </a:r>
          </a:p>
        </p:txBody>
      </p:sp>
    </p:spTree>
    <p:extLst>
      <p:ext uri="{BB962C8B-B14F-4D97-AF65-F5344CB8AC3E}">
        <p14:creationId xmlns:p14="http://schemas.microsoft.com/office/powerpoint/2010/main" val="2009274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C0BA3-96E5-2134-26C7-669F8D91CB1E}"/>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6CF636E9-0034-78CE-AFD4-30056895B598}"/>
              </a:ext>
            </a:extLst>
          </p:cNvPr>
          <p:cNvGrpSpPr/>
          <p:nvPr/>
        </p:nvGrpSpPr>
        <p:grpSpPr>
          <a:xfrm>
            <a:off x="671205" y="4889010"/>
            <a:ext cx="2617694" cy="1218211"/>
            <a:chOff x="671205" y="4889010"/>
            <a:chExt cx="2617694" cy="1218211"/>
          </a:xfrm>
        </p:grpSpPr>
        <p:grpSp>
          <p:nvGrpSpPr>
            <p:cNvPr id="8" name="Group 7">
              <a:extLst>
                <a:ext uri="{FF2B5EF4-FFF2-40B4-BE49-F238E27FC236}">
                  <a16:creationId xmlns:a16="http://schemas.microsoft.com/office/drawing/2014/main" id="{7537CB86-AA88-F050-E9B5-6F45AA54112A}"/>
                </a:ext>
              </a:extLst>
            </p:cNvPr>
            <p:cNvGrpSpPr/>
            <p:nvPr/>
          </p:nvGrpSpPr>
          <p:grpSpPr>
            <a:xfrm>
              <a:off x="671205" y="4889010"/>
              <a:ext cx="2617694" cy="1218211"/>
              <a:chOff x="5199758" y="2753944"/>
              <a:chExt cx="2617694" cy="1218211"/>
            </a:xfrm>
          </p:grpSpPr>
          <p:cxnSp>
            <p:nvCxnSpPr>
              <p:cNvPr id="9" name="Straight Connector 8">
                <a:extLst>
                  <a:ext uri="{FF2B5EF4-FFF2-40B4-BE49-F238E27FC236}">
                    <a16:creationId xmlns:a16="http://schemas.microsoft.com/office/drawing/2014/main" id="{508A2A59-400C-0A45-EB2D-C031724BFE4B}"/>
                  </a:ext>
                </a:extLst>
              </p:cNvPr>
              <p:cNvCxnSpPr/>
              <p:nvPr/>
            </p:nvCxnSpPr>
            <p:spPr>
              <a:xfrm>
                <a:off x="5199758" y="2901167"/>
                <a:ext cx="2617694" cy="0"/>
              </a:xfrm>
              <a:prstGeom prst="line">
                <a:avLst/>
              </a:prstGeom>
              <a:ln w="38100">
                <a:solidFill>
                  <a:schemeClr val="accent2"/>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0E5C7AF-EFC9-95CB-A7D7-F06ACB785D89}"/>
                  </a:ext>
                </a:extLst>
              </p:cNvPr>
              <p:cNvSpPr txBox="1"/>
              <p:nvPr/>
            </p:nvSpPr>
            <p:spPr>
              <a:xfrm>
                <a:off x="5510110" y="3510490"/>
                <a:ext cx="2077172" cy="461665"/>
              </a:xfrm>
              <a:prstGeom prst="rect">
                <a:avLst/>
              </a:prstGeom>
              <a:noFill/>
            </p:spPr>
            <p:txBody>
              <a:bodyPr wrap="none" rtlCol="0">
                <a:spAutoFit/>
              </a:bodyPr>
              <a:lstStyle/>
              <a:p>
                <a:r>
                  <a:rPr lang="en-US" sz="2400" dirty="0"/>
                  <a:t>duration in ms</a:t>
                </a:r>
              </a:p>
            </p:txBody>
          </p:sp>
          <p:cxnSp>
            <p:nvCxnSpPr>
              <p:cNvPr id="11" name="Straight Connector 10">
                <a:extLst>
                  <a:ext uri="{FF2B5EF4-FFF2-40B4-BE49-F238E27FC236}">
                    <a16:creationId xmlns:a16="http://schemas.microsoft.com/office/drawing/2014/main" id="{EA02CA9A-8766-3D05-1950-918BC6CE3A39}"/>
                  </a:ext>
                </a:extLst>
              </p:cNvPr>
              <p:cNvCxnSpPr/>
              <p:nvPr/>
            </p:nvCxnSpPr>
            <p:spPr>
              <a:xfrm>
                <a:off x="5826181" y="2753944"/>
                <a:ext cx="0" cy="289438"/>
              </a:xfrm>
              <a:prstGeom prst="line">
                <a:avLst/>
              </a:prstGeom>
              <a:ln w="2222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75D46B3-2C15-FC69-8715-448AC17DA97E}"/>
                  </a:ext>
                </a:extLst>
              </p:cNvPr>
              <p:cNvCxnSpPr/>
              <p:nvPr/>
            </p:nvCxnSpPr>
            <p:spPr>
              <a:xfrm>
                <a:off x="7237109" y="2761629"/>
                <a:ext cx="0" cy="289438"/>
              </a:xfrm>
              <a:prstGeom prst="line">
                <a:avLst/>
              </a:prstGeom>
              <a:ln w="22225">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15" name="TextBox 14">
              <a:extLst>
                <a:ext uri="{FF2B5EF4-FFF2-40B4-BE49-F238E27FC236}">
                  <a16:creationId xmlns:a16="http://schemas.microsoft.com/office/drawing/2014/main" id="{B40A1D96-9073-6376-5CB4-EEB5E2E772B1}"/>
                </a:ext>
              </a:extLst>
            </p:cNvPr>
            <p:cNvSpPr txBox="1"/>
            <p:nvPr/>
          </p:nvSpPr>
          <p:spPr>
            <a:xfrm>
              <a:off x="1040184" y="5236099"/>
              <a:ext cx="514885" cy="461665"/>
            </a:xfrm>
            <a:prstGeom prst="rect">
              <a:avLst/>
            </a:prstGeom>
            <a:noFill/>
          </p:spPr>
          <p:txBody>
            <a:bodyPr wrap="none" rtlCol="0">
              <a:spAutoFit/>
            </a:bodyPr>
            <a:lstStyle/>
            <a:p>
              <a:r>
                <a:rPr lang="en-US" sz="2400" dirty="0"/>
                <a:t>10</a:t>
              </a:r>
            </a:p>
          </p:txBody>
        </p:sp>
        <p:sp>
          <p:nvSpPr>
            <p:cNvPr id="16" name="TextBox 15">
              <a:extLst>
                <a:ext uri="{FF2B5EF4-FFF2-40B4-BE49-F238E27FC236}">
                  <a16:creationId xmlns:a16="http://schemas.microsoft.com/office/drawing/2014/main" id="{0A7D21B1-3C55-5BD0-2329-F5869E042D2F}"/>
                </a:ext>
              </a:extLst>
            </p:cNvPr>
            <p:cNvSpPr txBox="1"/>
            <p:nvPr/>
          </p:nvSpPr>
          <p:spPr>
            <a:xfrm>
              <a:off x="2451112" y="5226989"/>
              <a:ext cx="514885" cy="461665"/>
            </a:xfrm>
            <a:prstGeom prst="rect">
              <a:avLst/>
            </a:prstGeom>
            <a:noFill/>
          </p:spPr>
          <p:txBody>
            <a:bodyPr wrap="none" rtlCol="0">
              <a:spAutoFit/>
            </a:bodyPr>
            <a:lstStyle/>
            <a:p>
              <a:r>
                <a:rPr lang="en-US" sz="2400" dirty="0"/>
                <a:t>30</a:t>
              </a:r>
            </a:p>
          </p:txBody>
        </p:sp>
      </p:grpSp>
      <p:sp>
        <p:nvSpPr>
          <p:cNvPr id="2" name="Freeform 1">
            <a:extLst>
              <a:ext uri="{FF2B5EF4-FFF2-40B4-BE49-F238E27FC236}">
                <a16:creationId xmlns:a16="http://schemas.microsoft.com/office/drawing/2014/main" id="{E24A523B-9C3B-609D-16E7-228F839CD88C}"/>
              </a:ext>
            </a:extLst>
          </p:cNvPr>
          <p:cNvSpPr/>
          <p:nvPr/>
        </p:nvSpPr>
        <p:spPr>
          <a:xfrm>
            <a:off x="758132" y="3903645"/>
            <a:ext cx="1078987" cy="941833"/>
          </a:xfrm>
          <a:custGeom>
            <a:avLst/>
            <a:gdLst>
              <a:gd name="connsiteX0" fmla="*/ 0 w 1078987"/>
              <a:gd name="connsiteY0" fmla="*/ 94183 h 941833"/>
              <a:gd name="connsiteX1" fmla="*/ 94183 w 1078987"/>
              <a:gd name="connsiteY1" fmla="*/ 0 h 941833"/>
              <a:gd name="connsiteX2" fmla="*/ 984804 w 1078987"/>
              <a:gd name="connsiteY2" fmla="*/ 0 h 941833"/>
              <a:gd name="connsiteX3" fmla="*/ 1078987 w 1078987"/>
              <a:gd name="connsiteY3" fmla="*/ 94183 h 941833"/>
              <a:gd name="connsiteX4" fmla="*/ 1078987 w 1078987"/>
              <a:gd name="connsiteY4" fmla="*/ 847650 h 941833"/>
              <a:gd name="connsiteX5" fmla="*/ 984804 w 1078987"/>
              <a:gd name="connsiteY5" fmla="*/ 941833 h 941833"/>
              <a:gd name="connsiteX6" fmla="*/ 94183 w 1078987"/>
              <a:gd name="connsiteY6" fmla="*/ 941833 h 941833"/>
              <a:gd name="connsiteX7" fmla="*/ 0 w 1078987"/>
              <a:gd name="connsiteY7" fmla="*/ 847650 h 941833"/>
              <a:gd name="connsiteX8" fmla="*/ 0 w 1078987"/>
              <a:gd name="connsiteY8" fmla="*/ 94183 h 941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8987" h="941833">
                <a:moveTo>
                  <a:pt x="0" y="94183"/>
                </a:moveTo>
                <a:cubicBezTo>
                  <a:pt x="0" y="42167"/>
                  <a:pt x="42167" y="0"/>
                  <a:pt x="94183" y="0"/>
                </a:cubicBezTo>
                <a:lnTo>
                  <a:pt x="984804" y="0"/>
                </a:lnTo>
                <a:cubicBezTo>
                  <a:pt x="1036820" y="0"/>
                  <a:pt x="1078987" y="42167"/>
                  <a:pt x="1078987" y="94183"/>
                </a:cubicBezTo>
                <a:lnTo>
                  <a:pt x="1078987" y="847650"/>
                </a:lnTo>
                <a:cubicBezTo>
                  <a:pt x="1078987" y="899666"/>
                  <a:pt x="1036820" y="941833"/>
                  <a:pt x="984804" y="941833"/>
                </a:cubicBezTo>
                <a:lnTo>
                  <a:pt x="94183" y="941833"/>
                </a:lnTo>
                <a:cubicBezTo>
                  <a:pt x="42167" y="941833"/>
                  <a:pt x="0" y="899666"/>
                  <a:pt x="0" y="847650"/>
                </a:cubicBezTo>
                <a:lnTo>
                  <a:pt x="0" y="94183"/>
                </a:lnTo>
                <a:close/>
              </a:path>
            </a:pathLst>
          </a:custGeom>
          <a:solidFill>
            <a:schemeClr val="accent6">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930" tIns="120930" rIns="120930" bIns="120930" numCol="1" spcCol="1270" anchor="ctr" anchorCtr="0">
            <a:noAutofit/>
          </a:bodyPr>
          <a:lstStyle/>
          <a:p>
            <a:pPr algn="ctr" defTabSz="2178050">
              <a:lnSpc>
                <a:spcPct val="90000"/>
              </a:lnSpc>
              <a:spcBef>
                <a:spcPct val="0"/>
              </a:spcBef>
              <a:spcAft>
                <a:spcPct val="35000"/>
              </a:spcAft>
            </a:pPr>
            <a:r>
              <a:rPr lang="en-US" sz="3600" kern="1200" dirty="0">
                <a:cs typeface="Times New Roman" panose="02020603050405020304" pitchFamily="18" charset="0"/>
              </a:rPr>
              <a:t>[</a:t>
            </a:r>
            <a:r>
              <a:rPr lang="en-US" sz="3600" kern="1200" dirty="0" err="1">
                <a:cs typeface="Times New Roman" panose="02020603050405020304" pitchFamily="18" charset="0"/>
              </a:rPr>
              <a:t>ɑ</a:t>
            </a:r>
            <a:r>
              <a:rPr lang="en-US" sz="3600" kern="1200" baseline="0" dirty="0">
                <a:cs typeface="Times New Roman" panose="02020603050405020304" pitchFamily="18" charset="0"/>
              </a:rPr>
              <a:t>]</a:t>
            </a:r>
            <a:endParaRPr lang="en-US" sz="3600" kern="1200" dirty="0">
              <a:cs typeface="Times New Roman" panose="02020603050405020304" pitchFamily="18" charset="0"/>
            </a:endParaRPr>
          </a:p>
        </p:txBody>
      </p:sp>
      <p:sp>
        <p:nvSpPr>
          <p:cNvPr id="3" name="Freeform 2">
            <a:extLst>
              <a:ext uri="{FF2B5EF4-FFF2-40B4-BE49-F238E27FC236}">
                <a16:creationId xmlns:a16="http://schemas.microsoft.com/office/drawing/2014/main" id="{30242466-856B-228B-7438-14CC7FBA64FB}"/>
              </a:ext>
            </a:extLst>
          </p:cNvPr>
          <p:cNvSpPr/>
          <p:nvPr/>
        </p:nvSpPr>
        <p:spPr>
          <a:xfrm>
            <a:off x="2169060" y="3893636"/>
            <a:ext cx="1078987" cy="941833"/>
          </a:xfrm>
          <a:custGeom>
            <a:avLst/>
            <a:gdLst>
              <a:gd name="connsiteX0" fmla="*/ 0 w 1078987"/>
              <a:gd name="connsiteY0" fmla="*/ 94183 h 941833"/>
              <a:gd name="connsiteX1" fmla="*/ 94183 w 1078987"/>
              <a:gd name="connsiteY1" fmla="*/ 0 h 941833"/>
              <a:gd name="connsiteX2" fmla="*/ 984804 w 1078987"/>
              <a:gd name="connsiteY2" fmla="*/ 0 h 941833"/>
              <a:gd name="connsiteX3" fmla="*/ 1078987 w 1078987"/>
              <a:gd name="connsiteY3" fmla="*/ 94183 h 941833"/>
              <a:gd name="connsiteX4" fmla="*/ 1078987 w 1078987"/>
              <a:gd name="connsiteY4" fmla="*/ 847650 h 941833"/>
              <a:gd name="connsiteX5" fmla="*/ 984804 w 1078987"/>
              <a:gd name="connsiteY5" fmla="*/ 941833 h 941833"/>
              <a:gd name="connsiteX6" fmla="*/ 94183 w 1078987"/>
              <a:gd name="connsiteY6" fmla="*/ 941833 h 941833"/>
              <a:gd name="connsiteX7" fmla="*/ 0 w 1078987"/>
              <a:gd name="connsiteY7" fmla="*/ 847650 h 941833"/>
              <a:gd name="connsiteX8" fmla="*/ 0 w 1078987"/>
              <a:gd name="connsiteY8" fmla="*/ 94183 h 941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8987" h="941833">
                <a:moveTo>
                  <a:pt x="0" y="94183"/>
                </a:moveTo>
                <a:cubicBezTo>
                  <a:pt x="0" y="42167"/>
                  <a:pt x="42167" y="0"/>
                  <a:pt x="94183" y="0"/>
                </a:cubicBezTo>
                <a:lnTo>
                  <a:pt x="984804" y="0"/>
                </a:lnTo>
                <a:cubicBezTo>
                  <a:pt x="1036820" y="0"/>
                  <a:pt x="1078987" y="42167"/>
                  <a:pt x="1078987" y="94183"/>
                </a:cubicBezTo>
                <a:lnTo>
                  <a:pt x="1078987" y="847650"/>
                </a:lnTo>
                <a:cubicBezTo>
                  <a:pt x="1078987" y="899666"/>
                  <a:pt x="1036820" y="941833"/>
                  <a:pt x="984804" y="941833"/>
                </a:cubicBezTo>
                <a:lnTo>
                  <a:pt x="94183" y="941833"/>
                </a:lnTo>
                <a:cubicBezTo>
                  <a:pt x="42167" y="941833"/>
                  <a:pt x="0" y="899666"/>
                  <a:pt x="0" y="847650"/>
                </a:cubicBezTo>
                <a:lnTo>
                  <a:pt x="0" y="94183"/>
                </a:ln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930" tIns="120930" rIns="120930" bIns="120930" numCol="1" spcCol="1270" anchor="ctr" anchorCtr="0">
            <a:noAutofit/>
          </a:bodyPr>
          <a:lstStyle/>
          <a:p>
            <a:pPr algn="ctr" defTabSz="2178050">
              <a:lnSpc>
                <a:spcPct val="90000"/>
              </a:lnSpc>
              <a:spcBef>
                <a:spcPct val="0"/>
              </a:spcBef>
              <a:spcAft>
                <a:spcPct val="35000"/>
              </a:spcAft>
            </a:pPr>
            <a:r>
              <a:rPr lang="en-US" sz="3600" kern="1200" dirty="0">
                <a:cs typeface="Times New Roman" panose="02020603050405020304" pitchFamily="18" charset="0"/>
              </a:rPr>
              <a:t>[</a:t>
            </a:r>
            <a:r>
              <a:rPr lang="en-US" sz="3600" dirty="0" err="1">
                <a:cs typeface="Times New Roman" panose="02020603050405020304" pitchFamily="18" charset="0"/>
              </a:rPr>
              <a:t>ɑɑ</a:t>
            </a:r>
            <a:r>
              <a:rPr lang="en-US" sz="3600" kern="1200" baseline="0" dirty="0">
                <a:cs typeface="Times New Roman" panose="02020603050405020304" pitchFamily="18" charset="0"/>
              </a:rPr>
              <a:t>]</a:t>
            </a:r>
            <a:endParaRPr lang="en-US" sz="3600" kern="1200" dirty="0">
              <a:cs typeface="Times New Roman" panose="02020603050405020304" pitchFamily="18" charset="0"/>
            </a:endParaRPr>
          </a:p>
        </p:txBody>
      </p:sp>
      <p:cxnSp>
        <p:nvCxnSpPr>
          <p:cNvPr id="4" name="Straight Arrow Connector 3">
            <a:extLst>
              <a:ext uri="{FF2B5EF4-FFF2-40B4-BE49-F238E27FC236}">
                <a16:creationId xmlns:a16="http://schemas.microsoft.com/office/drawing/2014/main" id="{3790C64A-C4BC-C2F4-D9C1-5126ADBF592C}"/>
              </a:ext>
            </a:extLst>
          </p:cNvPr>
          <p:cNvCxnSpPr>
            <a:cxnSpLocks/>
          </p:cNvCxnSpPr>
          <p:nvPr/>
        </p:nvCxnSpPr>
        <p:spPr>
          <a:xfrm flipV="1">
            <a:off x="1275017" y="3380818"/>
            <a:ext cx="280052" cy="50281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9B8857C-AF2C-38CB-E397-BBC08CEDF4BB}"/>
              </a:ext>
            </a:extLst>
          </p:cNvPr>
          <p:cNvCxnSpPr>
            <a:cxnSpLocks/>
          </p:cNvCxnSpPr>
          <p:nvPr/>
        </p:nvCxnSpPr>
        <p:spPr>
          <a:xfrm flipH="1" flipV="1">
            <a:off x="2451112" y="3389665"/>
            <a:ext cx="312834" cy="493963"/>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4" name="Freeform 23">
            <a:extLst>
              <a:ext uri="{FF2B5EF4-FFF2-40B4-BE49-F238E27FC236}">
                <a16:creationId xmlns:a16="http://schemas.microsoft.com/office/drawing/2014/main" id="{1E00F1B2-ACD4-090E-6667-E965ACCE0005}"/>
              </a:ext>
            </a:extLst>
          </p:cNvPr>
          <p:cNvSpPr/>
          <p:nvPr/>
        </p:nvSpPr>
        <p:spPr>
          <a:xfrm>
            <a:off x="1276339" y="2046303"/>
            <a:ext cx="1487607" cy="1487607"/>
          </a:xfrm>
          <a:custGeom>
            <a:avLst/>
            <a:gdLst>
              <a:gd name="connsiteX0" fmla="*/ 0 w 1487607"/>
              <a:gd name="connsiteY0" fmla="*/ 743804 h 1487607"/>
              <a:gd name="connsiteX1" fmla="*/ 743804 w 1487607"/>
              <a:gd name="connsiteY1" fmla="*/ 0 h 1487607"/>
              <a:gd name="connsiteX2" fmla="*/ 1487608 w 1487607"/>
              <a:gd name="connsiteY2" fmla="*/ 743804 h 1487607"/>
              <a:gd name="connsiteX3" fmla="*/ 743804 w 1487607"/>
              <a:gd name="connsiteY3" fmla="*/ 1487608 h 1487607"/>
              <a:gd name="connsiteX4" fmla="*/ 0 w 1487607"/>
              <a:gd name="connsiteY4" fmla="*/ 743804 h 1487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7607" h="1487607">
                <a:moveTo>
                  <a:pt x="0" y="743804"/>
                </a:moveTo>
                <a:cubicBezTo>
                  <a:pt x="0" y="333012"/>
                  <a:pt x="333012" y="0"/>
                  <a:pt x="743804" y="0"/>
                </a:cubicBezTo>
                <a:cubicBezTo>
                  <a:pt x="1154596" y="0"/>
                  <a:pt x="1487608" y="333012"/>
                  <a:pt x="1487608" y="743804"/>
                </a:cubicBezTo>
                <a:cubicBezTo>
                  <a:pt x="1487608" y="1154596"/>
                  <a:pt x="1154596" y="1487608"/>
                  <a:pt x="743804" y="1487608"/>
                </a:cubicBezTo>
                <a:cubicBezTo>
                  <a:pt x="333012" y="1487608"/>
                  <a:pt x="0" y="1154596"/>
                  <a:pt x="0" y="743804"/>
                </a:cubicBezTo>
                <a:close/>
              </a:path>
            </a:pathLst>
          </a:custGeom>
          <a:solidFill>
            <a:schemeClr val="accent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none" lIns="235000" tIns="235000" rIns="235000" bIns="235000" numCol="1" spcCol="1270" anchor="ctr" anchorCtr="0">
            <a:noAutofit/>
          </a:bodyPr>
          <a:lstStyle/>
          <a:p>
            <a:pPr marL="0" lvl="0" indent="0" algn="ctr" defTabSz="1200150">
              <a:lnSpc>
                <a:spcPct val="50000"/>
              </a:lnSpc>
              <a:spcBef>
                <a:spcPct val="0"/>
              </a:spcBef>
              <a:spcAft>
                <a:spcPct val="35000"/>
              </a:spcAft>
              <a:buNone/>
            </a:pPr>
            <a:r>
              <a:rPr lang="en-US" sz="2500" dirty="0">
                <a:cs typeface="Times New Roman" panose="02020603050405020304" pitchFamily="18" charset="0"/>
              </a:rPr>
              <a:t>English</a:t>
            </a:r>
          </a:p>
          <a:p>
            <a:pPr algn="ctr" defTabSz="1200150">
              <a:lnSpc>
                <a:spcPct val="50000"/>
              </a:lnSpc>
              <a:spcBef>
                <a:spcPct val="0"/>
              </a:spcBef>
              <a:spcAft>
                <a:spcPct val="35000"/>
              </a:spcAft>
            </a:pPr>
            <a:r>
              <a:rPr lang="en-US" sz="2500" kern="1200" dirty="0">
                <a:cs typeface="Times New Roman" panose="02020603050405020304" pitchFamily="18" charset="0"/>
              </a:rPr>
              <a:t>/</a:t>
            </a:r>
            <a:r>
              <a:rPr lang="en-US" sz="2500" kern="1200" dirty="0" err="1">
                <a:cs typeface="Times New Roman" panose="02020603050405020304" pitchFamily="18" charset="0"/>
              </a:rPr>
              <a:t>ɑ</a:t>
            </a:r>
            <a:r>
              <a:rPr lang="en-US" sz="2500" kern="1200" dirty="0">
                <a:cs typeface="Times New Roman" panose="02020603050405020304" pitchFamily="18" charset="0"/>
              </a:rPr>
              <a:t>/</a:t>
            </a:r>
          </a:p>
        </p:txBody>
      </p:sp>
      <p:grpSp>
        <p:nvGrpSpPr>
          <p:cNvPr id="6" name="Group 5">
            <a:extLst>
              <a:ext uri="{FF2B5EF4-FFF2-40B4-BE49-F238E27FC236}">
                <a16:creationId xmlns:a16="http://schemas.microsoft.com/office/drawing/2014/main" id="{5D5BEA8B-8348-C5B4-5F93-230CB0C71FDB}"/>
              </a:ext>
            </a:extLst>
          </p:cNvPr>
          <p:cNvGrpSpPr/>
          <p:nvPr/>
        </p:nvGrpSpPr>
        <p:grpSpPr>
          <a:xfrm>
            <a:off x="4826063" y="4896695"/>
            <a:ext cx="2617694" cy="1218211"/>
            <a:chOff x="690660" y="4889010"/>
            <a:chExt cx="2617694" cy="1218211"/>
          </a:xfrm>
        </p:grpSpPr>
        <p:grpSp>
          <p:nvGrpSpPr>
            <p:cNvPr id="7" name="Group 6">
              <a:extLst>
                <a:ext uri="{FF2B5EF4-FFF2-40B4-BE49-F238E27FC236}">
                  <a16:creationId xmlns:a16="http://schemas.microsoft.com/office/drawing/2014/main" id="{4A7C9BD4-3312-CF22-34CF-4201388B64F1}"/>
                </a:ext>
              </a:extLst>
            </p:cNvPr>
            <p:cNvGrpSpPr/>
            <p:nvPr/>
          </p:nvGrpSpPr>
          <p:grpSpPr>
            <a:xfrm>
              <a:off x="690660" y="4889010"/>
              <a:ext cx="2617694" cy="1218211"/>
              <a:chOff x="5219213" y="2753944"/>
              <a:chExt cx="2617694" cy="1218211"/>
            </a:xfrm>
          </p:grpSpPr>
          <p:cxnSp>
            <p:nvCxnSpPr>
              <p:cNvPr id="18" name="Straight Connector 17">
                <a:extLst>
                  <a:ext uri="{FF2B5EF4-FFF2-40B4-BE49-F238E27FC236}">
                    <a16:creationId xmlns:a16="http://schemas.microsoft.com/office/drawing/2014/main" id="{97F6C547-E76D-B75B-A2E2-CF847CEFF484}"/>
                  </a:ext>
                </a:extLst>
              </p:cNvPr>
              <p:cNvCxnSpPr/>
              <p:nvPr/>
            </p:nvCxnSpPr>
            <p:spPr>
              <a:xfrm>
                <a:off x="5219213" y="2901167"/>
                <a:ext cx="2617694" cy="0"/>
              </a:xfrm>
              <a:prstGeom prst="line">
                <a:avLst/>
              </a:prstGeom>
              <a:ln w="38100">
                <a:solidFill>
                  <a:schemeClr val="accent2"/>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9A98AF94-9AEE-901E-6FDF-15F4746CDB9C}"/>
                  </a:ext>
                </a:extLst>
              </p:cNvPr>
              <p:cNvSpPr txBox="1"/>
              <p:nvPr/>
            </p:nvSpPr>
            <p:spPr>
              <a:xfrm>
                <a:off x="5510110" y="3510490"/>
                <a:ext cx="2077172" cy="461665"/>
              </a:xfrm>
              <a:prstGeom prst="rect">
                <a:avLst/>
              </a:prstGeom>
              <a:noFill/>
            </p:spPr>
            <p:txBody>
              <a:bodyPr wrap="none" rtlCol="0">
                <a:spAutoFit/>
              </a:bodyPr>
              <a:lstStyle/>
              <a:p>
                <a:r>
                  <a:rPr lang="en-US" sz="2400" dirty="0"/>
                  <a:t>duration in ms</a:t>
                </a:r>
              </a:p>
            </p:txBody>
          </p:sp>
          <p:cxnSp>
            <p:nvCxnSpPr>
              <p:cNvPr id="20" name="Straight Connector 19">
                <a:extLst>
                  <a:ext uri="{FF2B5EF4-FFF2-40B4-BE49-F238E27FC236}">
                    <a16:creationId xmlns:a16="http://schemas.microsoft.com/office/drawing/2014/main" id="{9F02BCED-53E0-7616-D851-5224AB0D0351}"/>
                  </a:ext>
                </a:extLst>
              </p:cNvPr>
              <p:cNvCxnSpPr/>
              <p:nvPr/>
            </p:nvCxnSpPr>
            <p:spPr>
              <a:xfrm>
                <a:off x="5826181" y="2753944"/>
                <a:ext cx="0" cy="289438"/>
              </a:xfrm>
              <a:prstGeom prst="line">
                <a:avLst/>
              </a:prstGeom>
              <a:ln w="2222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3340570F-6A0E-BEA0-340A-17276F1177EC}"/>
                  </a:ext>
                </a:extLst>
              </p:cNvPr>
              <p:cNvCxnSpPr/>
              <p:nvPr/>
            </p:nvCxnSpPr>
            <p:spPr>
              <a:xfrm>
                <a:off x="7237109" y="2761629"/>
                <a:ext cx="0" cy="289438"/>
              </a:xfrm>
              <a:prstGeom prst="line">
                <a:avLst/>
              </a:prstGeom>
              <a:ln w="22225">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13" name="TextBox 12">
              <a:extLst>
                <a:ext uri="{FF2B5EF4-FFF2-40B4-BE49-F238E27FC236}">
                  <a16:creationId xmlns:a16="http://schemas.microsoft.com/office/drawing/2014/main" id="{5C80A1F9-D850-924B-8B11-A6A51DE22D20}"/>
                </a:ext>
              </a:extLst>
            </p:cNvPr>
            <p:cNvSpPr txBox="1"/>
            <p:nvPr/>
          </p:nvSpPr>
          <p:spPr>
            <a:xfrm>
              <a:off x="1040184" y="5236099"/>
              <a:ext cx="514885" cy="461665"/>
            </a:xfrm>
            <a:prstGeom prst="rect">
              <a:avLst/>
            </a:prstGeom>
            <a:noFill/>
          </p:spPr>
          <p:txBody>
            <a:bodyPr wrap="none" rtlCol="0">
              <a:spAutoFit/>
            </a:bodyPr>
            <a:lstStyle/>
            <a:p>
              <a:r>
                <a:rPr lang="en-US" sz="2400" dirty="0"/>
                <a:t>10</a:t>
              </a:r>
            </a:p>
          </p:txBody>
        </p:sp>
        <p:sp>
          <p:nvSpPr>
            <p:cNvPr id="14" name="TextBox 13">
              <a:extLst>
                <a:ext uri="{FF2B5EF4-FFF2-40B4-BE49-F238E27FC236}">
                  <a16:creationId xmlns:a16="http://schemas.microsoft.com/office/drawing/2014/main" id="{5A7F6009-4449-B13F-AD17-04DDDB9764E6}"/>
                </a:ext>
              </a:extLst>
            </p:cNvPr>
            <p:cNvSpPr txBox="1"/>
            <p:nvPr/>
          </p:nvSpPr>
          <p:spPr>
            <a:xfrm>
              <a:off x="2451112" y="5226989"/>
              <a:ext cx="514885" cy="461665"/>
            </a:xfrm>
            <a:prstGeom prst="rect">
              <a:avLst/>
            </a:prstGeom>
            <a:noFill/>
          </p:spPr>
          <p:txBody>
            <a:bodyPr wrap="none" rtlCol="0">
              <a:spAutoFit/>
            </a:bodyPr>
            <a:lstStyle/>
            <a:p>
              <a:r>
                <a:rPr lang="en-US" sz="2400" dirty="0"/>
                <a:t>30</a:t>
              </a:r>
            </a:p>
          </p:txBody>
        </p:sp>
      </p:grpSp>
      <p:cxnSp>
        <p:nvCxnSpPr>
          <p:cNvPr id="28" name="Straight Arrow Connector 27">
            <a:extLst>
              <a:ext uri="{FF2B5EF4-FFF2-40B4-BE49-F238E27FC236}">
                <a16:creationId xmlns:a16="http://schemas.microsoft.com/office/drawing/2014/main" id="{D0F3D588-5CB4-CA58-7991-E1E37903407F}"/>
              </a:ext>
            </a:extLst>
          </p:cNvPr>
          <p:cNvCxnSpPr>
            <a:cxnSpLocks/>
          </p:cNvCxnSpPr>
          <p:nvPr/>
        </p:nvCxnSpPr>
        <p:spPr>
          <a:xfrm flipV="1">
            <a:off x="6824504" y="3368162"/>
            <a:ext cx="0" cy="51522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0784616-0B52-7433-E60E-7C84A359A05B}"/>
              </a:ext>
            </a:extLst>
          </p:cNvPr>
          <p:cNvCxnSpPr>
            <a:cxnSpLocks/>
          </p:cNvCxnSpPr>
          <p:nvPr/>
        </p:nvCxnSpPr>
        <p:spPr>
          <a:xfrm flipV="1">
            <a:off x="5413576" y="3368162"/>
            <a:ext cx="0" cy="51522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2" name="Title 1">
            <a:extLst>
              <a:ext uri="{FF2B5EF4-FFF2-40B4-BE49-F238E27FC236}">
                <a16:creationId xmlns:a16="http://schemas.microsoft.com/office/drawing/2014/main" id="{10DCAE26-1B9C-6CEB-C49B-8FCCF07C06AD}"/>
              </a:ext>
            </a:extLst>
          </p:cNvPr>
          <p:cNvSpPr txBox="1">
            <a:spLocks/>
          </p:cNvSpPr>
          <p:nvPr/>
        </p:nvSpPr>
        <p:spPr>
          <a:xfrm>
            <a:off x="491409" y="371022"/>
            <a:ext cx="10515600" cy="1325563"/>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Learning </a:t>
            </a:r>
            <a:r>
              <a:rPr lang="en-US" dirty="0">
                <a:solidFill>
                  <a:srgbClr val="228833"/>
                </a:solidFill>
              </a:rPr>
              <a:t>L2 speech categories </a:t>
            </a:r>
            <a:r>
              <a:rPr lang="en-US" dirty="0"/>
              <a:t>involves remapping acoustics to different or new categories</a:t>
            </a:r>
          </a:p>
        </p:txBody>
      </p:sp>
      <p:sp>
        <p:nvSpPr>
          <p:cNvPr id="33" name="Freeform 32">
            <a:extLst>
              <a:ext uri="{FF2B5EF4-FFF2-40B4-BE49-F238E27FC236}">
                <a16:creationId xmlns:a16="http://schemas.microsoft.com/office/drawing/2014/main" id="{DC896634-A04A-81E2-7406-0C0F40D4D581}"/>
              </a:ext>
            </a:extLst>
          </p:cNvPr>
          <p:cNvSpPr/>
          <p:nvPr/>
        </p:nvSpPr>
        <p:spPr>
          <a:xfrm>
            <a:off x="4828005" y="3893393"/>
            <a:ext cx="1078987" cy="941833"/>
          </a:xfrm>
          <a:custGeom>
            <a:avLst/>
            <a:gdLst>
              <a:gd name="connsiteX0" fmla="*/ 0 w 1078987"/>
              <a:gd name="connsiteY0" fmla="*/ 94183 h 941833"/>
              <a:gd name="connsiteX1" fmla="*/ 94183 w 1078987"/>
              <a:gd name="connsiteY1" fmla="*/ 0 h 941833"/>
              <a:gd name="connsiteX2" fmla="*/ 984804 w 1078987"/>
              <a:gd name="connsiteY2" fmla="*/ 0 h 941833"/>
              <a:gd name="connsiteX3" fmla="*/ 1078987 w 1078987"/>
              <a:gd name="connsiteY3" fmla="*/ 94183 h 941833"/>
              <a:gd name="connsiteX4" fmla="*/ 1078987 w 1078987"/>
              <a:gd name="connsiteY4" fmla="*/ 847650 h 941833"/>
              <a:gd name="connsiteX5" fmla="*/ 984804 w 1078987"/>
              <a:gd name="connsiteY5" fmla="*/ 941833 h 941833"/>
              <a:gd name="connsiteX6" fmla="*/ 94183 w 1078987"/>
              <a:gd name="connsiteY6" fmla="*/ 941833 h 941833"/>
              <a:gd name="connsiteX7" fmla="*/ 0 w 1078987"/>
              <a:gd name="connsiteY7" fmla="*/ 847650 h 941833"/>
              <a:gd name="connsiteX8" fmla="*/ 0 w 1078987"/>
              <a:gd name="connsiteY8" fmla="*/ 94183 h 941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8987" h="941833">
                <a:moveTo>
                  <a:pt x="0" y="94183"/>
                </a:moveTo>
                <a:cubicBezTo>
                  <a:pt x="0" y="42167"/>
                  <a:pt x="42167" y="0"/>
                  <a:pt x="94183" y="0"/>
                </a:cubicBezTo>
                <a:lnTo>
                  <a:pt x="984804" y="0"/>
                </a:lnTo>
                <a:cubicBezTo>
                  <a:pt x="1036820" y="0"/>
                  <a:pt x="1078987" y="42167"/>
                  <a:pt x="1078987" y="94183"/>
                </a:cubicBezTo>
                <a:lnTo>
                  <a:pt x="1078987" y="847650"/>
                </a:lnTo>
                <a:cubicBezTo>
                  <a:pt x="1078987" y="899666"/>
                  <a:pt x="1036820" y="941833"/>
                  <a:pt x="984804" y="941833"/>
                </a:cubicBezTo>
                <a:lnTo>
                  <a:pt x="94183" y="941833"/>
                </a:lnTo>
                <a:cubicBezTo>
                  <a:pt x="42167" y="941833"/>
                  <a:pt x="0" y="899666"/>
                  <a:pt x="0" y="847650"/>
                </a:cubicBezTo>
                <a:lnTo>
                  <a:pt x="0" y="94183"/>
                </a:lnTo>
                <a:close/>
              </a:path>
            </a:pathLst>
          </a:custGeom>
          <a:solidFill>
            <a:schemeClr val="accent6">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930" tIns="120930" rIns="120930" bIns="120930" numCol="1" spcCol="1270" anchor="ctr" anchorCtr="0">
            <a:noAutofit/>
          </a:bodyPr>
          <a:lstStyle/>
          <a:p>
            <a:pPr algn="ctr" defTabSz="2178050">
              <a:lnSpc>
                <a:spcPct val="90000"/>
              </a:lnSpc>
              <a:spcBef>
                <a:spcPct val="0"/>
              </a:spcBef>
              <a:spcAft>
                <a:spcPct val="35000"/>
              </a:spcAft>
            </a:pPr>
            <a:r>
              <a:rPr lang="en-US" sz="3600" kern="1200" dirty="0">
                <a:cs typeface="Times New Roman" panose="02020603050405020304" pitchFamily="18" charset="0"/>
              </a:rPr>
              <a:t>[</a:t>
            </a:r>
            <a:r>
              <a:rPr lang="en-US" sz="3600" kern="1200" dirty="0" err="1">
                <a:cs typeface="Times New Roman" panose="02020603050405020304" pitchFamily="18" charset="0"/>
              </a:rPr>
              <a:t>ɑ</a:t>
            </a:r>
            <a:r>
              <a:rPr lang="en-US" sz="3600" kern="1200" baseline="0" dirty="0">
                <a:cs typeface="Times New Roman" panose="02020603050405020304" pitchFamily="18" charset="0"/>
              </a:rPr>
              <a:t>]</a:t>
            </a:r>
            <a:endParaRPr lang="en-US" sz="3600" kern="1200" dirty="0">
              <a:cs typeface="Times New Roman" panose="02020603050405020304" pitchFamily="18" charset="0"/>
            </a:endParaRPr>
          </a:p>
        </p:txBody>
      </p:sp>
      <p:sp>
        <p:nvSpPr>
          <p:cNvPr id="34" name="Freeform 33">
            <a:extLst>
              <a:ext uri="{FF2B5EF4-FFF2-40B4-BE49-F238E27FC236}">
                <a16:creationId xmlns:a16="http://schemas.microsoft.com/office/drawing/2014/main" id="{6D701C04-5A73-E388-C543-063795601FBA}"/>
              </a:ext>
            </a:extLst>
          </p:cNvPr>
          <p:cNvSpPr/>
          <p:nvPr/>
        </p:nvSpPr>
        <p:spPr>
          <a:xfrm>
            <a:off x="6238933" y="3883384"/>
            <a:ext cx="1078987" cy="941833"/>
          </a:xfrm>
          <a:custGeom>
            <a:avLst/>
            <a:gdLst>
              <a:gd name="connsiteX0" fmla="*/ 0 w 1078987"/>
              <a:gd name="connsiteY0" fmla="*/ 94183 h 941833"/>
              <a:gd name="connsiteX1" fmla="*/ 94183 w 1078987"/>
              <a:gd name="connsiteY1" fmla="*/ 0 h 941833"/>
              <a:gd name="connsiteX2" fmla="*/ 984804 w 1078987"/>
              <a:gd name="connsiteY2" fmla="*/ 0 h 941833"/>
              <a:gd name="connsiteX3" fmla="*/ 1078987 w 1078987"/>
              <a:gd name="connsiteY3" fmla="*/ 94183 h 941833"/>
              <a:gd name="connsiteX4" fmla="*/ 1078987 w 1078987"/>
              <a:gd name="connsiteY4" fmla="*/ 847650 h 941833"/>
              <a:gd name="connsiteX5" fmla="*/ 984804 w 1078987"/>
              <a:gd name="connsiteY5" fmla="*/ 941833 h 941833"/>
              <a:gd name="connsiteX6" fmla="*/ 94183 w 1078987"/>
              <a:gd name="connsiteY6" fmla="*/ 941833 h 941833"/>
              <a:gd name="connsiteX7" fmla="*/ 0 w 1078987"/>
              <a:gd name="connsiteY7" fmla="*/ 847650 h 941833"/>
              <a:gd name="connsiteX8" fmla="*/ 0 w 1078987"/>
              <a:gd name="connsiteY8" fmla="*/ 94183 h 941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8987" h="941833">
                <a:moveTo>
                  <a:pt x="0" y="94183"/>
                </a:moveTo>
                <a:cubicBezTo>
                  <a:pt x="0" y="42167"/>
                  <a:pt x="42167" y="0"/>
                  <a:pt x="94183" y="0"/>
                </a:cubicBezTo>
                <a:lnTo>
                  <a:pt x="984804" y="0"/>
                </a:lnTo>
                <a:cubicBezTo>
                  <a:pt x="1036820" y="0"/>
                  <a:pt x="1078987" y="42167"/>
                  <a:pt x="1078987" y="94183"/>
                </a:cubicBezTo>
                <a:lnTo>
                  <a:pt x="1078987" y="847650"/>
                </a:lnTo>
                <a:cubicBezTo>
                  <a:pt x="1078987" y="899666"/>
                  <a:pt x="1036820" y="941833"/>
                  <a:pt x="984804" y="941833"/>
                </a:cubicBezTo>
                <a:lnTo>
                  <a:pt x="94183" y="941833"/>
                </a:lnTo>
                <a:cubicBezTo>
                  <a:pt x="42167" y="941833"/>
                  <a:pt x="0" y="899666"/>
                  <a:pt x="0" y="847650"/>
                </a:cubicBezTo>
                <a:lnTo>
                  <a:pt x="0" y="94183"/>
                </a:ln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930" tIns="120930" rIns="120930" bIns="120930" numCol="1" spcCol="1270" anchor="ctr" anchorCtr="0">
            <a:noAutofit/>
          </a:bodyPr>
          <a:lstStyle/>
          <a:p>
            <a:pPr algn="ctr" defTabSz="2178050">
              <a:lnSpc>
                <a:spcPct val="90000"/>
              </a:lnSpc>
              <a:spcBef>
                <a:spcPct val="0"/>
              </a:spcBef>
              <a:spcAft>
                <a:spcPct val="35000"/>
              </a:spcAft>
            </a:pPr>
            <a:r>
              <a:rPr lang="en-US" sz="3600" kern="1200" dirty="0">
                <a:cs typeface="Times New Roman" panose="02020603050405020304" pitchFamily="18" charset="0"/>
              </a:rPr>
              <a:t>[</a:t>
            </a:r>
            <a:r>
              <a:rPr lang="en-US" sz="3600" dirty="0" err="1">
                <a:cs typeface="Times New Roman" panose="02020603050405020304" pitchFamily="18" charset="0"/>
              </a:rPr>
              <a:t>ɑɑ</a:t>
            </a:r>
            <a:r>
              <a:rPr lang="en-US" sz="3600" kern="1200" baseline="0" dirty="0">
                <a:cs typeface="Times New Roman" panose="02020603050405020304" pitchFamily="18" charset="0"/>
              </a:rPr>
              <a:t>]</a:t>
            </a:r>
            <a:endParaRPr lang="en-US" sz="3600" kern="1200" dirty="0">
              <a:cs typeface="Times New Roman" panose="02020603050405020304" pitchFamily="18" charset="0"/>
            </a:endParaRPr>
          </a:p>
        </p:txBody>
      </p:sp>
      <p:sp>
        <p:nvSpPr>
          <p:cNvPr id="37" name="Freeform 36">
            <a:extLst>
              <a:ext uri="{FF2B5EF4-FFF2-40B4-BE49-F238E27FC236}">
                <a16:creationId xmlns:a16="http://schemas.microsoft.com/office/drawing/2014/main" id="{EFE0A918-CEE4-BDCF-F1DF-2C4EC68F8A90}"/>
              </a:ext>
            </a:extLst>
          </p:cNvPr>
          <p:cNvSpPr/>
          <p:nvPr/>
        </p:nvSpPr>
        <p:spPr>
          <a:xfrm>
            <a:off x="4647594" y="1923352"/>
            <a:ext cx="1439805" cy="1439805"/>
          </a:xfrm>
          <a:custGeom>
            <a:avLst/>
            <a:gdLst>
              <a:gd name="connsiteX0" fmla="*/ 0 w 1439805"/>
              <a:gd name="connsiteY0" fmla="*/ 719903 h 1439805"/>
              <a:gd name="connsiteX1" fmla="*/ 719903 w 1439805"/>
              <a:gd name="connsiteY1" fmla="*/ 0 h 1439805"/>
              <a:gd name="connsiteX2" fmla="*/ 1439806 w 1439805"/>
              <a:gd name="connsiteY2" fmla="*/ 719903 h 1439805"/>
              <a:gd name="connsiteX3" fmla="*/ 719903 w 1439805"/>
              <a:gd name="connsiteY3" fmla="*/ 1439806 h 1439805"/>
              <a:gd name="connsiteX4" fmla="*/ 0 w 1439805"/>
              <a:gd name="connsiteY4" fmla="*/ 719903 h 1439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9805" h="1439805">
                <a:moveTo>
                  <a:pt x="0" y="719903"/>
                </a:moveTo>
                <a:cubicBezTo>
                  <a:pt x="0" y="322312"/>
                  <a:pt x="322312" y="0"/>
                  <a:pt x="719903" y="0"/>
                </a:cubicBezTo>
                <a:cubicBezTo>
                  <a:pt x="1117494" y="0"/>
                  <a:pt x="1439806" y="322312"/>
                  <a:pt x="1439806" y="719903"/>
                </a:cubicBezTo>
                <a:cubicBezTo>
                  <a:pt x="1439806" y="1117494"/>
                  <a:pt x="1117494" y="1439806"/>
                  <a:pt x="719903" y="1439806"/>
                </a:cubicBezTo>
                <a:cubicBezTo>
                  <a:pt x="322312" y="1439806"/>
                  <a:pt x="0" y="1117494"/>
                  <a:pt x="0" y="719903"/>
                </a:cubicBezTo>
                <a:close/>
              </a:path>
            </a:pathLst>
          </a:custGeom>
          <a:solidFill>
            <a:schemeClr val="accent6">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none" lIns="228000" tIns="228000" rIns="228000" bIns="228000" numCol="1" spcCol="1270" anchor="ctr" anchorCtr="0">
            <a:noAutofit/>
          </a:bodyPr>
          <a:lstStyle/>
          <a:p>
            <a:pPr marL="0" lvl="0" indent="0" algn="ctr" defTabSz="1200150">
              <a:lnSpc>
                <a:spcPct val="50000"/>
              </a:lnSpc>
              <a:spcBef>
                <a:spcPct val="0"/>
              </a:spcBef>
              <a:spcAft>
                <a:spcPct val="35000"/>
              </a:spcAft>
              <a:buNone/>
            </a:pPr>
            <a:r>
              <a:rPr lang="en-US" sz="2400" dirty="0">
                <a:cs typeface="Times New Roman" panose="02020603050405020304" pitchFamily="18" charset="0"/>
              </a:rPr>
              <a:t>Japanese</a:t>
            </a:r>
            <a:endParaRPr lang="en-US" sz="2500" dirty="0">
              <a:cs typeface="Times New Roman" panose="02020603050405020304" pitchFamily="18" charset="0"/>
            </a:endParaRPr>
          </a:p>
          <a:p>
            <a:pPr marL="0" lvl="0" indent="0" algn="ctr" defTabSz="1200150">
              <a:lnSpc>
                <a:spcPct val="50000"/>
              </a:lnSpc>
              <a:spcBef>
                <a:spcPct val="0"/>
              </a:spcBef>
              <a:spcAft>
                <a:spcPct val="35000"/>
              </a:spcAft>
              <a:buNone/>
            </a:pPr>
            <a:r>
              <a:rPr lang="en-US" sz="2500" kern="1200" dirty="0">
                <a:cs typeface="Times New Roman" panose="02020603050405020304" pitchFamily="18" charset="0"/>
              </a:rPr>
              <a:t>/</a:t>
            </a:r>
            <a:r>
              <a:rPr lang="en-US" sz="2400" kern="1200" dirty="0" err="1">
                <a:cs typeface="Times New Roman" panose="02020603050405020304" pitchFamily="18" charset="0"/>
              </a:rPr>
              <a:t>ɑ</a:t>
            </a:r>
            <a:r>
              <a:rPr lang="en-US" sz="2400" kern="1200" dirty="0">
                <a:cs typeface="Times New Roman" panose="02020603050405020304" pitchFamily="18" charset="0"/>
              </a:rPr>
              <a:t>/</a:t>
            </a:r>
          </a:p>
        </p:txBody>
      </p:sp>
      <p:sp>
        <p:nvSpPr>
          <p:cNvPr id="38" name="Freeform 37">
            <a:extLst>
              <a:ext uri="{FF2B5EF4-FFF2-40B4-BE49-F238E27FC236}">
                <a16:creationId xmlns:a16="http://schemas.microsoft.com/office/drawing/2014/main" id="{A85E7502-EA6D-22F8-7A43-5ED66BFA86CB}"/>
              </a:ext>
            </a:extLst>
          </p:cNvPr>
          <p:cNvSpPr/>
          <p:nvPr/>
        </p:nvSpPr>
        <p:spPr>
          <a:xfrm>
            <a:off x="6136091" y="1925450"/>
            <a:ext cx="1435608" cy="1435608"/>
          </a:xfrm>
          <a:custGeom>
            <a:avLst/>
            <a:gdLst>
              <a:gd name="connsiteX0" fmla="*/ 0 w 1356853"/>
              <a:gd name="connsiteY0" fmla="*/ 703804 h 1407607"/>
              <a:gd name="connsiteX1" fmla="*/ 678427 w 1356853"/>
              <a:gd name="connsiteY1" fmla="*/ 0 h 1407607"/>
              <a:gd name="connsiteX2" fmla="*/ 1356854 w 1356853"/>
              <a:gd name="connsiteY2" fmla="*/ 703804 h 1407607"/>
              <a:gd name="connsiteX3" fmla="*/ 678427 w 1356853"/>
              <a:gd name="connsiteY3" fmla="*/ 1407608 h 1407607"/>
              <a:gd name="connsiteX4" fmla="*/ 0 w 1356853"/>
              <a:gd name="connsiteY4" fmla="*/ 703804 h 1407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6853" h="1407607">
                <a:moveTo>
                  <a:pt x="0" y="703804"/>
                </a:moveTo>
                <a:cubicBezTo>
                  <a:pt x="0" y="315104"/>
                  <a:pt x="303742" y="0"/>
                  <a:pt x="678427" y="0"/>
                </a:cubicBezTo>
                <a:cubicBezTo>
                  <a:pt x="1053112" y="0"/>
                  <a:pt x="1356854" y="315104"/>
                  <a:pt x="1356854" y="703804"/>
                </a:cubicBezTo>
                <a:cubicBezTo>
                  <a:pt x="1356854" y="1092504"/>
                  <a:pt x="1053112" y="1407608"/>
                  <a:pt x="678427" y="1407608"/>
                </a:cubicBezTo>
                <a:cubicBezTo>
                  <a:pt x="303742" y="1407608"/>
                  <a:pt x="0" y="1092504"/>
                  <a:pt x="0" y="703804"/>
                </a:cubicBez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none" lIns="214582" tIns="222014" rIns="214582" bIns="222014" numCol="1" spcCol="1270" anchor="ctr" anchorCtr="0">
            <a:noAutofit/>
          </a:bodyPr>
          <a:lstStyle/>
          <a:p>
            <a:pPr marL="0" lvl="0" indent="0" algn="ctr" defTabSz="1111250">
              <a:lnSpc>
                <a:spcPct val="50000"/>
              </a:lnSpc>
              <a:spcBef>
                <a:spcPct val="0"/>
              </a:spcBef>
              <a:spcAft>
                <a:spcPct val="35000"/>
              </a:spcAft>
              <a:buNone/>
            </a:pPr>
            <a:r>
              <a:rPr lang="en-US" sz="2500" dirty="0">
                <a:cs typeface="Times New Roman" panose="02020603050405020304" pitchFamily="18" charset="0"/>
              </a:rPr>
              <a:t>Japanese</a:t>
            </a:r>
          </a:p>
          <a:p>
            <a:pPr marL="0" lvl="0" indent="0" algn="ctr" defTabSz="1111250">
              <a:lnSpc>
                <a:spcPct val="50000"/>
              </a:lnSpc>
              <a:spcBef>
                <a:spcPct val="0"/>
              </a:spcBef>
              <a:spcAft>
                <a:spcPct val="35000"/>
              </a:spcAft>
              <a:buNone/>
            </a:pPr>
            <a:r>
              <a:rPr lang="en-US" sz="2500" kern="1200" dirty="0">
                <a:cs typeface="Times New Roman" panose="02020603050405020304" pitchFamily="18" charset="0"/>
              </a:rPr>
              <a:t>/</a:t>
            </a:r>
            <a:r>
              <a:rPr lang="en-US" sz="2400" kern="1200" dirty="0" err="1">
                <a:cs typeface="Times New Roman" panose="02020603050405020304" pitchFamily="18" charset="0"/>
              </a:rPr>
              <a:t>ɑɑ</a:t>
            </a:r>
            <a:r>
              <a:rPr lang="en-US" sz="2400" kern="1200" dirty="0">
                <a:cs typeface="Times New Roman" panose="02020603050405020304" pitchFamily="18" charset="0"/>
              </a:rPr>
              <a:t>/</a:t>
            </a:r>
          </a:p>
        </p:txBody>
      </p:sp>
      <p:sp>
        <p:nvSpPr>
          <p:cNvPr id="5" name="TextBox 4">
            <a:extLst>
              <a:ext uri="{FF2B5EF4-FFF2-40B4-BE49-F238E27FC236}">
                <a16:creationId xmlns:a16="http://schemas.microsoft.com/office/drawing/2014/main" id="{788C1CE1-AEC6-2C09-18FE-973EB3F04DB6}"/>
              </a:ext>
            </a:extLst>
          </p:cNvPr>
          <p:cNvSpPr txBox="1"/>
          <p:nvPr/>
        </p:nvSpPr>
        <p:spPr>
          <a:xfrm>
            <a:off x="8144616" y="2539160"/>
            <a:ext cx="1338828" cy="523220"/>
          </a:xfrm>
          <a:prstGeom prst="rect">
            <a:avLst/>
          </a:prstGeom>
          <a:noFill/>
        </p:spPr>
        <p:txBody>
          <a:bodyPr wrap="none" rtlCol="0">
            <a:spAutoFit/>
          </a:bodyPr>
          <a:lstStyle/>
          <a:p>
            <a:r>
              <a:rPr lang="en-US" sz="2800" dirty="0"/>
              <a:t>obasan</a:t>
            </a:r>
          </a:p>
        </p:txBody>
      </p:sp>
      <p:sp>
        <p:nvSpPr>
          <p:cNvPr id="23" name="TextBox 22">
            <a:extLst>
              <a:ext uri="{FF2B5EF4-FFF2-40B4-BE49-F238E27FC236}">
                <a16:creationId xmlns:a16="http://schemas.microsoft.com/office/drawing/2014/main" id="{F22D7EFE-CD7F-75F3-F4DC-EAA529132872}"/>
              </a:ext>
            </a:extLst>
          </p:cNvPr>
          <p:cNvSpPr txBox="1"/>
          <p:nvPr/>
        </p:nvSpPr>
        <p:spPr>
          <a:xfrm>
            <a:off x="7953858" y="4951396"/>
            <a:ext cx="1529586" cy="523220"/>
          </a:xfrm>
          <a:prstGeom prst="rect">
            <a:avLst/>
          </a:prstGeom>
          <a:noFill/>
        </p:spPr>
        <p:txBody>
          <a:bodyPr wrap="none" rtlCol="0">
            <a:spAutoFit/>
          </a:bodyPr>
          <a:lstStyle/>
          <a:p>
            <a:r>
              <a:rPr lang="en-US" sz="2800" dirty="0" err="1"/>
              <a:t>obaasan</a:t>
            </a:r>
            <a:endParaRPr lang="en-US" sz="2800" dirty="0"/>
          </a:p>
        </p:txBody>
      </p:sp>
      <p:pic>
        <p:nvPicPr>
          <p:cNvPr id="25" name="Graphic 24" descr="Woman with cane with solid fill">
            <a:extLst>
              <a:ext uri="{FF2B5EF4-FFF2-40B4-BE49-F238E27FC236}">
                <a16:creationId xmlns:a16="http://schemas.microsoft.com/office/drawing/2014/main" id="{66A525A8-1493-E00E-2A1D-FBBB4304DD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94372" y="4755806"/>
            <a:ext cx="914400" cy="914400"/>
          </a:xfrm>
          <a:prstGeom prst="rect">
            <a:avLst/>
          </a:prstGeom>
        </p:spPr>
      </p:pic>
      <p:pic>
        <p:nvPicPr>
          <p:cNvPr id="26" name="Graphic 25" descr="Woman with solid fill">
            <a:extLst>
              <a:ext uri="{FF2B5EF4-FFF2-40B4-BE49-F238E27FC236}">
                <a16:creationId xmlns:a16="http://schemas.microsoft.com/office/drawing/2014/main" id="{E7065492-65E2-853B-17ED-2F90B425874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4372" y="2311795"/>
            <a:ext cx="914400" cy="914400"/>
          </a:xfrm>
          <a:prstGeom prst="rect">
            <a:avLst/>
          </a:prstGeom>
        </p:spPr>
      </p:pic>
      <p:sp>
        <p:nvSpPr>
          <p:cNvPr id="27" name="TextBox 26">
            <a:extLst>
              <a:ext uri="{FF2B5EF4-FFF2-40B4-BE49-F238E27FC236}">
                <a16:creationId xmlns:a16="http://schemas.microsoft.com/office/drawing/2014/main" id="{F2A98606-11E9-2B07-0DFA-5842FF94E4DA}"/>
              </a:ext>
            </a:extLst>
          </p:cNvPr>
          <p:cNvSpPr txBox="1"/>
          <p:nvPr/>
        </p:nvSpPr>
        <p:spPr>
          <a:xfrm>
            <a:off x="10355726" y="3290233"/>
            <a:ext cx="1919308" cy="830997"/>
          </a:xfrm>
          <a:prstGeom prst="rect">
            <a:avLst/>
          </a:prstGeom>
          <a:noFill/>
        </p:spPr>
        <p:txBody>
          <a:bodyPr wrap="square" rtlCol="0">
            <a:spAutoFit/>
          </a:bodyPr>
          <a:lstStyle/>
          <a:p>
            <a:pPr algn="ctr"/>
            <a:r>
              <a:rPr lang="en-US" sz="2400" dirty="0"/>
              <a:t>middle-aged woman</a:t>
            </a:r>
          </a:p>
        </p:txBody>
      </p:sp>
      <p:sp>
        <p:nvSpPr>
          <p:cNvPr id="30" name="TextBox 29">
            <a:extLst>
              <a:ext uri="{FF2B5EF4-FFF2-40B4-BE49-F238E27FC236}">
                <a16:creationId xmlns:a16="http://schemas.microsoft.com/office/drawing/2014/main" id="{68D5E434-27DA-2F50-EB50-A23C93F591C0}"/>
              </a:ext>
            </a:extLst>
          </p:cNvPr>
          <p:cNvSpPr txBox="1"/>
          <p:nvPr/>
        </p:nvSpPr>
        <p:spPr>
          <a:xfrm>
            <a:off x="10391918" y="5705449"/>
            <a:ext cx="1919308" cy="830997"/>
          </a:xfrm>
          <a:prstGeom prst="rect">
            <a:avLst/>
          </a:prstGeom>
          <a:noFill/>
        </p:spPr>
        <p:txBody>
          <a:bodyPr wrap="square" rtlCol="0">
            <a:spAutoFit/>
          </a:bodyPr>
          <a:lstStyle/>
          <a:p>
            <a:pPr algn="ctr"/>
            <a:r>
              <a:rPr lang="en-US" sz="2400" dirty="0"/>
              <a:t>elderly woman</a:t>
            </a:r>
          </a:p>
        </p:txBody>
      </p:sp>
      <p:cxnSp>
        <p:nvCxnSpPr>
          <p:cNvPr id="31" name="Straight Arrow Connector 30">
            <a:extLst>
              <a:ext uri="{FF2B5EF4-FFF2-40B4-BE49-F238E27FC236}">
                <a16:creationId xmlns:a16="http://schemas.microsoft.com/office/drawing/2014/main" id="{00032578-2206-9319-C5B8-4B45315782EF}"/>
              </a:ext>
            </a:extLst>
          </p:cNvPr>
          <p:cNvCxnSpPr>
            <a:cxnSpLocks/>
            <a:stCxn id="23" idx="3"/>
            <a:endCxn id="25" idx="1"/>
          </p:cNvCxnSpPr>
          <p:nvPr/>
        </p:nvCxnSpPr>
        <p:spPr>
          <a:xfrm>
            <a:off x="9483444" y="5213006"/>
            <a:ext cx="141092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6729290-74F2-F6DD-7007-6312D6B7AAFA}"/>
              </a:ext>
            </a:extLst>
          </p:cNvPr>
          <p:cNvCxnSpPr>
            <a:cxnSpLocks/>
            <a:stCxn id="5" idx="3"/>
          </p:cNvCxnSpPr>
          <p:nvPr/>
        </p:nvCxnSpPr>
        <p:spPr>
          <a:xfrm>
            <a:off x="9483444" y="2800770"/>
            <a:ext cx="1432217"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6139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5" grpId="0"/>
      <p:bldP spid="23" grpId="0"/>
      <p:bldP spid="27"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38F0F-21A8-852F-C002-73972D33EE9F}"/>
              </a:ext>
            </a:extLst>
          </p:cNvPr>
          <p:cNvSpPr>
            <a:spLocks noGrp="1"/>
          </p:cNvSpPr>
          <p:nvPr>
            <p:ph type="title"/>
          </p:nvPr>
        </p:nvSpPr>
        <p:spPr/>
        <p:txBody>
          <a:bodyPr>
            <a:normAutofit/>
          </a:bodyPr>
          <a:lstStyle/>
          <a:p>
            <a:r>
              <a:rPr lang="en-US" dirty="0">
                <a:solidFill>
                  <a:srgbClr val="4477AA"/>
                </a:solidFill>
              </a:rPr>
              <a:t>Multilingualism and linguistic diversity</a:t>
            </a:r>
            <a:r>
              <a:rPr lang="en-US" dirty="0"/>
              <a:t> may make learning </a:t>
            </a:r>
            <a:r>
              <a:rPr lang="en-US" dirty="0">
                <a:solidFill>
                  <a:srgbClr val="228833"/>
                </a:solidFill>
              </a:rPr>
              <a:t>L2 contrasts </a:t>
            </a:r>
            <a:r>
              <a:rPr lang="en-US" dirty="0"/>
              <a:t>easier</a:t>
            </a:r>
          </a:p>
        </p:txBody>
      </p:sp>
      <p:sp useBgFill="1">
        <p:nvSpPr>
          <p:cNvPr id="3" name="Rounded Rectangle 2">
            <a:extLst>
              <a:ext uri="{FF2B5EF4-FFF2-40B4-BE49-F238E27FC236}">
                <a16:creationId xmlns:a16="http://schemas.microsoft.com/office/drawing/2014/main" id="{9B2A6109-3B6D-50CF-4D65-2D7334F45576}"/>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5661E5B0-3D78-1E2B-9849-E504B45ADE13}"/>
              </a:ext>
            </a:extLst>
          </p:cNvPr>
          <p:cNvSpPr/>
          <p:nvPr/>
        </p:nvSpPr>
        <p:spPr>
          <a:xfrm>
            <a:off x="7657904" y="261846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CAE68346-FC18-7157-CC93-3D4587644984}"/>
              </a:ext>
            </a:extLst>
          </p:cNvPr>
          <p:cNvCxnSpPr>
            <a:stCxn id="3" idx="3"/>
            <a:endCxn id="4" idx="1"/>
          </p:cNvCxnSpPr>
          <p:nvPr/>
        </p:nvCxnSpPr>
        <p:spPr>
          <a:xfrm>
            <a:off x="4056825" y="3429000"/>
            <a:ext cx="3601079"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A43F957-0C9F-2A19-1A8B-9E8C7FAC58EE}"/>
              </a:ext>
            </a:extLst>
          </p:cNvPr>
          <p:cNvSpPr txBox="1"/>
          <p:nvPr/>
        </p:nvSpPr>
        <p:spPr>
          <a:xfrm>
            <a:off x="5610341" y="2587775"/>
            <a:ext cx="494046" cy="830997"/>
          </a:xfrm>
          <a:prstGeom prst="rect">
            <a:avLst/>
          </a:prstGeom>
          <a:noFill/>
        </p:spPr>
        <p:txBody>
          <a:bodyPr wrap="square" rtlCol="0">
            <a:spAutoFit/>
          </a:bodyPr>
          <a:lstStyle/>
          <a:p>
            <a:r>
              <a:rPr lang="en-US" sz="4800" dirty="0">
                <a:solidFill>
                  <a:schemeClr val="tx1">
                    <a:lumMod val="50000"/>
                    <a:lumOff val="50000"/>
                  </a:schemeClr>
                </a:solidFill>
              </a:rPr>
              <a:t>?</a:t>
            </a:r>
          </a:p>
        </p:txBody>
      </p:sp>
    </p:spTree>
    <p:extLst>
      <p:ext uri="{BB962C8B-B14F-4D97-AF65-F5344CB8AC3E}">
        <p14:creationId xmlns:p14="http://schemas.microsoft.com/office/powerpoint/2010/main" val="592782332"/>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E8E43-3B21-66A7-14A9-A7735BAB9F31}"/>
              </a:ext>
            </a:extLst>
          </p:cNvPr>
          <p:cNvSpPr>
            <a:spLocks noGrp="1"/>
          </p:cNvSpPr>
          <p:nvPr>
            <p:ph type="title"/>
          </p:nvPr>
        </p:nvSpPr>
        <p:spPr>
          <a:xfrm>
            <a:off x="838199" y="365125"/>
            <a:ext cx="11010089" cy="1325563"/>
          </a:xfrm>
        </p:spPr>
        <p:txBody>
          <a:bodyPr>
            <a:normAutofit fontScale="90000"/>
          </a:bodyPr>
          <a:lstStyle/>
          <a:p>
            <a:r>
              <a:rPr lang="en-US" dirty="0"/>
              <a:t>Exposure to </a:t>
            </a:r>
            <a:r>
              <a:rPr lang="en-US" dirty="0">
                <a:solidFill>
                  <a:srgbClr val="4477AA"/>
                </a:solidFill>
              </a:rPr>
              <a:t>general linguistic diversity</a:t>
            </a:r>
            <a:r>
              <a:rPr lang="en-US" dirty="0"/>
              <a:t> has been found to provide an advantage for monolinguals in </a:t>
            </a:r>
            <a:r>
              <a:rPr lang="en-US" dirty="0">
                <a:solidFill>
                  <a:srgbClr val="228833"/>
                </a:solidFill>
              </a:rPr>
              <a:t>novel speech perception and learning</a:t>
            </a:r>
          </a:p>
        </p:txBody>
      </p:sp>
      <p:pic>
        <p:nvPicPr>
          <p:cNvPr id="5" name="Content Placeholder 4" descr="A diagram of a number of words&#10;&#10;AI-generated content may be incorrect.">
            <a:extLst>
              <a:ext uri="{FF2B5EF4-FFF2-40B4-BE49-F238E27FC236}">
                <a16:creationId xmlns:a16="http://schemas.microsoft.com/office/drawing/2014/main" id="{405A594A-F2E0-EAF4-A4D6-8093B1DC38B8}"/>
              </a:ext>
            </a:extLst>
          </p:cNvPr>
          <p:cNvPicPr>
            <a:picLocks noGrp="1" noChangeAspect="1"/>
          </p:cNvPicPr>
          <p:nvPr>
            <p:ph idx="1"/>
          </p:nvPr>
        </p:nvPicPr>
        <p:blipFill>
          <a:blip r:embed="rId3"/>
          <a:stretch>
            <a:fillRect/>
          </a:stretch>
        </p:blipFill>
        <p:spPr>
          <a:xfrm>
            <a:off x="629024" y="2312392"/>
            <a:ext cx="5466976" cy="3995817"/>
          </a:xfrm>
        </p:spPr>
      </p:pic>
      <p:sp>
        <p:nvSpPr>
          <p:cNvPr id="6" name="TextBox 5">
            <a:extLst>
              <a:ext uri="{FF2B5EF4-FFF2-40B4-BE49-F238E27FC236}">
                <a16:creationId xmlns:a16="http://schemas.microsoft.com/office/drawing/2014/main" id="{4BEC6ED9-4F49-37DF-A771-2013650FE9A4}"/>
              </a:ext>
            </a:extLst>
          </p:cNvPr>
          <p:cNvSpPr txBox="1"/>
          <p:nvPr/>
        </p:nvSpPr>
        <p:spPr>
          <a:xfrm>
            <a:off x="629024" y="6308209"/>
            <a:ext cx="2683107" cy="461665"/>
          </a:xfrm>
          <a:prstGeom prst="rect">
            <a:avLst/>
          </a:prstGeom>
          <a:noFill/>
        </p:spPr>
        <p:txBody>
          <a:bodyPr wrap="none" rtlCol="0">
            <a:spAutoFit/>
          </a:bodyPr>
          <a:lstStyle/>
          <a:p>
            <a:r>
              <a:rPr lang="en-US" sz="2400" dirty="0"/>
              <a:t>(Bice &amp; Kroll, 2019)</a:t>
            </a:r>
          </a:p>
        </p:txBody>
      </p:sp>
    </p:spTree>
    <p:extLst>
      <p:ext uri="{BB962C8B-B14F-4D97-AF65-F5344CB8AC3E}">
        <p14:creationId xmlns:p14="http://schemas.microsoft.com/office/powerpoint/2010/main" val="4089544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DD969-7A26-FD01-5DA1-CCC75A123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0331A-2A4C-3CA9-A36E-3AA009D3C5BB}"/>
              </a:ext>
            </a:extLst>
          </p:cNvPr>
          <p:cNvSpPr>
            <a:spLocks noGrp="1"/>
          </p:cNvSpPr>
          <p:nvPr>
            <p:ph type="title"/>
          </p:nvPr>
        </p:nvSpPr>
        <p:spPr>
          <a:xfrm>
            <a:off x="838199" y="365125"/>
            <a:ext cx="11010089" cy="1325563"/>
          </a:xfrm>
        </p:spPr>
        <p:txBody>
          <a:bodyPr>
            <a:normAutofit fontScale="90000"/>
          </a:bodyPr>
          <a:lstStyle/>
          <a:p>
            <a:r>
              <a:rPr lang="en-US" dirty="0"/>
              <a:t>Experience with </a:t>
            </a:r>
            <a:r>
              <a:rPr lang="en-US" dirty="0">
                <a:solidFill>
                  <a:srgbClr val="4477AA"/>
                </a:solidFill>
              </a:rPr>
              <a:t>specific linguistic diversity</a:t>
            </a:r>
            <a:r>
              <a:rPr lang="en-US" dirty="0"/>
              <a:t> has been found to provide an advantage to multilinguals in  </a:t>
            </a:r>
            <a:r>
              <a:rPr lang="en-US" dirty="0">
                <a:solidFill>
                  <a:srgbClr val="228833"/>
                </a:solidFill>
              </a:rPr>
              <a:t>novel speech perception and learning</a:t>
            </a:r>
          </a:p>
        </p:txBody>
      </p:sp>
      <p:pic>
        <p:nvPicPr>
          <p:cNvPr id="10" name="Content Placeholder 5" descr="A graph of different groups of objects&#10;&#10;Description automatically generated with medium confidence">
            <a:extLst>
              <a:ext uri="{FF2B5EF4-FFF2-40B4-BE49-F238E27FC236}">
                <a16:creationId xmlns:a16="http://schemas.microsoft.com/office/drawing/2014/main" id="{17995045-8840-C67B-874F-12F12C0446A2}"/>
              </a:ext>
            </a:extLst>
          </p:cNvPr>
          <p:cNvPicPr>
            <a:picLocks noGrp="1" noChangeAspect="1"/>
          </p:cNvPicPr>
          <p:nvPr>
            <p:ph idx="1"/>
          </p:nvPr>
        </p:nvPicPr>
        <p:blipFill>
          <a:blip r:embed="rId3"/>
          <a:stretch>
            <a:fillRect/>
          </a:stretch>
        </p:blipFill>
        <p:spPr>
          <a:xfrm>
            <a:off x="7398762" y="2413565"/>
            <a:ext cx="4340087" cy="4041913"/>
          </a:xfrm>
        </p:spPr>
      </p:pic>
      <p:sp>
        <p:nvSpPr>
          <p:cNvPr id="11" name="TextBox 10">
            <a:extLst>
              <a:ext uri="{FF2B5EF4-FFF2-40B4-BE49-F238E27FC236}">
                <a16:creationId xmlns:a16="http://schemas.microsoft.com/office/drawing/2014/main" id="{1A165602-1D37-4574-DF17-E5376F1DF8DD}"/>
              </a:ext>
            </a:extLst>
          </p:cNvPr>
          <p:cNvSpPr txBox="1"/>
          <p:nvPr/>
        </p:nvSpPr>
        <p:spPr>
          <a:xfrm>
            <a:off x="339213" y="6406735"/>
            <a:ext cx="2180212" cy="369332"/>
          </a:xfrm>
          <a:prstGeom prst="rect">
            <a:avLst/>
          </a:prstGeom>
          <a:noFill/>
        </p:spPr>
        <p:txBody>
          <a:bodyPr wrap="none" rtlCol="0">
            <a:spAutoFit/>
          </a:bodyPr>
          <a:lstStyle/>
          <a:p>
            <a:r>
              <a:rPr lang="en-US" dirty="0"/>
              <a:t>(</a:t>
            </a:r>
            <a:r>
              <a:rPr lang="en-US" dirty="0" err="1"/>
              <a:t>Patihis</a:t>
            </a:r>
            <a:r>
              <a:rPr lang="en-US" dirty="0"/>
              <a:t> et al., 2015) </a:t>
            </a:r>
          </a:p>
        </p:txBody>
      </p:sp>
      <p:sp>
        <p:nvSpPr>
          <p:cNvPr id="12" name="TextBox 11">
            <a:extLst>
              <a:ext uri="{FF2B5EF4-FFF2-40B4-BE49-F238E27FC236}">
                <a16:creationId xmlns:a16="http://schemas.microsoft.com/office/drawing/2014/main" id="{C9B4E585-C117-699F-B609-429347C91AAF}"/>
              </a:ext>
            </a:extLst>
          </p:cNvPr>
          <p:cNvSpPr txBox="1"/>
          <p:nvPr/>
        </p:nvSpPr>
        <p:spPr>
          <a:xfrm>
            <a:off x="9293931" y="6529402"/>
            <a:ext cx="2554357" cy="369332"/>
          </a:xfrm>
          <a:prstGeom prst="rect">
            <a:avLst/>
          </a:prstGeom>
          <a:noFill/>
        </p:spPr>
        <p:txBody>
          <a:bodyPr wrap="square">
            <a:spAutoFit/>
          </a:bodyPr>
          <a:lstStyle/>
          <a:p>
            <a:r>
              <a:rPr lang="en-US" dirty="0"/>
              <a:t>(Wiener &amp; Goss, 2019) </a:t>
            </a:r>
          </a:p>
        </p:txBody>
      </p:sp>
      <p:pic>
        <p:nvPicPr>
          <p:cNvPr id="13" name="Picture 12" descr="A graph of different languages&#10;&#10;Description automatically generated">
            <a:extLst>
              <a:ext uri="{FF2B5EF4-FFF2-40B4-BE49-F238E27FC236}">
                <a16:creationId xmlns:a16="http://schemas.microsoft.com/office/drawing/2014/main" id="{98829646-4A97-39CA-150E-DBF04D7B1708}"/>
              </a:ext>
            </a:extLst>
          </p:cNvPr>
          <p:cNvPicPr>
            <a:picLocks noChangeAspect="1"/>
          </p:cNvPicPr>
          <p:nvPr/>
        </p:nvPicPr>
        <p:blipFill>
          <a:blip r:embed="rId4"/>
          <a:stretch>
            <a:fillRect/>
          </a:stretch>
        </p:blipFill>
        <p:spPr>
          <a:xfrm>
            <a:off x="339213" y="2560834"/>
            <a:ext cx="6703613" cy="3534888"/>
          </a:xfrm>
          <a:prstGeom prst="rect">
            <a:avLst/>
          </a:prstGeom>
        </p:spPr>
      </p:pic>
      <p:sp>
        <p:nvSpPr>
          <p:cNvPr id="14" name="TextBox 13">
            <a:extLst>
              <a:ext uri="{FF2B5EF4-FFF2-40B4-BE49-F238E27FC236}">
                <a16:creationId xmlns:a16="http://schemas.microsoft.com/office/drawing/2014/main" id="{192DB34B-4414-2260-DEBC-90A8A35C2850}"/>
              </a:ext>
            </a:extLst>
          </p:cNvPr>
          <p:cNvSpPr txBox="1"/>
          <p:nvPr/>
        </p:nvSpPr>
        <p:spPr>
          <a:xfrm>
            <a:off x="1386702" y="2037614"/>
            <a:ext cx="4608634" cy="523220"/>
          </a:xfrm>
          <a:prstGeom prst="rect">
            <a:avLst/>
          </a:prstGeom>
          <a:noFill/>
        </p:spPr>
        <p:txBody>
          <a:bodyPr wrap="none" rtlCol="0">
            <a:spAutoFit/>
          </a:bodyPr>
          <a:lstStyle/>
          <a:p>
            <a:r>
              <a:rPr lang="en-US" sz="2800" dirty="0"/>
              <a:t>Korean aspiration distinction</a:t>
            </a:r>
          </a:p>
        </p:txBody>
      </p:sp>
      <p:sp>
        <p:nvSpPr>
          <p:cNvPr id="15" name="TextBox 14">
            <a:extLst>
              <a:ext uri="{FF2B5EF4-FFF2-40B4-BE49-F238E27FC236}">
                <a16:creationId xmlns:a16="http://schemas.microsoft.com/office/drawing/2014/main" id="{0AB981C4-490C-5292-FDAA-60619FB691AF}"/>
              </a:ext>
            </a:extLst>
          </p:cNvPr>
          <p:cNvSpPr txBox="1"/>
          <p:nvPr/>
        </p:nvSpPr>
        <p:spPr>
          <a:xfrm>
            <a:off x="7746992" y="2037614"/>
            <a:ext cx="3643626" cy="523220"/>
          </a:xfrm>
          <a:prstGeom prst="rect">
            <a:avLst/>
          </a:prstGeom>
          <a:noFill/>
        </p:spPr>
        <p:txBody>
          <a:bodyPr wrap="none" rtlCol="0">
            <a:spAutoFit/>
          </a:bodyPr>
          <a:lstStyle/>
          <a:p>
            <a:r>
              <a:rPr lang="en-US" sz="2800" dirty="0"/>
              <a:t>Japanese pitch accent</a:t>
            </a:r>
          </a:p>
        </p:txBody>
      </p:sp>
      <p:sp>
        <p:nvSpPr>
          <p:cNvPr id="16" name="Rectangle 15">
            <a:extLst>
              <a:ext uri="{FF2B5EF4-FFF2-40B4-BE49-F238E27FC236}">
                <a16:creationId xmlns:a16="http://schemas.microsoft.com/office/drawing/2014/main" id="{E15E0F12-E903-E23E-FC18-1D21920A95CB}"/>
              </a:ext>
            </a:extLst>
          </p:cNvPr>
          <p:cNvSpPr/>
          <p:nvPr/>
        </p:nvSpPr>
        <p:spPr>
          <a:xfrm>
            <a:off x="4788880" y="2730994"/>
            <a:ext cx="2431914" cy="3407054"/>
          </a:xfrm>
          <a:prstGeom prst="rect">
            <a:avLst/>
          </a:prstGeom>
          <a:noFill/>
          <a:ln w="57150">
            <a:solidFill>
              <a:srgbClr val="4477A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C80F684A-C905-D991-3E54-8BA76F3381FD}"/>
              </a:ext>
            </a:extLst>
          </p:cNvPr>
          <p:cNvSpPr/>
          <p:nvPr/>
        </p:nvSpPr>
        <p:spPr>
          <a:xfrm>
            <a:off x="10839538" y="2560834"/>
            <a:ext cx="652955" cy="3098422"/>
          </a:xfrm>
          <a:prstGeom prst="rect">
            <a:avLst/>
          </a:prstGeom>
          <a:noFill/>
          <a:ln w="57150">
            <a:solidFill>
              <a:srgbClr val="4477A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73476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54821-17B0-9117-AE24-514D11E644E6}"/>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CEC4E875-8198-250A-E1B8-2DBFC8ADF32B}"/>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99BC7AF7-C226-83E7-86DA-53AE732295B6}"/>
              </a:ext>
            </a:extLst>
          </p:cNvPr>
          <p:cNvSpPr/>
          <p:nvPr/>
        </p:nvSpPr>
        <p:spPr>
          <a:xfrm>
            <a:off x="7657904" y="261846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609B3169-8E64-ABF8-78AF-556831FBEB8F}"/>
              </a:ext>
            </a:extLst>
          </p:cNvPr>
          <p:cNvCxnSpPr>
            <a:stCxn id="3" idx="3"/>
            <a:endCxn id="4" idx="1"/>
          </p:cNvCxnSpPr>
          <p:nvPr/>
        </p:nvCxnSpPr>
        <p:spPr>
          <a:xfrm>
            <a:off x="4056825" y="3429000"/>
            <a:ext cx="3601079"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54B4785-087C-0CC7-26D4-E52D3671DEAB}"/>
              </a:ext>
            </a:extLst>
          </p:cNvPr>
          <p:cNvSpPr txBox="1"/>
          <p:nvPr/>
        </p:nvSpPr>
        <p:spPr>
          <a:xfrm>
            <a:off x="5610341" y="3734900"/>
            <a:ext cx="494046" cy="830997"/>
          </a:xfrm>
          <a:prstGeom prst="rect">
            <a:avLst/>
          </a:prstGeom>
          <a:noFill/>
        </p:spPr>
        <p:txBody>
          <a:bodyPr wrap="square" rtlCol="0">
            <a:spAutoFit/>
          </a:bodyPr>
          <a:lstStyle/>
          <a:p>
            <a:r>
              <a:rPr lang="en-US" sz="4800" dirty="0">
                <a:solidFill>
                  <a:schemeClr val="tx1">
                    <a:lumMod val="50000"/>
                    <a:lumOff val="50000"/>
                  </a:schemeClr>
                </a:solidFill>
              </a:rPr>
              <a:t>?</a:t>
            </a:r>
          </a:p>
        </p:txBody>
      </p:sp>
      <p:sp>
        <p:nvSpPr>
          <p:cNvPr id="9" name="Title 1">
            <a:extLst>
              <a:ext uri="{FF2B5EF4-FFF2-40B4-BE49-F238E27FC236}">
                <a16:creationId xmlns:a16="http://schemas.microsoft.com/office/drawing/2014/main" id="{ACEE2D35-2E9A-3D01-91F5-0FE23FFF67D1}"/>
              </a:ext>
            </a:extLst>
          </p:cNvPr>
          <p:cNvSpPr>
            <a:spLocks noGrp="1"/>
          </p:cNvSpPr>
          <p:nvPr>
            <p:ph type="title"/>
          </p:nvPr>
        </p:nvSpPr>
        <p:spPr>
          <a:xfrm>
            <a:off x="838200" y="365125"/>
            <a:ext cx="10515600" cy="1325563"/>
          </a:xfrm>
        </p:spPr>
        <p:txBody>
          <a:bodyPr>
            <a:normAutofit/>
          </a:bodyPr>
          <a:lstStyle/>
          <a:p>
            <a:r>
              <a:rPr lang="en-US" i="1" dirty="0"/>
              <a:t>How </a:t>
            </a:r>
            <a:r>
              <a:rPr lang="en-US" dirty="0"/>
              <a:t>does </a:t>
            </a:r>
            <a:r>
              <a:rPr lang="en-US" dirty="0">
                <a:solidFill>
                  <a:srgbClr val="4477AA"/>
                </a:solidFill>
              </a:rPr>
              <a:t>linguistic diversity</a:t>
            </a:r>
            <a:r>
              <a:rPr lang="en-US" dirty="0"/>
              <a:t> play a role in </a:t>
            </a:r>
            <a:r>
              <a:rPr lang="en-US" dirty="0">
                <a:solidFill>
                  <a:srgbClr val="228833"/>
                </a:solidFill>
              </a:rPr>
              <a:t>L2 speech learning</a:t>
            </a:r>
            <a:r>
              <a:rPr lang="en-US" dirty="0"/>
              <a:t>?</a:t>
            </a:r>
          </a:p>
        </p:txBody>
      </p:sp>
      <p:sp useBgFill="1">
        <p:nvSpPr>
          <p:cNvPr id="10" name="Rounded Rectangle 9">
            <a:extLst>
              <a:ext uri="{FF2B5EF4-FFF2-40B4-BE49-F238E27FC236}">
                <a16:creationId xmlns:a16="http://schemas.microsoft.com/office/drawing/2014/main" id="{4B1D9B4C-AD9E-5971-9089-CC4146AE29AD}"/>
              </a:ext>
            </a:extLst>
          </p:cNvPr>
          <p:cNvSpPr/>
          <p:nvPr/>
        </p:nvSpPr>
        <p:spPr>
          <a:xfrm>
            <a:off x="4248051" y="487179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spTree>
    <p:extLst>
      <p:ext uri="{BB962C8B-B14F-4D97-AF65-F5344CB8AC3E}">
        <p14:creationId xmlns:p14="http://schemas.microsoft.com/office/powerpoint/2010/main" val="3510873789"/>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117B-E6F7-7520-1A7D-2DCB36178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6B933-49BF-3E2A-630C-01ED7FE4679F}"/>
              </a:ext>
            </a:extLst>
          </p:cNvPr>
          <p:cNvSpPr>
            <a:spLocks noGrp="1"/>
          </p:cNvSpPr>
          <p:nvPr>
            <p:ph type="title"/>
          </p:nvPr>
        </p:nvSpPr>
        <p:spPr>
          <a:xfrm>
            <a:off x="838199" y="365125"/>
            <a:ext cx="10965873" cy="1460500"/>
          </a:xfrm>
        </p:spPr>
        <p:txBody>
          <a:bodyPr>
            <a:normAutofit fontScale="90000"/>
          </a:bodyPr>
          <a:lstStyle/>
          <a:p>
            <a:r>
              <a:rPr lang="en-US" dirty="0">
                <a:solidFill>
                  <a:srgbClr val="AA3377"/>
                </a:solidFill>
              </a:rPr>
              <a:t>Gradient categorization </a:t>
            </a:r>
            <a:r>
              <a:rPr lang="en-US" dirty="0"/>
              <a:t>retains the continuous nature of the acoustic features in speech when mapping to perceptual categories</a:t>
            </a:r>
          </a:p>
        </p:txBody>
      </p:sp>
      <p:pic>
        <p:nvPicPr>
          <p:cNvPr id="6" name="Picture 5" descr="A diagram of a bar with numbers and a triangle&#10;&#10;Description automatically generated with medium confidence">
            <a:extLst>
              <a:ext uri="{FF2B5EF4-FFF2-40B4-BE49-F238E27FC236}">
                <a16:creationId xmlns:a16="http://schemas.microsoft.com/office/drawing/2014/main" id="{67A5F3FA-CDEE-3BC3-B881-9C7E6098522D}"/>
              </a:ext>
            </a:extLst>
          </p:cNvPr>
          <p:cNvPicPr>
            <a:picLocks noChangeAspect="1"/>
          </p:cNvPicPr>
          <p:nvPr/>
        </p:nvPicPr>
        <p:blipFill rotWithShape="1">
          <a:blip r:embed="rId3"/>
          <a:srcRect l="32103" t="20915" r="6348" b="-2229"/>
          <a:stretch>
            <a:fillRect/>
          </a:stretch>
        </p:blipFill>
        <p:spPr>
          <a:xfrm>
            <a:off x="1783791" y="5393293"/>
            <a:ext cx="6291579" cy="1460500"/>
          </a:xfrm>
          <a:prstGeom prst="rect">
            <a:avLst/>
          </a:prstGeom>
        </p:spPr>
      </p:pic>
      <p:sp>
        <p:nvSpPr>
          <p:cNvPr id="7" name="TextBox 6">
            <a:extLst>
              <a:ext uri="{FF2B5EF4-FFF2-40B4-BE49-F238E27FC236}">
                <a16:creationId xmlns:a16="http://schemas.microsoft.com/office/drawing/2014/main" id="{DBEAEB5E-D271-B191-8E9F-FBBA8FFFDF16}"/>
              </a:ext>
            </a:extLst>
          </p:cNvPr>
          <p:cNvSpPr txBox="1"/>
          <p:nvPr/>
        </p:nvSpPr>
        <p:spPr>
          <a:xfrm>
            <a:off x="8075370" y="6308209"/>
            <a:ext cx="3088089" cy="369332"/>
          </a:xfrm>
          <a:prstGeom prst="rect">
            <a:avLst/>
          </a:prstGeom>
          <a:noFill/>
        </p:spPr>
        <p:txBody>
          <a:bodyPr wrap="none" rtlCol="0">
            <a:spAutoFit/>
          </a:bodyPr>
          <a:lstStyle/>
          <a:p>
            <a:r>
              <a:rPr lang="en-US" dirty="0"/>
              <a:t>(</a:t>
            </a:r>
            <a:r>
              <a:rPr lang="en-US" dirty="0" err="1"/>
              <a:t>Kapnoula</a:t>
            </a:r>
            <a:r>
              <a:rPr lang="en-US" dirty="0"/>
              <a:t> &amp; McMurray, 2021)</a:t>
            </a:r>
          </a:p>
        </p:txBody>
      </p:sp>
    </p:spTree>
    <p:extLst>
      <p:ext uri="{BB962C8B-B14F-4D97-AF65-F5344CB8AC3E}">
        <p14:creationId xmlns:p14="http://schemas.microsoft.com/office/powerpoint/2010/main" val="1529149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DF53C-4C57-8062-E1FB-5DFEEAC12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BA200F-3B05-EA99-2F4F-5DA1F95377A8}"/>
              </a:ext>
            </a:extLst>
          </p:cNvPr>
          <p:cNvSpPr>
            <a:spLocks noGrp="1"/>
          </p:cNvSpPr>
          <p:nvPr>
            <p:ph type="title"/>
          </p:nvPr>
        </p:nvSpPr>
        <p:spPr>
          <a:xfrm>
            <a:off x="838199" y="365125"/>
            <a:ext cx="10965873" cy="1460500"/>
          </a:xfrm>
        </p:spPr>
        <p:txBody>
          <a:bodyPr>
            <a:normAutofit fontScale="90000"/>
          </a:bodyPr>
          <a:lstStyle/>
          <a:p>
            <a:r>
              <a:rPr lang="en-US" dirty="0">
                <a:solidFill>
                  <a:srgbClr val="AA3377"/>
                </a:solidFill>
              </a:rPr>
              <a:t>Gradient categorization </a:t>
            </a:r>
            <a:r>
              <a:rPr lang="en-US" dirty="0"/>
              <a:t>retains the continuous nature of the acoustic features in speech when mapping to perceptual categories</a:t>
            </a:r>
          </a:p>
        </p:txBody>
      </p:sp>
      <p:pic>
        <p:nvPicPr>
          <p:cNvPr id="6" name="Picture 5" descr="A diagram of a bar with numbers and a triangle&#10;&#10;Description automatically generated with medium confidence">
            <a:extLst>
              <a:ext uri="{FF2B5EF4-FFF2-40B4-BE49-F238E27FC236}">
                <a16:creationId xmlns:a16="http://schemas.microsoft.com/office/drawing/2014/main" id="{8B927599-49A9-80EC-17B1-6783DDEC29D6}"/>
              </a:ext>
            </a:extLst>
          </p:cNvPr>
          <p:cNvPicPr>
            <a:picLocks noChangeAspect="1"/>
          </p:cNvPicPr>
          <p:nvPr/>
        </p:nvPicPr>
        <p:blipFill rotWithShape="1">
          <a:blip r:embed="rId3"/>
          <a:srcRect l="32103" t="20915" r="6348" b="-2229"/>
          <a:stretch>
            <a:fillRect/>
          </a:stretch>
        </p:blipFill>
        <p:spPr>
          <a:xfrm>
            <a:off x="1783791" y="5393293"/>
            <a:ext cx="6291579" cy="1460500"/>
          </a:xfrm>
          <a:prstGeom prst="rect">
            <a:avLst/>
          </a:prstGeom>
        </p:spPr>
      </p:pic>
      <p:sp>
        <p:nvSpPr>
          <p:cNvPr id="7" name="TextBox 6">
            <a:extLst>
              <a:ext uri="{FF2B5EF4-FFF2-40B4-BE49-F238E27FC236}">
                <a16:creationId xmlns:a16="http://schemas.microsoft.com/office/drawing/2014/main" id="{5CEF6D4F-0FC0-D6F1-69CF-04F2CFFB0A29}"/>
              </a:ext>
            </a:extLst>
          </p:cNvPr>
          <p:cNvSpPr txBox="1"/>
          <p:nvPr/>
        </p:nvSpPr>
        <p:spPr>
          <a:xfrm>
            <a:off x="8075370" y="6308209"/>
            <a:ext cx="3088089" cy="369332"/>
          </a:xfrm>
          <a:prstGeom prst="rect">
            <a:avLst/>
          </a:prstGeom>
          <a:noFill/>
        </p:spPr>
        <p:txBody>
          <a:bodyPr wrap="none" rtlCol="0">
            <a:spAutoFit/>
          </a:bodyPr>
          <a:lstStyle/>
          <a:p>
            <a:r>
              <a:rPr lang="en-US" dirty="0"/>
              <a:t>(</a:t>
            </a:r>
            <a:r>
              <a:rPr lang="en-US" dirty="0" err="1"/>
              <a:t>Kapnoula</a:t>
            </a:r>
            <a:r>
              <a:rPr lang="en-US" dirty="0"/>
              <a:t> &amp; McMurray, 2021)</a:t>
            </a:r>
          </a:p>
        </p:txBody>
      </p:sp>
      <p:sp>
        <p:nvSpPr>
          <p:cNvPr id="3" name="Rectangle 2">
            <a:extLst>
              <a:ext uri="{FF2B5EF4-FFF2-40B4-BE49-F238E27FC236}">
                <a16:creationId xmlns:a16="http://schemas.microsoft.com/office/drawing/2014/main" id="{BF9895FE-3D27-2F5D-AB77-E449BC0FCE1C}"/>
              </a:ext>
            </a:extLst>
          </p:cNvPr>
          <p:cNvSpPr/>
          <p:nvPr/>
        </p:nvSpPr>
        <p:spPr>
          <a:xfrm>
            <a:off x="1881068" y="2451370"/>
            <a:ext cx="2963307" cy="25810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B72D128C-3A7D-666B-DE7C-EDE332025818}"/>
              </a:ext>
            </a:extLst>
          </p:cNvPr>
          <p:cNvSpPr/>
          <p:nvPr/>
        </p:nvSpPr>
        <p:spPr>
          <a:xfrm>
            <a:off x="1940719" y="2451370"/>
            <a:ext cx="2963307" cy="2581007"/>
          </a:xfrm>
          <a:custGeom>
            <a:avLst/>
            <a:gdLst>
              <a:gd name="connsiteX0" fmla="*/ 0 w 3677055"/>
              <a:gd name="connsiteY0" fmla="*/ 2073136 h 2162650"/>
              <a:gd name="connsiteX1" fmla="*/ 1420238 w 3677055"/>
              <a:gd name="connsiteY1" fmla="*/ 1956404 h 2162650"/>
              <a:gd name="connsiteX2" fmla="*/ 1926076 w 3677055"/>
              <a:gd name="connsiteY2" fmla="*/ 263791 h 2162650"/>
              <a:gd name="connsiteX3" fmla="*/ 3677055 w 3677055"/>
              <a:gd name="connsiteY3" fmla="*/ 30328 h 2162650"/>
            </a:gdLst>
            <a:ahLst/>
            <a:cxnLst>
              <a:cxn ang="0">
                <a:pos x="connsiteX0" y="connsiteY0"/>
              </a:cxn>
              <a:cxn ang="0">
                <a:pos x="connsiteX1" y="connsiteY1"/>
              </a:cxn>
              <a:cxn ang="0">
                <a:pos x="connsiteX2" y="connsiteY2"/>
              </a:cxn>
              <a:cxn ang="0">
                <a:pos x="connsiteX3" y="connsiteY3"/>
              </a:cxn>
            </a:cxnLst>
            <a:rect l="l" t="t" r="r" b="b"/>
            <a:pathLst>
              <a:path w="3677055" h="2162650">
                <a:moveTo>
                  <a:pt x="0" y="2073136"/>
                </a:moveTo>
                <a:cubicBezTo>
                  <a:pt x="549612" y="2165548"/>
                  <a:pt x="1099225" y="2257961"/>
                  <a:pt x="1420238" y="1956404"/>
                </a:cubicBezTo>
                <a:cubicBezTo>
                  <a:pt x="1741251" y="1654847"/>
                  <a:pt x="1549940" y="584804"/>
                  <a:pt x="1926076" y="263791"/>
                </a:cubicBezTo>
                <a:cubicBezTo>
                  <a:pt x="2302212" y="-57222"/>
                  <a:pt x="2989633" y="-13447"/>
                  <a:pt x="3677055" y="30328"/>
                </a:cubicBezTo>
              </a:path>
            </a:pathLst>
          </a:custGeom>
          <a:noFill/>
          <a:ln w="76200">
            <a:gradFill>
              <a:gsLst>
                <a:gs pos="63000">
                  <a:schemeClr val="tx1"/>
                </a:gs>
                <a:gs pos="43000">
                  <a:schemeClr val="bg2"/>
                </a:gs>
                <a:gs pos="0">
                  <a:schemeClr val="bg2"/>
                </a:gs>
                <a:gs pos="100000">
                  <a:schemeClr val="tx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20F65D0-E1AB-EFB5-6F88-3BFA03BFC746}"/>
              </a:ext>
            </a:extLst>
          </p:cNvPr>
          <p:cNvSpPr/>
          <p:nvPr/>
        </p:nvSpPr>
        <p:spPr>
          <a:xfrm>
            <a:off x="5060954" y="2451370"/>
            <a:ext cx="2963307" cy="25810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1D1AACA0-796D-5179-D59C-3F3964391000}"/>
              </a:ext>
            </a:extLst>
          </p:cNvPr>
          <p:cNvSpPr txBox="1"/>
          <p:nvPr/>
        </p:nvSpPr>
        <p:spPr>
          <a:xfrm rot="16200000">
            <a:off x="774137" y="3511040"/>
            <a:ext cx="1505540" cy="461665"/>
          </a:xfrm>
          <a:prstGeom prst="rect">
            <a:avLst/>
          </a:prstGeom>
          <a:noFill/>
        </p:spPr>
        <p:txBody>
          <a:bodyPr wrap="none" rtlCol="0">
            <a:spAutoFit/>
          </a:bodyPr>
          <a:lstStyle/>
          <a:p>
            <a:r>
              <a:rPr lang="en-US" sz="2400" dirty="0"/>
              <a:t>Response</a:t>
            </a:r>
          </a:p>
        </p:txBody>
      </p:sp>
      <p:sp>
        <p:nvSpPr>
          <p:cNvPr id="26" name="TextBox 25">
            <a:extLst>
              <a:ext uri="{FF2B5EF4-FFF2-40B4-BE49-F238E27FC236}">
                <a16:creationId xmlns:a16="http://schemas.microsoft.com/office/drawing/2014/main" id="{26880C32-E995-5DA9-B673-FAD2CEF5A64C}"/>
              </a:ext>
            </a:extLst>
          </p:cNvPr>
          <p:cNvSpPr txBox="1"/>
          <p:nvPr/>
        </p:nvSpPr>
        <p:spPr>
          <a:xfrm>
            <a:off x="1203488" y="4663044"/>
            <a:ext cx="566181" cy="461665"/>
          </a:xfrm>
          <a:prstGeom prst="rect">
            <a:avLst/>
          </a:prstGeom>
          <a:noFill/>
        </p:spPr>
        <p:txBody>
          <a:bodyPr wrap="none" rtlCol="0">
            <a:spAutoFit/>
          </a:bodyPr>
          <a:lstStyle/>
          <a:p>
            <a:r>
              <a:rPr lang="en-US" sz="2400" dirty="0"/>
              <a:t>/b/</a:t>
            </a:r>
          </a:p>
        </p:txBody>
      </p:sp>
      <p:sp>
        <p:nvSpPr>
          <p:cNvPr id="27" name="TextBox 26">
            <a:extLst>
              <a:ext uri="{FF2B5EF4-FFF2-40B4-BE49-F238E27FC236}">
                <a16:creationId xmlns:a16="http://schemas.microsoft.com/office/drawing/2014/main" id="{1ED25CD0-DAA1-06CD-18B1-D099F60AD65D}"/>
              </a:ext>
            </a:extLst>
          </p:cNvPr>
          <p:cNvSpPr txBox="1"/>
          <p:nvPr/>
        </p:nvSpPr>
        <p:spPr>
          <a:xfrm>
            <a:off x="1296074" y="2425363"/>
            <a:ext cx="563167" cy="461665"/>
          </a:xfrm>
          <a:prstGeom prst="rect">
            <a:avLst/>
          </a:prstGeom>
          <a:noFill/>
        </p:spPr>
        <p:txBody>
          <a:bodyPr wrap="none" rtlCol="0">
            <a:spAutoFit/>
          </a:bodyPr>
          <a:lstStyle/>
          <a:p>
            <a:r>
              <a:rPr lang="en-US" sz="2400" dirty="0"/>
              <a:t>/p/</a:t>
            </a:r>
          </a:p>
        </p:txBody>
      </p:sp>
      <p:sp>
        <p:nvSpPr>
          <p:cNvPr id="31" name="Freeform 30">
            <a:extLst>
              <a:ext uri="{FF2B5EF4-FFF2-40B4-BE49-F238E27FC236}">
                <a16:creationId xmlns:a16="http://schemas.microsoft.com/office/drawing/2014/main" id="{34FA761C-37F6-525B-FEE0-0CA2FC87C91B}"/>
              </a:ext>
            </a:extLst>
          </p:cNvPr>
          <p:cNvSpPr/>
          <p:nvPr/>
        </p:nvSpPr>
        <p:spPr>
          <a:xfrm>
            <a:off x="5060955" y="2490280"/>
            <a:ext cx="2963306" cy="2542095"/>
          </a:xfrm>
          <a:custGeom>
            <a:avLst/>
            <a:gdLst>
              <a:gd name="connsiteX0" fmla="*/ 0 w 2782111"/>
              <a:gd name="connsiteY0" fmla="*/ 2393004 h 2447952"/>
              <a:gd name="connsiteX1" fmla="*/ 622570 w 2782111"/>
              <a:gd name="connsiteY1" fmla="*/ 2178996 h 2447952"/>
              <a:gd name="connsiteX2" fmla="*/ 2062264 w 2782111"/>
              <a:gd name="connsiteY2" fmla="*/ 291830 h 2447952"/>
              <a:gd name="connsiteX3" fmla="*/ 2782111 w 2782111"/>
              <a:gd name="connsiteY3" fmla="*/ 0 h 2447952"/>
            </a:gdLst>
            <a:ahLst/>
            <a:cxnLst>
              <a:cxn ang="0">
                <a:pos x="connsiteX0" y="connsiteY0"/>
              </a:cxn>
              <a:cxn ang="0">
                <a:pos x="connsiteX1" y="connsiteY1"/>
              </a:cxn>
              <a:cxn ang="0">
                <a:pos x="connsiteX2" y="connsiteY2"/>
              </a:cxn>
              <a:cxn ang="0">
                <a:pos x="connsiteX3" y="connsiteY3"/>
              </a:cxn>
            </a:cxnLst>
            <a:rect l="l" t="t" r="r" b="b"/>
            <a:pathLst>
              <a:path w="2782111" h="2447952">
                <a:moveTo>
                  <a:pt x="0" y="2393004"/>
                </a:moveTo>
                <a:cubicBezTo>
                  <a:pt x="139429" y="2461098"/>
                  <a:pt x="278859" y="2529192"/>
                  <a:pt x="622570" y="2178996"/>
                </a:cubicBezTo>
                <a:cubicBezTo>
                  <a:pt x="966281" y="1828800"/>
                  <a:pt x="1702341" y="654996"/>
                  <a:pt x="2062264" y="291830"/>
                </a:cubicBezTo>
                <a:cubicBezTo>
                  <a:pt x="2422187" y="-71336"/>
                  <a:pt x="2603771" y="64851"/>
                  <a:pt x="2782111" y="0"/>
                </a:cubicBezTo>
              </a:path>
            </a:pathLst>
          </a:custGeom>
          <a:noFill/>
          <a:ln w="76200">
            <a:gradFill flip="none" rotWithShape="1">
              <a:gsLst>
                <a:gs pos="0">
                  <a:schemeClr val="bg2"/>
                </a:gs>
                <a:gs pos="100000">
                  <a:schemeClr val="tx1"/>
                </a:gs>
              </a:gsLst>
              <a:lin ang="54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939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56BAC-A107-D4A5-1B3E-A980BF23C73D}"/>
              </a:ext>
            </a:extLst>
          </p:cNvPr>
          <p:cNvSpPr>
            <a:spLocks noGrp="1"/>
          </p:cNvSpPr>
          <p:nvPr>
            <p:ph type="title"/>
          </p:nvPr>
        </p:nvSpPr>
        <p:spPr>
          <a:xfrm>
            <a:off x="838199" y="365125"/>
            <a:ext cx="11118273" cy="1325563"/>
          </a:xfrm>
        </p:spPr>
        <p:txBody>
          <a:bodyPr>
            <a:normAutofit fontScale="90000"/>
          </a:bodyPr>
          <a:lstStyle/>
          <a:p>
            <a:r>
              <a:rPr lang="en-US" dirty="0"/>
              <a:t>Some individuals perceive speech more categorically, while others perceive speech more </a:t>
            </a:r>
            <a:r>
              <a:rPr lang="en-US" dirty="0">
                <a:solidFill>
                  <a:srgbClr val="AA3377"/>
                </a:solidFill>
              </a:rPr>
              <a:t>gradiently</a:t>
            </a:r>
          </a:p>
        </p:txBody>
      </p:sp>
      <p:pic>
        <p:nvPicPr>
          <p:cNvPr id="5" name="Content Placeholder 4" descr="A graph with numbers and lines&#10;&#10;Description automatically generated">
            <a:extLst>
              <a:ext uri="{FF2B5EF4-FFF2-40B4-BE49-F238E27FC236}">
                <a16:creationId xmlns:a16="http://schemas.microsoft.com/office/drawing/2014/main" id="{1316B0D6-18DF-A7F8-C976-D475D97B3700}"/>
              </a:ext>
            </a:extLst>
          </p:cNvPr>
          <p:cNvPicPr>
            <a:picLocks noGrp="1" noChangeAspect="1"/>
          </p:cNvPicPr>
          <p:nvPr>
            <p:ph idx="1"/>
          </p:nvPr>
        </p:nvPicPr>
        <p:blipFill>
          <a:blip r:embed="rId3"/>
          <a:stretch>
            <a:fillRect/>
          </a:stretch>
        </p:blipFill>
        <p:spPr>
          <a:xfrm>
            <a:off x="1243549" y="3103962"/>
            <a:ext cx="9704902" cy="2897222"/>
          </a:xfrm>
        </p:spPr>
      </p:pic>
      <p:sp>
        <p:nvSpPr>
          <p:cNvPr id="7" name="TextBox 6">
            <a:extLst>
              <a:ext uri="{FF2B5EF4-FFF2-40B4-BE49-F238E27FC236}">
                <a16:creationId xmlns:a16="http://schemas.microsoft.com/office/drawing/2014/main" id="{F607C4BB-625F-293E-89DD-98DF82BDC887}"/>
              </a:ext>
            </a:extLst>
          </p:cNvPr>
          <p:cNvSpPr txBox="1"/>
          <p:nvPr/>
        </p:nvSpPr>
        <p:spPr>
          <a:xfrm>
            <a:off x="9988550" y="6308209"/>
            <a:ext cx="2295939" cy="369332"/>
          </a:xfrm>
          <a:prstGeom prst="rect">
            <a:avLst/>
          </a:prstGeom>
          <a:noFill/>
        </p:spPr>
        <p:txBody>
          <a:bodyPr wrap="square">
            <a:spAutoFit/>
          </a:bodyPr>
          <a:lstStyle/>
          <a:p>
            <a:r>
              <a:rPr lang="en-US" dirty="0"/>
              <a:t>(Kim et al., 2020)</a:t>
            </a:r>
          </a:p>
        </p:txBody>
      </p:sp>
      <p:sp>
        <p:nvSpPr>
          <p:cNvPr id="8" name="TextBox 7">
            <a:extLst>
              <a:ext uri="{FF2B5EF4-FFF2-40B4-BE49-F238E27FC236}">
                <a16:creationId xmlns:a16="http://schemas.microsoft.com/office/drawing/2014/main" id="{7B762C89-6B70-D634-6675-CCBE94FFE009}"/>
              </a:ext>
            </a:extLst>
          </p:cNvPr>
          <p:cNvSpPr txBox="1"/>
          <p:nvPr/>
        </p:nvSpPr>
        <p:spPr>
          <a:xfrm>
            <a:off x="8328330" y="2182378"/>
            <a:ext cx="2309030" cy="523220"/>
          </a:xfrm>
          <a:prstGeom prst="rect">
            <a:avLst/>
          </a:prstGeom>
          <a:noFill/>
        </p:spPr>
        <p:txBody>
          <a:bodyPr wrap="none" rtlCol="0">
            <a:spAutoFit/>
          </a:bodyPr>
          <a:lstStyle/>
          <a:p>
            <a:r>
              <a:rPr lang="en-US" sz="2800" dirty="0"/>
              <a:t>More gradient</a:t>
            </a:r>
          </a:p>
        </p:txBody>
      </p:sp>
      <p:sp>
        <p:nvSpPr>
          <p:cNvPr id="9" name="TextBox 8">
            <a:extLst>
              <a:ext uri="{FF2B5EF4-FFF2-40B4-BE49-F238E27FC236}">
                <a16:creationId xmlns:a16="http://schemas.microsoft.com/office/drawing/2014/main" id="{8FEE24E6-9D6B-66AD-E7D1-2517C0482D60}"/>
              </a:ext>
            </a:extLst>
          </p:cNvPr>
          <p:cNvSpPr txBox="1"/>
          <p:nvPr/>
        </p:nvSpPr>
        <p:spPr>
          <a:xfrm>
            <a:off x="1885672" y="2182378"/>
            <a:ext cx="2769669" cy="523220"/>
          </a:xfrm>
          <a:prstGeom prst="rect">
            <a:avLst/>
          </a:prstGeom>
          <a:noFill/>
        </p:spPr>
        <p:txBody>
          <a:bodyPr wrap="none" rtlCol="0">
            <a:spAutoFit/>
          </a:bodyPr>
          <a:lstStyle/>
          <a:p>
            <a:r>
              <a:rPr lang="en-US" sz="2800" dirty="0"/>
              <a:t>More categorical</a:t>
            </a:r>
          </a:p>
        </p:txBody>
      </p:sp>
      <p:cxnSp>
        <p:nvCxnSpPr>
          <p:cNvPr id="11" name="Straight Arrow Connector 10">
            <a:extLst>
              <a:ext uri="{FF2B5EF4-FFF2-40B4-BE49-F238E27FC236}">
                <a16:creationId xmlns:a16="http://schemas.microsoft.com/office/drawing/2014/main" id="{A42CA7A2-F0C3-4A28-5B1C-C0797B202247}"/>
              </a:ext>
            </a:extLst>
          </p:cNvPr>
          <p:cNvCxnSpPr>
            <a:cxnSpLocks/>
            <a:stCxn id="9" idx="3"/>
            <a:endCxn id="8" idx="1"/>
          </p:cNvCxnSpPr>
          <p:nvPr/>
        </p:nvCxnSpPr>
        <p:spPr>
          <a:xfrm>
            <a:off x="4655341" y="2443988"/>
            <a:ext cx="3672989"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7264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B44B9DBD-B65A-910C-12A2-703CF15A530E}"/>
              </a:ext>
            </a:extLst>
          </p:cNvPr>
          <p:cNvSpPr txBox="1"/>
          <p:nvPr/>
        </p:nvSpPr>
        <p:spPr>
          <a:xfrm>
            <a:off x="662640" y="6428782"/>
            <a:ext cx="3214361" cy="388965"/>
          </a:xfrm>
          <a:prstGeom prst="rect">
            <a:avLst/>
          </a:prstGeom>
        </p:spPr>
        <p:txBody>
          <a:bodyPr vert="horz" lIns="91440" tIns="45720" rIns="91440" bIns="45720" rtlCol="0">
            <a:normAutofit fontScale="92500" lnSpcReduction="10000"/>
          </a:bodyPr>
          <a:lstStyle/>
          <a:p>
            <a:pPr algn="ctr">
              <a:lnSpc>
                <a:spcPct val="90000"/>
              </a:lnSpc>
              <a:spcBef>
                <a:spcPts val="1000"/>
              </a:spcBef>
            </a:pPr>
            <a:r>
              <a:rPr lang="en-US" sz="2400" dirty="0"/>
              <a:t>(</a:t>
            </a:r>
            <a:r>
              <a:rPr lang="en-US" sz="2400" dirty="0" err="1"/>
              <a:t>Kutlu</a:t>
            </a:r>
            <a:r>
              <a:rPr lang="en-US" sz="2400" dirty="0"/>
              <a:t> et al., 2024)</a:t>
            </a:r>
          </a:p>
        </p:txBody>
      </p:sp>
      <p:grpSp>
        <p:nvGrpSpPr>
          <p:cNvPr id="3" name="Group 2">
            <a:extLst>
              <a:ext uri="{FF2B5EF4-FFF2-40B4-BE49-F238E27FC236}">
                <a16:creationId xmlns:a16="http://schemas.microsoft.com/office/drawing/2014/main" id="{2F434FDA-5727-9E0B-3006-68551CDA4DC8}"/>
              </a:ext>
            </a:extLst>
          </p:cNvPr>
          <p:cNvGrpSpPr/>
          <p:nvPr/>
        </p:nvGrpSpPr>
        <p:grpSpPr>
          <a:xfrm>
            <a:off x="0" y="2859931"/>
            <a:ext cx="9185457" cy="3117488"/>
            <a:chOff x="2134529" y="1690688"/>
            <a:chExt cx="7503892" cy="2546775"/>
          </a:xfrm>
        </p:grpSpPr>
        <p:pic>
          <p:nvPicPr>
            <p:cNvPr id="9" name="Picture 8" descr="A graph with numbers and lines&#10;&#10;Description automatically generated">
              <a:extLst>
                <a:ext uri="{FF2B5EF4-FFF2-40B4-BE49-F238E27FC236}">
                  <a16:creationId xmlns:a16="http://schemas.microsoft.com/office/drawing/2014/main" id="{77C78B33-7066-D693-02C8-97AF555A686F}"/>
                </a:ext>
              </a:extLst>
            </p:cNvPr>
            <p:cNvPicPr>
              <a:picLocks noChangeAspect="1"/>
            </p:cNvPicPr>
            <p:nvPr/>
          </p:nvPicPr>
          <p:blipFill>
            <a:blip r:embed="rId3"/>
            <a:stretch>
              <a:fillRect/>
            </a:stretch>
          </p:blipFill>
          <p:spPr>
            <a:xfrm>
              <a:off x="2134529" y="1690688"/>
              <a:ext cx="7503892" cy="2546775"/>
            </a:xfrm>
            <a:prstGeom prst="rect">
              <a:avLst/>
            </a:prstGeom>
          </p:spPr>
        </p:pic>
        <p:sp>
          <p:nvSpPr>
            <p:cNvPr id="18" name="Rectangle 17">
              <a:extLst>
                <a:ext uri="{FF2B5EF4-FFF2-40B4-BE49-F238E27FC236}">
                  <a16:creationId xmlns:a16="http://schemas.microsoft.com/office/drawing/2014/main" id="{B033F893-34A2-AFF5-A8A9-E57B0DFC6675}"/>
                </a:ext>
              </a:extLst>
            </p:cNvPr>
            <p:cNvSpPr/>
            <p:nvPr/>
          </p:nvSpPr>
          <p:spPr>
            <a:xfrm>
              <a:off x="3043003" y="1690688"/>
              <a:ext cx="1409076" cy="228053"/>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71E55DB-8200-6647-4BE1-FEA4C706D8D8}"/>
                </a:ext>
              </a:extLst>
            </p:cNvPr>
            <p:cNvSpPr/>
            <p:nvPr/>
          </p:nvSpPr>
          <p:spPr>
            <a:xfrm>
              <a:off x="5360553" y="1696072"/>
              <a:ext cx="1409076" cy="22805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0A6C28A-58BA-AE0F-161D-6AB2C1993F54}"/>
                </a:ext>
              </a:extLst>
            </p:cNvPr>
            <p:cNvSpPr/>
            <p:nvPr/>
          </p:nvSpPr>
          <p:spPr>
            <a:xfrm>
              <a:off x="7668485" y="1690688"/>
              <a:ext cx="1409076" cy="228053"/>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03F53D3D-A758-751C-A147-0133EF063AA3}"/>
              </a:ext>
            </a:extLst>
          </p:cNvPr>
          <p:cNvGrpSpPr/>
          <p:nvPr/>
        </p:nvGrpSpPr>
        <p:grpSpPr>
          <a:xfrm>
            <a:off x="8742152" y="2632678"/>
            <a:ext cx="3449848" cy="3990586"/>
            <a:chOff x="4157649" y="4296401"/>
            <a:chExt cx="2214493" cy="2561599"/>
          </a:xfrm>
        </p:grpSpPr>
        <p:pic>
          <p:nvPicPr>
            <p:cNvPr id="15" name="Picture 14" descr="A diagram of a variety of network&#10;&#10;Description automatically generated with medium confidence">
              <a:extLst>
                <a:ext uri="{FF2B5EF4-FFF2-40B4-BE49-F238E27FC236}">
                  <a16:creationId xmlns:a16="http://schemas.microsoft.com/office/drawing/2014/main" id="{63C3DBF4-DB29-8B59-A255-C7D97E672275}"/>
                </a:ext>
              </a:extLst>
            </p:cNvPr>
            <p:cNvPicPr>
              <a:picLocks noChangeAspect="1"/>
            </p:cNvPicPr>
            <p:nvPr/>
          </p:nvPicPr>
          <p:blipFill>
            <a:blip r:embed="rId4"/>
            <a:srcRect r="50721"/>
            <a:stretch>
              <a:fillRect/>
            </a:stretch>
          </p:blipFill>
          <p:spPr>
            <a:xfrm>
              <a:off x="4157649" y="4296401"/>
              <a:ext cx="2214493" cy="2561599"/>
            </a:xfrm>
            <a:prstGeom prst="rect">
              <a:avLst/>
            </a:prstGeom>
          </p:spPr>
        </p:pic>
        <p:sp>
          <p:nvSpPr>
            <p:cNvPr id="21" name="Rectangle 20">
              <a:extLst>
                <a:ext uri="{FF2B5EF4-FFF2-40B4-BE49-F238E27FC236}">
                  <a16:creationId xmlns:a16="http://schemas.microsoft.com/office/drawing/2014/main" id="{B2349170-052B-1D1C-A355-E0F250C028A1}"/>
                </a:ext>
              </a:extLst>
            </p:cNvPr>
            <p:cNvSpPr/>
            <p:nvPr/>
          </p:nvSpPr>
          <p:spPr>
            <a:xfrm>
              <a:off x="5803649" y="5618406"/>
              <a:ext cx="424471" cy="174047"/>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517C88B-80A0-5E2B-CC6F-34106BE664DF}"/>
                </a:ext>
              </a:extLst>
            </p:cNvPr>
            <p:cNvSpPr/>
            <p:nvPr/>
          </p:nvSpPr>
          <p:spPr>
            <a:xfrm>
              <a:off x="5018296" y="4582517"/>
              <a:ext cx="406265" cy="154375"/>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53287A4-8B9C-5275-9B2A-3C5EC7AF88F8}"/>
                </a:ext>
              </a:extLst>
            </p:cNvPr>
            <p:cNvSpPr/>
            <p:nvPr/>
          </p:nvSpPr>
          <p:spPr>
            <a:xfrm>
              <a:off x="4365479" y="5609262"/>
              <a:ext cx="349449" cy="174047"/>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4">
            <a:extLst>
              <a:ext uri="{FF2B5EF4-FFF2-40B4-BE49-F238E27FC236}">
                <a16:creationId xmlns:a16="http://schemas.microsoft.com/office/drawing/2014/main" id="{4D9F8ED3-B33D-B1D2-37B7-4546B4300E93}"/>
              </a:ext>
            </a:extLst>
          </p:cNvPr>
          <p:cNvSpPr>
            <a:spLocks noGrp="1"/>
          </p:cNvSpPr>
          <p:nvPr>
            <p:ph type="title"/>
          </p:nvPr>
        </p:nvSpPr>
        <p:spPr/>
        <p:txBody>
          <a:bodyPr>
            <a:normAutofit fontScale="90000"/>
          </a:bodyPr>
          <a:lstStyle/>
          <a:p>
            <a:r>
              <a:rPr lang="en-US" dirty="0"/>
              <a:t>Children with more </a:t>
            </a:r>
            <a:r>
              <a:rPr lang="en-US" dirty="0">
                <a:solidFill>
                  <a:srgbClr val="4477AA"/>
                </a:solidFill>
              </a:rPr>
              <a:t>linguistically diverse </a:t>
            </a:r>
            <a:r>
              <a:rPr lang="en-US" dirty="0"/>
              <a:t>social networks were found to show </a:t>
            </a:r>
            <a:r>
              <a:rPr lang="en-US" dirty="0">
                <a:solidFill>
                  <a:srgbClr val="AA3377"/>
                </a:solidFill>
              </a:rPr>
              <a:t>gradient categorization</a:t>
            </a:r>
            <a:r>
              <a:rPr lang="en-US" dirty="0"/>
              <a:t> response patterns</a:t>
            </a:r>
          </a:p>
        </p:txBody>
      </p:sp>
    </p:spTree>
    <p:extLst>
      <p:ext uri="{BB962C8B-B14F-4D97-AF65-F5344CB8AC3E}">
        <p14:creationId xmlns:p14="http://schemas.microsoft.com/office/powerpoint/2010/main" val="334707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38F0F-21A8-852F-C002-73972D33EE9F}"/>
              </a:ext>
            </a:extLst>
          </p:cNvPr>
          <p:cNvSpPr>
            <a:spLocks noGrp="1"/>
          </p:cNvSpPr>
          <p:nvPr>
            <p:ph type="title"/>
          </p:nvPr>
        </p:nvSpPr>
        <p:spPr>
          <a:xfrm>
            <a:off x="838200" y="365125"/>
            <a:ext cx="10515600" cy="1325563"/>
          </a:xfrm>
        </p:spPr>
        <p:txBody>
          <a:bodyPr>
            <a:normAutofit fontScale="90000"/>
          </a:bodyPr>
          <a:lstStyle/>
          <a:p>
            <a:r>
              <a:rPr lang="en-US" dirty="0">
                <a:solidFill>
                  <a:srgbClr val="AA3377"/>
                </a:solidFill>
              </a:rPr>
              <a:t>Gradient categorization </a:t>
            </a:r>
            <a:r>
              <a:rPr lang="en-US" dirty="0"/>
              <a:t>may give the perceptual system the flexibility to </a:t>
            </a:r>
            <a:r>
              <a:rPr lang="en-US" dirty="0">
                <a:solidFill>
                  <a:srgbClr val="228833"/>
                </a:solidFill>
              </a:rPr>
              <a:t>remap or create new category boundaries</a:t>
            </a:r>
          </a:p>
        </p:txBody>
      </p:sp>
      <p:pic>
        <p:nvPicPr>
          <p:cNvPr id="4" name="Picture 3">
            <a:extLst>
              <a:ext uri="{FF2B5EF4-FFF2-40B4-BE49-F238E27FC236}">
                <a16:creationId xmlns:a16="http://schemas.microsoft.com/office/drawing/2014/main" id="{279FE8F1-8141-6B22-9EBC-F636F846AEDA}"/>
              </a:ext>
            </a:extLst>
          </p:cNvPr>
          <p:cNvPicPr>
            <a:picLocks noChangeAspect="1"/>
          </p:cNvPicPr>
          <p:nvPr/>
        </p:nvPicPr>
        <p:blipFill>
          <a:blip r:embed="rId4"/>
          <a:stretch>
            <a:fillRect/>
          </a:stretch>
        </p:blipFill>
        <p:spPr>
          <a:xfrm>
            <a:off x="2051047" y="3293867"/>
            <a:ext cx="3187700" cy="2743200"/>
          </a:xfrm>
          <a:prstGeom prst="rect">
            <a:avLst/>
          </a:prstGeom>
        </p:spPr>
      </p:pic>
      <p:sp>
        <p:nvSpPr>
          <p:cNvPr id="8" name="Up Arrow 7">
            <a:extLst>
              <a:ext uri="{FF2B5EF4-FFF2-40B4-BE49-F238E27FC236}">
                <a16:creationId xmlns:a16="http://schemas.microsoft.com/office/drawing/2014/main" id="{7B9330BC-3E4D-5C29-E0B7-9CC10AB1BD46}"/>
              </a:ext>
            </a:extLst>
          </p:cNvPr>
          <p:cNvSpPr/>
          <p:nvPr/>
        </p:nvSpPr>
        <p:spPr>
          <a:xfrm>
            <a:off x="10471122" y="6026666"/>
            <a:ext cx="304800" cy="578304"/>
          </a:xfrm>
          <a:prstGeom prst="upArrow">
            <a:avLst/>
          </a:prstGeom>
          <a:solidFill>
            <a:srgbClr val="AA3377"/>
          </a:solidFill>
          <a:ln>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77D0BFC-D0CF-9144-C4DE-6237FE81462E}"/>
              </a:ext>
            </a:extLst>
          </p:cNvPr>
          <p:cNvSpPr txBox="1"/>
          <p:nvPr/>
        </p:nvSpPr>
        <p:spPr>
          <a:xfrm>
            <a:off x="6451593" y="6137387"/>
            <a:ext cx="3088089" cy="369332"/>
          </a:xfrm>
          <a:prstGeom prst="rect">
            <a:avLst/>
          </a:prstGeom>
          <a:noFill/>
        </p:spPr>
        <p:txBody>
          <a:bodyPr wrap="none" rtlCol="0">
            <a:spAutoFit/>
          </a:bodyPr>
          <a:lstStyle/>
          <a:p>
            <a:r>
              <a:rPr lang="en-US" dirty="0"/>
              <a:t>(</a:t>
            </a:r>
            <a:r>
              <a:rPr lang="en-US" dirty="0" err="1"/>
              <a:t>Kapnoula</a:t>
            </a:r>
            <a:r>
              <a:rPr lang="en-US" dirty="0"/>
              <a:t> &amp; McMurray, 2021)</a:t>
            </a:r>
          </a:p>
        </p:txBody>
      </p:sp>
      <p:sp>
        <p:nvSpPr>
          <p:cNvPr id="10" name="TextBox 9">
            <a:extLst>
              <a:ext uri="{FF2B5EF4-FFF2-40B4-BE49-F238E27FC236}">
                <a16:creationId xmlns:a16="http://schemas.microsoft.com/office/drawing/2014/main" id="{B06719B0-0F5A-F23D-3590-8897282F4456}"/>
              </a:ext>
            </a:extLst>
          </p:cNvPr>
          <p:cNvSpPr txBox="1"/>
          <p:nvPr/>
        </p:nvSpPr>
        <p:spPr>
          <a:xfrm>
            <a:off x="2051047" y="6123543"/>
            <a:ext cx="2755883" cy="369332"/>
          </a:xfrm>
          <a:prstGeom prst="rect">
            <a:avLst/>
          </a:prstGeom>
          <a:noFill/>
        </p:spPr>
        <p:txBody>
          <a:bodyPr wrap="none" rtlCol="0">
            <a:spAutoFit/>
          </a:bodyPr>
          <a:lstStyle/>
          <a:p>
            <a:r>
              <a:rPr lang="en-US" dirty="0"/>
              <a:t>(Nagle &amp; </a:t>
            </a:r>
            <a:r>
              <a:rPr lang="en-US" dirty="0" err="1"/>
              <a:t>Baese</a:t>
            </a:r>
            <a:r>
              <a:rPr lang="en-US" dirty="0"/>
              <a:t>-Berk, 2022)</a:t>
            </a:r>
            <a:endParaRPr lang="en-US" b="1" dirty="0"/>
          </a:p>
        </p:txBody>
      </p:sp>
      <p:grpSp>
        <p:nvGrpSpPr>
          <p:cNvPr id="11" name="Group 10">
            <a:extLst>
              <a:ext uri="{FF2B5EF4-FFF2-40B4-BE49-F238E27FC236}">
                <a16:creationId xmlns:a16="http://schemas.microsoft.com/office/drawing/2014/main" id="{5924F01F-799D-F6DE-A6A3-CB3EFA628188}"/>
              </a:ext>
            </a:extLst>
          </p:cNvPr>
          <p:cNvGrpSpPr/>
          <p:nvPr/>
        </p:nvGrpSpPr>
        <p:grpSpPr>
          <a:xfrm>
            <a:off x="2051047" y="4760557"/>
            <a:ext cx="3187700" cy="1276510"/>
            <a:chOff x="2051047" y="4760557"/>
            <a:chExt cx="3187700" cy="1276510"/>
          </a:xfrm>
        </p:grpSpPr>
        <p:pic>
          <p:nvPicPr>
            <p:cNvPr id="12" name="Picture 11">
              <a:extLst>
                <a:ext uri="{FF2B5EF4-FFF2-40B4-BE49-F238E27FC236}">
                  <a16:creationId xmlns:a16="http://schemas.microsoft.com/office/drawing/2014/main" id="{3C4C34D7-05BC-7A87-4431-FCEACC093258}"/>
                </a:ext>
              </a:extLst>
            </p:cNvPr>
            <p:cNvPicPr>
              <a:picLocks noChangeAspect="1"/>
            </p:cNvPicPr>
            <p:nvPr/>
          </p:nvPicPr>
          <p:blipFill rotWithShape="1">
            <a:blip r:embed="rId4"/>
            <a:srcRect t="53466"/>
            <a:stretch/>
          </p:blipFill>
          <p:spPr>
            <a:xfrm>
              <a:off x="2051047" y="4760557"/>
              <a:ext cx="3187700" cy="1276510"/>
            </a:xfrm>
            <a:prstGeom prst="rect">
              <a:avLst/>
            </a:prstGeom>
          </p:spPr>
        </p:pic>
        <p:sp>
          <p:nvSpPr>
            <p:cNvPr id="13" name="TextBox 12">
              <a:extLst>
                <a:ext uri="{FF2B5EF4-FFF2-40B4-BE49-F238E27FC236}">
                  <a16:creationId xmlns:a16="http://schemas.microsoft.com/office/drawing/2014/main" id="{C334C49F-3B0C-E4D6-AD12-D2BAD3EABE18}"/>
                </a:ext>
              </a:extLst>
            </p:cNvPr>
            <p:cNvSpPr txBox="1"/>
            <p:nvPr/>
          </p:nvSpPr>
          <p:spPr>
            <a:xfrm>
              <a:off x="4047066" y="5520267"/>
              <a:ext cx="759864" cy="287364"/>
            </a:xfrm>
            <a:prstGeom prst="rect">
              <a:avLst/>
            </a:prstGeom>
            <a:solidFill>
              <a:schemeClr val="bg1"/>
            </a:solidFill>
          </p:spPr>
          <p:txBody>
            <a:bodyPr wrap="square" rtlCol="0">
              <a:spAutoFit/>
            </a:bodyPr>
            <a:lstStyle/>
            <a:p>
              <a:r>
                <a:rPr lang="en-US" sz="1200" dirty="0"/>
                <a:t>25 ms</a:t>
              </a:r>
            </a:p>
          </p:txBody>
        </p:sp>
      </p:grpSp>
      <p:pic>
        <p:nvPicPr>
          <p:cNvPr id="7" name="Picture 6" descr="A diagram of a bar with numbers and a triangle&#10;&#10;Description automatically generated with medium confidence">
            <a:extLst>
              <a:ext uri="{FF2B5EF4-FFF2-40B4-BE49-F238E27FC236}">
                <a16:creationId xmlns:a16="http://schemas.microsoft.com/office/drawing/2014/main" id="{6DC48CA3-9B25-9DDE-E891-A9B665A30B63}"/>
              </a:ext>
            </a:extLst>
          </p:cNvPr>
          <p:cNvPicPr>
            <a:picLocks noChangeAspect="1"/>
          </p:cNvPicPr>
          <p:nvPr/>
        </p:nvPicPr>
        <p:blipFill rotWithShape="1">
          <a:blip r:embed="rId5"/>
          <a:srcRect l="31756" t="21427" r="6093" b="-3628"/>
          <a:stretch>
            <a:fillRect/>
          </a:stretch>
        </p:blipFill>
        <p:spPr>
          <a:xfrm>
            <a:off x="6451593" y="4760557"/>
            <a:ext cx="5492757" cy="1276510"/>
          </a:xfrm>
          <a:prstGeom prst="rect">
            <a:avLst/>
          </a:prstGeom>
        </p:spPr>
      </p:pic>
      <p:sp>
        <p:nvSpPr>
          <p:cNvPr id="16" name="Rectangle 15">
            <a:extLst>
              <a:ext uri="{FF2B5EF4-FFF2-40B4-BE49-F238E27FC236}">
                <a16:creationId xmlns:a16="http://schemas.microsoft.com/office/drawing/2014/main" id="{62EB9273-E473-FDEA-C289-DDD147C0D82A}"/>
              </a:ext>
            </a:extLst>
          </p:cNvPr>
          <p:cNvSpPr/>
          <p:nvPr/>
        </p:nvSpPr>
        <p:spPr>
          <a:xfrm>
            <a:off x="2404533" y="4656667"/>
            <a:ext cx="474134" cy="321733"/>
          </a:xfrm>
          <a:prstGeom prst="rect">
            <a:avLst/>
          </a:prstGeom>
          <a:noFill/>
          <a:ln w="57150">
            <a:solidFill>
              <a:srgbClr val="AA33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AA3377"/>
              </a:solidFill>
            </a:endParaRPr>
          </a:p>
        </p:txBody>
      </p:sp>
      <p:sp>
        <p:nvSpPr>
          <p:cNvPr id="17" name="Rectangle 16">
            <a:extLst>
              <a:ext uri="{FF2B5EF4-FFF2-40B4-BE49-F238E27FC236}">
                <a16:creationId xmlns:a16="http://schemas.microsoft.com/office/drawing/2014/main" id="{B58C9501-F221-8939-9CED-791F19691C78}"/>
              </a:ext>
            </a:extLst>
          </p:cNvPr>
          <p:cNvSpPr/>
          <p:nvPr/>
        </p:nvSpPr>
        <p:spPr>
          <a:xfrm>
            <a:off x="3343240" y="3902319"/>
            <a:ext cx="474134" cy="321733"/>
          </a:xfrm>
          <a:prstGeom prst="rect">
            <a:avLst/>
          </a:prstGeom>
          <a:noFill/>
          <a:ln w="571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00AFDA5-918D-0141-84A3-D01F1A0FB824}"/>
              </a:ext>
            </a:extLst>
          </p:cNvPr>
          <p:cNvSpPr/>
          <p:nvPr/>
        </p:nvSpPr>
        <p:spPr>
          <a:xfrm>
            <a:off x="3964740" y="5555846"/>
            <a:ext cx="759864" cy="237941"/>
          </a:xfrm>
          <a:prstGeom prst="rect">
            <a:avLst/>
          </a:prstGeom>
          <a:noFill/>
          <a:ln w="571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015539754"/>
      </p:ext>
    </p:extLst>
  </p:cSld>
  <p:clrMapOvr>
    <a:masterClrMapping/>
  </p:clrMapOvr>
  <mc:AlternateContent xmlns:mc="http://schemas.openxmlformats.org/markup-compatibility/2006" xmlns:p14="http://schemas.microsoft.com/office/powerpoint/2010/main">
    <mc:Choice Requires="p14">
      <p:transition spd="slow" p14:dur="2000" advTm="15998"/>
    </mc:Choice>
    <mc:Fallback xmlns="">
      <p:transition spd="slow" advTm="159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grpId="0" nodeType="clickEffect">
                                  <p:stCondLst>
                                    <p:cond delay="0"/>
                                  </p:stCondLst>
                                  <p:childTnLst>
                                    <p:animMotion origin="layout" path="M 0.00092 -0.00092 L -0.05989 -0.00092 " pathEditMode="relative" rAng="0" ptsTypes="AA">
                                      <p:cBhvr>
                                        <p:cTn id="16" dur="2000" fill="hold"/>
                                        <p:tgtEl>
                                          <p:spTgt spid="8"/>
                                        </p:tgtEl>
                                        <p:attrNameLst>
                                          <p:attrName>ppt_x</p:attrName>
                                          <p:attrName>ppt_y</p:attrName>
                                        </p:attrNameLst>
                                      </p:cBhvr>
                                      <p:rCtr x="-3047" y="0"/>
                                    </p:animMotion>
                                  </p:childTnLst>
                                </p:cTn>
                              </p:par>
                            </p:childTnLst>
                          </p:cTn>
                        </p:par>
                        <p:par>
                          <p:cTn id="17" fill="hold">
                            <p:stCondLst>
                              <p:cond delay="2000"/>
                            </p:stCondLst>
                            <p:childTnLst>
                              <p:par>
                                <p:cTn id="18" presetID="0" presetClass="path" presetSubtype="0" accel="50000" decel="50000" fill="hold" grpId="1" nodeType="afterEffect">
                                  <p:stCondLst>
                                    <p:cond delay="0"/>
                                  </p:stCondLst>
                                  <p:childTnLst>
                                    <p:animMotion origin="layout" path="M -0.05989 -0.00092 L 0.0599 -0.00046 " pathEditMode="relative" rAng="0" ptsTypes="AA">
                                      <p:cBhvr>
                                        <p:cTn id="19" dur="2000" fill="hold"/>
                                        <p:tgtEl>
                                          <p:spTgt spid="8"/>
                                        </p:tgtEl>
                                        <p:attrNameLst>
                                          <p:attrName>ppt_x</p:attrName>
                                          <p:attrName>ppt_y</p:attrName>
                                        </p:attrNameLst>
                                      </p:cBhvr>
                                      <p:rCtr x="5990" y="23"/>
                                    </p:animMotion>
                                  </p:childTnLst>
                                </p:cTn>
                              </p:par>
                            </p:childTnLst>
                          </p:cTn>
                        </p:par>
                        <p:par>
                          <p:cTn id="20" fill="hold">
                            <p:stCondLst>
                              <p:cond delay="4000"/>
                            </p:stCondLst>
                            <p:childTnLst>
                              <p:par>
                                <p:cTn id="21" presetID="0" presetClass="path" presetSubtype="0" accel="50000" decel="50000" fill="hold" grpId="2" nodeType="afterEffect">
                                  <p:stCondLst>
                                    <p:cond delay="0"/>
                                  </p:stCondLst>
                                  <p:childTnLst>
                                    <p:animMotion origin="layout" path="M 0.0599 -0.00046 L -4.16667E-6 -3.33333E-6 " pathEditMode="relative" rAng="0" ptsTypes="AA">
                                      <p:cBhvr>
                                        <p:cTn id="22" dur="2000" fill="hold"/>
                                        <p:tgtEl>
                                          <p:spTgt spid="8"/>
                                        </p:tgtEl>
                                        <p:attrNameLst>
                                          <p:attrName>ppt_x</p:attrName>
                                          <p:attrName>ppt_y</p:attrName>
                                        </p:attrNameLst>
                                      </p:cBhvr>
                                      <p:rCtr x="-2995"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P spid="16" grpId="0" animBg="1"/>
      <p:bldP spid="17"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8A73A-1063-BF2E-A55C-E3AB28C2DEA2}"/>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3895A464-32FB-3CF0-9C24-0CDD1B1DE77E}"/>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C897341C-8003-8036-1020-DB2402B5B5B8}"/>
              </a:ext>
            </a:extLst>
          </p:cNvPr>
          <p:cNvSpPr/>
          <p:nvPr/>
        </p:nvSpPr>
        <p:spPr>
          <a:xfrm>
            <a:off x="7657904" y="261846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7180A237-6F7C-785D-B08A-FE49BD4F3055}"/>
              </a:ext>
            </a:extLst>
          </p:cNvPr>
          <p:cNvCxnSpPr>
            <a:stCxn id="3" idx="3"/>
            <a:endCxn id="4" idx="1"/>
          </p:cNvCxnSpPr>
          <p:nvPr/>
        </p:nvCxnSpPr>
        <p:spPr>
          <a:xfrm>
            <a:off x="4056825" y="3429000"/>
            <a:ext cx="3601079" cy="0"/>
          </a:xfrm>
          <a:prstGeom prst="straightConnector1">
            <a:avLst/>
          </a:prstGeom>
          <a:ln w="63500">
            <a:solidFill>
              <a:srgbClr val="4477AA"/>
            </a:solidFill>
            <a:tailEnd type="triangle"/>
          </a:ln>
        </p:spPr>
        <p:style>
          <a:lnRef idx="2">
            <a:schemeClr val="accent1"/>
          </a:lnRef>
          <a:fillRef idx="0">
            <a:schemeClr val="accent1"/>
          </a:fillRef>
          <a:effectRef idx="1">
            <a:schemeClr val="accent1"/>
          </a:effectRef>
          <a:fontRef idx="minor">
            <a:schemeClr val="tx1"/>
          </a:fontRef>
        </p:style>
      </p:cxnSp>
      <p:sp useBgFill="1">
        <p:nvSpPr>
          <p:cNvPr id="10" name="Rounded Rectangle 9">
            <a:extLst>
              <a:ext uri="{FF2B5EF4-FFF2-40B4-BE49-F238E27FC236}">
                <a16:creationId xmlns:a16="http://schemas.microsoft.com/office/drawing/2014/main" id="{FF89384F-9AB2-ABE3-7E44-450E771DD3EA}"/>
              </a:ext>
            </a:extLst>
          </p:cNvPr>
          <p:cNvSpPr/>
          <p:nvPr/>
        </p:nvSpPr>
        <p:spPr>
          <a:xfrm>
            <a:off x="4248051" y="487179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cxnSp>
        <p:nvCxnSpPr>
          <p:cNvPr id="2" name="Straight Arrow Connector 1">
            <a:extLst>
              <a:ext uri="{FF2B5EF4-FFF2-40B4-BE49-F238E27FC236}">
                <a16:creationId xmlns:a16="http://schemas.microsoft.com/office/drawing/2014/main" id="{407C1BCC-3B39-CAA2-4CEE-EC2ED20080E5}"/>
              </a:ext>
            </a:extLst>
          </p:cNvPr>
          <p:cNvCxnSpPr>
            <a:cxnSpLocks/>
            <a:stCxn id="3" idx="3"/>
            <a:endCxn id="10" idx="0"/>
          </p:cNvCxnSpPr>
          <p:nvPr/>
        </p:nvCxnSpPr>
        <p:spPr>
          <a:xfrm>
            <a:off x="4056825" y="3429000"/>
            <a:ext cx="1800539" cy="1442796"/>
          </a:xfrm>
          <a:prstGeom prst="straightConnector1">
            <a:avLst/>
          </a:prstGeom>
          <a:ln w="63500">
            <a:solidFill>
              <a:srgbClr val="4477A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BE904E3-C229-F744-15B7-F0CEB580790E}"/>
              </a:ext>
            </a:extLst>
          </p:cNvPr>
          <p:cNvCxnSpPr>
            <a:cxnSpLocks/>
            <a:stCxn id="10" idx="0"/>
          </p:cNvCxnSpPr>
          <p:nvPr/>
        </p:nvCxnSpPr>
        <p:spPr>
          <a:xfrm flipV="1">
            <a:off x="5857364" y="3429000"/>
            <a:ext cx="1800540" cy="1442796"/>
          </a:xfrm>
          <a:prstGeom prst="straightConnector1">
            <a:avLst/>
          </a:prstGeom>
          <a:ln w="63500">
            <a:solidFill>
              <a:srgbClr val="AA3377"/>
            </a:solidFill>
            <a:tailEnd type="triangle"/>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3422E364-8F48-A4FE-6B17-7276BF82104E}"/>
              </a:ext>
            </a:extLst>
          </p:cNvPr>
          <p:cNvSpPr txBox="1">
            <a:spLocks/>
          </p:cNvSpPr>
          <p:nvPr/>
        </p:nvSpPr>
        <p:spPr>
          <a:xfrm>
            <a:off x="420411" y="250827"/>
            <a:ext cx="10873903" cy="15570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What are the roles of </a:t>
            </a:r>
            <a:r>
              <a:rPr lang="en-US" sz="4000" dirty="0">
                <a:solidFill>
                  <a:srgbClr val="4477AA"/>
                </a:solidFill>
              </a:rPr>
              <a:t>linguistic diversity</a:t>
            </a:r>
            <a:r>
              <a:rPr lang="en-US" sz="4000" dirty="0"/>
              <a:t> and </a:t>
            </a:r>
            <a:r>
              <a:rPr lang="en-US" sz="4000" dirty="0">
                <a:solidFill>
                  <a:srgbClr val="AA3377"/>
                </a:solidFill>
              </a:rPr>
              <a:t>gradient categorization</a:t>
            </a:r>
            <a:r>
              <a:rPr lang="en-US" sz="4000" dirty="0"/>
              <a:t> in </a:t>
            </a:r>
            <a:r>
              <a:rPr lang="en-US" sz="4000" dirty="0">
                <a:solidFill>
                  <a:srgbClr val="228833"/>
                </a:solidFill>
              </a:rPr>
              <a:t>L2 speech category learning</a:t>
            </a:r>
            <a:r>
              <a:rPr lang="en-US" sz="4000" dirty="0"/>
              <a:t>? </a:t>
            </a:r>
          </a:p>
        </p:txBody>
      </p:sp>
    </p:spTree>
    <p:extLst>
      <p:ext uri="{BB962C8B-B14F-4D97-AF65-F5344CB8AC3E}">
        <p14:creationId xmlns:p14="http://schemas.microsoft.com/office/powerpoint/2010/main" val="3896255953"/>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7A066-29E6-FD33-9658-BC61EFAA22F1}"/>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A88833D6-8529-2649-77E0-29144AA8DB92}"/>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9FADC3C0-4022-DB22-696C-9FA79B7A1B82}"/>
              </a:ext>
            </a:extLst>
          </p:cNvPr>
          <p:cNvSpPr/>
          <p:nvPr/>
        </p:nvSpPr>
        <p:spPr>
          <a:xfrm>
            <a:off x="7657904" y="261846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7355A134-AFE0-14F5-13F9-B31B19585A92}"/>
              </a:ext>
            </a:extLst>
          </p:cNvPr>
          <p:cNvCxnSpPr>
            <a:stCxn id="3" idx="3"/>
            <a:endCxn id="4" idx="1"/>
          </p:cNvCxnSpPr>
          <p:nvPr/>
        </p:nvCxnSpPr>
        <p:spPr>
          <a:xfrm>
            <a:off x="4056825" y="3429000"/>
            <a:ext cx="3601079" cy="0"/>
          </a:xfrm>
          <a:prstGeom prst="straightConnector1">
            <a:avLst/>
          </a:prstGeom>
          <a:ln w="63500">
            <a:solidFill>
              <a:srgbClr val="9B9CA1"/>
            </a:solidFill>
            <a:tailEnd type="triangle"/>
          </a:ln>
        </p:spPr>
        <p:style>
          <a:lnRef idx="2">
            <a:schemeClr val="accent1"/>
          </a:lnRef>
          <a:fillRef idx="0">
            <a:schemeClr val="accent1"/>
          </a:fillRef>
          <a:effectRef idx="1">
            <a:schemeClr val="accent1"/>
          </a:effectRef>
          <a:fontRef idx="minor">
            <a:schemeClr val="tx1"/>
          </a:fontRef>
        </p:style>
      </p:cxnSp>
      <p:sp useBgFill="1">
        <p:nvSpPr>
          <p:cNvPr id="10" name="Rounded Rectangle 9">
            <a:extLst>
              <a:ext uri="{FF2B5EF4-FFF2-40B4-BE49-F238E27FC236}">
                <a16:creationId xmlns:a16="http://schemas.microsoft.com/office/drawing/2014/main" id="{E4B41A42-46DD-2933-41C6-EE7ECB0D2619}"/>
              </a:ext>
            </a:extLst>
          </p:cNvPr>
          <p:cNvSpPr/>
          <p:nvPr/>
        </p:nvSpPr>
        <p:spPr>
          <a:xfrm>
            <a:off x="4248051" y="487179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cxnSp>
        <p:nvCxnSpPr>
          <p:cNvPr id="2" name="Straight Arrow Connector 1">
            <a:extLst>
              <a:ext uri="{FF2B5EF4-FFF2-40B4-BE49-F238E27FC236}">
                <a16:creationId xmlns:a16="http://schemas.microsoft.com/office/drawing/2014/main" id="{D6F01F55-0848-EF15-743B-C10DF415189A}"/>
              </a:ext>
            </a:extLst>
          </p:cNvPr>
          <p:cNvCxnSpPr>
            <a:cxnSpLocks/>
            <a:stCxn id="3" idx="3"/>
            <a:endCxn id="10" idx="0"/>
          </p:cNvCxnSpPr>
          <p:nvPr/>
        </p:nvCxnSpPr>
        <p:spPr>
          <a:xfrm>
            <a:off x="4056825" y="3429000"/>
            <a:ext cx="1800539" cy="1442796"/>
          </a:xfrm>
          <a:prstGeom prst="straightConnector1">
            <a:avLst/>
          </a:prstGeom>
          <a:ln w="63500">
            <a:solidFill>
              <a:srgbClr val="4477A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1F0E4C5-096E-F4B3-9132-56032A10FD37}"/>
              </a:ext>
            </a:extLst>
          </p:cNvPr>
          <p:cNvCxnSpPr>
            <a:cxnSpLocks/>
            <a:stCxn id="10" idx="0"/>
          </p:cNvCxnSpPr>
          <p:nvPr/>
        </p:nvCxnSpPr>
        <p:spPr>
          <a:xfrm flipV="1">
            <a:off x="5857364" y="3429000"/>
            <a:ext cx="1800540" cy="1442796"/>
          </a:xfrm>
          <a:prstGeom prst="straightConnector1">
            <a:avLst/>
          </a:prstGeom>
          <a:ln w="63500">
            <a:solidFill>
              <a:srgbClr val="AA3377"/>
            </a:solidFill>
            <a:tailEnd type="triangle"/>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0C102106-F6D5-9BC9-7186-ED5741C4CA82}"/>
              </a:ext>
            </a:extLst>
          </p:cNvPr>
          <p:cNvSpPr txBox="1">
            <a:spLocks/>
          </p:cNvSpPr>
          <p:nvPr/>
        </p:nvSpPr>
        <p:spPr>
          <a:xfrm>
            <a:off x="420411" y="250827"/>
            <a:ext cx="10873903" cy="15570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What are the roles of </a:t>
            </a:r>
            <a:r>
              <a:rPr lang="en-US" sz="4000" dirty="0">
                <a:solidFill>
                  <a:srgbClr val="4477AA"/>
                </a:solidFill>
              </a:rPr>
              <a:t>linguistic diversity</a:t>
            </a:r>
            <a:r>
              <a:rPr lang="en-US" sz="4000" dirty="0"/>
              <a:t> and </a:t>
            </a:r>
            <a:r>
              <a:rPr lang="en-US" sz="4000" dirty="0">
                <a:solidFill>
                  <a:srgbClr val="AA3377"/>
                </a:solidFill>
              </a:rPr>
              <a:t>gradient categorization</a:t>
            </a:r>
            <a:r>
              <a:rPr lang="en-US" sz="4000" dirty="0"/>
              <a:t> in </a:t>
            </a:r>
            <a:r>
              <a:rPr lang="en-US" sz="4000" dirty="0">
                <a:solidFill>
                  <a:srgbClr val="228833"/>
                </a:solidFill>
              </a:rPr>
              <a:t>L2 speech category learning</a:t>
            </a:r>
            <a:r>
              <a:rPr lang="en-US" sz="4000" dirty="0"/>
              <a:t>? </a:t>
            </a:r>
          </a:p>
        </p:txBody>
      </p:sp>
    </p:spTree>
    <p:extLst>
      <p:ext uri="{BB962C8B-B14F-4D97-AF65-F5344CB8AC3E}">
        <p14:creationId xmlns:p14="http://schemas.microsoft.com/office/powerpoint/2010/main" val="3894832644"/>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F4A12-FF1A-B2E6-FFC1-B4031A102A3A}"/>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4CCAA867-0382-A5BF-7951-12D3B99BAF15}"/>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74ED9473-0CA1-9C24-C274-6D6DD3EB4712}"/>
              </a:ext>
            </a:extLst>
          </p:cNvPr>
          <p:cNvSpPr/>
          <p:nvPr/>
        </p:nvSpPr>
        <p:spPr>
          <a:xfrm>
            <a:off x="7657904" y="261846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CD836380-D019-AAD5-410B-8D469F9B9CA9}"/>
              </a:ext>
            </a:extLst>
          </p:cNvPr>
          <p:cNvCxnSpPr>
            <a:stCxn id="3" idx="3"/>
            <a:endCxn id="4" idx="1"/>
          </p:cNvCxnSpPr>
          <p:nvPr/>
        </p:nvCxnSpPr>
        <p:spPr>
          <a:xfrm>
            <a:off x="4056825" y="3429000"/>
            <a:ext cx="3601079" cy="0"/>
          </a:xfrm>
          <a:prstGeom prst="straightConnector1">
            <a:avLst/>
          </a:prstGeom>
          <a:ln w="63500">
            <a:solidFill>
              <a:srgbClr val="9B9CA1"/>
            </a:solidFill>
            <a:tailEnd type="triangle"/>
          </a:ln>
        </p:spPr>
        <p:style>
          <a:lnRef idx="2">
            <a:schemeClr val="accent1"/>
          </a:lnRef>
          <a:fillRef idx="0">
            <a:schemeClr val="accent1"/>
          </a:fillRef>
          <a:effectRef idx="1">
            <a:schemeClr val="accent1"/>
          </a:effectRef>
          <a:fontRef idx="minor">
            <a:schemeClr val="tx1"/>
          </a:fontRef>
        </p:style>
      </p:cxnSp>
      <p:sp useBgFill="1">
        <p:nvSpPr>
          <p:cNvPr id="10" name="Rounded Rectangle 9">
            <a:extLst>
              <a:ext uri="{FF2B5EF4-FFF2-40B4-BE49-F238E27FC236}">
                <a16:creationId xmlns:a16="http://schemas.microsoft.com/office/drawing/2014/main" id="{3C91B0BC-9D62-6A53-CF51-4ACE25AE02F0}"/>
              </a:ext>
            </a:extLst>
          </p:cNvPr>
          <p:cNvSpPr/>
          <p:nvPr/>
        </p:nvSpPr>
        <p:spPr>
          <a:xfrm>
            <a:off x="4248051" y="487179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cxnSp>
        <p:nvCxnSpPr>
          <p:cNvPr id="2" name="Straight Arrow Connector 1">
            <a:extLst>
              <a:ext uri="{FF2B5EF4-FFF2-40B4-BE49-F238E27FC236}">
                <a16:creationId xmlns:a16="http://schemas.microsoft.com/office/drawing/2014/main" id="{9AD9DFAA-7D27-CBC8-F30A-54D2AF6B465F}"/>
              </a:ext>
            </a:extLst>
          </p:cNvPr>
          <p:cNvCxnSpPr>
            <a:cxnSpLocks/>
            <a:stCxn id="3" idx="3"/>
            <a:endCxn id="10" idx="0"/>
          </p:cNvCxnSpPr>
          <p:nvPr/>
        </p:nvCxnSpPr>
        <p:spPr>
          <a:xfrm>
            <a:off x="4056825" y="3429000"/>
            <a:ext cx="1800539" cy="1442796"/>
          </a:xfrm>
          <a:prstGeom prst="straightConnector1">
            <a:avLst/>
          </a:prstGeom>
          <a:ln w="63500">
            <a:solidFill>
              <a:srgbClr val="9B9CA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42F62BE-1C3E-5B1A-B90F-96A223C3DA31}"/>
              </a:ext>
            </a:extLst>
          </p:cNvPr>
          <p:cNvCxnSpPr>
            <a:cxnSpLocks/>
            <a:stCxn id="10" idx="0"/>
          </p:cNvCxnSpPr>
          <p:nvPr/>
        </p:nvCxnSpPr>
        <p:spPr>
          <a:xfrm flipV="1">
            <a:off x="5857364" y="3429000"/>
            <a:ext cx="1800540" cy="1442796"/>
          </a:xfrm>
          <a:prstGeom prst="straightConnector1">
            <a:avLst/>
          </a:prstGeom>
          <a:ln w="63500">
            <a:solidFill>
              <a:srgbClr val="AA3377"/>
            </a:solidFill>
            <a:tailEnd type="triangle"/>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8ECD1AB1-7CEC-546F-B462-403641ED8A1C}"/>
              </a:ext>
            </a:extLst>
          </p:cNvPr>
          <p:cNvSpPr txBox="1">
            <a:spLocks/>
          </p:cNvSpPr>
          <p:nvPr/>
        </p:nvSpPr>
        <p:spPr>
          <a:xfrm>
            <a:off x="420411" y="250827"/>
            <a:ext cx="10873903" cy="15570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What are the roles of </a:t>
            </a:r>
            <a:r>
              <a:rPr lang="en-US" sz="4000" dirty="0">
                <a:solidFill>
                  <a:srgbClr val="4477AA"/>
                </a:solidFill>
              </a:rPr>
              <a:t>linguistic diversity</a:t>
            </a:r>
            <a:r>
              <a:rPr lang="en-US" sz="4000" dirty="0"/>
              <a:t> and </a:t>
            </a:r>
            <a:r>
              <a:rPr lang="en-US" sz="4000" dirty="0">
                <a:solidFill>
                  <a:srgbClr val="AA3377"/>
                </a:solidFill>
              </a:rPr>
              <a:t>gradient categorization</a:t>
            </a:r>
            <a:r>
              <a:rPr lang="en-US" sz="4000" dirty="0"/>
              <a:t> in </a:t>
            </a:r>
            <a:r>
              <a:rPr lang="en-US" sz="4000" dirty="0">
                <a:solidFill>
                  <a:srgbClr val="228833"/>
                </a:solidFill>
              </a:rPr>
              <a:t>L2 speech category learning</a:t>
            </a:r>
            <a:r>
              <a:rPr lang="en-US" sz="4000" dirty="0"/>
              <a:t>? </a:t>
            </a:r>
          </a:p>
        </p:txBody>
      </p:sp>
    </p:spTree>
    <p:extLst>
      <p:ext uri="{BB962C8B-B14F-4D97-AF65-F5344CB8AC3E}">
        <p14:creationId xmlns:p14="http://schemas.microsoft.com/office/powerpoint/2010/main" val="3315080643"/>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ADD82-ECD9-B5AE-1602-1F1B58BB0E6E}"/>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F10A0593-3606-F2CA-F290-E2C11C92157C}"/>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515092CD-2CA6-3157-EC7C-6C84D462AE56}"/>
              </a:ext>
            </a:extLst>
          </p:cNvPr>
          <p:cNvSpPr/>
          <p:nvPr/>
        </p:nvSpPr>
        <p:spPr>
          <a:xfrm>
            <a:off x="7657904" y="261846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E2187D62-34BC-D695-9E88-396463AD64BA}"/>
              </a:ext>
            </a:extLst>
          </p:cNvPr>
          <p:cNvCxnSpPr>
            <a:stCxn id="3" idx="3"/>
            <a:endCxn id="4" idx="1"/>
          </p:cNvCxnSpPr>
          <p:nvPr/>
        </p:nvCxnSpPr>
        <p:spPr>
          <a:xfrm>
            <a:off x="4056825" y="3429000"/>
            <a:ext cx="3601079"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useBgFill="1">
        <p:nvSpPr>
          <p:cNvPr id="10" name="Rounded Rectangle 9">
            <a:extLst>
              <a:ext uri="{FF2B5EF4-FFF2-40B4-BE49-F238E27FC236}">
                <a16:creationId xmlns:a16="http://schemas.microsoft.com/office/drawing/2014/main" id="{D4EE9B25-14E5-454F-1652-E3F7E4BEA294}"/>
              </a:ext>
            </a:extLst>
          </p:cNvPr>
          <p:cNvSpPr/>
          <p:nvPr/>
        </p:nvSpPr>
        <p:spPr>
          <a:xfrm>
            <a:off x="4248051" y="487179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cxnSp>
        <p:nvCxnSpPr>
          <p:cNvPr id="2" name="Straight Arrow Connector 1">
            <a:extLst>
              <a:ext uri="{FF2B5EF4-FFF2-40B4-BE49-F238E27FC236}">
                <a16:creationId xmlns:a16="http://schemas.microsoft.com/office/drawing/2014/main" id="{62719332-49D6-DDAF-12AE-FB5EE8098E12}"/>
              </a:ext>
            </a:extLst>
          </p:cNvPr>
          <p:cNvCxnSpPr>
            <a:cxnSpLocks/>
            <a:stCxn id="3" idx="3"/>
            <a:endCxn id="10" idx="0"/>
          </p:cNvCxnSpPr>
          <p:nvPr/>
        </p:nvCxnSpPr>
        <p:spPr>
          <a:xfrm>
            <a:off x="4056825" y="3429000"/>
            <a:ext cx="1800539"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F23D927-07BE-26AF-1781-A13DB2ED5A8A}"/>
              </a:ext>
            </a:extLst>
          </p:cNvPr>
          <p:cNvCxnSpPr>
            <a:cxnSpLocks/>
            <a:stCxn id="10" idx="0"/>
          </p:cNvCxnSpPr>
          <p:nvPr/>
        </p:nvCxnSpPr>
        <p:spPr>
          <a:xfrm flipV="1">
            <a:off x="5857364" y="3429000"/>
            <a:ext cx="1800540"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903FC02A-9350-FA2E-C3AC-A012B4380B5B}"/>
              </a:ext>
            </a:extLst>
          </p:cNvPr>
          <p:cNvSpPr txBox="1">
            <a:spLocks/>
          </p:cNvSpPr>
          <p:nvPr/>
        </p:nvSpPr>
        <p:spPr>
          <a:xfrm>
            <a:off x="420411" y="250827"/>
            <a:ext cx="10873903" cy="15570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What are the roles of </a:t>
            </a:r>
            <a:r>
              <a:rPr lang="en-US" sz="4000" dirty="0">
                <a:solidFill>
                  <a:srgbClr val="4477AA"/>
                </a:solidFill>
              </a:rPr>
              <a:t>linguistic diversity</a:t>
            </a:r>
            <a:r>
              <a:rPr lang="en-US" sz="4000" dirty="0"/>
              <a:t> and </a:t>
            </a:r>
            <a:r>
              <a:rPr lang="en-US" sz="4000" dirty="0">
                <a:solidFill>
                  <a:srgbClr val="AA3377"/>
                </a:solidFill>
              </a:rPr>
              <a:t>gradient categorization</a:t>
            </a:r>
            <a:r>
              <a:rPr lang="en-US" sz="4000" dirty="0"/>
              <a:t> in </a:t>
            </a:r>
            <a:r>
              <a:rPr lang="en-US" sz="4000" dirty="0">
                <a:solidFill>
                  <a:srgbClr val="228833"/>
                </a:solidFill>
              </a:rPr>
              <a:t>L2 speech category learning</a:t>
            </a:r>
            <a:r>
              <a:rPr lang="en-US" sz="4000" dirty="0"/>
              <a:t>? </a:t>
            </a:r>
          </a:p>
        </p:txBody>
      </p:sp>
    </p:spTree>
    <p:extLst>
      <p:ext uri="{BB962C8B-B14F-4D97-AF65-F5344CB8AC3E}">
        <p14:creationId xmlns:p14="http://schemas.microsoft.com/office/powerpoint/2010/main" val="590478709"/>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46EC2-7097-FFB8-69BE-C4494FA27088}"/>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CEFF93C1-F905-372F-2F29-24EC0E83B5F5}"/>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A62B6B99-B74B-892D-72D9-34EC2A80CC21}"/>
              </a:ext>
            </a:extLst>
          </p:cNvPr>
          <p:cNvSpPr/>
          <p:nvPr/>
        </p:nvSpPr>
        <p:spPr>
          <a:xfrm>
            <a:off x="7657904" y="261846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43BC9464-C619-9F5A-3843-76453EE676D3}"/>
              </a:ext>
            </a:extLst>
          </p:cNvPr>
          <p:cNvCxnSpPr>
            <a:stCxn id="3" idx="3"/>
            <a:endCxn id="4" idx="1"/>
          </p:cNvCxnSpPr>
          <p:nvPr/>
        </p:nvCxnSpPr>
        <p:spPr>
          <a:xfrm>
            <a:off x="4056825" y="3429000"/>
            <a:ext cx="3601079"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697B701-8EE9-3EFF-550E-C91D7A01B29B}"/>
              </a:ext>
            </a:extLst>
          </p:cNvPr>
          <p:cNvSpPr txBox="1"/>
          <p:nvPr/>
        </p:nvSpPr>
        <p:spPr>
          <a:xfrm>
            <a:off x="5642432" y="3625301"/>
            <a:ext cx="429862" cy="830997"/>
          </a:xfrm>
          <a:prstGeom prst="rect">
            <a:avLst/>
          </a:prstGeom>
          <a:noFill/>
        </p:spPr>
        <p:txBody>
          <a:bodyPr wrap="square" rtlCol="0">
            <a:spAutoFit/>
          </a:bodyPr>
          <a:lstStyle/>
          <a:p>
            <a:r>
              <a:rPr lang="en-US" sz="4800" dirty="0">
                <a:solidFill>
                  <a:schemeClr val="tx1">
                    <a:lumMod val="50000"/>
                    <a:lumOff val="50000"/>
                  </a:schemeClr>
                </a:solidFill>
              </a:rPr>
              <a:t>?</a:t>
            </a:r>
          </a:p>
        </p:txBody>
      </p:sp>
      <p:sp useBgFill="1">
        <p:nvSpPr>
          <p:cNvPr id="10" name="Rounded Rectangle 9">
            <a:extLst>
              <a:ext uri="{FF2B5EF4-FFF2-40B4-BE49-F238E27FC236}">
                <a16:creationId xmlns:a16="http://schemas.microsoft.com/office/drawing/2014/main" id="{E4B90879-22D4-A630-752C-DADC2D511033}"/>
              </a:ext>
            </a:extLst>
          </p:cNvPr>
          <p:cNvSpPr/>
          <p:nvPr/>
        </p:nvSpPr>
        <p:spPr>
          <a:xfrm>
            <a:off x="4248051" y="487179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cxnSp>
        <p:nvCxnSpPr>
          <p:cNvPr id="2" name="Straight Arrow Connector 1">
            <a:extLst>
              <a:ext uri="{FF2B5EF4-FFF2-40B4-BE49-F238E27FC236}">
                <a16:creationId xmlns:a16="http://schemas.microsoft.com/office/drawing/2014/main" id="{4E8E8D29-56F1-36ED-A750-03AABFAEE006}"/>
              </a:ext>
            </a:extLst>
          </p:cNvPr>
          <p:cNvCxnSpPr>
            <a:cxnSpLocks/>
            <a:stCxn id="3" idx="3"/>
            <a:endCxn id="10" idx="0"/>
          </p:cNvCxnSpPr>
          <p:nvPr/>
        </p:nvCxnSpPr>
        <p:spPr>
          <a:xfrm>
            <a:off x="4056825" y="3429000"/>
            <a:ext cx="1800539"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A49E56C-5249-7A24-61C4-E0CA4B7376E9}"/>
              </a:ext>
            </a:extLst>
          </p:cNvPr>
          <p:cNvCxnSpPr>
            <a:cxnSpLocks/>
            <a:stCxn id="10" idx="0"/>
          </p:cNvCxnSpPr>
          <p:nvPr/>
        </p:nvCxnSpPr>
        <p:spPr>
          <a:xfrm flipV="1">
            <a:off x="5857364" y="3429000"/>
            <a:ext cx="1800540"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8265DFAF-1D76-07BD-E40F-9016FFE01EE4}"/>
              </a:ext>
            </a:extLst>
          </p:cNvPr>
          <p:cNvSpPr txBox="1">
            <a:spLocks/>
          </p:cNvSpPr>
          <p:nvPr/>
        </p:nvSpPr>
        <p:spPr>
          <a:xfrm>
            <a:off x="420411" y="250827"/>
            <a:ext cx="10873903" cy="15570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Expose learners to experimental </a:t>
            </a:r>
            <a:r>
              <a:rPr lang="en-US" sz="4000" dirty="0">
                <a:solidFill>
                  <a:srgbClr val="4477AA"/>
                </a:solidFill>
              </a:rPr>
              <a:t>linguistic diversity</a:t>
            </a:r>
            <a:r>
              <a:rPr lang="en-US" sz="4000" dirty="0"/>
              <a:t> to push them towards the </a:t>
            </a:r>
            <a:r>
              <a:rPr lang="en-US" sz="4000" dirty="0">
                <a:solidFill>
                  <a:srgbClr val="AA3377"/>
                </a:solidFill>
              </a:rPr>
              <a:t>gradient categorization </a:t>
            </a:r>
            <a:r>
              <a:rPr lang="en-US" sz="4000" dirty="0"/>
              <a:t>needed for efficient </a:t>
            </a:r>
            <a:r>
              <a:rPr lang="en-US" sz="4000" dirty="0">
                <a:solidFill>
                  <a:srgbClr val="228833"/>
                </a:solidFill>
              </a:rPr>
              <a:t>L2 speech learning</a:t>
            </a:r>
          </a:p>
        </p:txBody>
      </p:sp>
      <p:sp>
        <p:nvSpPr>
          <p:cNvPr id="5" name="TextBox 4">
            <a:extLst>
              <a:ext uri="{FF2B5EF4-FFF2-40B4-BE49-F238E27FC236}">
                <a16:creationId xmlns:a16="http://schemas.microsoft.com/office/drawing/2014/main" id="{EC2AB021-CD3D-3CCC-1CDA-DDD22172D148}"/>
              </a:ext>
            </a:extLst>
          </p:cNvPr>
          <p:cNvSpPr txBox="1"/>
          <p:nvPr/>
        </p:nvSpPr>
        <p:spPr>
          <a:xfrm>
            <a:off x="7657901" y="4439623"/>
            <a:ext cx="4382995" cy="1200329"/>
          </a:xfrm>
          <a:prstGeom prst="rect">
            <a:avLst/>
          </a:prstGeom>
          <a:noFill/>
        </p:spPr>
        <p:txBody>
          <a:bodyPr wrap="none" rtlCol="0">
            <a:spAutoFit/>
          </a:bodyPr>
          <a:lstStyle/>
          <a:p>
            <a:r>
              <a:rPr lang="en-US" sz="2400" dirty="0"/>
              <a:t>Japanese</a:t>
            </a:r>
          </a:p>
          <a:p>
            <a:r>
              <a:rPr lang="en-US" sz="2400" dirty="0"/>
              <a:t>vowel length: </a:t>
            </a:r>
            <a:r>
              <a:rPr lang="en-US" sz="2400" i="1" dirty="0"/>
              <a:t>toru</a:t>
            </a:r>
            <a:r>
              <a:rPr lang="en-US" sz="2400" dirty="0"/>
              <a:t> vs. </a:t>
            </a:r>
            <a:r>
              <a:rPr lang="en-US" sz="2400" i="1" dirty="0"/>
              <a:t>tooru</a:t>
            </a:r>
          </a:p>
          <a:p>
            <a:r>
              <a:rPr lang="en-US" sz="2400" dirty="0"/>
              <a:t>consonant length: </a:t>
            </a:r>
            <a:r>
              <a:rPr lang="en-US" sz="2400" i="1" dirty="0"/>
              <a:t>kata</a:t>
            </a:r>
            <a:r>
              <a:rPr lang="en-US" sz="2400" dirty="0"/>
              <a:t> vs. </a:t>
            </a:r>
            <a:r>
              <a:rPr lang="en-US" sz="2400" i="1" dirty="0"/>
              <a:t>katta</a:t>
            </a:r>
          </a:p>
        </p:txBody>
      </p:sp>
    </p:spTree>
    <p:extLst>
      <p:ext uri="{BB962C8B-B14F-4D97-AF65-F5344CB8AC3E}">
        <p14:creationId xmlns:p14="http://schemas.microsoft.com/office/powerpoint/2010/main" val="2643271545"/>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EDDC4-24F4-54F6-EE6E-B2BAB7CA9689}"/>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A650353E-EE79-FD31-8732-9546BBFC72C9}"/>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p:nvSpPr>
          <p:cNvPr id="4" name="Rounded Rectangle 3">
            <a:extLst>
              <a:ext uri="{FF2B5EF4-FFF2-40B4-BE49-F238E27FC236}">
                <a16:creationId xmlns:a16="http://schemas.microsoft.com/office/drawing/2014/main" id="{4452B27D-20F8-DFA0-F688-8A935D2C1D6D}"/>
              </a:ext>
            </a:extLst>
          </p:cNvPr>
          <p:cNvSpPr/>
          <p:nvPr/>
        </p:nvSpPr>
        <p:spPr>
          <a:xfrm>
            <a:off x="7657904" y="2618460"/>
            <a:ext cx="3218625" cy="1621079"/>
          </a:xfrm>
          <a:prstGeom prst="roundRect">
            <a:avLst/>
          </a:prstGeom>
          <a:noFill/>
          <a:ln w="31750">
            <a:solidFill>
              <a:srgbClr val="228833">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alpha val="25000"/>
                  </a:schemeClr>
                </a:solidFill>
              </a:rPr>
              <a:t>L2 speech learning</a:t>
            </a:r>
          </a:p>
        </p:txBody>
      </p:sp>
      <p:sp useBgFill="1">
        <p:nvSpPr>
          <p:cNvPr id="10" name="Rounded Rectangle 9">
            <a:extLst>
              <a:ext uri="{FF2B5EF4-FFF2-40B4-BE49-F238E27FC236}">
                <a16:creationId xmlns:a16="http://schemas.microsoft.com/office/drawing/2014/main" id="{1BD85432-0053-4B53-F295-340E1A6A3F90}"/>
              </a:ext>
            </a:extLst>
          </p:cNvPr>
          <p:cNvSpPr/>
          <p:nvPr/>
        </p:nvSpPr>
        <p:spPr>
          <a:xfrm>
            <a:off x="4248051" y="487179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L1 and L2 gradient categorization</a:t>
            </a:r>
          </a:p>
        </p:txBody>
      </p:sp>
      <p:cxnSp>
        <p:nvCxnSpPr>
          <p:cNvPr id="2" name="Straight Arrow Connector 1">
            <a:extLst>
              <a:ext uri="{FF2B5EF4-FFF2-40B4-BE49-F238E27FC236}">
                <a16:creationId xmlns:a16="http://schemas.microsoft.com/office/drawing/2014/main" id="{8A8105FB-0D41-71A5-905F-08FD7D7D5240}"/>
              </a:ext>
            </a:extLst>
          </p:cNvPr>
          <p:cNvCxnSpPr>
            <a:cxnSpLocks/>
            <a:stCxn id="3" idx="3"/>
            <a:endCxn id="10" idx="0"/>
          </p:cNvCxnSpPr>
          <p:nvPr/>
        </p:nvCxnSpPr>
        <p:spPr>
          <a:xfrm>
            <a:off x="4056825" y="3429000"/>
            <a:ext cx="1800539"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557328D4-A43D-E6C1-2425-29504C33DE57}"/>
              </a:ext>
            </a:extLst>
          </p:cNvPr>
          <p:cNvSpPr txBox="1">
            <a:spLocks/>
          </p:cNvSpPr>
          <p:nvPr/>
        </p:nvSpPr>
        <p:spPr>
          <a:xfrm>
            <a:off x="420411" y="250827"/>
            <a:ext cx="10873903" cy="15570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Study 1</a:t>
            </a:r>
          </a:p>
        </p:txBody>
      </p:sp>
      <p:sp>
        <p:nvSpPr>
          <p:cNvPr id="5" name="TextBox 4">
            <a:extLst>
              <a:ext uri="{FF2B5EF4-FFF2-40B4-BE49-F238E27FC236}">
                <a16:creationId xmlns:a16="http://schemas.microsoft.com/office/drawing/2014/main" id="{EA4A6A27-5302-5BE6-1BE9-80D55B17CABA}"/>
              </a:ext>
            </a:extLst>
          </p:cNvPr>
          <p:cNvSpPr txBox="1"/>
          <p:nvPr/>
        </p:nvSpPr>
        <p:spPr>
          <a:xfrm rot="2398686">
            <a:off x="3920409" y="3657055"/>
            <a:ext cx="2350323" cy="492443"/>
          </a:xfrm>
          <a:prstGeom prst="rect">
            <a:avLst/>
          </a:prstGeom>
          <a:noFill/>
        </p:spPr>
        <p:txBody>
          <a:bodyPr wrap="none" rtlCol="0">
            <a:spAutoFit/>
          </a:bodyPr>
          <a:lstStyle/>
          <a:p>
            <a:r>
              <a:rPr lang="en-US" sz="2600" dirty="0"/>
              <a:t>Experiential LD</a:t>
            </a:r>
          </a:p>
        </p:txBody>
      </p:sp>
    </p:spTree>
    <p:extLst>
      <p:ext uri="{BB962C8B-B14F-4D97-AF65-F5344CB8AC3E}">
        <p14:creationId xmlns:p14="http://schemas.microsoft.com/office/powerpoint/2010/main" val="4046613490"/>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F145D-2C04-4E73-15E7-C38BF0FC3E5C}"/>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B57D9552-164A-2A14-A754-4EF62F8043EF}"/>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2B80338F-9CA7-18BB-46FC-B19399602E64}"/>
              </a:ext>
            </a:extLst>
          </p:cNvPr>
          <p:cNvSpPr/>
          <p:nvPr/>
        </p:nvSpPr>
        <p:spPr>
          <a:xfrm>
            <a:off x="7657904" y="261846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32BC4CF3-A4A2-9BBD-A694-49ED292D6F77}"/>
              </a:ext>
            </a:extLst>
          </p:cNvPr>
          <p:cNvCxnSpPr>
            <a:stCxn id="3" idx="3"/>
            <a:endCxn id="4" idx="1"/>
          </p:cNvCxnSpPr>
          <p:nvPr/>
        </p:nvCxnSpPr>
        <p:spPr>
          <a:xfrm>
            <a:off x="4056825" y="3429000"/>
            <a:ext cx="3601079"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useBgFill="1">
        <p:nvSpPr>
          <p:cNvPr id="10" name="Rounded Rectangle 9">
            <a:extLst>
              <a:ext uri="{FF2B5EF4-FFF2-40B4-BE49-F238E27FC236}">
                <a16:creationId xmlns:a16="http://schemas.microsoft.com/office/drawing/2014/main" id="{555AD71B-8434-8CBE-BD06-AA2500060CDA}"/>
              </a:ext>
            </a:extLst>
          </p:cNvPr>
          <p:cNvSpPr/>
          <p:nvPr/>
        </p:nvSpPr>
        <p:spPr>
          <a:xfrm>
            <a:off x="4248051" y="487179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cxnSp>
        <p:nvCxnSpPr>
          <p:cNvPr id="2" name="Straight Arrow Connector 1">
            <a:extLst>
              <a:ext uri="{FF2B5EF4-FFF2-40B4-BE49-F238E27FC236}">
                <a16:creationId xmlns:a16="http://schemas.microsoft.com/office/drawing/2014/main" id="{4F471B4E-607C-1A12-716F-D88EBDE9406B}"/>
              </a:ext>
            </a:extLst>
          </p:cNvPr>
          <p:cNvCxnSpPr>
            <a:cxnSpLocks/>
            <a:stCxn id="3" idx="3"/>
            <a:endCxn id="10" idx="0"/>
          </p:cNvCxnSpPr>
          <p:nvPr/>
        </p:nvCxnSpPr>
        <p:spPr>
          <a:xfrm>
            <a:off x="4056825" y="3429000"/>
            <a:ext cx="1800539"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0F0B38B-7FD6-00B0-A1BF-B7F9C5183C28}"/>
              </a:ext>
            </a:extLst>
          </p:cNvPr>
          <p:cNvCxnSpPr>
            <a:cxnSpLocks/>
            <a:stCxn id="10" idx="0"/>
          </p:cNvCxnSpPr>
          <p:nvPr/>
        </p:nvCxnSpPr>
        <p:spPr>
          <a:xfrm flipV="1">
            <a:off x="5857364" y="3429000"/>
            <a:ext cx="1800540"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8DC46AF8-D99E-5424-2DE0-18366CC99BC7}"/>
              </a:ext>
            </a:extLst>
          </p:cNvPr>
          <p:cNvSpPr txBox="1">
            <a:spLocks/>
          </p:cNvSpPr>
          <p:nvPr/>
        </p:nvSpPr>
        <p:spPr>
          <a:xfrm>
            <a:off x="420411" y="250827"/>
            <a:ext cx="10873903" cy="15570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Study 2</a:t>
            </a:r>
          </a:p>
        </p:txBody>
      </p:sp>
      <p:sp>
        <p:nvSpPr>
          <p:cNvPr id="5" name="TextBox 4">
            <a:extLst>
              <a:ext uri="{FF2B5EF4-FFF2-40B4-BE49-F238E27FC236}">
                <a16:creationId xmlns:a16="http://schemas.microsoft.com/office/drawing/2014/main" id="{7776D50F-76F3-AB13-F97B-9D5DB01E678F}"/>
              </a:ext>
            </a:extLst>
          </p:cNvPr>
          <p:cNvSpPr txBox="1"/>
          <p:nvPr/>
        </p:nvSpPr>
        <p:spPr>
          <a:xfrm rot="2398686">
            <a:off x="3907934" y="4033171"/>
            <a:ext cx="1811714" cy="492443"/>
          </a:xfrm>
          <a:prstGeom prst="rect">
            <a:avLst/>
          </a:prstGeom>
          <a:noFill/>
        </p:spPr>
        <p:txBody>
          <a:bodyPr wrap="none" rtlCol="0">
            <a:spAutoFit/>
          </a:bodyPr>
          <a:lstStyle/>
          <a:p>
            <a:r>
              <a:rPr lang="en-US" sz="2600" dirty="0"/>
              <a:t>Specific LD</a:t>
            </a:r>
          </a:p>
        </p:txBody>
      </p:sp>
      <p:sp>
        <p:nvSpPr>
          <p:cNvPr id="7" name="TextBox 6">
            <a:extLst>
              <a:ext uri="{FF2B5EF4-FFF2-40B4-BE49-F238E27FC236}">
                <a16:creationId xmlns:a16="http://schemas.microsoft.com/office/drawing/2014/main" id="{B6C6C1CD-6B88-AE8D-74D2-C216B3A3E957}"/>
              </a:ext>
            </a:extLst>
          </p:cNvPr>
          <p:cNvSpPr txBox="1"/>
          <p:nvPr/>
        </p:nvSpPr>
        <p:spPr>
          <a:xfrm>
            <a:off x="4213274" y="2924788"/>
            <a:ext cx="3445943" cy="492443"/>
          </a:xfrm>
          <a:prstGeom prst="rect">
            <a:avLst/>
          </a:prstGeom>
          <a:noFill/>
        </p:spPr>
        <p:txBody>
          <a:bodyPr wrap="none" rtlCol="0">
            <a:spAutoFit/>
          </a:bodyPr>
          <a:lstStyle/>
          <a:p>
            <a:r>
              <a:rPr lang="en-US" sz="2600" dirty="0"/>
              <a:t>Short-term Specific LD</a:t>
            </a:r>
          </a:p>
        </p:txBody>
      </p:sp>
      <p:sp>
        <p:nvSpPr>
          <p:cNvPr id="8" name="Rounded Rectangle 7">
            <a:extLst>
              <a:ext uri="{FF2B5EF4-FFF2-40B4-BE49-F238E27FC236}">
                <a16:creationId xmlns:a16="http://schemas.microsoft.com/office/drawing/2014/main" id="{A3AB74B0-40CA-7EF8-4C34-97CA8371989D}"/>
              </a:ext>
            </a:extLst>
          </p:cNvPr>
          <p:cNvSpPr/>
          <p:nvPr/>
        </p:nvSpPr>
        <p:spPr>
          <a:xfrm>
            <a:off x="9709209" y="4007796"/>
            <a:ext cx="2334639" cy="1439693"/>
          </a:xfrm>
          <a:prstGeom prst="round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perceptual discrimination</a:t>
            </a:r>
          </a:p>
        </p:txBody>
      </p:sp>
    </p:spTree>
    <p:extLst>
      <p:ext uri="{BB962C8B-B14F-4D97-AF65-F5344CB8AC3E}">
        <p14:creationId xmlns:p14="http://schemas.microsoft.com/office/powerpoint/2010/main" val="3191084226"/>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D20A5-0780-DB25-881D-77D86CE7B404}"/>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F87415E2-E817-CA7C-AA12-16E7462292FA}"/>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4F6F298A-84C2-4F38-2A24-D8AF856DD8C2}"/>
              </a:ext>
            </a:extLst>
          </p:cNvPr>
          <p:cNvSpPr/>
          <p:nvPr/>
        </p:nvSpPr>
        <p:spPr>
          <a:xfrm>
            <a:off x="7657904" y="261846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C5257823-7899-BE8C-CFA6-3E19CFA82560}"/>
              </a:ext>
            </a:extLst>
          </p:cNvPr>
          <p:cNvCxnSpPr>
            <a:stCxn id="3" idx="3"/>
            <a:endCxn id="4" idx="1"/>
          </p:cNvCxnSpPr>
          <p:nvPr/>
        </p:nvCxnSpPr>
        <p:spPr>
          <a:xfrm>
            <a:off x="4056825" y="3429000"/>
            <a:ext cx="3601079"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useBgFill="1">
        <p:nvSpPr>
          <p:cNvPr id="10" name="Rounded Rectangle 9">
            <a:extLst>
              <a:ext uri="{FF2B5EF4-FFF2-40B4-BE49-F238E27FC236}">
                <a16:creationId xmlns:a16="http://schemas.microsoft.com/office/drawing/2014/main" id="{830F2AB5-67B0-4B2E-5871-0A4E28C591F2}"/>
              </a:ext>
            </a:extLst>
          </p:cNvPr>
          <p:cNvSpPr/>
          <p:nvPr/>
        </p:nvSpPr>
        <p:spPr>
          <a:xfrm>
            <a:off x="4248051" y="487179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cxnSp>
        <p:nvCxnSpPr>
          <p:cNvPr id="2" name="Straight Arrow Connector 1">
            <a:extLst>
              <a:ext uri="{FF2B5EF4-FFF2-40B4-BE49-F238E27FC236}">
                <a16:creationId xmlns:a16="http://schemas.microsoft.com/office/drawing/2014/main" id="{04E23ACE-1322-3375-BADC-6D4668ECE2F9}"/>
              </a:ext>
            </a:extLst>
          </p:cNvPr>
          <p:cNvCxnSpPr>
            <a:cxnSpLocks/>
            <a:stCxn id="3" idx="3"/>
            <a:endCxn id="10" idx="0"/>
          </p:cNvCxnSpPr>
          <p:nvPr/>
        </p:nvCxnSpPr>
        <p:spPr>
          <a:xfrm>
            <a:off x="4056825" y="3429000"/>
            <a:ext cx="1800539"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A52865B3-C7AF-518B-643C-AA6A343BBE1F}"/>
              </a:ext>
            </a:extLst>
          </p:cNvPr>
          <p:cNvSpPr txBox="1">
            <a:spLocks/>
          </p:cNvSpPr>
          <p:nvPr/>
        </p:nvSpPr>
        <p:spPr>
          <a:xfrm>
            <a:off x="420411" y="250827"/>
            <a:ext cx="10873903" cy="15570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Study 3</a:t>
            </a:r>
          </a:p>
        </p:txBody>
      </p:sp>
      <p:sp>
        <p:nvSpPr>
          <p:cNvPr id="5" name="TextBox 4">
            <a:extLst>
              <a:ext uri="{FF2B5EF4-FFF2-40B4-BE49-F238E27FC236}">
                <a16:creationId xmlns:a16="http://schemas.microsoft.com/office/drawing/2014/main" id="{9CAACC32-AFDF-5489-C0A4-EB6CD95F3699}"/>
              </a:ext>
            </a:extLst>
          </p:cNvPr>
          <p:cNvSpPr txBox="1"/>
          <p:nvPr/>
        </p:nvSpPr>
        <p:spPr>
          <a:xfrm rot="2398686">
            <a:off x="3907934" y="4033171"/>
            <a:ext cx="1811714" cy="492443"/>
          </a:xfrm>
          <a:prstGeom prst="rect">
            <a:avLst/>
          </a:prstGeom>
          <a:noFill/>
        </p:spPr>
        <p:txBody>
          <a:bodyPr wrap="none" rtlCol="0">
            <a:spAutoFit/>
          </a:bodyPr>
          <a:lstStyle/>
          <a:p>
            <a:r>
              <a:rPr lang="en-US" sz="2600" dirty="0"/>
              <a:t>Specific LD</a:t>
            </a:r>
          </a:p>
        </p:txBody>
      </p:sp>
      <p:sp>
        <p:nvSpPr>
          <p:cNvPr id="7" name="TextBox 6">
            <a:extLst>
              <a:ext uri="{FF2B5EF4-FFF2-40B4-BE49-F238E27FC236}">
                <a16:creationId xmlns:a16="http://schemas.microsoft.com/office/drawing/2014/main" id="{E8880F35-38FD-3FF8-A6DE-1FDB1E72517B}"/>
              </a:ext>
            </a:extLst>
          </p:cNvPr>
          <p:cNvSpPr txBox="1"/>
          <p:nvPr/>
        </p:nvSpPr>
        <p:spPr>
          <a:xfrm>
            <a:off x="4172830" y="2896703"/>
            <a:ext cx="3369064" cy="492443"/>
          </a:xfrm>
          <a:prstGeom prst="rect">
            <a:avLst/>
          </a:prstGeom>
          <a:noFill/>
        </p:spPr>
        <p:txBody>
          <a:bodyPr wrap="none" rtlCol="0">
            <a:spAutoFit/>
          </a:bodyPr>
          <a:lstStyle/>
          <a:p>
            <a:r>
              <a:rPr lang="en-US" sz="2600" dirty="0"/>
              <a:t>Long-term Specific LD</a:t>
            </a:r>
          </a:p>
        </p:txBody>
      </p:sp>
      <p:sp>
        <p:nvSpPr>
          <p:cNvPr id="8" name="Rounded Rectangle 7">
            <a:extLst>
              <a:ext uri="{FF2B5EF4-FFF2-40B4-BE49-F238E27FC236}">
                <a16:creationId xmlns:a16="http://schemas.microsoft.com/office/drawing/2014/main" id="{0BDBC1C5-71FD-5E53-66A6-A2F0B0867009}"/>
              </a:ext>
            </a:extLst>
          </p:cNvPr>
          <p:cNvSpPr/>
          <p:nvPr/>
        </p:nvSpPr>
        <p:spPr>
          <a:xfrm>
            <a:off x="9709209" y="4007796"/>
            <a:ext cx="2334639" cy="1439693"/>
          </a:xfrm>
          <a:prstGeom prst="round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perceptual discrimination</a:t>
            </a:r>
          </a:p>
        </p:txBody>
      </p:sp>
      <p:sp>
        <p:nvSpPr>
          <p:cNvPr id="9" name="Rounded Rectangle 8">
            <a:extLst>
              <a:ext uri="{FF2B5EF4-FFF2-40B4-BE49-F238E27FC236}">
                <a16:creationId xmlns:a16="http://schemas.microsoft.com/office/drawing/2014/main" id="{1EC21FE2-D33F-A5F9-A851-B8AD2D251F93}"/>
              </a:ext>
            </a:extLst>
          </p:cNvPr>
          <p:cNvSpPr/>
          <p:nvPr/>
        </p:nvSpPr>
        <p:spPr>
          <a:xfrm>
            <a:off x="8892083" y="5224125"/>
            <a:ext cx="2334639" cy="1439693"/>
          </a:xfrm>
          <a:prstGeom prst="roundRect">
            <a:avLst/>
          </a:prstGeom>
          <a:noFill/>
          <a:ln w="317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listening assessment</a:t>
            </a:r>
          </a:p>
        </p:txBody>
      </p:sp>
    </p:spTree>
    <p:extLst>
      <p:ext uri="{BB962C8B-B14F-4D97-AF65-F5344CB8AC3E}">
        <p14:creationId xmlns:p14="http://schemas.microsoft.com/office/powerpoint/2010/main" val="3046900822"/>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FA9E53-B33B-E544-68DE-C3A649118764}"/>
              </a:ext>
            </a:extLst>
          </p:cNvPr>
          <p:cNvSpPr>
            <a:spLocks noGrp="1"/>
          </p:cNvSpPr>
          <p:nvPr>
            <p:ph type="title"/>
          </p:nvPr>
        </p:nvSpPr>
        <p:spPr/>
        <p:txBody>
          <a:bodyPr/>
          <a:lstStyle/>
          <a:p>
            <a:r>
              <a:rPr lang="en-US" dirty="0"/>
              <a:t>Study 1</a:t>
            </a:r>
          </a:p>
        </p:txBody>
      </p:sp>
      <p:sp>
        <p:nvSpPr>
          <p:cNvPr id="5" name="Text Placeholder 4">
            <a:extLst>
              <a:ext uri="{FF2B5EF4-FFF2-40B4-BE49-F238E27FC236}">
                <a16:creationId xmlns:a16="http://schemas.microsoft.com/office/drawing/2014/main" id="{42EB599E-0B4F-B3D8-9A73-5273C62AF5D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98811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C1271-0C89-C5A1-D061-3EDA10470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0AEF5-DE21-FA44-D2A4-E6E17E8A2D85}"/>
              </a:ext>
            </a:extLst>
          </p:cNvPr>
          <p:cNvSpPr>
            <a:spLocks noGrp="1"/>
          </p:cNvSpPr>
          <p:nvPr>
            <p:ph type="title"/>
          </p:nvPr>
        </p:nvSpPr>
        <p:spPr>
          <a:xfrm>
            <a:off x="838200" y="1201704"/>
            <a:ext cx="9200745" cy="1325563"/>
          </a:xfrm>
        </p:spPr>
        <p:txBody>
          <a:bodyPr>
            <a:normAutofit fontScale="90000"/>
          </a:bodyPr>
          <a:lstStyle/>
          <a:p>
            <a:r>
              <a:rPr lang="en-US" dirty="0"/>
              <a:t>L1 English mono- and multilingual participants (n = 76) completed the </a:t>
            </a:r>
            <a:r>
              <a:rPr lang="en-US" dirty="0">
                <a:solidFill>
                  <a:srgbClr val="4477AA"/>
                </a:solidFill>
              </a:rPr>
              <a:t>Linguistic Diversity Questionnaire (LDQ) </a:t>
            </a:r>
            <a:r>
              <a:rPr lang="en-US" dirty="0"/>
              <a:t>and the </a:t>
            </a:r>
            <a:r>
              <a:rPr lang="en-US" dirty="0">
                <a:solidFill>
                  <a:srgbClr val="AA4499"/>
                </a:solidFill>
              </a:rPr>
              <a:t>Visual Analog Scale (VAS) </a:t>
            </a:r>
            <a:r>
              <a:rPr lang="en-US" dirty="0"/>
              <a:t>task</a:t>
            </a:r>
            <a:br>
              <a:rPr lang="en-US" dirty="0"/>
            </a:br>
            <a:endParaRPr lang="en-US" dirty="0"/>
          </a:p>
        </p:txBody>
      </p:sp>
      <p:sp useBgFill="1">
        <p:nvSpPr>
          <p:cNvPr id="4" name="Rounded Rectangle 3">
            <a:extLst>
              <a:ext uri="{FF2B5EF4-FFF2-40B4-BE49-F238E27FC236}">
                <a16:creationId xmlns:a16="http://schemas.microsoft.com/office/drawing/2014/main" id="{3BB5A685-C6CD-BF59-12D1-F02706778F64}"/>
              </a:ext>
            </a:extLst>
          </p:cNvPr>
          <p:cNvSpPr/>
          <p:nvPr/>
        </p:nvSpPr>
        <p:spPr>
          <a:xfrm>
            <a:off x="838200" y="4125909"/>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5" name="Rounded Rectangle 4">
            <a:extLst>
              <a:ext uri="{FF2B5EF4-FFF2-40B4-BE49-F238E27FC236}">
                <a16:creationId xmlns:a16="http://schemas.microsoft.com/office/drawing/2014/main" id="{E3488ED6-3BA0-40C0-AFE4-C622AA005C72}"/>
              </a:ext>
            </a:extLst>
          </p:cNvPr>
          <p:cNvSpPr/>
          <p:nvPr/>
        </p:nvSpPr>
        <p:spPr>
          <a:xfrm>
            <a:off x="7255484" y="4140161"/>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L1 and L2 gradient categorization</a:t>
            </a:r>
          </a:p>
        </p:txBody>
      </p:sp>
      <p:cxnSp>
        <p:nvCxnSpPr>
          <p:cNvPr id="6" name="Straight Arrow Connector 5">
            <a:extLst>
              <a:ext uri="{FF2B5EF4-FFF2-40B4-BE49-F238E27FC236}">
                <a16:creationId xmlns:a16="http://schemas.microsoft.com/office/drawing/2014/main" id="{ECA2BFD9-42F0-F03B-360B-EE898B622844}"/>
              </a:ext>
            </a:extLst>
          </p:cNvPr>
          <p:cNvCxnSpPr>
            <a:cxnSpLocks/>
            <a:stCxn id="4" idx="3"/>
            <a:endCxn id="5" idx="1"/>
          </p:cNvCxnSpPr>
          <p:nvPr/>
        </p:nvCxnSpPr>
        <p:spPr>
          <a:xfrm>
            <a:off x="4056825" y="4936449"/>
            <a:ext cx="3198659" cy="14252"/>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25A711B-2E51-B989-EA69-0213B018FB99}"/>
              </a:ext>
            </a:extLst>
          </p:cNvPr>
          <p:cNvSpPr txBox="1"/>
          <p:nvPr/>
        </p:nvSpPr>
        <p:spPr>
          <a:xfrm>
            <a:off x="4471010" y="4444005"/>
            <a:ext cx="2350323" cy="492443"/>
          </a:xfrm>
          <a:prstGeom prst="rect">
            <a:avLst/>
          </a:prstGeom>
          <a:noFill/>
        </p:spPr>
        <p:txBody>
          <a:bodyPr wrap="none" rtlCol="0">
            <a:spAutoFit/>
          </a:bodyPr>
          <a:lstStyle/>
          <a:p>
            <a:r>
              <a:rPr lang="en-US" sz="2600" dirty="0"/>
              <a:t>Experiential LD</a:t>
            </a:r>
          </a:p>
        </p:txBody>
      </p:sp>
    </p:spTree>
    <p:extLst>
      <p:ext uri="{BB962C8B-B14F-4D97-AF65-F5344CB8AC3E}">
        <p14:creationId xmlns:p14="http://schemas.microsoft.com/office/powerpoint/2010/main" val="3489887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7DA6D-62E1-F74C-C7DF-60BD7F5E11EA}"/>
              </a:ext>
            </a:extLst>
          </p:cNvPr>
          <p:cNvSpPr>
            <a:spLocks noGrp="1"/>
          </p:cNvSpPr>
          <p:nvPr>
            <p:ph type="title"/>
          </p:nvPr>
        </p:nvSpPr>
        <p:spPr>
          <a:xfrm>
            <a:off x="838199" y="1201704"/>
            <a:ext cx="11010089" cy="1325563"/>
          </a:xfrm>
        </p:spPr>
        <p:txBody>
          <a:bodyPr>
            <a:normAutofit fontScale="90000"/>
          </a:bodyPr>
          <a:lstStyle/>
          <a:p>
            <a:r>
              <a:rPr lang="en-US" dirty="0"/>
              <a:t>The </a:t>
            </a:r>
            <a:r>
              <a:rPr lang="en-US" dirty="0">
                <a:solidFill>
                  <a:srgbClr val="4477AA"/>
                </a:solidFill>
              </a:rPr>
              <a:t>LDQ </a:t>
            </a:r>
            <a:r>
              <a:rPr lang="en-US" dirty="0"/>
              <a:t>measured </a:t>
            </a:r>
            <a:r>
              <a:rPr lang="en-US" dirty="0">
                <a:solidFill>
                  <a:srgbClr val="4477AA"/>
                </a:solidFill>
              </a:rPr>
              <a:t>experiential LD </a:t>
            </a:r>
            <a:r>
              <a:rPr lang="en-US" dirty="0"/>
              <a:t>with quantitative scores of active and passive multilingual language diversity (MLD-A) and (MLD-P)</a:t>
            </a:r>
            <a:br>
              <a:rPr lang="en-US" dirty="0"/>
            </a:br>
            <a:endParaRPr lang="en-US" dirty="0"/>
          </a:p>
        </p:txBody>
      </p:sp>
      <p:grpSp>
        <p:nvGrpSpPr>
          <p:cNvPr id="11" name="Group 10">
            <a:extLst>
              <a:ext uri="{FF2B5EF4-FFF2-40B4-BE49-F238E27FC236}">
                <a16:creationId xmlns:a16="http://schemas.microsoft.com/office/drawing/2014/main" id="{D829068F-396F-05AC-85E8-96348AB97C52}"/>
              </a:ext>
            </a:extLst>
          </p:cNvPr>
          <p:cNvGrpSpPr/>
          <p:nvPr/>
        </p:nvGrpSpPr>
        <p:grpSpPr>
          <a:xfrm>
            <a:off x="2431083" y="3033160"/>
            <a:ext cx="7329833" cy="3588549"/>
            <a:chOff x="2431083" y="2266151"/>
            <a:chExt cx="7329833" cy="3588549"/>
          </a:xfrm>
        </p:grpSpPr>
        <p:pic>
          <p:nvPicPr>
            <p:cNvPr id="12" name="Picture 11">
              <a:extLst>
                <a:ext uri="{FF2B5EF4-FFF2-40B4-BE49-F238E27FC236}">
                  <a16:creationId xmlns:a16="http://schemas.microsoft.com/office/drawing/2014/main" id="{0EEEAD39-597B-4DCB-6F48-7D1D9E3E1B22}"/>
                </a:ext>
              </a:extLst>
            </p:cNvPr>
            <p:cNvPicPr>
              <a:picLocks noChangeAspect="1"/>
            </p:cNvPicPr>
            <p:nvPr/>
          </p:nvPicPr>
          <p:blipFill>
            <a:blip r:embed="rId3"/>
            <a:stretch>
              <a:fillRect/>
            </a:stretch>
          </p:blipFill>
          <p:spPr>
            <a:xfrm>
              <a:off x="2541465" y="2266151"/>
              <a:ext cx="7109069" cy="3588549"/>
            </a:xfrm>
            <a:prstGeom prst="rect">
              <a:avLst/>
            </a:prstGeom>
          </p:spPr>
        </p:pic>
        <p:sp useBgFill="1">
          <p:nvSpPr>
            <p:cNvPr id="13" name="TextBox 12">
              <a:extLst>
                <a:ext uri="{FF2B5EF4-FFF2-40B4-BE49-F238E27FC236}">
                  <a16:creationId xmlns:a16="http://schemas.microsoft.com/office/drawing/2014/main" id="{5D708EEC-63FD-92F3-F81A-A8F984EB42CD}"/>
                </a:ext>
              </a:extLst>
            </p:cNvPr>
            <p:cNvSpPr txBox="1"/>
            <p:nvPr/>
          </p:nvSpPr>
          <p:spPr>
            <a:xfrm>
              <a:off x="8398042" y="4740442"/>
              <a:ext cx="1362874" cy="369332"/>
            </a:xfrm>
            <a:prstGeom prst="rect">
              <a:avLst/>
            </a:prstGeom>
          </p:spPr>
          <p:txBody>
            <a:bodyPr wrap="none" rtlCol="0">
              <a:spAutoFit/>
            </a:bodyPr>
            <a:lstStyle/>
            <a:p>
              <a:r>
                <a:rPr lang="en-US" dirty="0"/>
                <a:t>multilingual</a:t>
              </a:r>
            </a:p>
          </p:txBody>
        </p:sp>
        <p:sp useBgFill="1">
          <p:nvSpPr>
            <p:cNvPr id="14" name="TextBox 13">
              <a:extLst>
                <a:ext uri="{FF2B5EF4-FFF2-40B4-BE49-F238E27FC236}">
                  <a16:creationId xmlns:a16="http://schemas.microsoft.com/office/drawing/2014/main" id="{CF5F206C-D218-4074-ADC9-DA50E4963CCD}"/>
                </a:ext>
              </a:extLst>
            </p:cNvPr>
            <p:cNvSpPr txBox="1"/>
            <p:nvPr/>
          </p:nvSpPr>
          <p:spPr>
            <a:xfrm>
              <a:off x="2431083" y="4740442"/>
              <a:ext cx="1425390" cy="369332"/>
            </a:xfrm>
            <a:prstGeom prst="rect">
              <a:avLst/>
            </a:prstGeom>
          </p:spPr>
          <p:txBody>
            <a:bodyPr wrap="none" rtlCol="0">
              <a:spAutoFit/>
            </a:bodyPr>
            <a:lstStyle/>
            <a:p>
              <a:r>
                <a:rPr lang="en-US" dirty="0"/>
                <a:t>monolingual</a:t>
              </a:r>
            </a:p>
          </p:txBody>
        </p:sp>
      </p:grpSp>
    </p:spTree>
    <p:extLst>
      <p:ext uri="{BB962C8B-B14F-4D97-AF65-F5344CB8AC3E}">
        <p14:creationId xmlns:p14="http://schemas.microsoft.com/office/powerpoint/2010/main" val="55063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D_T_VOT_1_F0_3.mp3">
            <a:hlinkClick r:id="" action="ppaction://media"/>
            <a:extLst>
              <a:ext uri="{FF2B5EF4-FFF2-40B4-BE49-F238E27FC236}">
                <a16:creationId xmlns:a16="http://schemas.microsoft.com/office/drawing/2014/main" id="{5156BEDF-BA14-79E3-F1D8-1FFAA96AB8FE}"/>
              </a:ext>
            </a:extLst>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1270178" y="1380351"/>
            <a:ext cx="812800" cy="812800"/>
          </a:xfrm>
          <a:prstGeom prst="rect">
            <a:avLst/>
          </a:prstGeom>
        </p:spPr>
      </p:pic>
      <p:pic>
        <p:nvPicPr>
          <p:cNvPr id="11" name="D_T_VOT_2_F0_3.mp3">
            <a:hlinkClick r:id="" action="ppaction://media"/>
            <a:extLst>
              <a:ext uri="{FF2B5EF4-FFF2-40B4-BE49-F238E27FC236}">
                <a16:creationId xmlns:a16="http://schemas.microsoft.com/office/drawing/2014/main" id="{39194227-3362-E3FC-04A4-AE527AD25160}"/>
              </a:ext>
            </a:extLst>
          </p:cNvPr>
          <p:cNvPicPr>
            <a:picLocks noChangeAspect="1"/>
          </p:cNvPicPr>
          <p:nvPr>
            <a:audioFile r:link="rId4"/>
            <p:extLst>
              <p:ext uri="{DAA4B4D4-6D71-4841-9C94-3DE7FCFB9230}">
                <p14:media xmlns:p14="http://schemas.microsoft.com/office/powerpoint/2010/main" r:embed="rId3"/>
              </p:ext>
            </p:extLst>
          </p:nvPr>
        </p:nvPicPr>
        <p:blipFill>
          <a:blip r:embed="rId17"/>
          <a:stretch>
            <a:fillRect/>
          </a:stretch>
        </p:blipFill>
        <p:spPr>
          <a:xfrm>
            <a:off x="2786004" y="1380351"/>
            <a:ext cx="812800" cy="812800"/>
          </a:xfrm>
          <a:prstGeom prst="rect">
            <a:avLst/>
          </a:prstGeom>
        </p:spPr>
      </p:pic>
      <p:pic>
        <p:nvPicPr>
          <p:cNvPr id="12" name="D_T_VOT_3_F0_3.mp3">
            <a:hlinkClick r:id="" action="ppaction://media"/>
            <a:extLst>
              <a:ext uri="{FF2B5EF4-FFF2-40B4-BE49-F238E27FC236}">
                <a16:creationId xmlns:a16="http://schemas.microsoft.com/office/drawing/2014/main" id="{C4EA6CBD-F639-DE0E-96A9-0F462D7A2D80}"/>
              </a:ext>
            </a:extLst>
          </p:cNvPr>
          <p:cNvPicPr>
            <a:picLocks noChangeAspect="1"/>
          </p:cNvPicPr>
          <p:nvPr>
            <a:audioFile r:link="rId6"/>
            <p:extLst>
              <p:ext uri="{DAA4B4D4-6D71-4841-9C94-3DE7FCFB9230}">
                <p14:media xmlns:p14="http://schemas.microsoft.com/office/powerpoint/2010/main" r:embed="rId5"/>
              </p:ext>
            </p:extLst>
          </p:nvPr>
        </p:nvPicPr>
        <p:blipFill>
          <a:blip r:embed="rId17"/>
          <a:stretch>
            <a:fillRect/>
          </a:stretch>
        </p:blipFill>
        <p:spPr>
          <a:xfrm>
            <a:off x="4277082" y="1380351"/>
            <a:ext cx="812800" cy="812800"/>
          </a:xfrm>
          <a:prstGeom prst="rect">
            <a:avLst/>
          </a:prstGeom>
        </p:spPr>
      </p:pic>
      <p:pic>
        <p:nvPicPr>
          <p:cNvPr id="13" name="D_T_VOT_4_F0_3.mp3">
            <a:hlinkClick r:id="" action="ppaction://media"/>
            <a:extLst>
              <a:ext uri="{FF2B5EF4-FFF2-40B4-BE49-F238E27FC236}">
                <a16:creationId xmlns:a16="http://schemas.microsoft.com/office/drawing/2014/main" id="{4E8352DB-8113-B14A-0D81-69B2A2C96546}"/>
              </a:ext>
            </a:extLst>
          </p:cNvPr>
          <p:cNvPicPr>
            <a:picLocks noChangeAspect="1"/>
          </p:cNvPicPr>
          <p:nvPr>
            <a:audioFile r:link="rId8"/>
            <p:extLst>
              <p:ext uri="{DAA4B4D4-6D71-4841-9C94-3DE7FCFB9230}">
                <p14:media xmlns:p14="http://schemas.microsoft.com/office/powerpoint/2010/main" r:embed="rId7"/>
              </p:ext>
            </p:extLst>
          </p:nvPr>
        </p:nvPicPr>
        <p:blipFill>
          <a:blip r:embed="rId17"/>
          <a:stretch>
            <a:fillRect/>
          </a:stretch>
        </p:blipFill>
        <p:spPr>
          <a:xfrm>
            <a:off x="5723510" y="1380351"/>
            <a:ext cx="812800" cy="812800"/>
          </a:xfrm>
          <a:prstGeom prst="rect">
            <a:avLst/>
          </a:prstGeom>
        </p:spPr>
      </p:pic>
      <p:pic>
        <p:nvPicPr>
          <p:cNvPr id="14" name="D_T_VOT_5_F0_3.mp3">
            <a:hlinkClick r:id="" action="ppaction://media"/>
            <a:extLst>
              <a:ext uri="{FF2B5EF4-FFF2-40B4-BE49-F238E27FC236}">
                <a16:creationId xmlns:a16="http://schemas.microsoft.com/office/drawing/2014/main" id="{F397AD9C-3A0E-BF86-8997-1D02C46E4F3C}"/>
              </a:ext>
            </a:extLst>
          </p:cNvPr>
          <p:cNvPicPr>
            <a:picLocks noChangeAspect="1"/>
          </p:cNvPicPr>
          <p:nvPr>
            <a:audioFile r:link="rId10"/>
            <p:extLst>
              <p:ext uri="{DAA4B4D4-6D71-4841-9C94-3DE7FCFB9230}">
                <p14:media xmlns:p14="http://schemas.microsoft.com/office/powerpoint/2010/main" r:embed="rId9"/>
              </p:ext>
            </p:extLst>
          </p:nvPr>
        </p:nvPicPr>
        <p:blipFill>
          <a:blip r:embed="rId17"/>
          <a:stretch>
            <a:fillRect/>
          </a:stretch>
        </p:blipFill>
        <p:spPr>
          <a:xfrm>
            <a:off x="7169938" y="1375585"/>
            <a:ext cx="812800" cy="812800"/>
          </a:xfrm>
          <a:prstGeom prst="rect">
            <a:avLst/>
          </a:prstGeom>
        </p:spPr>
      </p:pic>
      <p:pic>
        <p:nvPicPr>
          <p:cNvPr id="15" name="D_T_VOT_6_F0_3.mp3">
            <a:hlinkClick r:id="" action="ppaction://media"/>
            <a:extLst>
              <a:ext uri="{FF2B5EF4-FFF2-40B4-BE49-F238E27FC236}">
                <a16:creationId xmlns:a16="http://schemas.microsoft.com/office/drawing/2014/main" id="{2F428277-9E5B-E3C6-54D6-28D95F90A81D}"/>
              </a:ext>
            </a:extLst>
          </p:cNvPr>
          <p:cNvPicPr>
            <a:picLocks noChangeAspect="1"/>
          </p:cNvPicPr>
          <p:nvPr>
            <a:audioFile r:link="rId12"/>
            <p:extLst>
              <p:ext uri="{DAA4B4D4-6D71-4841-9C94-3DE7FCFB9230}">
                <p14:media xmlns:p14="http://schemas.microsoft.com/office/powerpoint/2010/main" r:embed="rId11"/>
              </p:ext>
            </p:extLst>
          </p:nvPr>
        </p:nvPicPr>
        <p:blipFill>
          <a:blip r:embed="rId17"/>
          <a:stretch>
            <a:fillRect/>
          </a:stretch>
        </p:blipFill>
        <p:spPr>
          <a:xfrm>
            <a:off x="8661016" y="1375585"/>
            <a:ext cx="812800" cy="812800"/>
          </a:xfrm>
          <a:prstGeom prst="rect">
            <a:avLst/>
          </a:prstGeom>
        </p:spPr>
      </p:pic>
      <p:pic>
        <p:nvPicPr>
          <p:cNvPr id="16" name="D_T_VOT_7_F0_3.mp3">
            <a:hlinkClick r:id="" action="ppaction://media"/>
            <a:extLst>
              <a:ext uri="{FF2B5EF4-FFF2-40B4-BE49-F238E27FC236}">
                <a16:creationId xmlns:a16="http://schemas.microsoft.com/office/drawing/2014/main" id="{D11F3F0C-E0E3-61D9-0D05-45006E33C562}"/>
              </a:ext>
            </a:extLst>
          </p:cNvPr>
          <p:cNvPicPr>
            <a:picLocks noChangeAspect="1"/>
          </p:cNvPicPr>
          <p:nvPr>
            <a:audioFile r:link="rId14"/>
            <p:extLst>
              <p:ext uri="{DAA4B4D4-6D71-4841-9C94-3DE7FCFB9230}">
                <p14:media xmlns:p14="http://schemas.microsoft.com/office/powerpoint/2010/main" r:embed="rId13"/>
              </p:ext>
            </p:extLst>
          </p:nvPr>
        </p:nvPicPr>
        <p:blipFill>
          <a:blip r:embed="rId17"/>
          <a:stretch>
            <a:fillRect/>
          </a:stretch>
        </p:blipFill>
        <p:spPr>
          <a:xfrm>
            <a:off x="10177420" y="1375585"/>
            <a:ext cx="812800" cy="812800"/>
          </a:xfrm>
          <a:prstGeom prst="rect">
            <a:avLst/>
          </a:prstGeom>
        </p:spPr>
      </p:pic>
      <p:sp>
        <p:nvSpPr>
          <p:cNvPr id="17" name="Title 16">
            <a:extLst>
              <a:ext uri="{FF2B5EF4-FFF2-40B4-BE49-F238E27FC236}">
                <a16:creationId xmlns:a16="http://schemas.microsoft.com/office/drawing/2014/main" id="{632F782D-7B09-24F9-31E3-F9DDE0734E48}"/>
              </a:ext>
            </a:extLst>
          </p:cNvPr>
          <p:cNvSpPr>
            <a:spLocks noGrp="1"/>
          </p:cNvSpPr>
          <p:nvPr>
            <p:ph type="title"/>
          </p:nvPr>
        </p:nvSpPr>
        <p:spPr>
          <a:xfrm>
            <a:off x="838199" y="365125"/>
            <a:ext cx="11353801" cy="1325563"/>
          </a:xfrm>
        </p:spPr>
        <p:txBody>
          <a:bodyPr>
            <a:normAutofit fontScale="90000"/>
          </a:bodyPr>
          <a:lstStyle/>
          <a:p>
            <a:r>
              <a:rPr lang="en-US" dirty="0"/>
              <a:t>The </a:t>
            </a:r>
            <a:r>
              <a:rPr lang="en-US" dirty="0">
                <a:solidFill>
                  <a:srgbClr val="AA3377"/>
                </a:solidFill>
              </a:rPr>
              <a:t>VAS</a:t>
            </a:r>
            <a:r>
              <a:rPr lang="en-US" dirty="0"/>
              <a:t> measured </a:t>
            </a:r>
            <a:r>
              <a:rPr lang="en-US" dirty="0">
                <a:solidFill>
                  <a:srgbClr val="AA3377"/>
                </a:solidFill>
              </a:rPr>
              <a:t>categorization responses </a:t>
            </a:r>
            <a:r>
              <a:rPr lang="en-US" dirty="0"/>
              <a:t>using L1 and L2 speech continua that varied in equal steps along acoustic dimensions </a:t>
            </a:r>
          </a:p>
        </p:txBody>
      </p:sp>
      <p:sp>
        <p:nvSpPr>
          <p:cNvPr id="18" name="TextBox 17">
            <a:extLst>
              <a:ext uri="{FF2B5EF4-FFF2-40B4-BE49-F238E27FC236}">
                <a16:creationId xmlns:a16="http://schemas.microsoft.com/office/drawing/2014/main" id="{F10202AE-84E6-15ED-74B7-10CADED1D70E}"/>
              </a:ext>
            </a:extLst>
          </p:cNvPr>
          <p:cNvSpPr txBox="1"/>
          <p:nvPr/>
        </p:nvSpPr>
        <p:spPr>
          <a:xfrm>
            <a:off x="2395551" y="2500491"/>
            <a:ext cx="1593706" cy="707886"/>
          </a:xfrm>
          <a:prstGeom prst="rect">
            <a:avLst/>
          </a:prstGeom>
          <a:noFill/>
        </p:spPr>
        <p:txBody>
          <a:bodyPr wrap="none" rtlCol="0">
            <a:spAutoFit/>
          </a:bodyPr>
          <a:lstStyle/>
          <a:p>
            <a:r>
              <a:rPr lang="en-US" sz="4000" dirty="0"/>
              <a:t>indent</a:t>
            </a:r>
          </a:p>
        </p:txBody>
      </p:sp>
      <p:sp>
        <p:nvSpPr>
          <p:cNvPr id="19" name="TextBox 18">
            <a:extLst>
              <a:ext uri="{FF2B5EF4-FFF2-40B4-BE49-F238E27FC236}">
                <a16:creationId xmlns:a16="http://schemas.microsoft.com/office/drawing/2014/main" id="{FA0A559F-DDB3-D4EB-B1CF-C6C54063D4E6}"/>
              </a:ext>
            </a:extLst>
          </p:cNvPr>
          <p:cNvSpPr txBox="1"/>
          <p:nvPr/>
        </p:nvSpPr>
        <p:spPr>
          <a:xfrm>
            <a:off x="7587893" y="2500491"/>
            <a:ext cx="1469377" cy="707886"/>
          </a:xfrm>
          <a:prstGeom prst="rect">
            <a:avLst/>
          </a:prstGeom>
          <a:noFill/>
        </p:spPr>
        <p:txBody>
          <a:bodyPr wrap="none" rtlCol="0">
            <a:spAutoFit/>
          </a:bodyPr>
          <a:lstStyle/>
          <a:p>
            <a:r>
              <a:rPr lang="en-US" sz="4000" dirty="0"/>
              <a:t>intent</a:t>
            </a:r>
          </a:p>
        </p:txBody>
      </p:sp>
      <p:cxnSp>
        <p:nvCxnSpPr>
          <p:cNvPr id="21" name="Straight Arrow Connector 20">
            <a:extLst>
              <a:ext uri="{FF2B5EF4-FFF2-40B4-BE49-F238E27FC236}">
                <a16:creationId xmlns:a16="http://schemas.microsoft.com/office/drawing/2014/main" id="{8B5E8F0C-3C2A-4188-B109-40F4927A0CFD}"/>
              </a:ext>
            </a:extLst>
          </p:cNvPr>
          <p:cNvCxnSpPr>
            <a:cxnSpLocks/>
            <a:stCxn id="18" idx="3"/>
            <a:endCxn id="19" idx="1"/>
          </p:cNvCxnSpPr>
          <p:nvPr/>
        </p:nvCxnSpPr>
        <p:spPr>
          <a:xfrm>
            <a:off x="3989257" y="2854434"/>
            <a:ext cx="3598636" cy="0"/>
          </a:xfrm>
          <a:prstGeom prst="straightConnector1">
            <a:avLst/>
          </a:prstGeom>
          <a:ln w="57150">
            <a:solidFill>
              <a:srgbClr val="AA4499"/>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1AB0D3C-788A-9A30-D5BB-689DB7562098}"/>
              </a:ext>
            </a:extLst>
          </p:cNvPr>
          <p:cNvSpPr txBox="1"/>
          <p:nvPr/>
        </p:nvSpPr>
        <p:spPr>
          <a:xfrm>
            <a:off x="2325468" y="3352131"/>
            <a:ext cx="1706942" cy="707886"/>
          </a:xfrm>
          <a:prstGeom prst="rect">
            <a:avLst/>
          </a:prstGeom>
          <a:noFill/>
        </p:spPr>
        <p:txBody>
          <a:bodyPr wrap="none" rtlCol="0">
            <a:spAutoFit/>
          </a:bodyPr>
          <a:lstStyle/>
          <a:p>
            <a:r>
              <a:rPr lang="en-US" sz="4000" dirty="0"/>
              <a:t>reason</a:t>
            </a:r>
          </a:p>
        </p:txBody>
      </p:sp>
      <p:sp>
        <p:nvSpPr>
          <p:cNvPr id="27" name="TextBox 26">
            <a:extLst>
              <a:ext uri="{FF2B5EF4-FFF2-40B4-BE49-F238E27FC236}">
                <a16:creationId xmlns:a16="http://schemas.microsoft.com/office/drawing/2014/main" id="{D90790F4-B07C-678B-2273-E50B8CD250B4}"/>
              </a:ext>
            </a:extLst>
          </p:cNvPr>
          <p:cNvSpPr txBox="1"/>
          <p:nvPr/>
        </p:nvSpPr>
        <p:spPr>
          <a:xfrm>
            <a:off x="7631046" y="3352131"/>
            <a:ext cx="1279517" cy="707886"/>
          </a:xfrm>
          <a:prstGeom prst="rect">
            <a:avLst/>
          </a:prstGeom>
          <a:noFill/>
        </p:spPr>
        <p:txBody>
          <a:bodyPr wrap="none" rtlCol="0">
            <a:spAutoFit/>
          </a:bodyPr>
          <a:lstStyle/>
          <a:p>
            <a:r>
              <a:rPr lang="en-US" sz="4000" dirty="0"/>
              <a:t>risen</a:t>
            </a:r>
          </a:p>
        </p:txBody>
      </p:sp>
      <p:cxnSp>
        <p:nvCxnSpPr>
          <p:cNvPr id="28" name="Straight Arrow Connector 27">
            <a:extLst>
              <a:ext uri="{FF2B5EF4-FFF2-40B4-BE49-F238E27FC236}">
                <a16:creationId xmlns:a16="http://schemas.microsoft.com/office/drawing/2014/main" id="{4ADA5785-4701-933E-A746-569FD49405BB}"/>
              </a:ext>
            </a:extLst>
          </p:cNvPr>
          <p:cNvCxnSpPr>
            <a:cxnSpLocks/>
            <a:stCxn id="26" idx="3"/>
            <a:endCxn id="27" idx="1"/>
          </p:cNvCxnSpPr>
          <p:nvPr/>
        </p:nvCxnSpPr>
        <p:spPr>
          <a:xfrm>
            <a:off x="4032410" y="3706074"/>
            <a:ext cx="3598636" cy="0"/>
          </a:xfrm>
          <a:prstGeom prst="straightConnector1">
            <a:avLst/>
          </a:prstGeom>
          <a:ln w="57150">
            <a:solidFill>
              <a:srgbClr val="AA4499"/>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B1BDA04D-3D90-B595-D3C5-F2B5A61D30FC}"/>
              </a:ext>
            </a:extLst>
          </p:cNvPr>
          <p:cNvSpPr txBox="1"/>
          <p:nvPr/>
        </p:nvSpPr>
        <p:spPr>
          <a:xfrm>
            <a:off x="2942945" y="5477649"/>
            <a:ext cx="1089465" cy="707886"/>
          </a:xfrm>
          <a:prstGeom prst="rect">
            <a:avLst/>
          </a:prstGeom>
          <a:noFill/>
        </p:spPr>
        <p:txBody>
          <a:bodyPr wrap="none" rtlCol="0">
            <a:spAutoFit/>
          </a:bodyPr>
          <a:lstStyle/>
          <a:p>
            <a:r>
              <a:rPr lang="en-US" sz="4000" dirty="0"/>
              <a:t>toru</a:t>
            </a:r>
          </a:p>
        </p:txBody>
      </p:sp>
      <p:sp>
        <p:nvSpPr>
          <p:cNvPr id="37" name="TextBox 36">
            <a:extLst>
              <a:ext uri="{FF2B5EF4-FFF2-40B4-BE49-F238E27FC236}">
                <a16:creationId xmlns:a16="http://schemas.microsoft.com/office/drawing/2014/main" id="{077749C3-C664-E822-3712-D3155206D653}"/>
              </a:ext>
            </a:extLst>
          </p:cNvPr>
          <p:cNvSpPr txBox="1"/>
          <p:nvPr/>
        </p:nvSpPr>
        <p:spPr>
          <a:xfrm>
            <a:off x="7576338" y="5477649"/>
            <a:ext cx="1373196" cy="707886"/>
          </a:xfrm>
          <a:prstGeom prst="rect">
            <a:avLst/>
          </a:prstGeom>
          <a:noFill/>
        </p:spPr>
        <p:txBody>
          <a:bodyPr wrap="none" rtlCol="0">
            <a:spAutoFit/>
          </a:bodyPr>
          <a:lstStyle/>
          <a:p>
            <a:r>
              <a:rPr lang="en-US" sz="4000" dirty="0"/>
              <a:t>tooru</a:t>
            </a:r>
          </a:p>
        </p:txBody>
      </p:sp>
      <p:cxnSp>
        <p:nvCxnSpPr>
          <p:cNvPr id="38" name="Straight Arrow Connector 37">
            <a:extLst>
              <a:ext uri="{FF2B5EF4-FFF2-40B4-BE49-F238E27FC236}">
                <a16:creationId xmlns:a16="http://schemas.microsoft.com/office/drawing/2014/main" id="{20B69B9E-EB1C-C25B-B711-855CE8179DBC}"/>
              </a:ext>
            </a:extLst>
          </p:cNvPr>
          <p:cNvCxnSpPr>
            <a:cxnSpLocks/>
            <a:stCxn id="36" idx="3"/>
            <a:endCxn id="37" idx="1"/>
          </p:cNvCxnSpPr>
          <p:nvPr/>
        </p:nvCxnSpPr>
        <p:spPr>
          <a:xfrm>
            <a:off x="4032410" y="5831592"/>
            <a:ext cx="3543928" cy="0"/>
          </a:xfrm>
          <a:prstGeom prst="straightConnector1">
            <a:avLst/>
          </a:prstGeom>
          <a:ln w="57150">
            <a:solidFill>
              <a:srgbClr val="4477AA"/>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A6AA09D6-D78E-652D-149E-41FDC83A8F87}"/>
              </a:ext>
            </a:extLst>
          </p:cNvPr>
          <p:cNvSpPr txBox="1"/>
          <p:nvPr/>
        </p:nvSpPr>
        <p:spPr>
          <a:xfrm>
            <a:off x="2899792" y="4592792"/>
            <a:ext cx="1132618" cy="707886"/>
          </a:xfrm>
          <a:prstGeom prst="rect">
            <a:avLst/>
          </a:prstGeom>
          <a:noFill/>
        </p:spPr>
        <p:txBody>
          <a:bodyPr wrap="none" rtlCol="0">
            <a:spAutoFit/>
          </a:bodyPr>
          <a:lstStyle/>
          <a:p>
            <a:r>
              <a:rPr lang="en-US" sz="4000" dirty="0"/>
              <a:t>kata</a:t>
            </a:r>
          </a:p>
        </p:txBody>
      </p:sp>
      <p:sp>
        <p:nvSpPr>
          <p:cNvPr id="44" name="TextBox 43">
            <a:extLst>
              <a:ext uri="{FF2B5EF4-FFF2-40B4-BE49-F238E27FC236}">
                <a16:creationId xmlns:a16="http://schemas.microsoft.com/office/drawing/2014/main" id="{DFC99747-59C0-1960-BEC3-2090B641A6A4}"/>
              </a:ext>
            </a:extLst>
          </p:cNvPr>
          <p:cNvSpPr txBox="1"/>
          <p:nvPr/>
        </p:nvSpPr>
        <p:spPr>
          <a:xfrm>
            <a:off x="7576338" y="4592792"/>
            <a:ext cx="1297728" cy="707886"/>
          </a:xfrm>
          <a:prstGeom prst="rect">
            <a:avLst/>
          </a:prstGeom>
          <a:noFill/>
        </p:spPr>
        <p:txBody>
          <a:bodyPr wrap="none" rtlCol="0">
            <a:spAutoFit/>
          </a:bodyPr>
          <a:lstStyle/>
          <a:p>
            <a:r>
              <a:rPr lang="en-US" sz="4000" dirty="0"/>
              <a:t>katta</a:t>
            </a:r>
          </a:p>
        </p:txBody>
      </p:sp>
      <p:cxnSp>
        <p:nvCxnSpPr>
          <p:cNvPr id="45" name="Straight Arrow Connector 44">
            <a:extLst>
              <a:ext uri="{FF2B5EF4-FFF2-40B4-BE49-F238E27FC236}">
                <a16:creationId xmlns:a16="http://schemas.microsoft.com/office/drawing/2014/main" id="{A2B4917A-B31A-5701-D97B-F03A0047BB42}"/>
              </a:ext>
            </a:extLst>
          </p:cNvPr>
          <p:cNvCxnSpPr>
            <a:cxnSpLocks/>
            <a:stCxn id="43" idx="3"/>
            <a:endCxn id="44" idx="1"/>
          </p:cNvCxnSpPr>
          <p:nvPr/>
        </p:nvCxnSpPr>
        <p:spPr>
          <a:xfrm>
            <a:off x="4032410" y="4946735"/>
            <a:ext cx="3543928" cy="0"/>
          </a:xfrm>
          <a:prstGeom prst="straightConnector1">
            <a:avLst/>
          </a:prstGeom>
          <a:ln w="57150">
            <a:solidFill>
              <a:srgbClr val="4477AA"/>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59D01448-2C16-F847-4C32-E93AB546E2EF}"/>
              </a:ext>
            </a:extLst>
          </p:cNvPr>
          <p:cNvSpPr txBox="1"/>
          <p:nvPr/>
        </p:nvSpPr>
        <p:spPr>
          <a:xfrm>
            <a:off x="107757" y="2914775"/>
            <a:ext cx="1975221" cy="584775"/>
          </a:xfrm>
          <a:prstGeom prst="rect">
            <a:avLst/>
          </a:prstGeom>
          <a:noFill/>
        </p:spPr>
        <p:txBody>
          <a:bodyPr wrap="none" rtlCol="0">
            <a:spAutoFit/>
          </a:bodyPr>
          <a:lstStyle/>
          <a:p>
            <a:r>
              <a:rPr lang="en-US" sz="3200" dirty="0"/>
              <a:t>L1 English</a:t>
            </a:r>
          </a:p>
        </p:txBody>
      </p:sp>
      <p:sp>
        <p:nvSpPr>
          <p:cNvPr id="55" name="TextBox 54">
            <a:extLst>
              <a:ext uri="{FF2B5EF4-FFF2-40B4-BE49-F238E27FC236}">
                <a16:creationId xmlns:a16="http://schemas.microsoft.com/office/drawing/2014/main" id="{7D38CE46-EA78-78B6-C956-D70796F924B6}"/>
              </a:ext>
            </a:extLst>
          </p:cNvPr>
          <p:cNvSpPr txBox="1"/>
          <p:nvPr/>
        </p:nvSpPr>
        <p:spPr>
          <a:xfrm>
            <a:off x="107757" y="5008290"/>
            <a:ext cx="2355132" cy="584775"/>
          </a:xfrm>
          <a:prstGeom prst="rect">
            <a:avLst/>
          </a:prstGeom>
          <a:noFill/>
        </p:spPr>
        <p:txBody>
          <a:bodyPr wrap="none" rtlCol="0">
            <a:spAutoFit/>
          </a:bodyPr>
          <a:lstStyle/>
          <a:p>
            <a:r>
              <a:rPr lang="en-US" sz="3200" dirty="0"/>
              <a:t>L2 Japanese</a:t>
            </a:r>
          </a:p>
        </p:txBody>
      </p:sp>
    </p:spTree>
    <p:extLst>
      <p:ext uri="{BB962C8B-B14F-4D97-AF65-F5344CB8AC3E}">
        <p14:creationId xmlns:p14="http://schemas.microsoft.com/office/powerpoint/2010/main" val="1317821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57" fill="hold"/>
                                        <p:tgtEl>
                                          <p:spTgt spid="10"/>
                                        </p:tgtEl>
                                      </p:cBhvr>
                                    </p:cmd>
                                  </p:childTnLst>
                                </p:cTn>
                              </p:par>
                            </p:childTnLst>
                          </p:cTn>
                        </p:par>
                        <p:par>
                          <p:cTn id="7" fill="hold">
                            <p:stCondLst>
                              <p:cond delay="757"/>
                            </p:stCondLst>
                            <p:childTnLst>
                              <p:par>
                                <p:cTn id="8" presetID="1" presetClass="mediacall" presetSubtype="0" fill="hold" nodeType="afterEffect">
                                  <p:stCondLst>
                                    <p:cond delay="250"/>
                                  </p:stCondLst>
                                  <p:childTnLst>
                                    <p:cmd type="call" cmd="playFrom(0.0)">
                                      <p:cBhvr>
                                        <p:cTn id="9" dur="757" fill="hold"/>
                                        <p:tgtEl>
                                          <p:spTgt spid="11"/>
                                        </p:tgtEl>
                                      </p:cBhvr>
                                    </p:cmd>
                                  </p:childTnLst>
                                </p:cTn>
                              </p:par>
                            </p:childTnLst>
                          </p:cTn>
                        </p:par>
                        <p:par>
                          <p:cTn id="10" fill="hold">
                            <p:stCondLst>
                              <p:cond delay="1764"/>
                            </p:stCondLst>
                            <p:childTnLst>
                              <p:par>
                                <p:cTn id="11" presetID="1" presetClass="mediacall" presetSubtype="0" fill="hold" nodeType="afterEffect">
                                  <p:stCondLst>
                                    <p:cond delay="250"/>
                                  </p:stCondLst>
                                  <p:childTnLst>
                                    <p:cmd type="call" cmd="playFrom(0.0)">
                                      <p:cBhvr>
                                        <p:cTn id="12" dur="783" fill="hold"/>
                                        <p:tgtEl>
                                          <p:spTgt spid="12"/>
                                        </p:tgtEl>
                                      </p:cBhvr>
                                    </p:cmd>
                                  </p:childTnLst>
                                </p:cTn>
                              </p:par>
                            </p:childTnLst>
                          </p:cTn>
                        </p:par>
                        <p:par>
                          <p:cTn id="13" fill="hold">
                            <p:stCondLst>
                              <p:cond delay="2797"/>
                            </p:stCondLst>
                            <p:childTnLst>
                              <p:par>
                                <p:cTn id="14" presetID="1" presetClass="mediacall" presetSubtype="0" fill="hold" nodeType="afterEffect">
                                  <p:stCondLst>
                                    <p:cond delay="250"/>
                                  </p:stCondLst>
                                  <p:childTnLst>
                                    <p:cmd type="call" cmd="playFrom(0.0)">
                                      <p:cBhvr>
                                        <p:cTn id="15" dur="783" fill="hold"/>
                                        <p:tgtEl>
                                          <p:spTgt spid="13"/>
                                        </p:tgtEl>
                                      </p:cBhvr>
                                    </p:cmd>
                                  </p:childTnLst>
                                </p:cTn>
                              </p:par>
                            </p:childTnLst>
                          </p:cTn>
                        </p:par>
                        <p:par>
                          <p:cTn id="16" fill="hold">
                            <p:stCondLst>
                              <p:cond delay="3830"/>
                            </p:stCondLst>
                            <p:childTnLst>
                              <p:par>
                                <p:cTn id="17" presetID="1" presetClass="mediacall" presetSubtype="0" fill="hold" nodeType="afterEffect">
                                  <p:stCondLst>
                                    <p:cond delay="250"/>
                                  </p:stCondLst>
                                  <p:childTnLst>
                                    <p:cmd type="call" cmd="playFrom(0.0)">
                                      <p:cBhvr>
                                        <p:cTn id="18" dur="783" fill="hold"/>
                                        <p:tgtEl>
                                          <p:spTgt spid="14"/>
                                        </p:tgtEl>
                                      </p:cBhvr>
                                    </p:cmd>
                                  </p:childTnLst>
                                </p:cTn>
                              </p:par>
                            </p:childTnLst>
                          </p:cTn>
                        </p:par>
                        <p:par>
                          <p:cTn id="19" fill="hold">
                            <p:stCondLst>
                              <p:cond delay="4863"/>
                            </p:stCondLst>
                            <p:childTnLst>
                              <p:par>
                                <p:cTn id="20" presetID="1" presetClass="mediacall" presetSubtype="0" fill="hold" nodeType="afterEffect">
                                  <p:stCondLst>
                                    <p:cond delay="250"/>
                                  </p:stCondLst>
                                  <p:childTnLst>
                                    <p:cmd type="call" cmd="playFrom(0.0)">
                                      <p:cBhvr>
                                        <p:cTn id="21" dur="783" fill="hold"/>
                                        <p:tgtEl>
                                          <p:spTgt spid="15"/>
                                        </p:tgtEl>
                                      </p:cBhvr>
                                    </p:cmd>
                                  </p:childTnLst>
                                </p:cTn>
                              </p:par>
                            </p:childTnLst>
                          </p:cTn>
                        </p:par>
                        <p:par>
                          <p:cTn id="22" fill="hold">
                            <p:stCondLst>
                              <p:cond delay="5896"/>
                            </p:stCondLst>
                            <p:childTnLst>
                              <p:par>
                                <p:cTn id="23" presetID="1" presetClass="mediacall" presetSubtype="0" fill="hold" nodeType="afterEffect">
                                  <p:stCondLst>
                                    <p:cond delay="250"/>
                                  </p:stCondLst>
                                  <p:childTnLst>
                                    <p:cmd type="call" cmd="playFrom(0.0)">
                                      <p:cBhvr>
                                        <p:cTn id="24" dur="783"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5" fill="hold" display="0">
                  <p:stCondLst>
                    <p:cond delay="indefinite"/>
                  </p:stCondLst>
                  <p:endCondLst>
                    <p:cond evt="onStopAudio" delay="0">
                      <p:tgtEl>
                        <p:sldTgt/>
                      </p:tgtEl>
                    </p:cond>
                  </p:endCondLst>
                </p:cTn>
                <p:tgtEl>
                  <p:spTgt spid="10"/>
                </p:tgtEl>
              </p:cMediaNode>
            </p:audio>
            <p:audio>
              <p:cMediaNode vol="80000" showWhenStopped="0">
                <p:cTn id="26" fill="hold" display="0">
                  <p:stCondLst>
                    <p:cond delay="indefinite"/>
                  </p:stCondLst>
                  <p:endCondLst>
                    <p:cond evt="onStopAudio" delay="0">
                      <p:tgtEl>
                        <p:sldTgt/>
                      </p:tgtEl>
                    </p:cond>
                  </p:endCondLst>
                </p:cTn>
                <p:tgtEl>
                  <p:spTgt spid="11"/>
                </p:tgtEl>
              </p:cMediaNode>
            </p:audio>
            <p:audio>
              <p:cMediaNode vol="80000" showWhenStopped="0">
                <p:cTn id="27" fill="hold" display="0">
                  <p:stCondLst>
                    <p:cond delay="indefinite"/>
                  </p:stCondLst>
                  <p:endCondLst>
                    <p:cond evt="onStopAudio" delay="0">
                      <p:tgtEl>
                        <p:sldTgt/>
                      </p:tgtEl>
                    </p:cond>
                  </p:endCondLst>
                </p:cTn>
                <p:tgtEl>
                  <p:spTgt spid="12"/>
                </p:tgtEl>
              </p:cMediaNode>
            </p:audio>
            <p:audio>
              <p:cMediaNode vol="80000" showWhenStopped="0">
                <p:cTn id="28" fill="hold" display="0">
                  <p:stCondLst>
                    <p:cond delay="indefinite"/>
                  </p:stCondLst>
                  <p:endCondLst>
                    <p:cond evt="onStopAudio" delay="0">
                      <p:tgtEl>
                        <p:sldTgt/>
                      </p:tgtEl>
                    </p:cond>
                  </p:endCondLst>
                </p:cTn>
                <p:tgtEl>
                  <p:spTgt spid="13"/>
                </p:tgtEl>
              </p:cMediaNode>
            </p:audio>
            <p:audio>
              <p:cMediaNode vol="80000" showWhenStopped="0">
                <p:cTn id="29" fill="hold" display="0">
                  <p:stCondLst>
                    <p:cond delay="indefinite"/>
                  </p:stCondLst>
                  <p:endCondLst>
                    <p:cond evt="onStopAudio" delay="0">
                      <p:tgtEl>
                        <p:sldTgt/>
                      </p:tgtEl>
                    </p:cond>
                  </p:endCondLst>
                </p:cTn>
                <p:tgtEl>
                  <p:spTgt spid="14"/>
                </p:tgtEl>
              </p:cMediaNode>
            </p:audio>
            <p:audio>
              <p:cMediaNode vol="80000" showWhenStopped="0">
                <p:cTn id="30" fill="hold" display="0">
                  <p:stCondLst>
                    <p:cond delay="indefinite"/>
                  </p:stCondLst>
                  <p:endCondLst>
                    <p:cond evt="onStopAudio" delay="0">
                      <p:tgtEl>
                        <p:sldTgt/>
                      </p:tgtEl>
                    </p:cond>
                  </p:endCondLst>
                </p:cTn>
                <p:tgtEl>
                  <p:spTgt spid="15"/>
                </p:tgtEl>
              </p:cMediaNode>
            </p:audio>
            <p:audio>
              <p:cMediaNode vol="80000" showWhenStopped="0">
                <p:cTn id="31" fill="hold" display="0">
                  <p:stCondLst>
                    <p:cond delay="indefinite"/>
                  </p:stCondLst>
                  <p:endCondLst>
                    <p:cond evt="onStopAudio" delay="0">
                      <p:tgtEl>
                        <p:sldTgt/>
                      </p:tgtEl>
                    </p:cond>
                  </p:endCondLst>
                </p:cTn>
                <p:tgtEl>
                  <p:spTgt spid="16"/>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different colored dots&#10;&#10;AI-generated content may be incorrect.">
            <a:extLst>
              <a:ext uri="{FF2B5EF4-FFF2-40B4-BE49-F238E27FC236}">
                <a16:creationId xmlns:a16="http://schemas.microsoft.com/office/drawing/2014/main" id="{19570FDD-CD9E-715A-44A1-1A3E6144EE9A}"/>
              </a:ext>
            </a:extLst>
          </p:cNvPr>
          <p:cNvPicPr>
            <a:picLocks noChangeAspect="1"/>
          </p:cNvPicPr>
          <p:nvPr/>
        </p:nvPicPr>
        <p:blipFill>
          <a:blip r:embed="rId3"/>
          <a:stretch>
            <a:fillRect/>
          </a:stretch>
        </p:blipFill>
        <p:spPr>
          <a:xfrm>
            <a:off x="163210" y="2763178"/>
            <a:ext cx="5319585" cy="3842317"/>
          </a:xfrm>
          <a:prstGeom prst="rect">
            <a:avLst/>
          </a:prstGeom>
        </p:spPr>
      </p:pic>
      <p:sp>
        <p:nvSpPr>
          <p:cNvPr id="4" name="TextBox 3">
            <a:extLst>
              <a:ext uri="{FF2B5EF4-FFF2-40B4-BE49-F238E27FC236}">
                <a16:creationId xmlns:a16="http://schemas.microsoft.com/office/drawing/2014/main" id="{45E7A814-64F3-323D-5493-B8036457AB60}"/>
              </a:ext>
            </a:extLst>
          </p:cNvPr>
          <p:cNvSpPr txBox="1"/>
          <p:nvPr/>
        </p:nvSpPr>
        <p:spPr>
          <a:xfrm>
            <a:off x="-428901" y="2435430"/>
            <a:ext cx="3214361" cy="388965"/>
          </a:xfrm>
          <a:prstGeom prst="rect">
            <a:avLst/>
          </a:prstGeom>
        </p:spPr>
        <p:txBody>
          <a:bodyPr vert="horz" lIns="91440" tIns="45720" rIns="91440" bIns="45720" rtlCol="0">
            <a:normAutofit fontScale="92500" lnSpcReduction="10000"/>
          </a:bodyPr>
          <a:lstStyle/>
          <a:p>
            <a:pPr algn="ctr">
              <a:lnSpc>
                <a:spcPct val="90000"/>
              </a:lnSpc>
              <a:spcBef>
                <a:spcPts val="1000"/>
              </a:spcBef>
            </a:pPr>
            <a:r>
              <a:rPr lang="en-US" sz="2400" dirty="0"/>
              <a:t>(</a:t>
            </a:r>
            <a:r>
              <a:rPr lang="en-US" sz="2400" dirty="0" err="1"/>
              <a:t>Kutlu</a:t>
            </a:r>
            <a:r>
              <a:rPr lang="en-US" sz="2400" dirty="0"/>
              <a:t> et al., 2024)</a:t>
            </a:r>
          </a:p>
        </p:txBody>
      </p:sp>
      <p:pic>
        <p:nvPicPr>
          <p:cNvPr id="10" name="Picture 9" descr="A graph of different colored lines&#10;&#10;AI-generated content may be incorrect.">
            <a:extLst>
              <a:ext uri="{FF2B5EF4-FFF2-40B4-BE49-F238E27FC236}">
                <a16:creationId xmlns:a16="http://schemas.microsoft.com/office/drawing/2014/main" id="{6AE2A3C6-CE16-4C64-06F1-D3CB7245B514}"/>
              </a:ext>
            </a:extLst>
          </p:cNvPr>
          <p:cNvPicPr>
            <a:picLocks noChangeAspect="1"/>
          </p:cNvPicPr>
          <p:nvPr/>
        </p:nvPicPr>
        <p:blipFill>
          <a:blip r:embed="rId4"/>
          <a:srcRect l="53312" t="63306" r="25480" b="15092"/>
          <a:stretch>
            <a:fillRect/>
          </a:stretch>
        </p:blipFill>
        <p:spPr>
          <a:xfrm>
            <a:off x="9000349" y="591631"/>
            <a:ext cx="2845315" cy="2415210"/>
          </a:xfrm>
          <a:prstGeom prst="rect">
            <a:avLst/>
          </a:prstGeom>
        </p:spPr>
      </p:pic>
      <p:pic>
        <p:nvPicPr>
          <p:cNvPr id="11" name="Picture 10" descr="A graph of different colored lines&#10;&#10;AI-generated content may be incorrect.">
            <a:extLst>
              <a:ext uri="{FF2B5EF4-FFF2-40B4-BE49-F238E27FC236}">
                <a16:creationId xmlns:a16="http://schemas.microsoft.com/office/drawing/2014/main" id="{0381B3AE-D903-901F-F0F2-2214BFB454B7}"/>
              </a:ext>
            </a:extLst>
          </p:cNvPr>
          <p:cNvPicPr>
            <a:picLocks noChangeAspect="1"/>
          </p:cNvPicPr>
          <p:nvPr/>
        </p:nvPicPr>
        <p:blipFill>
          <a:blip r:embed="rId4"/>
          <a:srcRect l="5964" t="62122" r="67157" b="15092"/>
          <a:stretch>
            <a:fillRect/>
          </a:stretch>
        </p:blipFill>
        <p:spPr>
          <a:xfrm>
            <a:off x="2403081" y="502306"/>
            <a:ext cx="3671825" cy="2593860"/>
          </a:xfrm>
          <a:prstGeom prst="rect">
            <a:avLst/>
          </a:prstGeom>
        </p:spPr>
      </p:pic>
      <p:grpSp>
        <p:nvGrpSpPr>
          <p:cNvPr id="15" name="Group 14">
            <a:extLst>
              <a:ext uri="{FF2B5EF4-FFF2-40B4-BE49-F238E27FC236}">
                <a16:creationId xmlns:a16="http://schemas.microsoft.com/office/drawing/2014/main" id="{5B3388DA-4584-F8D0-3934-5022B4C7C052}"/>
              </a:ext>
            </a:extLst>
          </p:cNvPr>
          <p:cNvGrpSpPr/>
          <p:nvPr/>
        </p:nvGrpSpPr>
        <p:grpSpPr>
          <a:xfrm>
            <a:off x="6075970" y="460864"/>
            <a:ext cx="2847442" cy="2566995"/>
            <a:chOff x="6075970" y="460864"/>
            <a:chExt cx="2847442" cy="2566995"/>
          </a:xfrm>
        </p:grpSpPr>
        <p:pic>
          <p:nvPicPr>
            <p:cNvPr id="13" name="Picture 12" descr="A graph of different colored lines&#10;&#10;AI-generated content may be incorrect.">
              <a:extLst>
                <a:ext uri="{FF2B5EF4-FFF2-40B4-BE49-F238E27FC236}">
                  <a16:creationId xmlns:a16="http://schemas.microsoft.com/office/drawing/2014/main" id="{6EE5794F-C023-CE21-5561-93192D2CD37B}"/>
                </a:ext>
              </a:extLst>
            </p:cNvPr>
            <p:cNvPicPr>
              <a:picLocks noChangeAspect="1"/>
            </p:cNvPicPr>
            <p:nvPr/>
          </p:nvPicPr>
          <p:blipFill>
            <a:blip r:embed="rId4"/>
            <a:srcRect l="74766" t="42982" r="5282" b="38765"/>
            <a:stretch>
              <a:fillRect/>
            </a:stretch>
          </p:blipFill>
          <p:spPr>
            <a:xfrm>
              <a:off x="6078098" y="460864"/>
              <a:ext cx="2845314" cy="2169049"/>
            </a:xfrm>
            <a:prstGeom prst="rect">
              <a:avLst/>
            </a:prstGeom>
          </p:spPr>
        </p:pic>
        <p:pic>
          <p:nvPicPr>
            <p:cNvPr id="14" name="Picture 13" descr="A graph of different colored lines&#10;&#10;AI-generated content may be incorrect.">
              <a:extLst>
                <a:ext uri="{FF2B5EF4-FFF2-40B4-BE49-F238E27FC236}">
                  <a16:creationId xmlns:a16="http://schemas.microsoft.com/office/drawing/2014/main" id="{1BD11D5D-5195-5DBE-D617-588A64B5FD1A}"/>
                </a:ext>
              </a:extLst>
            </p:cNvPr>
            <p:cNvPicPr>
              <a:picLocks noChangeAspect="1"/>
            </p:cNvPicPr>
            <p:nvPr/>
          </p:nvPicPr>
          <p:blipFill>
            <a:blip r:embed="rId4"/>
            <a:srcRect l="53312" t="80174" r="25480" b="15091"/>
            <a:stretch>
              <a:fillRect/>
            </a:stretch>
          </p:blipFill>
          <p:spPr>
            <a:xfrm>
              <a:off x="6075970" y="2498498"/>
              <a:ext cx="2845315" cy="529361"/>
            </a:xfrm>
            <a:prstGeom prst="rect">
              <a:avLst/>
            </a:prstGeom>
          </p:spPr>
        </p:pic>
      </p:grpSp>
      <p:sp>
        <p:nvSpPr>
          <p:cNvPr id="16" name="TextBox 15">
            <a:extLst>
              <a:ext uri="{FF2B5EF4-FFF2-40B4-BE49-F238E27FC236}">
                <a16:creationId xmlns:a16="http://schemas.microsoft.com/office/drawing/2014/main" id="{97F046CA-193B-B6DB-035F-05DEF6F4CBF3}"/>
              </a:ext>
            </a:extLst>
          </p:cNvPr>
          <p:cNvSpPr txBox="1"/>
          <p:nvPr/>
        </p:nvSpPr>
        <p:spPr>
          <a:xfrm>
            <a:off x="3730975" y="91532"/>
            <a:ext cx="1970411" cy="523220"/>
          </a:xfrm>
          <a:prstGeom prst="rect">
            <a:avLst/>
          </a:prstGeom>
          <a:noFill/>
        </p:spPr>
        <p:txBody>
          <a:bodyPr wrap="none" rtlCol="0">
            <a:spAutoFit/>
          </a:bodyPr>
          <a:lstStyle/>
          <a:p>
            <a:r>
              <a:rPr lang="en-US" sz="2800" dirty="0"/>
              <a:t>Categorical</a:t>
            </a:r>
          </a:p>
        </p:txBody>
      </p:sp>
      <p:sp>
        <p:nvSpPr>
          <p:cNvPr id="17" name="TextBox 16">
            <a:extLst>
              <a:ext uri="{FF2B5EF4-FFF2-40B4-BE49-F238E27FC236}">
                <a16:creationId xmlns:a16="http://schemas.microsoft.com/office/drawing/2014/main" id="{1567931E-0977-D39E-503A-8FA97C0C21BC}"/>
              </a:ext>
            </a:extLst>
          </p:cNvPr>
          <p:cNvSpPr txBox="1"/>
          <p:nvPr/>
        </p:nvSpPr>
        <p:spPr>
          <a:xfrm>
            <a:off x="6959117" y="91532"/>
            <a:ext cx="1528495" cy="523220"/>
          </a:xfrm>
          <a:prstGeom prst="rect">
            <a:avLst/>
          </a:prstGeom>
          <a:noFill/>
        </p:spPr>
        <p:txBody>
          <a:bodyPr wrap="none" rtlCol="0">
            <a:spAutoFit/>
          </a:bodyPr>
          <a:lstStyle/>
          <a:p>
            <a:r>
              <a:rPr lang="en-US" sz="2800" dirty="0"/>
              <a:t>Gradient</a:t>
            </a:r>
          </a:p>
        </p:txBody>
      </p:sp>
      <p:sp>
        <p:nvSpPr>
          <p:cNvPr id="18" name="TextBox 17">
            <a:extLst>
              <a:ext uri="{FF2B5EF4-FFF2-40B4-BE49-F238E27FC236}">
                <a16:creationId xmlns:a16="http://schemas.microsoft.com/office/drawing/2014/main" id="{0E24E727-34D0-C6B2-74A1-4973D93D4800}"/>
              </a:ext>
            </a:extLst>
          </p:cNvPr>
          <p:cNvSpPr txBox="1"/>
          <p:nvPr/>
        </p:nvSpPr>
        <p:spPr>
          <a:xfrm>
            <a:off x="9896034" y="91532"/>
            <a:ext cx="1053943" cy="523220"/>
          </a:xfrm>
          <a:prstGeom prst="rect">
            <a:avLst/>
          </a:prstGeom>
          <a:noFill/>
        </p:spPr>
        <p:txBody>
          <a:bodyPr wrap="none" rtlCol="0">
            <a:spAutoFit/>
          </a:bodyPr>
          <a:lstStyle/>
          <a:p>
            <a:r>
              <a:rPr lang="en-US" sz="2800" dirty="0"/>
              <a:t>Noisy</a:t>
            </a:r>
          </a:p>
        </p:txBody>
      </p:sp>
      <p:sp>
        <p:nvSpPr>
          <p:cNvPr id="19" name="TextBox 18">
            <a:extLst>
              <a:ext uri="{FF2B5EF4-FFF2-40B4-BE49-F238E27FC236}">
                <a16:creationId xmlns:a16="http://schemas.microsoft.com/office/drawing/2014/main" id="{13067346-4B22-E2F2-77E4-B47D45B5A79B}"/>
              </a:ext>
            </a:extLst>
          </p:cNvPr>
          <p:cNvSpPr txBox="1"/>
          <p:nvPr/>
        </p:nvSpPr>
        <p:spPr>
          <a:xfrm>
            <a:off x="6341451" y="3589141"/>
            <a:ext cx="4953015" cy="830997"/>
          </a:xfrm>
          <a:prstGeom prst="rect">
            <a:avLst/>
          </a:prstGeom>
          <a:noFill/>
        </p:spPr>
        <p:txBody>
          <a:bodyPr wrap="square" rtlCol="0">
            <a:spAutoFit/>
          </a:bodyPr>
          <a:lstStyle/>
          <a:p>
            <a:r>
              <a:rPr lang="en-US" sz="2400" dirty="0"/>
              <a:t>Categorical: High slope, low response variability</a:t>
            </a:r>
          </a:p>
        </p:txBody>
      </p:sp>
      <p:sp>
        <p:nvSpPr>
          <p:cNvPr id="20" name="TextBox 19">
            <a:extLst>
              <a:ext uri="{FF2B5EF4-FFF2-40B4-BE49-F238E27FC236}">
                <a16:creationId xmlns:a16="http://schemas.microsoft.com/office/drawing/2014/main" id="{0E7B5765-7EFC-E8BD-4BF0-E65993FE27FC}"/>
              </a:ext>
            </a:extLst>
          </p:cNvPr>
          <p:cNvSpPr txBox="1"/>
          <p:nvPr/>
        </p:nvSpPr>
        <p:spPr>
          <a:xfrm>
            <a:off x="6341451" y="4776938"/>
            <a:ext cx="3806839" cy="830997"/>
          </a:xfrm>
          <a:prstGeom prst="rect">
            <a:avLst/>
          </a:prstGeom>
          <a:noFill/>
        </p:spPr>
        <p:txBody>
          <a:bodyPr wrap="square" rtlCol="0">
            <a:spAutoFit/>
          </a:bodyPr>
          <a:lstStyle/>
          <a:p>
            <a:r>
              <a:rPr lang="en-US" sz="2400" dirty="0"/>
              <a:t>Gradient: Low slope, low response variability</a:t>
            </a:r>
          </a:p>
        </p:txBody>
      </p:sp>
      <p:sp>
        <p:nvSpPr>
          <p:cNvPr id="21" name="TextBox 20">
            <a:extLst>
              <a:ext uri="{FF2B5EF4-FFF2-40B4-BE49-F238E27FC236}">
                <a16:creationId xmlns:a16="http://schemas.microsoft.com/office/drawing/2014/main" id="{92591AE8-9731-FB5C-665E-D6C9B3AEE949}"/>
              </a:ext>
            </a:extLst>
          </p:cNvPr>
          <p:cNvSpPr txBox="1"/>
          <p:nvPr/>
        </p:nvSpPr>
        <p:spPr>
          <a:xfrm>
            <a:off x="6341451" y="5964735"/>
            <a:ext cx="4332212" cy="461665"/>
          </a:xfrm>
          <a:prstGeom prst="rect">
            <a:avLst/>
          </a:prstGeom>
          <a:noFill/>
        </p:spPr>
        <p:txBody>
          <a:bodyPr wrap="none" rtlCol="0">
            <a:spAutoFit/>
          </a:bodyPr>
          <a:lstStyle/>
          <a:p>
            <a:r>
              <a:rPr lang="en-US" sz="2400" dirty="0"/>
              <a:t>Noisy: High response variability</a:t>
            </a:r>
          </a:p>
        </p:txBody>
      </p:sp>
      <p:sp>
        <p:nvSpPr>
          <p:cNvPr id="22" name="Rectangle 21">
            <a:extLst>
              <a:ext uri="{FF2B5EF4-FFF2-40B4-BE49-F238E27FC236}">
                <a16:creationId xmlns:a16="http://schemas.microsoft.com/office/drawing/2014/main" id="{4AD1B5B7-7F49-C2FA-DDC2-AF1A44D05FF6}"/>
              </a:ext>
            </a:extLst>
          </p:cNvPr>
          <p:cNvSpPr/>
          <p:nvPr/>
        </p:nvSpPr>
        <p:spPr>
          <a:xfrm>
            <a:off x="6341451" y="4684336"/>
            <a:ext cx="3554583" cy="1000847"/>
          </a:xfrm>
          <a:prstGeom prst="rect">
            <a:avLst/>
          </a:prstGeom>
          <a:noFill/>
          <a:ln>
            <a:solidFill>
              <a:srgbClr val="3322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712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0" grpId="0"/>
      <p:bldP spid="21" grpId="0"/>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AA8A9-3C92-5EB3-644D-CBEBBB2F2989}"/>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126C7C6C-DBFB-80F6-3DC6-20E2FA285FDF}"/>
              </a:ext>
            </a:extLst>
          </p:cNvPr>
          <p:cNvSpPr>
            <a:spLocks noGrp="1"/>
          </p:cNvSpPr>
          <p:nvPr>
            <p:ph type="title"/>
          </p:nvPr>
        </p:nvSpPr>
        <p:spPr>
          <a:xfrm>
            <a:off x="130513" y="1512989"/>
            <a:ext cx="3935650" cy="4012322"/>
          </a:xfrm>
        </p:spPr>
        <p:txBody>
          <a:bodyPr>
            <a:normAutofit fontScale="90000"/>
          </a:bodyPr>
          <a:lstStyle/>
          <a:p>
            <a:r>
              <a:rPr lang="en-US" dirty="0"/>
              <a:t>Participants varied in </a:t>
            </a:r>
            <a:r>
              <a:rPr lang="en-US" dirty="0">
                <a:solidFill>
                  <a:srgbClr val="AA3377"/>
                </a:solidFill>
              </a:rPr>
              <a:t>categorization measures </a:t>
            </a:r>
            <a:r>
              <a:rPr lang="en-US" dirty="0"/>
              <a:t>both within and across L1 and L2 contrast pairs</a:t>
            </a:r>
          </a:p>
        </p:txBody>
      </p:sp>
      <p:pic>
        <p:nvPicPr>
          <p:cNvPr id="5" name="Picture 4" descr="A graph of different colored lines&#10;&#10;AI-generated content may be incorrect.">
            <a:extLst>
              <a:ext uri="{FF2B5EF4-FFF2-40B4-BE49-F238E27FC236}">
                <a16:creationId xmlns:a16="http://schemas.microsoft.com/office/drawing/2014/main" id="{D8670F61-4B5B-603F-C87A-9D9BC009461E}"/>
              </a:ext>
            </a:extLst>
          </p:cNvPr>
          <p:cNvPicPr>
            <a:picLocks noChangeAspect="1"/>
          </p:cNvPicPr>
          <p:nvPr/>
        </p:nvPicPr>
        <p:blipFill>
          <a:blip r:embed="rId3"/>
          <a:stretch>
            <a:fillRect/>
          </a:stretch>
        </p:blipFill>
        <p:spPr>
          <a:xfrm>
            <a:off x="4210454" y="140510"/>
            <a:ext cx="8060988" cy="6717490"/>
          </a:xfrm>
          <a:prstGeom prst="rect">
            <a:avLst/>
          </a:prstGeom>
        </p:spPr>
      </p:pic>
    </p:spTree>
    <p:extLst>
      <p:ext uri="{BB962C8B-B14F-4D97-AF65-F5344CB8AC3E}">
        <p14:creationId xmlns:p14="http://schemas.microsoft.com/office/powerpoint/2010/main" val="26555331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CD399F-A719-1B60-0508-305093364488}"/>
              </a:ext>
            </a:extLst>
          </p:cNvPr>
          <p:cNvSpPr/>
          <p:nvPr/>
        </p:nvSpPr>
        <p:spPr>
          <a:xfrm>
            <a:off x="8128109" y="890537"/>
            <a:ext cx="2723745" cy="23930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E31F112-3BC9-B758-F3B9-31D63D91F28D}"/>
              </a:ext>
            </a:extLst>
          </p:cNvPr>
          <p:cNvSpPr/>
          <p:nvPr/>
        </p:nvSpPr>
        <p:spPr>
          <a:xfrm>
            <a:off x="8128109" y="3656430"/>
            <a:ext cx="2723745" cy="23930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6A82604-7AAF-A365-6B5D-DF154E476D39}"/>
              </a:ext>
            </a:extLst>
          </p:cNvPr>
          <p:cNvSpPr txBox="1"/>
          <p:nvPr/>
        </p:nvSpPr>
        <p:spPr>
          <a:xfrm>
            <a:off x="7987806" y="6334780"/>
            <a:ext cx="3004349" cy="523220"/>
          </a:xfrm>
          <a:prstGeom prst="rect">
            <a:avLst/>
          </a:prstGeom>
          <a:noFill/>
        </p:spPr>
        <p:txBody>
          <a:bodyPr wrap="none" rtlCol="0">
            <a:spAutoFit/>
          </a:bodyPr>
          <a:lstStyle/>
          <a:p>
            <a:r>
              <a:rPr lang="en-US" sz="2800" dirty="0"/>
              <a:t>MLD-A and MLD-P</a:t>
            </a:r>
          </a:p>
        </p:txBody>
      </p:sp>
      <p:sp>
        <p:nvSpPr>
          <p:cNvPr id="6" name="TextBox 5">
            <a:extLst>
              <a:ext uri="{FF2B5EF4-FFF2-40B4-BE49-F238E27FC236}">
                <a16:creationId xmlns:a16="http://schemas.microsoft.com/office/drawing/2014/main" id="{722DB87C-6C9B-2811-4532-DAC3DC841ADC}"/>
              </a:ext>
            </a:extLst>
          </p:cNvPr>
          <p:cNvSpPr txBox="1"/>
          <p:nvPr/>
        </p:nvSpPr>
        <p:spPr>
          <a:xfrm rot="16200000">
            <a:off x="7025097" y="1825428"/>
            <a:ext cx="1071127" cy="523220"/>
          </a:xfrm>
          <a:prstGeom prst="rect">
            <a:avLst/>
          </a:prstGeom>
          <a:noFill/>
        </p:spPr>
        <p:txBody>
          <a:bodyPr wrap="none" rtlCol="0">
            <a:spAutoFit/>
          </a:bodyPr>
          <a:lstStyle/>
          <a:p>
            <a:r>
              <a:rPr lang="en-US" sz="2800" dirty="0"/>
              <a:t>Slope</a:t>
            </a:r>
          </a:p>
        </p:txBody>
      </p:sp>
      <p:sp>
        <p:nvSpPr>
          <p:cNvPr id="7" name="TextBox 6">
            <a:extLst>
              <a:ext uri="{FF2B5EF4-FFF2-40B4-BE49-F238E27FC236}">
                <a16:creationId xmlns:a16="http://schemas.microsoft.com/office/drawing/2014/main" id="{201D08A7-D9EE-BD86-FE8C-BD8E0D2D0FF9}"/>
              </a:ext>
            </a:extLst>
          </p:cNvPr>
          <p:cNvSpPr txBox="1"/>
          <p:nvPr/>
        </p:nvSpPr>
        <p:spPr>
          <a:xfrm rot="16200000">
            <a:off x="6364159" y="4375879"/>
            <a:ext cx="2393005" cy="954107"/>
          </a:xfrm>
          <a:prstGeom prst="rect">
            <a:avLst/>
          </a:prstGeom>
          <a:noFill/>
        </p:spPr>
        <p:txBody>
          <a:bodyPr wrap="square" rtlCol="0">
            <a:spAutoFit/>
          </a:bodyPr>
          <a:lstStyle/>
          <a:p>
            <a:pPr algn="ctr"/>
            <a:r>
              <a:rPr lang="en-US" sz="2800" dirty="0"/>
              <a:t>Response Variability</a:t>
            </a:r>
          </a:p>
        </p:txBody>
      </p:sp>
      <p:sp>
        <p:nvSpPr>
          <p:cNvPr id="8" name="TextBox 7">
            <a:extLst>
              <a:ext uri="{FF2B5EF4-FFF2-40B4-BE49-F238E27FC236}">
                <a16:creationId xmlns:a16="http://schemas.microsoft.com/office/drawing/2014/main" id="{F3294237-1BA9-AFE3-8B3E-37196695A177}"/>
              </a:ext>
            </a:extLst>
          </p:cNvPr>
          <p:cNvSpPr txBox="1"/>
          <p:nvPr/>
        </p:nvSpPr>
        <p:spPr>
          <a:xfrm>
            <a:off x="7514761" y="57819"/>
            <a:ext cx="1975221" cy="584775"/>
          </a:xfrm>
          <a:prstGeom prst="rect">
            <a:avLst/>
          </a:prstGeom>
          <a:noFill/>
        </p:spPr>
        <p:txBody>
          <a:bodyPr wrap="none" rtlCol="0">
            <a:spAutoFit/>
          </a:bodyPr>
          <a:lstStyle/>
          <a:p>
            <a:r>
              <a:rPr lang="en-US" sz="3200" dirty="0">
                <a:solidFill>
                  <a:srgbClr val="AA4499"/>
                </a:solidFill>
              </a:rPr>
              <a:t>L1 English</a:t>
            </a:r>
          </a:p>
        </p:txBody>
      </p:sp>
      <p:sp>
        <p:nvSpPr>
          <p:cNvPr id="9" name="TextBox 8">
            <a:extLst>
              <a:ext uri="{FF2B5EF4-FFF2-40B4-BE49-F238E27FC236}">
                <a16:creationId xmlns:a16="http://schemas.microsoft.com/office/drawing/2014/main" id="{2AE67D88-A606-700A-4393-B59BA5158036}"/>
              </a:ext>
            </a:extLst>
          </p:cNvPr>
          <p:cNvSpPr txBox="1"/>
          <p:nvPr/>
        </p:nvSpPr>
        <p:spPr>
          <a:xfrm>
            <a:off x="9836868" y="57819"/>
            <a:ext cx="2355132" cy="584775"/>
          </a:xfrm>
          <a:prstGeom prst="rect">
            <a:avLst/>
          </a:prstGeom>
          <a:noFill/>
        </p:spPr>
        <p:txBody>
          <a:bodyPr wrap="square" rtlCol="0">
            <a:spAutoFit/>
          </a:bodyPr>
          <a:lstStyle/>
          <a:p>
            <a:r>
              <a:rPr lang="en-US" sz="3200" dirty="0">
                <a:solidFill>
                  <a:srgbClr val="4477AA"/>
                </a:solidFill>
              </a:rPr>
              <a:t>L2 Japanese</a:t>
            </a:r>
          </a:p>
        </p:txBody>
      </p:sp>
      <p:cxnSp>
        <p:nvCxnSpPr>
          <p:cNvPr id="11" name="Straight Connector 10">
            <a:extLst>
              <a:ext uri="{FF2B5EF4-FFF2-40B4-BE49-F238E27FC236}">
                <a16:creationId xmlns:a16="http://schemas.microsoft.com/office/drawing/2014/main" id="{D3EA7DB0-D606-DA83-6BA9-D63FA753ACC8}"/>
              </a:ext>
            </a:extLst>
          </p:cNvPr>
          <p:cNvCxnSpPr/>
          <p:nvPr/>
        </p:nvCxnSpPr>
        <p:spPr>
          <a:xfrm>
            <a:off x="8541997" y="1132136"/>
            <a:ext cx="1945532" cy="1867710"/>
          </a:xfrm>
          <a:prstGeom prst="line">
            <a:avLst/>
          </a:prstGeom>
          <a:ln w="38100">
            <a:solidFill>
              <a:srgbClr val="AA4499"/>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E40A436-5B41-B70D-7BC0-79BE032FA41F}"/>
              </a:ext>
            </a:extLst>
          </p:cNvPr>
          <p:cNvCxnSpPr/>
          <p:nvPr/>
        </p:nvCxnSpPr>
        <p:spPr>
          <a:xfrm>
            <a:off x="8470664" y="1342161"/>
            <a:ext cx="1945532" cy="1867710"/>
          </a:xfrm>
          <a:prstGeom prst="line">
            <a:avLst/>
          </a:prstGeom>
          <a:ln w="38100">
            <a:solidFill>
              <a:srgbClr val="4477AA"/>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5F4C388-1D9C-AD0E-B03B-F83C30770A43}"/>
              </a:ext>
            </a:extLst>
          </p:cNvPr>
          <p:cNvCxnSpPr/>
          <p:nvPr/>
        </p:nvCxnSpPr>
        <p:spPr>
          <a:xfrm>
            <a:off x="8517214" y="3858154"/>
            <a:ext cx="1945532" cy="1867710"/>
          </a:xfrm>
          <a:prstGeom prst="line">
            <a:avLst/>
          </a:prstGeom>
          <a:ln w="38100">
            <a:solidFill>
              <a:srgbClr val="AA4499"/>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DAE7C59-0FA4-14ED-A72C-97037EB42F8F}"/>
              </a:ext>
            </a:extLst>
          </p:cNvPr>
          <p:cNvCxnSpPr/>
          <p:nvPr/>
        </p:nvCxnSpPr>
        <p:spPr>
          <a:xfrm>
            <a:off x="8502371" y="4102483"/>
            <a:ext cx="1945532" cy="1867710"/>
          </a:xfrm>
          <a:prstGeom prst="line">
            <a:avLst/>
          </a:prstGeom>
          <a:ln w="38100">
            <a:solidFill>
              <a:srgbClr val="4477AA"/>
            </a:solidFill>
          </a:ln>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id="{2E467D4F-1FD0-9614-68F9-DEAA6DE26569}"/>
              </a:ext>
            </a:extLst>
          </p:cNvPr>
          <p:cNvPicPr>
            <a:picLocks noChangeAspect="1"/>
          </p:cNvPicPr>
          <p:nvPr/>
        </p:nvPicPr>
        <p:blipFill>
          <a:blip r:embed="rId3"/>
          <a:stretch>
            <a:fillRect/>
          </a:stretch>
        </p:blipFill>
        <p:spPr>
          <a:xfrm>
            <a:off x="197785" y="5701861"/>
            <a:ext cx="5345723" cy="1018567"/>
          </a:xfrm>
          <a:prstGeom prst="rect">
            <a:avLst/>
          </a:prstGeom>
        </p:spPr>
      </p:pic>
    </p:spTree>
    <p:extLst>
      <p:ext uri="{BB962C8B-B14F-4D97-AF65-F5344CB8AC3E}">
        <p14:creationId xmlns:p14="http://schemas.microsoft.com/office/powerpoint/2010/main" val="6640116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oup of graphs showing different colored lines&#10;&#10;AI-generated content may be incorrect.">
            <a:extLst>
              <a:ext uri="{FF2B5EF4-FFF2-40B4-BE49-F238E27FC236}">
                <a16:creationId xmlns:a16="http://schemas.microsoft.com/office/drawing/2014/main" id="{B19DA6AE-A39A-A6CB-CC2A-F12F335C2242}"/>
              </a:ext>
            </a:extLst>
          </p:cNvPr>
          <p:cNvPicPr>
            <a:picLocks noChangeAspect="1"/>
          </p:cNvPicPr>
          <p:nvPr/>
        </p:nvPicPr>
        <p:blipFill>
          <a:blip r:embed="rId3"/>
          <a:srcRect b="37425"/>
          <a:stretch>
            <a:fillRect/>
          </a:stretch>
        </p:blipFill>
        <p:spPr>
          <a:xfrm>
            <a:off x="5480392" y="963038"/>
            <a:ext cx="6711608" cy="5248107"/>
          </a:xfrm>
          <a:prstGeom prst="rect">
            <a:avLst/>
          </a:prstGeom>
        </p:spPr>
      </p:pic>
      <p:sp>
        <p:nvSpPr>
          <p:cNvPr id="20" name="Title 19">
            <a:extLst>
              <a:ext uri="{FF2B5EF4-FFF2-40B4-BE49-F238E27FC236}">
                <a16:creationId xmlns:a16="http://schemas.microsoft.com/office/drawing/2014/main" id="{DBED7AD0-7FD2-71E2-399E-E0CBE79AD012}"/>
              </a:ext>
            </a:extLst>
          </p:cNvPr>
          <p:cNvSpPr>
            <a:spLocks noGrp="1"/>
          </p:cNvSpPr>
          <p:nvPr>
            <p:ph type="title"/>
          </p:nvPr>
        </p:nvSpPr>
        <p:spPr>
          <a:xfrm>
            <a:off x="197786" y="646855"/>
            <a:ext cx="4977820" cy="3340034"/>
          </a:xfrm>
        </p:spPr>
        <p:txBody>
          <a:bodyPr>
            <a:normAutofit/>
          </a:bodyPr>
          <a:lstStyle/>
          <a:p>
            <a:r>
              <a:rPr lang="en-US" dirty="0">
                <a:solidFill>
                  <a:srgbClr val="4477AA"/>
                </a:solidFill>
              </a:rPr>
              <a:t>Experiential LD </a:t>
            </a:r>
            <a:r>
              <a:rPr lang="en-US" dirty="0"/>
              <a:t>was not found to predict </a:t>
            </a:r>
            <a:r>
              <a:rPr lang="en-US" dirty="0">
                <a:solidFill>
                  <a:srgbClr val="AA3377"/>
                </a:solidFill>
              </a:rPr>
              <a:t>L1 or L2 categorization measures</a:t>
            </a:r>
          </a:p>
        </p:txBody>
      </p:sp>
      <p:pic>
        <p:nvPicPr>
          <p:cNvPr id="6" name="Picture 5">
            <a:extLst>
              <a:ext uri="{FF2B5EF4-FFF2-40B4-BE49-F238E27FC236}">
                <a16:creationId xmlns:a16="http://schemas.microsoft.com/office/drawing/2014/main" id="{CF2E3EAD-9966-1ABB-6D70-4DFDA4A9F58A}"/>
              </a:ext>
            </a:extLst>
          </p:cNvPr>
          <p:cNvPicPr>
            <a:picLocks noChangeAspect="1"/>
          </p:cNvPicPr>
          <p:nvPr/>
        </p:nvPicPr>
        <p:blipFill>
          <a:blip r:embed="rId4"/>
          <a:stretch>
            <a:fillRect/>
          </a:stretch>
        </p:blipFill>
        <p:spPr>
          <a:xfrm>
            <a:off x="197785" y="5701861"/>
            <a:ext cx="5345723" cy="1018567"/>
          </a:xfrm>
          <a:prstGeom prst="rect">
            <a:avLst/>
          </a:prstGeom>
        </p:spPr>
      </p:pic>
      <p:sp>
        <p:nvSpPr>
          <p:cNvPr id="7" name="TextBox 6">
            <a:extLst>
              <a:ext uri="{FF2B5EF4-FFF2-40B4-BE49-F238E27FC236}">
                <a16:creationId xmlns:a16="http://schemas.microsoft.com/office/drawing/2014/main" id="{70EE09E1-44F5-DB0A-922C-9E12BABFB019}"/>
              </a:ext>
            </a:extLst>
          </p:cNvPr>
          <p:cNvSpPr txBox="1"/>
          <p:nvPr/>
        </p:nvSpPr>
        <p:spPr>
          <a:xfrm>
            <a:off x="7016396" y="220171"/>
            <a:ext cx="1975221" cy="584775"/>
          </a:xfrm>
          <a:prstGeom prst="rect">
            <a:avLst/>
          </a:prstGeom>
          <a:noFill/>
        </p:spPr>
        <p:txBody>
          <a:bodyPr wrap="none" rtlCol="0">
            <a:spAutoFit/>
          </a:bodyPr>
          <a:lstStyle/>
          <a:p>
            <a:r>
              <a:rPr lang="en-US" sz="3200" dirty="0">
                <a:solidFill>
                  <a:srgbClr val="AA4499"/>
                </a:solidFill>
              </a:rPr>
              <a:t>L1 English</a:t>
            </a:r>
          </a:p>
        </p:txBody>
      </p:sp>
      <p:sp>
        <p:nvSpPr>
          <p:cNvPr id="8" name="TextBox 7">
            <a:extLst>
              <a:ext uri="{FF2B5EF4-FFF2-40B4-BE49-F238E27FC236}">
                <a16:creationId xmlns:a16="http://schemas.microsoft.com/office/drawing/2014/main" id="{5347C70A-07B2-041B-9DD2-4869CBDD0A7F}"/>
              </a:ext>
            </a:extLst>
          </p:cNvPr>
          <p:cNvSpPr txBox="1"/>
          <p:nvPr/>
        </p:nvSpPr>
        <p:spPr>
          <a:xfrm>
            <a:off x="9338503" y="220171"/>
            <a:ext cx="2355132" cy="584775"/>
          </a:xfrm>
          <a:prstGeom prst="rect">
            <a:avLst/>
          </a:prstGeom>
          <a:noFill/>
        </p:spPr>
        <p:txBody>
          <a:bodyPr wrap="square" rtlCol="0">
            <a:spAutoFit/>
          </a:bodyPr>
          <a:lstStyle/>
          <a:p>
            <a:r>
              <a:rPr lang="en-US" sz="3200" dirty="0">
                <a:solidFill>
                  <a:srgbClr val="4477AA"/>
                </a:solidFill>
              </a:rPr>
              <a:t>L2 Japanese</a:t>
            </a:r>
          </a:p>
        </p:txBody>
      </p:sp>
      <p:sp>
        <p:nvSpPr>
          <p:cNvPr id="10" name="Multiply 9">
            <a:extLst>
              <a:ext uri="{FF2B5EF4-FFF2-40B4-BE49-F238E27FC236}">
                <a16:creationId xmlns:a16="http://schemas.microsoft.com/office/drawing/2014/main" id="{EDE7838D-57B7-F03F-F7AA-E3F235A3B0D0}"/>
              </a:ext>
            </a:extLst>
          </p:cNvPr>
          <p:cNvSpPr/>
          <p:nvPr/>
        </p:nvSpPr>
        <p:spPr>
          <a:xfrm>
            <a:off x="2412460" y="5701861"/>
            <a:ext cx="894944" cy="796216"/>
          </a:xfrm>
          <a:prstGeom prst="mathMultiply">
            <a:avLst/>
          </a:prstGeom>
          <a:solidFill>
            <a:srgbClr val="9B9C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2307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6E927-E9BE-4CF9-AAD2-0A79B196A750}"/>
            </a:ext>
          </a:extLst>
        </p:cNvPr>
        <p:cNvGrpSpPr/>
        <p:nvPr/>
      </p:nvGrpSpPr>
      <p:grpSpPr>
        <a:xfrm>
          <a:off x="0" y="0"/>
          <a:ext cx="0" cy="0"/>
          <a:chOff x="0" y="0"/>
          <a:chExt cx="0" cy="0"/>
        </a:xfrm>
      </p:grpSpPr>
      <p:pic>
        <p:nvPicPr>
          <p:cNvPr id="9" name="Picture 8" descr="A group of graphs showing different colored lines&#10;&#10;AI-generated content may be incorrect.">
            <a:extLst>
              <a:ext uri="{FF2B5EF4-FFF2-40B4-BE49-F238E27FC236}">
                <a16:creationId xmlns:a16="http://schemas.microsoft.com/office/drawing/2014/main" id="{120E3886-6ABD-FEB1-ED1E-3A4DD0079614}"/>
              </a:ext>
            </a:extLst>
          </p:cNvPr>
          <p:cNvPicPr>
            <a:picLocks noChangeAspect="1"/>
          </p:cNvPicPr>
          <p:nvPr/>
        </p:nvPicPr>
        <p:blipFill>
          <a:blip r:embed="rId3"/>
          <a:srcRect b="37425"/>
          <a:stretch>
            <a:fillRect/>
          </a:stretch>
        </p:blipFill>
        <p:spPr>
          <a:xfrm>
            <a:off x="5480392" y="963038"/>
            <a:ext cx="6711608" cy="5248107"/>
          </a:xfrm>
          <a:prstGeom prst="rect">
            <a:avLst/>
          </a:prstGeom>
        </p:spPr>
      </p:pic>
      <p:sp>
        <p:nvSpPr>
          <p:cNvPr id="20" name="Title 19">
            <a:extLst>
              <a:ext uri="{FF2B5EF4-FFF2-40B4-BE49-F238E27FC236}">
                <a16:creationId xmlns:a16="http://schemas.microsoft.com/office/drawing/2014/main" id="{E591E6BE-D6A5-D579-CD20-725974CEE47D}"/>
              </a:ext>
            </a:extLst>
          </p:cNvPr>
          <p:cNvSpPr>
            <a:spLocks noGrp="1"/>
          </p:cNvSpPr>
          <p:nvPr>
            <p:ph type="title"/>
          </p:nvPr>
        </p:nvSpPr>
        <p:spPr>
          <a:xfrm>
            <a:off x="197786" y="646855"/>
            <a:ext cx="4977820" cy="3340034"/>
          </a:xfrm>
        </p:spPr>
        <p:txBody>
          <a:bodyPr>
            <a:normAutofit/>
          </a:bodyPr>
          <a:lstStyle/>
          <a:p>
            <a:r>
              <a:rPr lang="en-US" dirty="0">
                <a:solidFill>
                  <a:srgbClr val="4477AA"/>
                </a:solidFill>
              </a:rPr>
              <a:t>Experiential LD </a:t>
            </a:r>
            <a:r>
              <a:rPr lang="en-US" dirty="0"/>
              <a:t>was not found to predict </a:t>
            </a:r>
            <a:r>
              <a:rPr lang="en-US" dirty="0">
                <a:solidFill>
                  <a:srgbClr val="AA3377"/>
                </a:solidFill>
              </a:rPr>
              <a:t>L1 or L2 categorization measures</a:t>
            </a:r>
          </a:p>
        </p:txBody>
      </p:sp>
      <p:pic>
        <p:nvPicPr>
          <p:cNvPr id="6" name="Picture 5">
            <a:extLst>
              <a:ext uri="{FF2B5EF4-FFF2-40B4-BE49-F238E27FC236}">
                <a16:creationId xmlns:a16="http://schemas.microsoft.com/office/drawing/2014/main" id="{8E153423-DC36-0828-B795-1E4E6B9CAEE8}"/>
              </a:ext>
            </a:extLst>
          </p:cNvPr>
          <p:cNvPicPr>
            <a:picLocks noChangeAspect="1"/>
          </p:cNvPicPr>
          <p:nvPr/>
        </p:nvPicPr>
        <p:blipFill>
          <a:blip r:embed="rId4"/>
          <a:stretch>
            <a:fillRect/>
          </a:stretch>
        </p:blipFill>
        <p:spPr>
          <a:xfrm>
            <a:off x="197785" y="5701861"/>
            <a:ext cx="5345723" cy="1018567"/>
          </a:xfrm>
          <a:prstGeom prst="rect">
            <a:avLst/>
          </a:prstGeom>
        </p:spPr>
      </p:pic>
      <p:sp>
        <p:nvSpPr>
          <p:cNvPr id="7" name="TextBox 6">
            <a:extLst>
              <a:ext uri="{FF2B5EF4-FFF2-40B4-BE49-F238E27FC236}">
                <a16:creationId xmlns:a16="http://schemas.microsoft.com/office/drawing/2014/main" id="{EAE80685-1AFF-23BF-4D43-34BF1A6A3C31}"/>
              </a:ext>
            </a:extLst>
          </p:cNvPr>
          <p:cNvSpPr txBox="1"/>
          <p:nvPr/>
        </p:nvSpPr>
        <p:spPr>
          <a:xfrm>
            <a:off x="7016396" y="220171"/>
            <a:ext cx="1975221" cy="584775"/>
          </a:xfrm>
          <a:prstGeom prst="rect">
            <a:avLst/>
          </a:prstGeom>
          <a:noFill/>
        </p:spPr>
        <p:txBody>
          <a:bodyPr wrap="none" rtlCol="0">
            <a:spAutoFit/>
          </a:bodyPr>
          <a:lstStyle/>
          <a:p>
            <a:r>
              <a:rPr lang="en-US" sz="3200" dirty="0">
                <a:solidFill>
                  <a:srgbClr val="AA4499"/>
                </a:solidFill>
              </a:rPr>
              <a:t>L1 English</a:t>
            </a:r>
          </a:p>
        </p:txBody>
      </p:sp>
      <p:sp>
        <p:nvSpPr>
          <p:cNvPr id="8" name="TextBox 7">
            <a:extLst>
              <a:ext uri="{FF2B5EF4-FFF2-40B4-BE49-F238E27FC236}">
                <a16:creationId xmlns:a16="http://schemas.microsoft.com/office/drawing/2014/main" id="{4FC356C5-A7EE-FA3C-6F7A-EE8516FAF2B6}"/>
              </a:ext>
            </a:extLst>
          </p:cNvPr>
          <p:cNvSpPr txBox="1"/>
          <p:nvPr/>
        </p:nvSpPr>
        <p:spPr>
          <a:xfrm>
            <a:off x="9338503" y="220171"/>
            <a:ext cx="2355132" cy="584775"/>
          </a:xfrm>
          <a:prstGeom prst="rect">
            <a:avLst/>
          </a:prstGeom>
          <a:noFill/>
        </p:spPr>
        <p:txBody>
          <a:bodyPr wrap="square" rtlCol="0">
            <a:spAutoFit/>
          </a:bodyPr>
          <a:lstStyle/>
          <a:p>
            <a:r>
              <a:rPr lang="en-US" sz="3200" dirty="0">
                <a:solidFill>
                  <a:srgbClr val="4477AA"/>
                </a:solidFill>
              </a:rPr>
              <a:t>L2 Japanese</a:t>
            </a:r>
          </a:p>
        </p:txBody>
      </p:sp>
      <p:sp>
        <p:nvSpPr>
          <p:cNvPr id="10" name="Multiply 9">
            <a:extLst>
              <a:ext uri="{FF2B5EF4-FFF2-40B4-BE49-F238E27FC236}">
                <a16:creationId xmlns:a16="http://schemas.microsoft.com/office/drawing/2014/main" id="{22A2E4AB-A826-4E9A-461B-4A0E10141E5B}"/>
              </a:ext>
            </a:extLst>
          </p:cNvPr>
          <p:cNvSpPr/>
          <p:nvPr/>
        </p:nvSpPr>
        <p:spPr>
          <a:xfrm>
            <a:off x="2412460" y="5701861"/>
            <a:ext cx="894944" cy="796216"/>
          </a:xfrm>
          <a:prstGeom prst="mathMultiply">
            <a:avLst/>
          </a:prstGeom>
          <a:solidFill>
            <a:srgbClr val="9B9C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a:extLst>
              <a:ext uri="{FF2B5EF4-FFF2-40B4-BE49-F238E27FC236}">
                <a16:creationId xmlns:a16="http://schemas.microsoft.com/office/drawing/2014/main" id="{4E4D2976-C1DF-D062-46F7-3B12E4CBF103}"/>
              </a:ext>
            </a:extLst>
          </p:cNvPr>
          <p:cNvSpPr/>
          <p:nvPr/>
        </p:nvSpPr>
        <p:spPr>
          <a:xfrm>
            <a:off x="1975029" y="1422895"/>
            <a:ext cx="8241941" cy="401220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Linguistic diversity did not explain the individual differences in categorization response patterns</a:t>
            </a:r>
          </a:p>
        </p:txBody>
      </p:sp>
    </p:spTree>
    <p:extLst>
      <p:ext uri="{BB962C8B-B14F-4D97-AF65-F5344CB8AC3E}">
        <p14:creationId xmlns:p14="http://schemas.microsoft.com/office/powerpoint/2010/main" val="232075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3409-A33E-1215-B667-3774CDABBC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81A3F4-DBC7-2CF7-8918-59B7AD5E80B0}"/>
              </a:ext>
            </a:extLst>
          </p:cNvPr>
          <p:cNvSpPr>
            <a:spLocks noGrp="1"/>
          </p:cNvSpPr>
          <p:nvPr>
            <p:ph type="title"/>
          </p:nvPr>
        </p:nvSpPr>
        <p:spPr/>
        <p:txBody>
          <a:bodyPr/>
          <a:lstStyle/>
          <a:p>
            <a:r>
              <a:rPr lang="en-US" dirty="0"/>
              <a:t>Study 2</a:t>
            </a:r>
          </a:p>
        </p:txBody>
      </p:sp>
      <p:sp>
        <p:nvSpPr>
          <p:cNvPr id="5" name="Text Placeholder 4">
            <a:extLst>
              <a:ext uri="{FF2B5EF4-FFF2-40B4-BE49-F238E27FC236}">
                <a16:creationId xmlns:a16="http://schemas.microsoft.com/office/drawing/2014/main" id="{2A3766B2-AF55-D5DD-3C15-53EE02CA656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634915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1C972-E8AB-E938-0806-F3CAFF218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7B767-F6F9-01A5-541D-E09E0477653D}"/>
              </a:ext>
            </a:extLst>
          </p:cNvPr>
          <p:cNvSpPr>
            <a:spLocks noGrp="1"/>
          </p:cNvSpPr>
          <p:nvPr>
            <p:ph type="title"/>
          </p:nvPr>
        </p:nvSpPr>
        <p:spPr>
          <a:xfrm>
            <a:off x="838199" y="1201704"/>
            <a:ext cx="10212421" cy="1325563"/>
          </a:xfrm>
        </p:spPr>
        <p:txBody>
          <a:bodyPr>
            <a:normAutofit fontScale="90000"/>
          </a:bodyPr>
          <a:lstStyle/>
          <a:p>
            <a:r>
              <a:rPr lang="en-US" dirty="0"/>
              <a:t>L1 English monolingual participants (n = 80) completed </a:t>
            </a:r>
            <a:r>
              <a:rPr lang="en-US" dirty="0">
                <a:solidFill>
                  <a:srgbClr val="4477AA"/>
                </a:solidFill>
              </a:rPr>
              <a:t>perceptual discrimination training </a:t>
            </a:r>
            <a:r>
              <a:rPr lang="en-US" dirty="0"/>
              <a:t>with </a:t>
            </a:r>
            <a:r>
              <a:rPr lang="en-US" dirty="0">
                <a:solidFill>
                  <a:srgbClr val="AA3377"/>
                </a:solidFill>
              </a:rPr>
              <a:t>VAS </a:t>
            </a:r>
            <a:r>
              <a:rPr lang="en-US" dirty="0"/>
              <a:t>and </a:t>
            </a:r>
            <a:r>
              <a:rPr lang="en-US" dirty="0">
                <a:solidFill>
                  <a:srgbClr val="228833"/>
                </a:solidFill>
              </a:rPr>
              <a:t>perceptual discrimination </a:t>
            </a:r>
            <a:r>
              <a:rPr lang="en-US" dirty="0"/>
              <a:t>pre- and posttests</a:t>
            </a:r>
            <a:br>
              <a:rPr lang="en-US" dirty="0"/>
            </a:br>
            <a:endParaRPr lang="en-US" dirty="0"/>
          </a:p>
        </p:txBody>
      </p:sp>
      <p:sp useBgFill="1">
        <p:nvSpPr>
          <p:cNvPr id="3" name="Rounded Rectangle 2">
            <a:extLst>
              <a:ext uri="{FF2B5EF4-FFF2-40B4-BE49-F238E27FC236}">
                <a16:creationId xmlns:a16="http://schemas.microsoft.com/office/drawing/2014/main" id="{AFEED70B-810D-DB10-9AA2-3123217AE5AE}"/>
              </a:ext>
            </a:extLst>
          </p:cNvPr>
          <p:cNvSpPr/>
          <p:nvPr/>
        </p:nvSpPr>
        <p:spPr>
          <a:xfrm>
            <a:off x="643646" y="294275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8" name="Rounded Rectangle 7">
            <a:extLst>
              <a:ext uri="{FF2B5EF4-FFF2-40B4-BE49-F238E27FC236}">
                <a16:creationId xmlns:a16="http://schemas.microsoft.com/office/drawing/2014/main" id="{12C31ACA-336C-5C92-9F35-336107BB89BB}"/>
              </a:ext>
            </a:extLst>
          </p:cNvPr>
          <p:cNvSpPr/>
          <p:nvPr/>
        </p:nvSpPr>
        <p:spPr>
          <a:xfrm>
            <a:off x="7463350" y="294275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9" name="Straight Arrow Connector 8">
            <a:extLst>
              <a:ext uri="{FF2B5EF4-FFF2-40B4-BE49-F238E27FC236}">
                <a16:creationId xmlns:a16="http://schemas.microsoft.com/office/drawing/2014/main" id="{B9256CE0-ED76-3D85-F9DF-E14E997E4130}"/>
              </a:ext>
            </a:extLst>
          </p:cNvPr>
          <p:cNvCxnSpPr>
            <a:stCxn id="3" idx="3"/>
            <a:endCxn id="8" idx="1"/>
          </p:cNvCxnSpPr>
          <p:nvPr/>
        </p:nvCxnSpPr>
        <p:spPr>
          <a:xfrm>
            <a:off x="3862271" y="3753290"/>
            <a:ext cx="3601079"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useBgFill="1">
        <p:nvSpPr>
          <p:cNvPr id="10" name="Rounded Rectangle 9">
            <a:extLst>
              <a:ext uri="{FF2B5EF4-FFF2-40B4-BE49-F238E27FC236}">
                <a16:creationId xmlns:a16="http://schemas.microsoft.com/office/drawing/2014/main" id="{D5C33076-8E7A-7646-5D6A-568CD3F04084}"/>
              </a:ext>
            </a:extLst>
          </p:cNvPr>
          <p:cNvSpPr/>
          <p:nvPr/>
        </p:nvSpPr>
        <p:spPr>
          <a:xfrm>
            <a:off x="4053497" y="519608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cxnSp>
        <p:nvCxnSpPr>
          <p:cNvPr id="11" name="Straight Arrow Connector 10">
            <a:extLst>
              <a:ext uri="{FF2B5EF4-FFF2-40B4-BE49-F238E27FC236}">
                <a16:creationId xmlns:a16="http://schemas.microsoft.com/office/drawing/2014/main" id="{0BFB4993-AB0F-A8F0-A923-C6588C1C5B2F}"/>
              </a:ext>
            </a:extLst>
          </p:cNvPr>
          <p:cNvCxnSpPr>
            <a:cxnSpLocks/>
            <a:stCxn id="3" idx="3"/>
            <a:endCxn id="10" idx="0"/>
          </p:cNvCxnSpPr>
          <p:nvPr/>
        </p:nvCxnSpPr>
        <p:spPr>
          <a:xfrm>
            <a:off x="3862271" y="3753290"/>
            <a:ext cx="1800539"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C402058-1675-63BB-A3A1-B36845579DA4}"/>
              </a:ext>
            </a:extLst>
          </p:cNvPr>
          <p:cNvCxnSpPr>
            <a:cxnSpLocks/>
            <a:stCxn id="10" idx="0"/>
          </p:cNvCxnSpPr>
          <p:nvPr/>
        </p:nvCxnSpPr>
        <p:spPr>
          <a:xfrm flipV="1">
            <a:off x="5662810" y="3753290"/>
            <a:ext cx="1800540"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290664A-206A-F8FD-149E-AB066DEE48AA}"/>
              </a:ext>
            </a:extLst>
          </p:cNvPr>
          <p:cNvSpPr txBox="1"/>
          <p:nvPr/>
        </p:nvSpPr>
        <p:spPr>
          <a:xfrm rot="2398686">
            <a:off x="3713380" y="4357461"/>
            <a:ext cx="1811714" cy="492443"/>
          </a:xfrm>
          <a:prstGeom prst="rect">
            <a:avLst/>
          </a:prstGeom>
          <a:noFill/>
        </p:spPr>
        <p:txBody>
          <a:bodyPr wrap="none" rtlCol="0">
            <a:spAutoFit/>
          </a:bodyPr>
          <a:lstStyle/>
          <a:p>
            <a:r>
              <a:rPr lang="en-US" sz="2600" dirty="0"/>
              <a:t>Specific LD</a:t>
            </a:r>
          </a:p>
        </p:txBody>
      </p:sp>
      <p:sp>
        <p:nvSpPr>
          <p:cNvPr id="14" name="TextBox 13">
            <a:extLst>
              <a:ext uri="{FF2B5EF4-FFF2-40B4-BE49-F238E27FC236}">
                <a16:creationId xmlns:a16="http://schemas.microsoft.com/office/drawing/2014/main" id="{91209FED-F180-1BE7-5E61-4B668A076A7A}"/>
              </a:ext>
            </a:extLst>
          </p:cNvPr>
          <p:cNvSpPr txBox="1"/>
          <p:nvPr/>
        </p:nvSpPr>
        <p:spPr>
          <a:xfrm>
            <a:off x="4018720" y="3249078"/>
            <a:ext cx="3445943" cy="492443"/>
          </a:xfrm>
          <a:prstGeom prst="rect">
            <a:avLst/>
          </a:prstGeom>
          <a:noFill/>
        </p:spPr>
        <p:txBody>
          <a:bodyPr wrap="none" rtlCol="0">
            <a:spAutoFit/>
          </a:bodyPr>
          <a:lstStyle/>
          <a:p>
            <a:r>
              <a:rPr lang="en-US" sz="2600" dirty="0"/>
              <a:t>Short-term Specific LD</a:t>
            </a:r>
          </a:p>
        </p:txBody>
      </p:sp>
      <p:sp>
        <p:nvSpPr>
          <p:cNvPr id="15" name="Rounded Rectangle 14">
            <a:extLst>
              <a:ext uri="{FF2B5EF4-FFF2-40B4-BE49-F238E27FC236}">
                <a16:creationId xmlns:a16="http://schemas.microsoft.com/office/drawing/2014/main" id="{F9DC6BE3-7C7E-74DB-C7C0-4C15779D69A5}"/>
              </a:ext>
            </a:extLst>
          </p:cNvPr>
          <p:cNvSpPr/>
          <p:nvPr/>
        </p:nvSpPr>
        <p:spPr>
          <a:xfrm>
            <a:off x="9514655" y="4332086"/>
            <a:ext cx="2334639" cy="1439693"/>
          </a:xfrm>
          <a:prstGeom prst="round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perceptual discrimination</a:t>
            </a:r>
          </a:p>
        </p:txBody>
      </p:sp>
    </p:spTree>
    <p:extLst>
      <p:ext uri="{BB962C8B-B14F-4D97-AF65-F5344CB8AC3E}">
        <p14:creationId xmlns:p14="http://schemas.microsoft.com/office/powerpoint/2010/main" val="3445735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FE2ADA43-18EC-E8CA-994C-0DCDF1D22703}"/>
              </a:ext>
            </a:extLst>
          </p:cNvPr>
          <p:cNvGrpSpPr/>
          <p:nvPr/>
        </p:nvGrpSpPr>
        <p:grpSpPr>
          <a:xfrm>
            <a:off x="92369" y="31106"/>
            <a:ext cx="3612173" cy="3593247"/>
            <a:chOff x="92369" y="31106"/>
            <a:chExt cx="3612173" cy="3593247"/>
          </a:xfrm>
        </p:grpSpPr>
        <p:pic>
          <p:nvPicPr>
            <p:cNvPr id="2" name="Picture 1" descr="A black cross on a white background&#10;&#10;AI-generated content may be incorrect.">
              <a:extLst>
                <a:ext uri="{FF2B5EF4-FFF2-40B4-BE49-F238E27FC236}">
                  <a16:creationId xmlns:a16="http://schemas.microsoft.com/office/drawing/2014/main" id="{8C94A531-08D3-5DA4-8FA8-C36E2B1F3689}"/>
                </a:ext>
              </a:extLst>
            </p:cNvPr>
            <p:cNvPicPr>
              <a:picLocks noChangeAspect="1"/>
            </p:cNvPicPr>
            <p:nvPr/>
          </p:nvPicPr>
          <p:blipFill rotWithShape="1">
            <a:blip r:embed="rId7"/>
            <a:srcRect l="1798" t="9006" r="7574" b="13479"/>
            <a:stretch/>
          </p:blipFill>
          <p:spPr>
            <a:xfrm>
              <a:off x="92369" y="31106"/>
              <a:ext cx="3612173" cy="2762250"/>
            </a:xfrm>
            <a:prstGeom prst="rect">
              <a:avLst/>
            </a:prstGeom>
            <a:solidFill>
              <a:schemeClr val="bg1"/>
            </a:solidFill>
            <a:ln>
              <a:solidFill>
                <a:schemeClr val="accent1"/>
              </a:solidFill>
            </a:ln>
          </p:spPr>
        </p:pic>
        <p:sp>
          <p:nvSpPr>
            <p:cNvPr id="7" name="TextBox 6">
              <a:extLst>
                <a:ext uri="{FF2B5EF4-FFF2-40B4-BE49-F238E27FC236}">
                  <a16:creationId xmlns:a16="http://schemas.microsoft.com/office/drawing/2014/main" id="{3194CF33-8223-16C2-A30C-EBAEA7CF9A8C}"/>
                </a:ext>
              </a:extLst>
            </p:cNvPr>
            <p:cNvSpPr txBox="1"/>
            <p:nvPr/>
          </p:nvSpPr>
          <p:spPr>
            <a:xfrm>
              <a:off x="92369" y="2793356"/>
              <a:ext cx="1154483" cy="830997"/>
            </a:xfrm>
            <a:prstGeom prst="rect">
              <a:avLst/>
            </a:prstGeom>
            <a:noFill/>
          </p:spPr>
          <p:txBody>
            <a:bodyPr wrap="none" rtlCol="0">
              <a:spAutoFit/>
            </a:bodyPr>
            <a:lstStyle/>
            <a:p>
              <a:r>
                <a:rPr lang="en-US" sz="2400" dirty="0"/>
                <a:t>500 ms</a:t>
              </a:r>
            </a:p>
            <a:p>
              <a:r>
                <a:rPr lang="en-US" sz="2400" dirty="0"/>
                <a:t>fixation</a:t>
              </a:r>
            </a:p>
          </p:txBody>
        </p:sp>
      </p:grpSp>
      <p:grpSp>
        <p:nvGrpSpPr>
          <p:cNvPr id="15" name="Group 14">
            <a:extLst>
              <a:ext uri="{FF2B5EF4-FFF2-40B4-BE49-F238E27FC236}">
                <a16:creationId xmlns:a16="http://schemas.microsoft.com/office/drawing/2014/main" id="{43BAD011-4ED5-1FD2-891C-F40CCAF0A544}"/>
              </a:ext>
            </a:extLst>
          </p:cNvPr>
          <p:cNvGrpSpPr/>
          <p:nvPr/>
        </p:nvGrpSpPr>
        <p:grpSpPr>
          <a:xfrm>
            <a:off x="2224414" y="800610"/>
            <a:ext cx="3611546" cy="3278233"/>
            <a:chOff x="2224414" y="1169940"/>
            <a:chExt cx="3611546" cy="3278233"/>
          </a:xfrm>
        </p:grpSpPr>
        <p:pic>
          <p:nvPicPr>
            <p:cNvPr id="3" name="Picture 2" descr="A white background with black text&#10;&#10;AI-generated content may be incorrect.">
              <a:extLst>
                <a:ext uri="{FF2B5EF4-FFF2-40B4-BE49-F238E27FC236}">
                  <a16:creationId xmlns:a16="http://schemas.microsoft.com/office/drawing/2014/main" id="{8410DC36-B3B6-19D0-BD8F-C061125DD5F8}"/>
                </a:ext>
              </a:extLst>
            </p:cNvPr>
            <p:cNvPicPr>
              <a:picLocks noChangeAspect="1"/>
            </p:cNvPicPr>
            <p:nvPr/>
          </p:nvPicPr>
          <p:blipFill>
            <a:blip r:embed="rId8"/>
            <a:srcRect l="-6322" t="1" r="-5189" b="-3498"/>
            <a:stretch/>
          </p:blipFill>
          <p:spPr>
            <a:xfrm>
              <a:off x="2224414" y="1169940"/>
              <a:ext cx="3611546" cy="2762250"/>
            </a:xfrm>
            <a:prstGeom prst="rect">
              <a:avLst/>
            </a:prstGeom>
            <a:solidFill>
              <a:schemeClr val="bg1"/>
            </a:solidFill>
            <a:ln>
              <a:solidFill>
                <a:schemeClr val="accent1"/>
              </a:solidFill>
            </a:ln>
          </p:spPr>
        </p:pic>
        <p:pic>
          <p:nvPicPr>
            <p:cNvPr id="9" name="Graphic 8" descr="Volume with solid fill">
              <a:extLst>
                <a:ext uri="{FF2B5EF4-FFF2-40B4-BE49-F238E27FC236}">
                  <a16:creationId xmlns:a16="http://schemas.microsoft.com/office/drawing/2014/main" id="{91CFD90D-168D-0D24-D388-A201826BA8C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24414" y="3976576"/>
              <a:ext cx="471597" cy="471597"/>
            </a:xfrm>
            <a:prstGeom prst="rect">
              <a:avLst/>
            </a:prstGeom>
          </p:spPr>
        </p:pic>
        <p:sp>
          <p:nvSpPr>
            <p:cNvPr id="10" name="TextBox 9">
              <a:extLst>
                <a:ext uri="{FF2B5EF4-FFF2-40B4-BE49-F238E27FC236}">
                  <a16:creationId xmlns:a16="http://schemas.microsoft.com/office/drawing/2014/main" id="{EF480381-DB95-EA06-5E6F-0981591533B4}"/>
                </a:ext>
              </a:extLst>
            </p:cNvPr>
            <p:cNvSpPr txBox="1"/>
            <p:nvPr/>
          </p:nvSpPr>
          <p:spPr>
            <a:xfrm>
              <a:off x="2656776" y="3976576"/>
              <a:ext cx="1039067" cy="461665"/>
            </a:xfrm>
            <a:prstGeom prst="rect">
              <a:avLst/>
            </a:prstGeom>
            <a:noFill/>
          </p:spPr>
          <p:txBody>
            <a:bodyPr wrap="none" rtlCol="0">
              <a:spAutoFit/>
            </a:bodyPr>
            <a:lstStyle/>
            <a:p>
              <a:r>
                <a:rPr lang="en-US" sz="2400" dirty="0"/>
                <a:t>Stim A</a:t>
              </a:r>
            </a:p>
          </p:txBody>
        </p:sp>
      </p:grpSp>
      <p:grpSp>
        <p:nvGrpSpPr>
          <p:cNvPr id="16" name="Group 15">
            <a:extLst>
              <a:ext uri="{FF2B5EF4-FFF2-40B4-BE49-F238E27FC236}">
                <a16:creationId xmlns:a16="http://schemas.microsoft.com/office/drawing/2014/main" id="{AC4A1FA8-2A38-3174-B34A-384682E91161}"/>
              </a:ext>
            </a:extLst>
          </p:cNvPr>
          <p:cNvGrpSpPr/>
          <p:nvPr/>
        </p:nvGrpSpPr>
        <p:grpSpPr>
          <a:xfrm>
            <a:off x="4097235" y="1740753"/>
            <a:ext cx="3611546" cy="3593247"/>
            <a:chOff x="4128204" y="2147590"/>
            <a:chExt cx="3611546" cy="3593247"/>
          </a:xfrm>
        </p:grpSpPr>
        <p:sp>
          <p:nvSpPr>
            <p:cNvPr id="8" name="TextBox 7">
              <a:extLst>
                <a:ext uri="{FF2B5EF4-FFF2-40B4-BE49-F238E27FC236}">
                  <a16:creationId xmlns:a16="http://schemas.microsoft.com/office/drawing/2014/main" id="{A793B374-ECF0-F618-3AF0-E58A39DD250F}"/>
                </a:ext>
              </a:extLst>
            </p:cNvPr>
            <p:cNvSpPr txBox="1"/>
            <p:nvPr/>
          </p:nvSpPr>
          <p:spPr>
            <a:xfrm>
              <a:off x="4128204" y="4909840"/>
              <a:ext cx="1154483" cy="830997"/>
            </a:xfrm>
            <a:prstGeom prst="rect">
              <a:avLst/>
            </a:prstGeom>
            <a:noFill/>
          </p:spPr>
          <p:txBody>
            <a:bodyPr wrap="none" rtlCol="0">
              <a:spAutoFit/>
            </a:bodyPr>
            <a:lstStyle/>
            <a:p>
              <a:r>
                <a:rPr lang="en-US" sz="2400" dirty="0"/>
                <a:t>500 ms</a:t>
              </a:r>
            </a:p>
            <a:p>
              <a:r>
                <a:rPr lang="en-US" sz="2400" dirty="0"/>
                <a:t>ISI</a:t>
              </a:r>
            </a:p>
          </p:txBody>
        </p:sp>
        <p:pic>
          <p:nvPicPr>
            <p:cNvPr id="4" name="Picture 3" descr="A white background with black text&#10;&#10;AI-generated content may be incorrect.">
              <a:extLst>
                <a:ext uri="{FF2B5EF4-FFF2-40B4-BE49-F238E27FC236}">
                  <a16:creationId xmlns:a16="http://schemas.microsoft.com/office/drawing/2014/main" id="{4160006E-8CA6-2783-35B8-63ADCFBF5B60}"/>
                </a:ext>
              </a:extLst>
            </p:cNvPr>
            <p:cNvPicPr>
              <a:picLocks noChangeAspect="1"/>
            </p:cNvPicPr>
            <p:nvPr/>
          </p:nvPicPr>
          <p:blipFill>
            <a:blip r:embed="rId8"/>
            <a:srcRect l="-6322" t="1" r="-5189" b="-3498"/>
            <a:stretch/>
          </p:blipFill>
          <p:spPr>
            <a:xfrm>
              <a:off x="4128204" y="2147590"/>
              <a:ext cx="3611546" cy="2762250"/>
            </a:xfrm>
            <a:prstGeom prst="rect">
              <a:avLst/>
            </a:prstGeom>
            <a:solidFill>
              <a:schemeClr val="bg1"/>
            </a:solidFill>
            <a:ln>
              <a:solidFill>
                <a:schemeClr val="accent1"/>
              </a:solidFill>
            </a:ln>
          </p:spPr>
        </p:pic>
      </p:grpSp>
      <p:grpSp>
        <p:nvGrpSpPr>
          <p:cNvPr id="17" name="Group 16">
            <a:extLst>
              <a:ext uri="{FF2B5EF4-FFF2-40B4-BE49-F238E27FC236}">
                <a16:creationId xmlns:a16="http://schemas.microsoft.com/office/drawing/2014/main" id="{FE24230B-8C50-11BD-588F-35DCE3E9AC47}"/>
              </a:ext>
            </a:extLst>
          </p:cNvPr>
          <p:cNvGrpSpPr/>
          <p:nvPr/>
        </p:nvGrpSpPr>
        <p:grpSpPr>
          <a:xfrm>
            <a:off x="6092398" y="2442135"/>
            <a:ext cx="3611546" cy="3273415"/>
            <a:chOff x="6259622" y="3055183"/>
            <a:chExt cx="3611546" cy="3273415"/>
          </a:xfrm>
        </p:grpSpPr>
        <p:pic>
          <p:nvPicPr>
            <p:cNvPr id="5" name="Picture 4" descr="A white background with black text&#10;&#10;AI-generated content may be incorrect.">
              <a:extLst>
                <a:ext uri="{FF2B5EF4-FFF2-40B4-BE49-F238E27FC236}">
                  <a16:creationId xmlns:a16="http://schemas.microsoft.com/office/drawing/2014/main" id="{7A357271-36AB-A0FE-A532-8152C2A8387F}"/>
                </a:ext>
              </a:extLst>
            </p:cNvPr>
            <p:cNvPicPr>
              <a:picLocks noChangeAspect="1"/>
            </p:cNvPicPr>
            <p:nvPr/>
          </p:nvPicPr>
          <p:blipFill>
            <a:blip r:embed="rId8"/>
            <a:srcRect l="-6322" t="1" r="-5189" b="-3498"/>
            <a:stretch/>
          </p:blipFill>
          <p:spPr>
            <a:xfrm>
              <a:off x="6259622" y="3055183"/>
              <a:ext cx="3611546" cy="2762250"/>
            </a:xfrm>
            <a:prstGeom prst="rect">
              <a:avLst/>
            </a:prstGeom>
            <a:solidFill>
              <a:schemeClr val="bg1"/>
            </a:solidFill>
            <a:ln>
              <a:solidFill>
                <a:schemeClr val="accent1"/>
              </a:solidFill>
            </a:ln>
          </p:spPr>
        </p:pic>
        <p:sp>
          <p:nvSpPr>
            <p:cNvPr id="11" name="TextBox 10">
              <a:extLst>
                <a:ext uri="{FF2B5EF4-FFF2-40B4-BE49-F238E27FC236}">
                  <a16:creationId xmlns:a16="http://schemas.microsoft.com/office/drawing/2014/main" id="{4B9E0093-CC88-9FF8-3D0E-9A2667414531}"/>
                </a:ext>
              </a:extLst>
            </p:cNvPr>
            <p:cNvSpPr txBox="1"/>
            <p:nvPr/>
          </p:nvSpPr>
          <p:spPr>
            <a:xfrm>
              <a:off x="6669047" y="5857001"/>
              <a:ext cx="1027845" cy="461665"/>
            </a:xfrm>
            <a:prstGeom prst="rect">
              <a:avLst/>
            </a:prstGeom>
            <a:noFill/>
          </p:spPr>
          <p:txBody>
            <a:bodyPr wrap="none" rtlCol="0">
              <a:spAutoFit/>
            </a:bodyPr>
            <a:lstStyle/>
            <a:p>
              <a:r>
                <a:rPr lang="en-US" sz="2400" dirty="0"/>
                <a:t>Stim X</a:t>
              </a:r>
            </a:p>
          </p:txBody>
        </p:sp>
        <p:pic>
          <p:nvPicPr>
            <p:cNvPr id="12" name="Graphic 11" descr="Volume with solid fill">
              <a:extLst>
                <a:ext uri="{FF2B5EF4-FFF2-40B4-BE49-F238E27FC236}">
                  <a16:creationId xmlns:a16="http://schemas.microsoft.com/office/drawing/2014/main" id="{61A62DD9-0544-63C9-B9F5-79C47C2BB9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59622" y="5857001"/>
              <a:ext cx="471597" cy="471597"/>
            </a:xfrm>
            <a:prstGeom prst="rect">
              <a:avLst/>
            </a:prstGeom>
          </p:spPr>
        </p:pic>
      </p:grpSp>
      <p:grpSp>
        <p:nvGrpSpPr>
          <p:cNvPr id="18" name="Group 17">
            <a:extLst>
              <a:ext uri="{FF2B5EF4-FFF2-40B4-BE49-F238E27FC236}">
                <a16:creationId xmlns:a16="http://schemas.microsoft.com/office/drawing/2014/main" id="{52A3EC4B-52F4-805D-D0F1-A6C96009DC47}"/>
              </a:ext>
            </a:extLst>
          </p:cNvPr>
          <p:cNvGrpSpPr/>
          <p:nvPr/>
        </p:nvGrpSpPr>
        <p:grpSpPr>
          <a:xfrm>
            <a:off x="8258666" y="3429000"/>
            <a:ext cx="3886200" cy="3433465"/>
            <a:chOff x="8305800" y="3848100"/>
            <a:chExt cx="3886200" cy="3433465"/>
          </a:xfrm>
        </p:grpSpPr>
        <p:pic>
          <p:nvPicPr>
            <p:cNvPr id="6" name="Picture 5" descr="A white background with black text&#10;&#10;AI-generated content may be incorrect.">
              <a:extLst>
                <a:ext uri="{FF2B5EF4-FFF2-40B4-BE49-F238E27FC236}">
                  <a16:creationId xmlns:a16="http://schemas.microsoft.com/office/drawing/2014/main" id="{B289B2BA-573B-AEDB-FE2E-C97D9E867EC5}"/>
                </a:ext>
              </a:extLst>
            </p:cNvPr>
            <p:cNvPicPr>
              <a:picLocks noChangeAspect="1"/>
            </p:cNvPicPr>
            <p:nvPr/>
          </p:nvPicPr>
          <p:blipFill>
            <a:blip r:embed="rId11"/>
            <a:srcRect t="3590" b="3590"/>
            <a:stretch/>
          </p:blipFill>
          <p:spPr>
            <a:xfrm>
              <a:off x="8305800" y="3848100"/>
              <a:ext cx="3886200" cy="2971800"/>
            </a:xfrm>
            <a:prstGeom prst="rect">
              <a:avLst/>
            </a:prstGeom>
            <a:solidFill>
              <a:schemeClr val="bg1"/>
            </a:solidFill>
            <a:ln>
              <a:solidFill>
                <a:schemeClr val="accent1"/>
              </a:solidFill>
            </a:ln>
          </p:spPr>
        </p:pic>
        <p:sp>
          <p:nvSpPr>
            <p:cNvPr id="13" name="TextBox 12">
              <a:extLst>
                <a:ext uri="{FF2B5EF4-FFF2-40B4-BE49-F238E27FC236}">
                  <a16:creationId xmlns:a16="http://schemas.microsoft.com/office/drawing/2014/main" id="{D9FAE50E-5CBB-18CA-6C40-A734E6BBBC14}"/>
                </a:ext>
              </a:extLst>
            </p:cNvPr>
            <p:cNvSpPr txBox="1"/>
            <p:nvPr/>
          </p:nvSpPr>
          <p:spPr>
            <a:xfrm>
              <a:off x="8305800" y="6819900"/>
              <a:ext cx="1505540" cy="461665"/>
            </a:xfrm>
            <a:prstGeom prst="rect">
              <a:avLst/>
            </a:prstGeom>
            <a:noFill/>
          </p:spPr>
          <p:txBody>
            <a:bodyPr wrap="none" rtlCol="0">
              <a:spAutoFit/>
            </a:bodyPr>
            <a:lstStyle/>
            <a:p>
              <a:r>
                <a:rPr lang="en-US" sz="2400" dirty="0"/>
                <a:t>Response</a:t>
              </a:r>
            </a:p>
          </p:txBody>
        </p:sp>
      </p:grpSp>
      <p:sp>
        <p:nvSpPr>
          <p:cNvPr id="20" name="Rounded Rectangle 19">
            <a:extLst>
              <a:ext uri="{FF2B5EF4-FFF2-40B4-BE49-F238E27FC236}">
                <a16:creationId xmlns:a16="http://schemas.microsoft.com/office/drawing/2014/main" id="{413DA822-8581-94E9-2D2B-89921E5C49A7}"/>
              </a:ext>
            </a:extLst>
          </p:cNvPr>
          <p:cNvSpPr/>
          <p:nvPr/>
        </p:nvSpPr>
        <p:spPr>
          <a:xfrm>
            <a:off x="9703944" y="80763"/>
            <a:ext cx="2334639" cy="1439693"/>
          </a:xfrm>
          <a:prstGeom prst="round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perceptual discrimination</a:t>
            </a:r>
          </a:p>
        </p:txBody>
      </p:sp>
      <p:pic>
        <p:nvPicPr>
          <p:cNvPr id="22" name="F_hoshii.mp3">
            <a:hlinkClick r:id="" action="ppaction://media"/>
            <a:extLst>
              <a:ext uri="{FF2B5EF4-FFF2-40B4-BE49-F238E27FC236}">
                <a16:creationId xmlns:a16="http://schemas.microsoft.com/office/drawing/2014/main" id="{2C485342-9A86-CDB7-595B-467862A3C8A2}"/>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6306233" y="5905767"/>
            <a:ext cx="709512" cy="812800"/>
          </a:xfrm>
          <a:prstGeom prst="rect">
            <a:avLst/>
          </a:prstGeom>
        </p:spPr>
      </p:pic>
      <p:pic>
        <p:nvPicPr>
          <p:cNvPr id="23" name="M_hoshi.mp3">
            <a:hlinkClick r:id="" action="ppaction://media"/>
            <a:extLst>
              <a:ext uri="{FF2B5EF4-FFF2-40B4-BE49-F238E27FC236}">
                <a16:creationId xmlns:a16="http://schemas.microsoft.com/office/drawing/2014/main" id="{F88B5796-9771-02BE-263A-35678BFE9763}"/>
              </a:ext>
            </a:extLst>
          </p:cNvPr>
          <p:cNvPicPr>
            <a:picLocks noChangeAspect="1"/>
          </p:cNvPicPr>
          <p:nvPr>
            <a:audioFile r:link="rId4"/>
            <p:extLst>
              <p:ext uri="{DAA4B4D4-6D71-4841-9C94-3DE7FCFB9230}">
                <p14:media xmlns:p14="http://schemas.microsoft.com/office/powerpoint/2010/main" r:embed="rId3"/>
              </p:ext>
            </p:extLst>
          </p:nvPr>
        </p:nvPicPr>
        <p:blipFill>
          <a:blip r:embed="rId12"/>
          <a:stretch>
            <a:fillRect/>
          </a:stretch>
        </p:blipFill>
        <p:spPr>
          <a:xfrm>
            <a:off x="2250376" y="3925964"/>
            <a:ext cx="812800" cy="812800"/>
          </a:xfrm>
          <a:prstGeom prst="rect">
            <a:avLst/>
          </a:prstGeom>
        </p:spPr>
      </p:pic>
    </p:spTree>
    <p:extLst>
      <p:ext uri="{BB962C8B-B14F-4D97-AF65-F5344CB8AC3E}">
        <p14:creationId xmlns:p14="http://schemas.microsoft.com/office/powerpoint/2010/main" val="221395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48" fill="hold"/>
                                        <p:tgtEl>
                                          <p:spTgt spid="23"/>
                                        </p:tgtEl>
                                      </p:cBhvr>
                                    </p:cmd>
                                  </p:childTnLst>
                                </p:cTn>
                              </p:par>
                            </p:childTnLst>
                          </p:cTn>
                        </p:par>
                        <p:par>
                          <p:cTn id="7" fill="hold">
                            <p:stCondLst>
                              <p:cond delay="648"/>
                            </p:stCondLst>
                            <p:childTnLst>
                              <p:par>
                                <p:cTn id="8" presetID="1" presetClass="mediacall" presetSubtype="0" fill="hold" nodeType="afterEffect">
                                  <p:stCondLst>
                                    <p:cond delay="500"/>
                                  </p:stCondLst>
                                  <p:childTnLst>
                                    <p:cmd type="call" cmd="playFrom(0.0)">
                                      <p:cBhvr>
                                        <p:cTn id="9" dur="672"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0" repeatCount="0" fill="hold" display="0">
                  <p:stCondLst>
                    <p:cond delay="indefinite"/>
                  </p:stCondLst>
                  <p:endCondLst>
                    <p:cond evt="onStopAudio" delay="0">
                      <p:tgtEl>
                        <p:sldTgt/>
                      </p:tgtEl>
                    </p:cond>
                  </p:endCondLst>
                </p:cTn>
                <p:tgtEl>
                  <p:spTgt spid="22"/>
                </p:tgtEl>
              </p:cMediaNode>
            </p:audio>
            <p:audio>
              <p:cMediaNode vol="80000" showWhenStopped="0">
                <p:cTn id="11" repeatCount="0" fill="hold" display="0">
                  <p:stCondLst>
                    <p:cond delay="indefinite"/>
                  </p:stCondLst>
                  <p:endCondLst>
                    <p:cond evt="onStopAudio" delay="0">
                      <p:tgtEl>
                        <p:sldTgt/>
                      </p:tgtEl>
                    </p:cond>
                  </p:endCondLst>
                </p:cTn>
                <p:tgtEl>
                  <p:spTgt spid="23"/>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53B641-38DB-E1AE-7DBA-235205314A81}"/>
              </a:ext>
            </a:extLst>
          </p:cNvPr>
          <p:cNvSpPr>
            <a:spLocks noGrp="1"/>
          </p:cNvSpPr>
          <p:nvPr>
            <p:ph type="title"/>
          </p:nvPr>
        </p:nvSpPr>
        <p:spPr/>
        <p:txBody>
          <a:bodyPr>
            <a:normAutofit fontScale="90000"/>
          </a:bodyPr>
          <a:lstStyle/>
          <a:p>
            <a:r>
              <a:rPr lang="en-US" dirty="0"/>
              <a:t>Listeners received feedback during </a:t>
            </a:r>
            <a:r>
              <a:rPr lang="en-US" dirty="0">
                <a:solidFill>
                  <a:srgbClr val="4477AA"/>
                </a:solidFill>
              </a:rPr>
              <a:t>perceptual training </a:t>
            </a:r>
            <a:r>
              <a:rPr lang="en-US" dirty="0"/>
              <a:t>to learn how to tell minimal pairs apart</a:t>
            </a:r>
          </a:p>
        </p:txBody>
      </p:sp>
      <p:pic>
        <p:nvPicPr>
          <p:cNvPr id="5" name="Content Placeholder 4" descr="A screenshot of a video game&#10;&#10;AI-generated content may be incorrect.">
            <a:extLst>
              <a:ext uri="{FF2B5EF4-FFF2-40B4-BE49-F238E27FC236}">
                <a16:creationId xmlns:a16="http://schemas.microsoft.com/office/drawing/2014/main" id="{EE4A4B2A-220E-6C40-D6D2-1B571DCB9236}"/>
              </a:ext>
            </a:extLst>
          </p:cNvPr>
          <p:cNvPicPr>
            <a:picLocks noChangeAspect="1"/>
          </p:cNvPicPr>
          <p:nvPr/>
        </p:nvPicPr>
        <p:blipFill rotWithShape="1">
          <a:blip r:embed="rId3"/>
          <a:srcRect l="5152" t="2904" r="7527" b="33207"/>
          <a:stretch>
            <a:fillRect/>
          </a:stretch>
        </p:blipFill>
        <p:spPr>
          <a:xfrm>
            <a:off x="0" y="2266121"/>
            <a:ext cx="5759023" cy="3120888"/>
          </a:xfrm>
          <a:prstGeom prst="rect">
            <a:avLst/>
          </a:prstGeom>
          <a:solidFill>
            <a:schemeClr val="bg1"/>
          </a:solidFill>
          <a:ln>
            <a:noFill/>
          </a:ln>
        </p:spPr>
      </p:pic>
      <p:pic>
        <p:nvPicPr>
          <p:cNvPr id="6" name="Picture 5" descr="A screenshot of a computer&#10;&#10;AI-generated content may be incorrect.">
            <a:extLst>
              <a:ext uri="{FF2B5EF4-FFF2-40B4-BE49-F238E27FC236}">
                <a16:creationId xmlns:a16="http://schemas.microsoft.com/office/drawing/2014/main" id="{77F058D9-30B0-580B-EDE7-FE22D6626705}"/>
              </a:ext>
            </a:extLst>
          </p:cNvPr>
          <p:cNvPicPr>
            <a:picLocks noChangeAspect="1"/>
          </p:cNvPicPr>
          <p:nvPr/>
        </p:nvPicPr>
        <p:blipFill>
          <a:blip r:embed="rId4"/>
          <a:srcRect l="4081" t="2716" r="2992" b="21558"/>
          <a:stretch>
            <a:fillRect/>
          </a:stretch>
        </p:blipFill>
        <p:spPr>
          <a:xfrm>
            <a:off x="5919437" y="2126973"/>
            <a:ext cx="6272563" cy="3399183"/>
          </a:xfrm>
          <a:prstGeom prst="rect">
            <a:avLst/>
          </a:prstGeom>
          <a:ln>
            <a:noFill/>
          </a:ln>
        </p:spPr>
      </p:pic>
    </p:spTree>
    <p:extLst>
      <p:ext uri="{BB962C8B-B14F-4D97-AF65-F5344CB8AC3E}">
        <p14:creationId xmlns:p14="http://schemas.microsoft.com/office/powerpoint/2010/main" val="15320263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99509-FB17-29D8-A02F-B295AD3B7620}"/>
              </a:ext>
            </a:extLst>
          </p:cNvPr>
          <p:cNvSpPr>
            <a:spLocks noGrp="1"/>
          </p:cNvSpPr>
          <p:nvPr>
            <p:ph type="title"/>
          </p:nvPr>
        </p:nvSpPr>
        <p:spPr/>
        <p:txBody>
          <a:bodyPr>
            <a:normAutofit fontScale="90000"/>
          </a:bodyPr>
          <a:lstStyle/>
          <a:p>
            <a:r>
              <a:rPr lang="en-US" dirty="0">
                <a:solidFill>
                  <a:srgbClr val="4477AA"/>
                </a:solidFill>
              </a:rPr>
              <a:t>Perceptual discrimination training </a:t>
            </a:r>
            <a:r>
              <a:rPr lang="en-US" dirty="0"/>
              <a:t>introduced </a:t>
            </a:r>
            <a:r>
              <a:rPr lang="en-US" dirty="0">
                <a:solidFill>
                  <a:srgbClr val="4477AA"/>
                </a:solidFill>
              </a:rPr>
              <a:t>specific LD </a:t>
            </a:r>
            <a:r>
              <a:rPr lang="en-US" dirty="0"/>
              <a:t>by training two experimental groups with either one language or two languages</a:t>
            </a:r>
          </a:p>
        </p:txBody>
      </p:sp>
      <p:sp>
        <p:nvSpPr>
          <p:cNvPr id="3" name="TextBox 2">
            <a:extLst>
              <a:ext uri="{FF2B5EF4-FFF2-40B4-BE49-F238E27FC236}">
                <a16:creationId xmlns:a16="http://schemas.microsoft.com/office/drawing/2014/main" id="{B2E21D99-D7FA-A439-0B6E-CD8F5B0CB057}"/>
              </a:ext>
            </a:extLst>
          </p:cNvPr>
          <p:cNvSpPr txBox="1"/>
          <p:nvPr/>
        </p:nvSpPr>
        <p:spPr>
          <a:xfrm>
            <a:off x="1225685" y="2879387"/>
            <a:ext cx="1804789" cy="707886"/>
          </a:xfrm>
          <a:prstGeom prst="rect">
            <a:avLst/>
          </a:prstGeom>
          <a:noFill/>
        </p:spPr>
        <p:txBody>
          <a:bodyPr wrap="none" rtlCol="0">
            <a:spAutoFit/>
          </a:bodyPr>
          <a:lstStyle/>
          <a:p>
            <a:r>
              <a:rPr lang="en-US" sz="4000" dirty="0">
                <a:solidFill>
                  <a:srgbClr val="66CCEE"/>
                </a:solidFill>
              </a:rPr>
              <a:t>Low LD</a:t>
            </a:r>
          </a:p>
        </p:txBody>
      </p:sp>
      <p:sp>
        <p:nvSpPr>
          <p:cNvPr id="4" name="TextBox 3">
            <a:extLst>
              <a:ext uri="{FF2B5EF4-FFF2-40B4-BE49-F238E27FC236}">
                <a16:creationId xmlns:a16="http://schemas.microsoft.com/office/drawing/2014/main" id="{7A8585FD-DA9E-9DC2-02CC-D8379CFB1020}"/>
              </a:ext>
            </a:extLst>
          </p:cNvPr>
          <p:cNvSpPr txBox="1"/>
          <p:nvPr/>
        </p:nvSpPr>
        <p:spPr>
          <a:xfrm>
            <a:off x="5950085" y="2879387"/>
            <a:ext cx="1912703" cy="707886"/>
          </a:xfrm>
          <a:prstGeom prst="rect">
            <a:avLst/>
          </a:prstGeom>
          <a:noFill/>
        </p:spPr>
        <p:txBody>
          <a:bodyPr wrap="none" rtlCol="0">
            <a:spAutoFit/>
          </a:bodyPr>
          <a:lstStyle/>
          <a:p>
            <a:r>
              <a:rPr lang="en-US" sz="4000" dirty="0">
                <a:solidFill>
                  <a:srgbClr val="332288"/>
                </a:solidFill>
              </a:rPr>
              <a:t>High LD</a:t>
            </a:r>
          </a:p>
        </p:txBody>
      </p:sp>
      <p:sp>
        <p:nvSpPr>
          <p:cNvPr id="5" name="TextBox 4">
            <a:extLst>
              <a:ext uri="{FF2B5EF4-FFF2-40B4-BE49-F238E27FC236}">
                <a16:creationId xmlns:a16="http://schemas.microsoft.com/office/drawing/2014/main" id="{552AFAF2-89FF-6809-B275-DE7520F46222}"/>
              </a:ext>
            </a:extLst>
          </p:cNvPr>
          <p:cNvSpPr txBox="1"/>
          <p:nvPr/>
        </p:nvSpPr>
        <p:spPr>
          <a:xfrm>
            <a:off x="1225685" y="3871609"/>
            <a:ext cx="3302314" cy="1200329"/>
          </a:xfrm>
          <a:prstGeom prst="rect">
            <a:avLst/>
          </a:prstGeom>
          <a:noFill/>
        </p:spPr>
        <p:txBody>
          <a:bodyPr wrap="none" rtlCol="0">
            <a:spAutoFit/>
          </a:bodyPr>
          <a:lstStyle/>
          <a:p>
            <a:r>
              <a:rPr lang="en-US" sz="2400" u="sng" dirty="0"/>
              <a:t>Japanese minimal pairs</a:t>
            </a:r>
          </a:p>
          <a:p>
            <a:r>
              <a:rPr lang="en-US" sz="2400" i="1" dirty="0" err="1"/>
              <a:t>oto</a:t>
            </a:r>
            <a:r>
              <a:rPr lang="en-US" sz="2400" dirty="0"/>
              <a:t> vs. </a:t>
            </a:r>
            <a:r>
              <a:rPr lang="en-US" sz="2400" i="1" dirty="0"/>
              <a:t>otto</a:t>
            </a:r>
            <a:endParaRPr lang="en-US" sz="2400" dirty="0"/>
          </a:p>
          <a:p>
            <a:r>
              <a:rPr lang="en-US" sz="2400" i="1" dirty="0" err="1"/>
              <a:t>shiru</a:t>
            </a:r>
            <a:r>
              <a:rPr lang="en-US" sz="2400" dirty="0"/>
              <a:t> vs. </a:t>
            </a:r>
            <a:r>
              <a:rPr lang="en-US" sz="2400" i="1" dirty="0" err="1"/>
              <a:t>shiiru</a:t>
            </a:r>
            <a:endParaRPr lang="en-US" sz="2400" i="1" dirty="0"/>
          </a:p>
        </p:txBody>
      </p:sp>
      <p:sp>
        <p:nvSpPr>
          <p:cNvPr id="6" name="TextBox 5">
            <a:extLst>
              <a:ext uri="{FF2B5EF4-FFF2-40B4-BE49-F238E27FC236}">
                <a16:creationId xmlns:a16="http://schemas.microsoft.com/office/drawing/2014/main" id="{4E1D9F29-EFC0-5EFB-A694-FCD66C8FA8DA}"/>
              </a:ext>
            </a:extLst>
          </p:cNvPr>
          <p:cNvSpPr txBox="1"/>
          <p:nvPr/>
        </p:nvSpPr>
        <p:spPr>
          <a:xfrm>
            <a:off x="5950085" y="3871609"/>
            <a:ext cx="5257800" cy="1200329"/>
          </a:xfrm>
          <a:prstGeom prst="rect">
            <a:avLst/>
          </a:prstGeom>
          <a:noFill/>
        </p:spPr>
        <p:txBody>
          <a:bodyPr wrap="square" rtlCol="0">
            <a:spAutoFit/>
          </a:bodyPr>
          <a:lstStyle/>
          <a:p>
            <a:r>
              <a:rPr lang="en-US" sz="2400" u="sng" dirty="0"/>
              <a:t>Japanese minimal pairs</a:t>
            </a:r>
          </a:p>
          <a:p>
            <a:r>
              <a:rPr lang="en-US" sz="2400" i="1" dirty="0" err="1"/>
              <a:t>oto</a:t>
            </a:r>
            <a:r>
              <a:rPr lang="en-US" sz="2400" dirty="0"/>
              <a:t> vs. </a:t>
            </a:r>
            <a:r>
              <a:rPr lang="en-US" sz="2400" i="1" dirty="0"/>
              <a:t>otto </a:t>
            </a:r>
          </a:p>
          <a:p>
            <a:r>
              <a:rPr lang="en-US" sz="2400" i="1" dirty="0" err="1"/>
              <a:t>shiru</a:t>
            </a:r>
            <a:r>
              <a:rPr lang="en-US" sz="2400" dirty="0"/>
              <a:t> vs. </a:t>
            </a:r>
            <a:r>
              <a:rPr lang="en-US" sz="2400" i="1" dirty="0" err="1"/>
              <a:t>shiiru</a:t>
            </a:r>
            <a:r>
              <a:rPr lang="en-US" sz="2400" i="1" dirty="0"/>
              <a:t> </a:t>
            </a:r>
            <a:endParaRPr lang="en-US" sz="2400" dirty="0"/>
          </a:p>
        </p:txBody>
      </p:sp>
      <p:sp>
        <p:nvSpPr>
          <p:cNvPr id="7" name="TextBox 6">
            <a:extLst>
              <a:ext uri="{FF2B5EF4-FFF2-40B4-BE49-F238E27FC236}">
                <a16:creationId xmlns:a16="http://schemas.microsoft.com/office/drawing/2014/main" id="{29DBF573-3340-F8A3-5587-C23EFAAABF3A}"/>
              </a:ext>
            </a:extLst>
          </p:cNvPr>
          <p:cNvSpPr txBox="1"/>
          <p:nvPr/>
        </p:nvSpPr>
        <p:spPr>
          <a:xfrm>
            <a:off x="5950085" y="5168029"/>
            <a:ext cx="6104235" cy="1200329"/>
          </a:xfrm>
          <a:prstGeom prst="rect">
            <a:avLst/>
          </a:prstGeom>
          <a:noFill/>
        </p:spPr>
        <p:txBody>
          <a:bodyPr wrap="none" rtlCol="0">
            <a:spAutoFit/>
          </a:bodyPr>
          <a:lstStyle/>
          <a:p>
            <a:r>
              <a:rPr lang="en-US" sz="2400" u="sng" dirty="0"/>
              <a:t>Modern Standard Arabic (MSA) minimal pairs</a:t>
            </a:r>
            <a:endParaRPr lang="en-US" sz="2400" dirty="0"/>
          </a:p>
          <a:p>
            <a:r>
              <a:rPr lang="en-US" sz="2400" i="1" dirty="0" err="1"/>
              <a:t>watara</a:t>
            </a:r>
            <a:r>
              <a:rPr lang="en-US" sz="2400" i="1" dirty="0"/>
              <a:t> </a:t>
            </a:r>
            <a:r>
              <a:rPr lang="en-US" sz="2400" dirty="0"/>
              <a:t>vs. </a:t>
            </a:r>
            <a:r>
              <a:rPr lang="en-US" sz="2400" i="1" dirty="0" err="1"/>
              <a:t>wattara</a:t>
            </a:r>
            <a:endParaRPr lang="en-US" sz="2400" dirty="0"/>
          </a:p>
          <a:p>
            <a:r>
              <a:rPr lang="en-US" sz="2400" i="1" dirty="0" err="1"/>
              <a:t>kataba</a:t>
            </a:r>
            <a:r>
              <a:rPr lang="en-US" sz="2400" i="1" dirty="0"/>
              <a:t> </a:t>
            </a:r>
            <a:r>
              <a:rPr lang="en-US" sz="2400" dirty="0"/>
              <a:t>vs. </a:t>
            </a:r>
            <a:r>
              <a:rPr lang="en-US" sz="2400" i="1" dirty="0" err="1"/>
              <a:t>kaataba</a:t>
            </a:r>
            <a:endParaRPr lang="en-US" sz="2400" i="1" dirty="0"/>
          </a:p>
        </p:txBody>
      </p:sp>
    </p:spTree>
    <p:extLst>
      <p:ext uri="{BB962C8B-B14F-4D97-AF65-F5344CB8AC3E}">
        <p14:creationId xmlns:p14="http://schemas.microsoft.com/office/powerpoint/2010/main" val="274841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1B04DB01-6C28-17DB-7D18-4C4BEF98DA1B}"/>
              </a:ext>
            </a:extLst>
          </p:cNvPr>
          <p:cNvSpPr/>
          <p:nvPr/>
        </p:nvSpPr>
        <p:spPr>
          <a:xfrm>
            <a:off x="7757641" y="1848120"/>
            <a:ext cx="120676" cy="107994"/>
          </a:xfrm>
          <a:prstGeom prst="rect">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8E3B9FE-1378-487C-3CD0-DA9A9996E5BC}"/>
              </a:ext>
            </a:extLst>
          </p:cNvPr>
          <p:cNvSpPr txBox="1"/>
          <p:nvPr/>
        </p:nvSpPr>
        <p:spPr>
          <a:xfrm>
            <a:off x="7326205" y="346225"/>
            <a:ext cx="1804789" cy="707886"/>
          </a:xfrm>
          <a:prstGeom prst="rect">
            <a:avLst/>
          </a:prstGeom>
          <a:noFill/>
        </p:spPr>
        <p:txBody>
          <a:bodyPr wrap="none" rtlCol="0">
            <a:spAutoFit/>
          </a:bodyPr>
          <a:lstStyle/>
          <a:p>
            <a:r>
              <a:rPr lang="en-US" sz="4000" dirty="0">
                <a:solidFill>
                  <a:srgbClr val="66CCEE"/>
                </a:solidFill>
              </a:rPr>
              <a:t>Low LD</a:t>
            </a:r>
          </a:p>
        </p:txBody>
      </p:sp>
      <p:sp>
        <p:nvSpPr>
          <p:cNvPr id="4" name="TextBox 3">
            <a:extLst>
              <a:ext uri="{FF2B5EF4-FFF2-40B4-BE49-F238E27FC236}">
                <a16:creationId xmlns:a16="http://schemas.microsoft.com/office/drawing/2014/main" id="{AB5D6389-5A45-E2A4-1B6E-020B023EDBE7}"/>
              </a:ext>
            </a:extLst>
          </p:cNvPr>
          <p:cNvSpPr txBox="1"/>
          <p:nvPr/>
        </p:nvSpPr>
        <p:spPr>
          <a:xfrm>
            <a:off x="9700302" y="328784"/>
            <a:ext cx="1912703" cy="707886"/>
          </a:xfrm>
          <a:prstGeom prst="rect">
            <a:avLst/>
          </a:prstGeom>
          <a:noFill/>
        </p:spPr>
        <p:txBody>
          <a:bodyPr wrap="none" rtlCol="0">
            <a:spAutoFit/>
          </a:bodyPr>
          <a:lstStyle/>
          <a:p>
            <a:r>
              <a:rPr lang="en-US" sz="4000" dirty="0">
                <a:solidFill>
                  <a:srgbClr val="332288"/>
                </a:solidFill>
              </a:rPr>
              <a:t>High LD</a:t>
            </a:r>
          </a:p>
        </p:txBody>
      </p:sp>
      <p:sp useBgFill="1">
        <p:nvSpPr>
          <p:cNvPr id="5" name="Rounded Rectangle 4">
            <a:extLst>
              <a:ext uri="{FF2B5EF4-FFF2-40B4-BE49-F238E27FC236}">
                <a16:creationId xmlns:a16="http://schemas.microsoft.com/office/drawing/2014/main" id="{602F5BFD-235C-E29C-86CD-DE2083A287D2}"/>
              </a:ext>
            </a:extLst>
          </p:cNvPr>
          <p:cNvSpPr/>
          <p:nvPr/>
        </p:nvSpPr>
        <p:spPr>
          <a:xfrm>
            <a:off x="196175" y="1600334"/>
            <a:ext cx="2522400" cy="1162321"/>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Specific LD</a:t>
            </a:r>
          </a:p>
        </p:txBody>
      </p:sp>
      <p:sp useBgFill="1">
        <p:nvSpPr>
          <p:cNvPr id="6" name="Rounded Rectangle 5">
            <a:extLst>
              <a:ext uri="{FF2B5EF4-FFF2-40B4-BE49-F238E27FC236}">
                <a16:creationId xmlns:a16="http://schemas.microsoft.com/office/drawing/2014/main" id="{F3D8C831-1C64-2421-C73D-F9330E67804C}"/>
              </a:ext>
            </a:extLst>
          </p:cNvPr>
          <p:cNvSpPr/>
          <p:nvPr/>
        </p:nvSpPr>
        <p:spPr>
          <a:xfrm>
            <a:off x="3573601" y="1600334"/>
            <a:ext cx="2522400" cy="1162321"/>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Gradient categorization</a:t>
            </a:r>
          </a:p>
        </p:txBody>
      </p:sp>
      <p:sp>
        <p:nvSpPr>
          <p:cNvPr id="7" name="Rounded Rectangle 6">
            <a:extLst>
              <a:ext uri="{FF2B5EF4-FFF2-40B4-BE49-F238E27FC236}">
                <a16:creationId xmlns:a16="http://schemas.microsoft.com/office/drawing/2014/main" id="{70B73596-61D3-CF66-90F4-EE8C6561EB94}"/>
              </a:ext>
            </a:extLst>
          </p:cNvPr>
          <p:cNvSpPr/>
          <p:nvPr/>
        </p:nvSpPr>
        <p:spPr>
          <a:xfrm>
            <a:off x="196175" y="3429000"/>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Specific LD</a:t>
            </a:r>
          </a:p>
        </p:txBody>
      </p:sp>
      <p:sp>
        <p:nvSpPr>
          <p:cNvPr id="9" name="Rounded Rectangle 8">
            <a:extLst>
              <a:ext uri="{FF2B5EF4-FFF2-40B4-BE49-F238E27FC236}">
                <a16:creationId xmlns:a16="http://schemas.microsoft.com/office/drawing/2014/main" id="{7BFE19A3-86AB-73C0-4D3C-D1268462CEAE}"/>
              </a:ext>
            </a:extLst>
          </p:cNvPr>
          <p:cNvSpPr/>
          <p:nvPr/>
        </p:nvSpPr>
        <p:spPr>
          <a:xfrm>
            <a:off x="3573601" y="3429000"/>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L2 perceptual discrimination</a:t>
            </a:r>
          </a:p>
        </p:txBody>
      </p:sp>
      <p:sp>
        <p:nvSpPr>
          <p:cNvPr id="10" name="Rounded Rectangle 9">
            <a:extLst>
              <a:ext uri="{FF2B5EF4-FFF2-40B4-BE49-F238E27FC236}">
                <a16:creationId xmlns:a16="http://schemas.microsoft.com/office/drawing/2014/main" id="{78523786-1FB8-14EC-E8CE-68B2DBEE8EB9}"/>
              </a:ext>
            </a:extLst>
          </p:cNvPr>
          <p:cNvSpPr/>
          <p:nvPr/>
        </p:nvSpPr>
        <p:spPr>
          <a:xfrm>
            <a:off x="3537931" y="5257666"/>
            <a:ext cx="2558069" cy="1162320"/>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L2 perceptual discrimination</a:t>
            </a:r>
          </a:p>
        </p:txBody>
      </p:sp>
      <p:cxnSp>
        <p:nvCxnSpPr>
          <p:cNvPr id="11" name="Straight Arrow Connector 10">
            <a:extLst>
              <a:ext uri="{FF2B5EF4-FFF2-40B4-BE49-F238E27FC236}">
                <a16:creationId xmlns:a16="http://schemas.microsoft.com/office/drawing/2014/main" id="{6D461045-8303-386B-C254-7B5F1B7AE58F}"/>
              </a:ext>
            </a:extLst>
          </p:cNvPr>
          <p:cNvCxnSpPr>
            <a:cxnSpLocks/>
            <a:stCxn id="5" idx="3"/>
            <a:endCxn id="6" idx="1"/>
          </p:cNvCxnSpPr>
          <p:nvPr/>
        </p:nvCxnSpPr>
        <p:spPr>
          <a:xfrm>
            <a:off x="2718575" y="2181495"/>
            <a:ext cx="855026"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55E7F43-C36F-5E6E-5806-91C5F3C48FE0}"/>
              </a:ext>
            </a:extLst>
          </p:cNvPr>
          <p:cNvCxnSpPr>
            <a:cxnSpLocks/>
            <a:stCxn id="7" idx="3"/>
            <a:endCxn id="9" idx="1"/>
          </p:cNvCxnSpPr>
          <p:nvPr/>
        </p:nvCxnSpPr>
        <p:spPr>
          <a:xfrm>
            <a:off x="2718575" y="4010161"/>
            <a:ext cx="855026" cy="0"/>
          </a:xfrm>
          <a:prstGeom prst="straightConnector1">
            <a:avLst/>
          </a:prstGeom>
          <a:ln w="63500">
            <a:solidFill>
              <a:srgbClr val="9B9CA1">
                <a:alpha val="25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E1F8CD54-598F-36C8-DF6F-B4DBB7A115C5}"/>
              </a:ext>
            </a:extLst>
          </p:cNvPr>
          <p:cNvCxnSpPr>
            <a:cxnSpLocks/>
            <a:stCxn id="30" idx="3"/>
            <a:endCxn id="10" idx="1"/>
          </p:cNvCxnSpPr>
          <p:nvPr/>
        </p:nvCxnSpPr>
        <p:spPr>
          <a:xfrm flipV="1">
            <a:off x="2718575" y="5838826"/>
            <a:ext cx="819356" cy="1"/>
          </a:xfrm>
          <a:prstGeom prst="straightConnector1">
            <a:avLst/>
          </a:prstGeom>
          <a:ln w="63500">
            <a:solidFill>
              <a:srgbClr val="9B9CA1">
                <a:alpha val="25000"/>
              </a:srgbClr>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a:extLst>
              <a:ext uri="{FF2B5EF4-FFF2-40B4-BE49-F238E27FC236}">
                <a16:creationId xmlns:a16="http://schemas.microsoft.com/office/drawing/2014/main" id="{53F059F1-E3E1-AD3B-5B9C-B42508E1CB07}"/>
              </a:ext>
            </a:extLst>
          </p:cNvPr>
          <p:cNvSpPr/>
          <p:nvPr/>
        </p:nvSpPr>
        <p:spPr>
          <a:xfrm>
            <a:off x="196175" y="5257666"/>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Gradient categorization</a:t>
            </a:r>
          </a:p>
        </p:txBody>
      </p:sp>
      <p:sp>
        <p:nvSpPr>
          <p:cNvPr id="33" name="Rectangle 32">
            <a:extLst>
              <a:ext uri="{FF2B5EF4-FFF2-40B4-BE49-F238E27FC236}">
                <a16:creationId xmlns:a16="http://schemas.microsoft.com/office/drawing/2014/main" id="{B37DBE9A-1E56-2514-E9F7-97C1F2BC9312}"/>
              </a:ext>
            </a:extLst>
          </p:cNvPr>
          <p:cNvSpPr/>
          <p:nvPr/>
        </p:nvSpPr>
        <p:spPr>
          <a:xfrm>
            <a:off x="7466384" y="1271123"/>
            <a:ext cx="1804789" cy="15601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C8CF9EC-CA84-19EF-5FE9-23704E66E749}"/>
              </a:ext>
            </a:extLst>
          </p:cNvPr>
          <p:cNvSpPr txBox="1"/>
          <p:nvPr/>
        </p:nvSpPr>
        <p:spPr>
          <a:xfrm>
            <a:off x="7421627" y="2873100"/>
            <a:ext cx="1849545" cy="461665"/>
          </a:xfrm>
          <a:prstGeom prst="rect">
            <a:avLst/>
          </a:prstGeom>
          <a:noFill/>
        </p:spPr>
        <p:txBody>
          <a:bodyPr wrap="none" rtlCol="0">
            <a:spAutoFit/>
          </a:bodyPr>
          <a:lstStyle/>
          <a:p>
            <a:r>
              <a:rPr lang="en-US" sz="2400" dirty="0"/>
              <a:t>Day 1	Day 2</a:t>
            </a:r>
          </a:p>
        </p:txBody>
      </p:sp>
      <p:sp>
        <p:nvSpPr>
          <p:cNvPr id="36" name="TextBox 35">
            <a:extLst>
              <a:ext uri="{FF2B5EF4-FFF2-40B4-BE49-F238E27FC236}">
                <a16:creationId xmlns:a16="http://schemas.microsoft.com/office/drawing/2014/main" id="{0D9FE6F9-71D3-1361-1C08-09D4BE94E68D}"/>
              </a:ext>
            </a:extLst>
          </p:cNvPr>
          <p:cNvSpPr txBox="1"/>
          <p:nvPr/>
        </p:nvSpPr>
        <p:spPr>
          <a:xfrm rot="16200000">
            <a:off x="6717223" y="1851154"/>
            <a:ext cx="817853" cy="400110"/>
          </a:xfrm>
          <a:prstGeom prst="rect">
            <a:avLst/>
          </a:prstGeom>
          <a:noFill/>
        </p:spPr>
        <p:txBody>
          <a:bodyPr wrap="none" rtlCol="0">
            <a:spAutoFit/>
          </a:bodyPr>
          <a:lstStyle/>
          <a:p>
            <a:r>
              <a:rPr lang="en-US" sz="2000" dirty="0"/>
              <a:t>Slope</a:t>
            </a:r>
          </a:p>
        </p:txBody>
      </p:sp>
      <p:sp>
        <p:nvSpPr>
          <p:cNvPr id="37" name="TextBox 36">
            <a:extLst>
              <a:ext uri="{FF2B5EF4-FFF2-40B4-BE49-F238E27FC236}">
                <a16:creationId xmlns:a16="http://schemas.microsoft.com/office/drawing/2014/main" id="{CF74FDE1-D336-208F-58DC-5C7EA5C1B0B3}"/>
              </a:ext>
            </a:extLst>
          </p:cNvPr>
          <p:cNvSpPr txBox="1"/>
          <p:nvPr/>
        </p:nvSpPr>
        <p:spPr>
          <a:xfrm rot="16200000">
            <a:off x="6299542" y="4083935"/>
            <a:ext cx="1562968" cy="707886"/>
          </a:xfrm>
          <a:prstGeom prst="rect">
            <a:avLst/>
          </a:prstGeom>
          <a:noFill/>
        </p:spPr>
        <p:txBody>
          <a:bodyPr wrap="square" rtlCol="0">
            <a:spAutoFit/>
          </a:bodyPr>
          <a:lstStyle/>
          <a:p>
            <a:pPr algn="ctr"/>
            <a:r>
              <a:rPr lang="en-US" sz="2000" dirty="0"/>
              <a:t>Response Variability</a:t>
            </a:r>
          </a:p>
        </p:txBody>
      </p:sp>
      <p:cxnSp>
        <p:nvCxnSpPr>
          <p:cNvPr id="38" name="Straight Connector 37">
            <a:extLst>
              <a:ext uri="{FF2B5EF4-FFF2-40B4-BE49-F238E27FC236}">
                <a16:creationId xmlns:a16="http://schemas.microsoft.com/office/drawing/2014/main" id="{30561441-AD63-D73F-75E1-19EF60532C21}"/>
              </a:ext>
            </a:extLst>
          </p:cNvPr>
          <p:cNvCxnSpPr>
            <a:cxnSpLocks/>
            <a:stCxn id="64" idx="3"/>
            <a:endCxn id="63" idx="3"/>
          </p:cNvCxnSpPr>
          <p:nvPr/>
        </p:nvCxnSpPr>
        <p:spPr>
          <a:xfrm>
            <a:off x="7878317" y="1902117"/>
            <a:ext cx="1215597" cy="154640"/>
          </a:xfrm>
          <a:prstGeom prst="line">
            <a:avLst/>
          </a:prstGeom>
          <a:ln w="38100">
            <a:solidFill>
              <a:srgbClr val="66CCEE"/>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B39542D-5242-E75D-66BB-F3D7E489355D}"/>
              </a:ext>
            </a:extLst>
          </p:cNvPr>
          <p:cNvCxnSpPr>
            <a:cxnSpLocks/>
          </p:cNvCxnSpPr>
          <p:nvPr/>
        </p:nvCxnSpPr>
        <p:spPr>
          <a:xfrm>
            <a:off x="7785151" y="1868873"/>
            <a:ext cx="1252181" cy="591263"/>
          </a:xfrm>
          <a:prstGeom prst="line">
            <a:avLst/>
          </a:prstGeom>
          <a:ln w="38100">
            <a:solidFill>
              <a:srgbClr val="332288"/>
            </a:solidFill>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5EB53E65-FDC1-3FE7-A176-4DA56AB85838}"/>
              </a:ext>
            </a:extLst>
          </p:cNvPr>
          <p:cNvSpPr/>
          <p:nvPr/>
        </p:nvSpPr>
        <p:spPr>
          <a:xfrm>
            <a:off x="7466384" y="3617778"/>
            <a:ext cx="1804789" cy="15601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CF7D8E50-C855-CBC3-3313-72CE66E1871B}"/>
              </a:ext>
            </a:extLst>
          </p:cNvPr>
          <p:cNvCxnSpPr>
            <a:cxnSpLocks/>
          </p:cNvCxnSpPr>
          <p:nvPr/>
        </p:nvCxnSpPr>
        <p:spPr>
          <a:xfrm>
            <a:off x="7731808" y="4236542"/>
            <a:ext cx="1287006" cy="193944"/>
          </a:xfrm>
          <a:prstGeom prst="line">
            <a:avLst/>
          </a:prstGeom>
          <a:ln w="38100">
            <a:solidFill>
              <a:srgbClr val="66CCEE"/>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F0754E15-2C24-BC8C-0A2D-E2872EC757AD}"/>
              </a:ext>
            </a:extLst>
          </p:cNvPr>
          <p:cNvCxnSpPr>
            <a:cxnSpLocks/>
          </p:cNvCxnSpPr>
          <p:nvPr/>
        </p:nvCxnSpPr>
        <p:spPr>
          <a:xfrm>
            <a:off x="7752522" y="4269850"/>
            <a:ext cx="1253225" cy="515759"/>
          </a:xfrm>
          <a:prstGeom prst="line">
            <a:avLst/>
          </a:prstGeom>
          <a:ln w="38100">
            <a:solidFill>
              <a:srgbClr val="332288"/>
            </a:solidFill>
          </a:ln>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3ED9709C-865B-96B5-9F0C-89EAE51D0F13}"/>
              </a:ext>
            </a:extLst>
          </p:cNvPr>
          <p:cNvSpPr/>
          <p:nvPr/>
        </p:nvSpPr>
        <p:spPr>
          <a:xfrm>
            <a:off x="7716060" y="1816276"/>
            <a:ext cx="120676" cy="107994"/>
          </a:xfrm>
          <a:prstGeom prst="rect">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C57CF03F-9EDB-AE9F-A83B-5398E8C65FE4}"/>
              </a:ext>
            </a:extLst>
          </p:cNvPr>
          <p:cNvSpPr/>
          <p:nvPr/>
        </p:nvSpPr>
        <p:spPr>
          <a:xfrm>
            <a:off x="8973238" y="2399231"/>
            <a:ext cx="120676" cy="107994"/>
          </a:xfrm>
          <a:prstGeom prst="rect">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F37DD11A-9D99-FD47-ED8A-7574554C38BE}"/>
              </a:ext>
            </a:extLst>
          </p:cNvPr>
          <p:cNvSpPr/>
          <p:nvPr/>
        </p:nvSpPr>
        <p:spPr>
          <a:xfrm>
            <a:off x="8973238" y="2002760"/>
            <a:ext cx="120676" cy="107994"/>
          </a:xfrm>
          <a:prstGeom prst="rect">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Decision 67">
            <a:extLst>
              <a:ext uri="{FF2B5EF4-FFF2-40B4-BE49-F238E27FC236}">
                <a16:creationId xmlns:a16="http://schemas.microsoft.com/office/drawing/2014/main" id="{7EE9663A-82AD-B621-0A22-01F6BF40F70F}"/>
              </a:ext>
            </a:extLst>
          </p:cNvPr>
          <p:cNvSpPr/>
          <p:nvPr/>
        </p:nvSpPr>
        <p:spPr>
          <a:xfrm>
            <a:off x="7688397" y="4164148"/>
            <a:ext cx="138487" cy="144788"/>
          </a:xfrm>
          <a:prstGeom prst="flowChartDecision">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Decision 68">
            <a:extLst>
              <a:ext uri="{FF2B5EF4-FFF2-40B4-BE49-F238E27FC236}">
                <a16:creationId xmlns:a16="http://schemas.microsoft.com/office/drawing/2014/main" id="{1847F6FD-D8DD-CFFA-06E9-30AF79E0623D}"/>
              </a:ext>
            </a:extLst>
          </p:cNvPr>
          <p:cNvSpPr/>
          <p:nvPr/>
        </p:nvSpPr>
        <p:spPr>
          <a:xfrm>
            <a:off x="8930729" y="4353978"/>
            <a:ext cx="138487" cy="144788"/>
          </a:xfrm>
          <a:prstGeom prst="flowChartDecision">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Decision 69">
            <a:extLst>
              <a:ext uri="{FF2B5EF4-FFF2-40B4-BE49-F238E27FC236}">
                <a16:creationId xmlns:a16="http://schemas.microsoft.com/office/drawing/2014/main" id="{FD32EF46-9713-8509-AB0A-0AD1F3D7A493}"/>
              </a:ext>
            </a:extLst>
          </p:cNvPr>
          <p:cNvSpPr/>
          <p:nvPr/>
        </p:nvSpPr>
        <p:spPr>
          <a:xfrm>
            <a:off x="8921485" y="4714777"/>
            <a:ext cx="138487" cy="144788"/>
          </a:xfrm>
          <a:prstGeom prst="flowChartDecision">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Decision 70">
            <a:extLst>
              <a:ext uri="{FF2B5EF4-FFF2-40B4-BE49-F238E27FC236}">
                <a16:creationId xmlns:a16="http://schemas.microsoft.com/office/drawing/2014/main" id="{F84F2AB7-140B-0338-CECE-ADCBA258D604}"/>
              </a:ext>
            </a:extLst>
          </p:cNvPr>
          <p:cNvSpPr/>
          <p:nvPr/>
        </p:nvSpPr>
        <p:spPr>
          <a:xfrm>
            <a:off x="7670211" y="4197509"/>
            <a:ext cx="138487" cy="144788"/>
          </a:xfrm>
          <a:prstGeom prst="flowChartDecision">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E6AE535C-4A63-0EA2-4398-5ED1C3202BD5}"/>
              </a:ext>
            </a:extLst>
          </p:cNvPr>
          <p:cNvSpPr txBox="1"/>
          <p:nvPr/>
        </p:nvSpPr>
        <p:spPr>
          <a:xfrm>
            <a:off x="7421628" y="5197260"/>
            <a:ext cx="1849545" cy="461665"/>
          </a:xfrm>
          <a:prstGeom prst="rect">
            <a:avLst/>
          </a:prstGeom>
          <a:noFill/>
        </p:spPr>
        <p:txBody>
          <a:bodyPr wrap="none" rtlCol="0">
            <a:spAutoFit/>
          </a:bodyPr>
          <a:lstStyle/>
          <a:p>
            <a:r>
              <a:rPr lang="en-US" sz="2400" dirty="0"/>
              <a:t>Day 1	Day 2</a:t>
            </a:r>
          </a:p>
        </p:txBody>
      </p:sp>
    </p:spTree>
    <p:extLst>
      <p:ext uri="{BB962C8B-B14F-4D97-AF65-F5344CB8AC3E}">
        <p14:creationId xmlns:p14="http://schemas.microsoft.com/office/powerpoint/2010/main" val="455188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different types of lines&#10;&#10;AI-generated content may be incorrect.">
            <a:extLst>
              <a:ext uri="{FF2B5EF4-FFF2-40B4-BE49-F238E27FC236}">
                <a16:creationId xmlns:a16="http://schemas.microsoft.com/office/drawing/2014/main" id="{91FED972-0EBC-4A3F-5580-A1F117BC209B}"/>
              </a:ext>
            </a:extLst>
          </p:cNvPr>
          <p:cNvPicPr>
            <a:picLocks noChangeAspect="1"/>
          </p:cNvPicPr>
          <p:nvPr/>
        </p:nvPicPr>
        <p:blipFill>
          <a:blip r:embed="rId3"/>
          <a:srcRect b="11566"/>
          <a:stretch>
            <a:fillRect/>
          </a:stretch>
        </p:blipFill>
        <p:spPr>
          <a:xfrm>
            <a:off x="5380134" y="0"/>
            <a:ext cx="6666524" cy="5895464"/>
          </a:xfrm>
          <a:prstGeom prst="rect">
            <a:avLst/>
          </a:prstGeom>
        </p:spPr>
      </p:pic>
      <p:sp>
        <p:nvSpPr>
          <p:cNvPr id="7" name="Title 19">
            <a:extLst>
              <a:ext uri="{FF2B5EF4-FFF2-40B4-BE49-F238E27FC236}">
                <a16:creationId xmlns:a16="http://schemas.microsoft.com/office/drawing/2014/main" id="{C896F052-21EA-B4E1-AEF4-8F683FF4935E}"/>
              </a:ext>
            </a:extLst>
          </p:cNvPr>
          <p:cNvSpPr txBox="1">
            <a:spLocks/>
          </p:cNvSpPr>
          <p:nvPr/>
        </p:nvSpPr>
        <p:spPr>
          <a:xfrm>
            <a:off x="424213" y="656406"/>
            <a:ext cx="4100895" cy="3340034"/>
          </a:xfrm>
          <a:prstGeom prst="rect">
            <a:avLst/>
          </a:prstGeom>
        </p:spPr>
        <p:txBody>
          <a:bodyP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4477AA"/>
                </a:solidFill>
              </a:rPr>
              <a:t>LD training condition </a:t>
            </a:r>
            <a:r>
              <a:rPr lang="en-US" dirty="0"/>
              <a:t>did not lead to changes in </a:t>
            </a:r>
            <a:r>
              <a:rPr lang="en-US" dirty="0">
                <a:solidFill>
                  <a:srgbClr val="AA3377"/>
                </a:solidFill>
              </a:rPr>
              <a:t>L1 or L2 categorization measures</a:t>
            </a:r>
          </a:p>
        </p:txBody>
      </p:sp>
      <p:sp useBgFill="1">
        <p:nvSpPr>
          <p:cNvPr id="8" name="Rounded Rectangle 7">
            <a:extLst>
              <a:ext uri="{FF2B5EF4-FFF2-40B4-BE49-F238E27FC236}">
                <a16:creationId xmlns:a16="http://schemas.microsoft.com/office/drawing/2014/main" id="{0CAFE28B-1427-7996-E703-E9E4B0670DB8}"/>
              </a:ext>
            </a:extLst>
          </p:cNvPr>
          <p:cNvSpPr/>
          <p:nvPr/>
        </p:nvSpPr>
        <p:spPr>
          <a:xfrm>
            <a:off x="0" y="5620433"/>
            <a:ext cx="2522400" cy="1162321"/>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Specific LD</a:t>
            </a:r>
          </a:p>
        </p:txBody>
      </p:sp>
      <p:sp useBgFill="1">
        <p:nvSpPr>
          <p:cNvPr id="9" name="Rounded Rectangle 8">
            <a:extLst>
              <a:ext uri="{FF2B5EF4-FFF2-40B4-BE49-F238E27FC236}">
                <a16:creationId xmlns:a16="http://schemas.microsoft.com/office/drawing/2014/main" id="{E2E41834-42A5-DBAA-62AB-46D3AF3D44C1}"/>
              </a:ext>
            </a:extLst>
          </p:cNvPr>
          <p:cNvSpPr/>
          <p:nvPr/>
        </p:nvSpPr>
        <p:spPr>
          <a:xfrm>
            <a:off x="3377426" y="5620433"/>
            <a:ext cx="2522400" cy="1162321"/>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Gradient categorization</a:t>
            </a:r>
          </a:p>
        </p:txBody>
      </p:sp>
      <p:cxnSp>
        <p:nvCxnSpPr>
          <p:cNvPr id="10" name="Straight Arrow Connector 9">
            <a:extLst>
              <a:ext uri="{FF2B5EF4-FFF2-40B4-BE49-F238E27FC236}">
                <a16:creationId xmlns:a16="http://schemas.microsoft.com/office/drawing/2014/main" id="{A013BA1D-EF8A-E895-3810-79AE1B1AB66C}"/>
              </a:ext>
            </a:extLst>
          </p:cNvPr>
          <p:cNvCxnSpPr>
            <a:cxnSpLocks/>
            <a:stCxn id="8" idx="3"/>
            <a:endCxn id="9" idx="1"/>
          </p:cNvCxnSpPr>
          <p:nvPr/>
        </p:nvCxnSpPr>
        <p:spPr>
          <a:xfrm>
            <a:off x="2522400" y="6201594"/>
            <a:ext cx="855026"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9DB3059-C45C-77BF-6D6F-CFA42B4C815A}"/>
              </a:ext>
            </a:extLst>
          </p:cNvPr>
          <p:cNvSpPr txBox="1"/>
          <p:nvPr/>
        </p:nvSpPr>
        <p:spPr>
          <a:xfrm>
            <a:off x="7121807" y="5818145"/>
            <a:ext cx="1804789" cy="707886"/>
          </a:xfrm>
          <a:prstGeom prst="rect">
            <a:avLst/>
          </a:prstGeom>
          <a:noFill/>
        </p:spPr>
        <p:txBody>
          <a:bodyPr wrap="none" rtlCol="0">
            <a:spAutoFit/>
          </a:bodyPr>
          <a:lstStyle/>
          <a:p>
            <a:r>
              <a:rPr lang="en-US" sz="4000" dirty="0">
                <a:solidFill>
                  <a:srgbClr val="66CCEE"/>
                </a:solidFill>
              </a:rPr>
              <a:t>Low LD</a:t>
            </a:r>
          </a:p>
        </p:txBody>
      </p:sp>
      <p:sp>
        <p:nvSpPr>
          <p:cNvPr id="12" name="TextBox 11">
            <a:extLst>
              <a:ext uri="{FF2B5EF4-FFF2-40B4-BE49-F238E27FC236}">
                <a16:creationId xmlns:a16="http://schemas.microsoft.com/office/drawing/2014/main" id="{375FA99A-3C7A-58E6-D934-6BA5361829F7}"/>
              </a:ext>
            </a:extLst>
          </p:cNvPr>
          <p:cNvSpPr txBox="1"/>
          <p:nvPr/>
        </p:nvSpPr>
        <p:spPr>
          <a:xfrm>
            <a:off x="9669600" y="5818145"/>
            <a:ext cx="1912703" cy="707886"/>
          </a:xfrm>
          <a:prstGeom prst="rect">
            <a:avLst/>
          </a:prstGeom>
          <a:noFill/>
        </p:spPr>
        <p:txBody>
          <a:bodyPr wrap="none" rtlCol="0">
            <a:spAutoFit/>
          </a:bodyPr>
          <a:lstStyle/>
          <a:p>
            <a:r>
              <a:rPr lang="en-US" sz="4000" dirty="0">
                <a:solidFill>
                  <a:srgbClr val="332288"/>
                </a:solidFill>
              </a:rPr>
              <a:t>High LD</a:t>
            </a:r>
          </a:p>
        </p:txBody>
      </p:sp>
      <p:sp>
        <p:nvSpPr>
          <p:cNvPr id="13" name="Multiply 12">
            <a:extLst>
              <a:ext uri="{FF2B5EF4-FFF2-40B4-BE49-F238E27FC236}">
                <a16:creationId xmlns:a16="http://schemas.microsoft.com/office/drawing/2014/main" id="{FB0C47FF-6429-CAD8-3F19-3E8D95DA0CDF}"/>
              </a:ext>
            </a:extLst>
          </p:cNvPr>
          <p:cNvSpPr/>
          <p:nvPr/>
        </p:nvSpPr>
        <p:spPr>
          <a:xfrm>
            <a:off x="2441184" y="5818145"/>
            <a:ext cx="894944" cy="796216"/>
          </a:xfrm>
          <a:prstGeom prst="mathMultiply">
            <a:avLst/>
          </a:prstGeom>
          <a:solidFill>
            <a:srgbClr val="9B9C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5D06A97-18D6-0E9C-9CAE-981591FB2F5F}"/>
              </a:ext>
            </a:extLst>
          </p:cNvPr>
          <p:cNvSpPr txBox="1"/>
          <p:nvPr/>
        </p:nvSpPr>
        <p:spPr>
          <a:xfrm>
            <a:off x="7499184" y="6352751"/>
            <a:ext cx="1106393" cy="523220"/>
          </a:xfrm>
          <a:prstGeom prst="rect">
            <a:avLst/>
          </a:prstGeom>
          <a:noFill/>
        </p:spPr>
        <p:txBody>
          <a:bodyPr wrap="none" rtlCol="0">
            <a:spAutoFit/>
          </a:bodyPr>
          <a:lstStyle/>
          <a:p>
            <a:r>
              <a:rPr lang="en-US" sz="2800" dirty="0">
                <a:solidFill>
                  <a:srgbClr val="66CCEE"/>
                </a:solidFill>
              </a:rPr>
              <a:t>n = 42</a:t>
            </a:r>
          </a:p>
        </p:txBody>
      </p:sp>
      <p:sp>
        <p:nvSpPr>
          <p:cNvPr id="15" name="TextBox 14">
            <a:extLst>
              <a:ext uri="{FF2B5EF4-FFF2-40B4-BE49-F238E27FC236}">
                <a16:creationId xmlns:a16="http://schemas.microsoft.com/office/drawing/2014/main" id="{C2F123E5-D517-DC84-4E43-C8BBBD61C55C}"/>
              </a:ext>
            </a:extLst>
          </p:cNvPr>
          <p:cNvSpPr txBox="1"/>
          <p:nvPr/>
        </p:nvSpPr>
        <p:spPr>
          <a:xfrm>
            <a:off x="10072754" y="6364337"/>
            <a:ext cx="1106393" cy="523220"/>
          </a:xfrm>
          <a:prstGeom prst="rect">
            <a:avLst/>
          </a:prstGeom>
          <a:noFill/>
        </p:spPr>
        <p:txBody>
          <a:bodyPr wrap="none" rtlCol="0">
            <a:spAutoFit/>
          </a:bodyPr>
          <a:lstStyle/>
          <a:p>
            <a:r>
              <a:rPr lang="en-US" sz="2800" dirty="0">
                <a:solidFill>
                  <a:srgbClr val="332288"/>
                </a:solidFill>
              </a:rPr>
              <a:t>n = 38</a:t>
            </a:r>
          </a:p>
        </p:txBody>
      </p:sp>
    </p:spTree>
    <p:extLst>
      <p:ext uri="{BB962C8B-B14F-4D97-AF65-F5344CB8AC3E}">
        <p14:creationId xmlns:p14="http://schemas.microsoft.com/office/powerpoint/2010/main" val="3594404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9B12-3F8B-C602-D3E4-6500963F699C}"/>
            </a:ext>
          </a:extLst>
        </p:cNvPr>
        <p:cNvGrpSpPr/>
        <p:nvPr/>
      </p:nvGrpSpPr>
      <p:grpSpPr>
        <a:xfrm>
          <a:off x="0" y="0"/>
          <a:ext cx="0" cy="0"/>
          <a:chOff x="0" y="0"/>
          <a:chExt cx="0" cy="0"/>
        </a:xfrm>
      </p:grpSpPr>
      <p:sp>
        <p:nvSpPr>
          <p:cNvPr id="20" name="Oval 19">
            <a:extLst>
              <a:ext uri="{FF2B5EF4-FFF2-40B4-BE49-F238E27FC236}">
                <a16:creationId xmlns:a16="http://schemas.microsoft.com/office/drawing/2014/main" id="{9F2DE307-5601-1B2F-525D-4BF013BF4DD3}"/>
              </a:ext>
            </a:extLst>
          </p:cNvPr>
          <p:cNvSpPr/>
          <p:nvPr/>
        </p:nvSpPr>
        <p:spPr>
          <a:xfrm>
            <a:off x="9138184" y="4322839"/>
            <a:ext cx="130924" cy="146345"/>
          </a:xfrm>
          <a:prstGeom prst="ellipse">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51BD459-FAD9-B78F-4095-11A1D4A00D16}"/>
              </a:ext>
            </a:extLst>
          </p:cNvPr>
          <p:cNvSpPr txBox="1"/>
          <p:nvPr/>
        </p:nvSpPr>
        <p:spPr>
          <a:xfrm>
            <a:off x="6926094" y="326993"/>
            <a:ext cx="1804789" cy="707886"/>
          </a:xfrm>
          <a:prstGeom prst="rect">
            <a:avLst/>
          </a:prstGeom>
          <a:noFill/>
        </p:spPr>
        <p:txBody>
          <a:bodyPr wrap="none" rtlCol="0">
            <a:spAutoFit/>
          </a:bodyPr>
          <a:lstStyle/>
          <a:p>
            <a:r>
              <a:rPr lang="en-US" sz="4000" dirty="0">
                <a:solidFill>
                  <a:srgbClr val="66CCEE"/>
                </a:solidFill>
              </a:rPr>
              <a:t>Low LD</a:t>
            </a:r>
          </a:p>
        </p:txBody>
      </p:sp>
      <p:sp>
        <p:nvSpPr>
          <p:cNvPr id="4" name="TextBox 3">
            <a:extLst>
              <a:ext uri="{FF2B5EF4-FFF2-40B4-BE49-F238E27FC236}">
                <a16:creationId xmlns:a16="http://schemas.microsoft.com/office/drawing/2014/main" id="{698641BD-7ED7-CABC-6C57-8CD3591EDB68}"/>
              </a:ext>
            </a:extLst>
          </p:cNvPr>
          <p:cNvSpPr txBox="1"/>
          <p:nvPr/>
        </p:nvSpPr>
        <p:spPr>
          <a:xfrm>
            <a:off x="9549318" y="326993"/>
            <a:ext cx="1912703" cy="707886"/>
          </a:xfrm>
          <a:prstGeom prst="rect">
            <a:avLst/>
          </a:prstGeom>
          <a:noFill/>
        </p:spPr>
        <p:txBody>
          <a:bodyPr wrap="none" rtlCol="0">
            <a:spAutoFit/>
          </a:bodyPr>
          <a:lstStyle/>
          <a:p>
            <a:r>
              <a:rPr lang="en-US" sz="4000" dirty="0">
                <a:solidFill>
                  <a:srgbClr val="332288"/>
                </a:solidFill>
              </a:rPr>
              <a:t>High LD</a:t>
            </a:r>
          </a:p>
        </p:txBody>
      </p:sp>
      <p:sp>
        <p:nvSpPr>
          <p:cNvPr id="5" name="Rounded Rectangle 4">
            <a:extLst>
              <a:ext uri="{FF2B5EF4-FFF2-40B4-BE49-F238E27FC236}">
                <a16:creationId xmlns:a16="http://schemas.microsoft.com/office/drawing/2014/main" id="{CCF1B8B6-5AC6-0FEC-FAD2-E1A87A523182}"/>
              </a:ext>
            </a:extLst>
          </p:cNvPr>
          <p:cNvSpPr/>
          <p:nvPr/>
        </p:nvSpPr>
        <p:spPr>
          <a:xfrm>
            <a:off x="196175" y="1600334"/>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Specific LD</a:t>
            </a:r>
          </a:p>
        </p:txBody>
      </p:sp>
      <p:sp>
        <p:nvSpPr>
          <p:cNvPr id="6" name="Rounded Rectangle 5">
            <a:extLst>
              <a:ext uri="{FF2B5EF4-FFF2-40B4-BE49-F238E27FC236}">
                <a16:creationId xmlns:a16="http://schemas.microsoft.com/office/drawing/2014/main" id="{46D8B0B0-725B-2B61-2C87-06479122A6BA}"/>
              </a:ext>
            </a:extLst>
          </p:cNvPr>
          <p:cNvSpPr/>
          <p:nvPr/>
        </p:nvSpPr>
        <p:spPr>
          <a:xfrm>
            <a:off x="3573601" y="1600334"/>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Gradient categorization</a:t>
            </a:r>
          </a:p>
        </p:txBody>
      </p:sp>
      <p:sp useBgFill="1">
        <p:nvSpPr>
          <p:cNvPr id="7" name="Rounded Rectangle 6">
            <a:extLst>
              <a:ext uri="{FF2B5EF4-FFF2-40B4-BE49-F238E27FC236}">
                <a16:creationId xmlns:a16="http://schemas.microsoft.com/office/drawing/2014/main" id="{AA1EE1E2-281E-3082-CDC3-97CCC46B2C9C}"/>
              </a:ext>
            </a:extLst>
          </p:cNvPr>
          <p:cNvSpPr/>
          <p:nvPr/>
        </p:nvSpPr>
        <p:spPr>
          <a:xfrm>
            <a:off x="196175" y="3429000"/>
            <a:ext cx="2522400" cy="1162321"/>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Specific LD</a:t>
            </a:r>
          </a:p>
        </p:txBody>
      </p:sp>
      <p:sp>
        <p:nvSpPr>
          <p:cNvPr id="9" name="Rounded Rectangle 8">
            <a:extLst>
              <a:ext uri="{FF2B5EF4-FFF2-40B4-BE49-F238E27FC236}">
                <a16:creationId xmlns:a16="http://schemas.microsoft.com/office/drawing/2014/main" id="{D071073C-696C-7D5D-264F-D3265466C2E9}"/>
              </a:ext>
            </a:extLst>
          </p:cNvPr>
          <p:cNvSpPr/>
          <p:nvPr/>
        </p:nvSpPr>
        <p:spPr>
          <a:xfrm>
            <a:off x="3573601" y="3429000"/>
            <a:ext cx="2522400" cy="1162321"/>
          </a:xfrm>
          <a:prstGeom prst="round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perceptual discrimination</a:t>
            </a:r>
          </a:p>
        </p:txBody>
      </p:sp>
      <p:sp>
        <p:nvSpPr>
          <p:cNvPr id="10" name="Rounded Rectangle 9">
            <a:extLst>
              <a:ext uri="{FF2B5EF4-FFF2-40B4-BE49-F238E27FC236}">
                <a16:creationId xmlns:a16="http://schemas.microsoft.com/office/drawing/2014/main" id="{BE139A6E-C6D6-7208-91A8-2F38006400D3}"/>
              </a:ext>
            </a:extLst>
          </p:cNvPr>
          <p:cNvSpPr/>
          <p:nvPr/>
        </p:nvSpPr>
        <p:spPr>
          <a:xfrm>
            <a:off x="3537931" y="5257666"/>
            <a:ext cx="2558069" cy="1162320"/>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L2 perceptual discrimination</a:t>
            </a:r>
          </a:p>
        </p:txBody>
      </p:sp>
      <p:cxnSp>
        <p:nvCxnSpPr>
          <p:cNvPr id="11" name="Straight Arrow Connector 10">
            <a:extLst>
              <a:ext uri="{FF2B5EF4-FFF2-40B4-BE49-F238E27FC236}">
                <a16:creationId xmlns:a16="http://schemas.microsoft.com/office/drawing/2014/main" id="{FFF0FF9F-E338-BC7D-73E6-33B35B9C6BE1}"/>
              </a:ext>
            </a:extLst>
          </p:cNvPr>
          <p:cNvCxnSpPr>
            <a:cxnSpLocks/>
            <a:stCxn id="5" idx="3"/>
            <a:endCxn id="6" idx="1"/>
          </p:cNvCxnSpPr>
          <p:nvPr/>
        </p:nvCxnSpPr>
        <p:spPr>
          <a:xfrm>
            <a:off x="2718575" y="2181495"/>
            <a:ext cx="855026" cy="0"/>
          </a:xfrm>
          <a:prstGeom prst="straightConnector1">
            <a:avLst/>
          </a:prstGeom>
          <a:ln w="63500">
            <a:solidFill>
              <a:srgbClr val="9B9CA1">
                <a:alpha val="25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225C35AF-597F-A6AB-67F5-73F474ECDAF4}"/>
              </a:ext>
            </a:extLst>
          </p:cNvPr>
          <p:cNvCxnSpPr>
            <a:cxnSpLocks/>
            <a:stCxn id="7" idx="3"/>
            <a:endCxn id="9" idx="1"/>
          </p:cNvCxnSpPr>
          <p:nvPr/>
        </p:nvCxnSpPr>
        <p:spPr>
          <a:xfrm>
            <a:off x="2718575" y="4010161"/>
            <a:ext cx="855026"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43E9E00-7722-9D4F-1DB6-F0F66BB332D7}"/>
              </a:ext>
            </a:extLst>
          </p:cNvPr>
          <p:cNvCxnSpPr>
            <a:cxnSpLocks/>
            <a:stCxn id="30" idx="3"/>
            <a:endCxn id="10" idx="1"/>
          </p:cNvCxnSpPr>
          <p:nvPr/>
        </p:nvCxnSpPr>
        <p:spPr>
          <a:xfrm flipV="1">
            <a:off x="2718575" y="5838826"/>
            <a:ext cx="819356" cy="1"/>
          </a:xfrm>
          <a:prstGeom prst="straightConnector1">
            <a:avLst/>
          </a:prstGeom>
          <a:ln w="63500">
            <a:solidFill>
              <a:srgbClr val="9B9CA1">
                <a:alpha val="25000"/>
              </a:srgbClr>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a:extLst>
              <a:ext uri="{FF2B5EF4-FFF2-40B4-BE49-F238E27FC236}">
                <a16:creationId xmlns:a16="http://schemas.microsoft.com/office/drawing/2014/main" id="{5D7C1261-B038-A570-D6B7-5D597F201C98}"/>
              </a:ext>
            </a:extLst>
          </p:cNvPr>
          <p:cNvSpPr/>
          <p:nvPr/>
        </p:nvSpPr>
        <p:spPr>
          <a:xfrm>
            <a:off x="196175" y="5257666"/>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Gradient categorization</a:t>
            </a:r>
          </a:p>
        </p:txBody>
      </p:sp>
      <p:sp>
        <p:nvSpPr>
          <p:cNvPr id="34" name="Rectangle 33">
            <a:extLst>
              <a:ext uri="{FF2B5EF4-FFF2-40B4-BE49-F238E27FC236}">
                <a16:creationId xmlns:a16="http://schemas.microsoft.com/office/drawing/2014/main" id="{6D45756C-24EC-0726-DFBA-103BB707523F}"/>
              </a:ext>
            </a:extLst>
          </p:cNvPr>
          <p:cNvSpPr/>
          <p:nvPr/>
        </p:nvSpPr>
        <p:spPr>
          <a:xfrm>
            <a:off x="8773211" y="2968014"/>
            <a:ext cx="2082857" cy="16233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9A50EFC-8B5E-53E8-7441-58EC1C701C8B}"/>
              </a:ext>
            </a:extLst>
          </p:cNvPr>
          <p:cNvSpPr txBox="1"/>
          <p:nvPr/>
        </p:nvSpPr>
        <p:spPr>
          <a:xfrm rot="16200000">
            <a:off x="7121022" y="3535144"/>
            <a:ext cx="1895695" cy="707886"/>
          </a:xfrm>
          <a:prstGeom prst="rect">
            <a:avLst/>
          </a:prstGeom>
          <a:noFill/>
        </p:spPr>
        <p:txBody>
          <a:bodyPr wrap="square" rtlCol="0">
            <a:spAutoFit/>
          </a:bodyPr>
          <a:lstStyle/>
          <a:p>
            <a:pPr algn="ctr"/>
            <a:r>
              <a:rPr lang="en-US" sz="2000" dirty="0"/>
              <a:t>Discrimination Accuracy</a:t>
            </a:r>
          </a:p>
        </p:txBody>
      </p:sp>
      <p:cxnSp>
        <p:nvCxnSpPr>
          <p:cNvPr id="38" name="Straight Connector 37">
            <a:extLst>
              <a:ext uri="{FF2B5EF4-FFF2-40B4-BE49-F238E27FC236}">
                <a16:creationId xmlns:a16="http://schemas.microsoft.com/office/drawing/2014/main" id="{CE71DC28-282F-534D-3F7B-C1699860D47C}"/>
              </a:ext>
            </a:extLst>
          </p:cNvPr>
          <p:cNvCxnSpPr>
            <a:cxnSpLocks/>
          </p:cNvCxnSpPr>
          <p:nvPr/>
        </p:nvCxnSpPr>
        <p:spPr>
          <a:xfrm flipV="1">
            <a:off x="9177668" y="4010160"/>
            <a:ext cx="1328001" cy="372905"/>
          </a:xfrm>
          <a:prstGeom prst="line">
            <a:avLst/>
          </a:prstGeom>
          <a:ln w="38100">
            <a:solidFill>
              <a:srgbClr val="66CCEE"/>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812F33F-5BAE-1F86-FA11-80FA23ED36E9}"/>
              </a:ext>
            </a:extLst>
          </p:cNvPr>
          <p:cNvCxnSpPr>
            <a:cxnSpLocks/>
          </p:cNvCxnSpPr>
          <p:nvPr/>
        </p:nvCxnSpPr>
        <p:spPr>
          <a:xfrm flipV="1">
            <a:off x="9177668" y="3429000"/>
            <a:ext cx="1328001" cy="920175"/>
          </a:xfrm>
          <a:prstGeom prst="line">
            <a:avLst/>
          </a:prstGeom>
          <a:ln w="38100">
            <a:solidFill>
              <a:srgbClr val="332288"/>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1C1FE49A-5D48-B358-BFC2-F7BED14C84EA}"/>
              </a:ext>
            </a:extLst>
          </p:cNvPr>
          <p:cNvSpPr/>
          <p:nvPr/>
        </p:nvSpPr>
        <p:spPr>
          <a:xfrm>
            <a:off x="9112206" y="4262613"/>
            <a:ext cx="130924" cy="146345"/>
          </a:xfrm>
          <a:prstGeom prst="ellipse">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7D58A4A-070E-FB48-9869-19E20D219F7B}"/>
              </a:ext>
            </a:extLst>
          </p:cNvPr>
          <p:cNvSpPr/>
          <p:nvPr/>
        </p:nvSpPr>
        <p:spPr>
          <a:xfrm>
            <a:off x="10440207" y="3936987"/>
            <a:ext cx="130924" cy="146345"/>
          </a:xfrm>
          <a:prstGeom prst="ellipse">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500EFD5-C1F0-7ADC-838C-6B17BF92553B}"/>
              </a:ext>
            </a:extLst>
          </p:cNvPr>
          <p:cNvSpPr/>
          <p:nvPr/>
        </p:nvSpPr>
        <p:spPr>
          <a:xfrm>
            <a:off x="10440207" y="3355825"/>
            <a:ext cx="130924" cy="146345"/>
          </a:xfrm>
          <a:prstGeom prst="ellipse">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3E1E7A4E-44FB-8D20-5629-C48BD4E4E39E}"/>
              </a:ext>
            </a:extLst>
          </p:cNvPr>
          <p:cNvSpPr txBox="1"/>
          <p:nvPr/>
        </p:nvSpPr>
        <p:spPr>
          <a:xfrm>
            <a:off x="8916895" y="4796769"/>
            <a:ext cx="1849545" cy="461665"/>
          </a:xfrm>
          <a:prstGeom prst="rect">
            <a:avLst/>
          </a:prstGeom>
          <a:noFill/>
        </p:spPr>
        <p:txBody>
          <a:bodyPr wrap="none" rtlCol="0">
            <a:spAutoFit/>
          </a:bodyPr>
          <a:lstStyle/>
          <a:p>
            <a:r>
              <a:rPr lang="en-US" sz="2400" dirty="0"/>
              <a:t>Day 1	Day 2</a:t>
            </a:r>
          </a:p>
        </p:txBody>
      </p:sp>
    </p:spTree>
    <p:extLst>
      <p:ext uri="{BB962C8B-B14F-4D97-AF65-F5344CB8AC3E}">
        <p14:creationId xmlns:p14="http://schemas.microsoft.com/office/powerpoint/2010/main" val="40163160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different levels of data&#10;&#10;AI-generated content may be incorrect.">
            <a:extLst>
              <a:ext uri="{FF2B5EF4-FFF2-40B4-BE49-F238E27FC236}">
                <a16:creationId xmlns:a16="http://schemas.microsoft.com/office/drawing/2014/main" id="{D13F5503-CDC8-FCEF-2219-1FF1562A5F46}"/>
              </a:ext>
            </a:extLst>
          </p:cNvPr>
          <p:cNvPicPr>
            <a:picLocks noChangeAspect="1"/>
          </p:cNvPicPr>
          <p:nvPr/>
        </p:nvPicPr>
        <p:blipFill>
          <a:blip r:embed="rId3"/>
          <a:stretch>
            <a:fillRect/>
          </a:stretch>
        </p:blipFill>
        <p:spPr>
          <a:xfrm>
            <a:off x="4792732" y="1177045"/>
            <a:ext cx="7203094" cy="4504043"/>
          </a:xfrm>
          <a:prstGeom prst="rect">
            <a:avLst/>
          </a:prstGeom>
        </p:spPr>
      </p:pic>
      <p:sp>
        <p:nvSpPr>
          <p:cNvPr id="23" name="Title 19">
            <a:extLst>
              <a:ext uri="{FF2B5EF4-FFF2-40B4-BE49-F238E27FC236}">
                <a16:creationId xmlns:a16="http://schemas.microsoft.com/office/drawing/2014/main" id="{1B5D3F9D-603C-70B5-0279-B437853B580F}"/>
              </a:ext>
            </a:extLst>
          </p:cNvPr>
          <p:cNvSpPr txBox="1">
            <a:spLocks/>
          </p:cNvSpPr>
          <p:nvPr/>
        </p:nvSpPr>
        <p:spPr>
          <a:xfrm>
            <a:off x="204435" y="750624"/>
            <a:ext cx="4630365" cy="4349305"/>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Although participants improved in </a:t>
            </a:r>
            <a:r>
              <a:rPr lang="en-US" sz="4000" dirty="0">
                <a:solidFill>
                  <a:srgbClr val="228833"/>
                </a:solidFill>
              </a:rPr>
              <a:t>L2 discrimination</a:t>
            </a:r>
            <a:r>
              <a:rPr lang="en-US" sz="4000" dirty="0"/>
              <a:t>, learning was not different between </a:t>
            </a:r>
            <a:r>
              <a:rPr lang="en-US" sz="4000" dirty="0">
                <a:solidFill>
                  <a:srgbClr val="4477AA"/>
                </a:solidFill>
              </a:rPr>
              <a:t>LD training conditions</a:t>
            </a:r>
          </a:p>
        </p:txBody>
      </p:sp>
      <p:sp useBgFill="1">
        <p:nvSpPr>
          <p:cNvPr id="2" name="Rounded Rectangle 1">
            <a:extLst>
              <a:ext uri="{FF2B5EF4-FFF2-40B4-BE49-F238E27FC236}">
                <a16:creationId xmlns:a16="http://schemas.microsoft.com/office/drawing/2014/main" id="{C26D7B7D-E876-DD3A-1215-A0D8E7AE4F22}"/>
              </a:ext>
            </a:extLst>
          </p:cNvPr>
          <p:cNvSpPr/>
          <p:nvPr/>
        </p:nvSpPr>
        <p:spPr>
          <a:xfrm>
            <a:off x="196174" y="5681088"/>
            <a:ext cx="2522400" cy="1162321"/>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Specific LD</a:t>
            </a:r>
          </a:p>
        </p:txBody>
      </p:sp>
      <p:sp>
        <p:nvSpPr>
          <p:cNvPr id="3" name="Rounded Rectangle 2">
            <a:extLst>
              <a:ext uri="{FF2B5EF4-FFF2-40B4-BE49-F238E27FC236}">
                <a16:creationId xmlns:a16="http://schemas.microsoft.com/office/drawing/2014/main" id="{CA36C752-8979-5D80-6339-FDF68FE798F1}"/>
              </a:ext>
            </a:extLst>
          </p:cNvPr>
          <p:cNvSpPr/>
          <p:nvPr/>
        </p:nvSpPr>
        <p:spPr>
          <a:xfrm>
            <a:off x="3573600" y="5681088"/>
            <a:ext cx="2522400" cy="1162321"/>
          </a:xfrm>
          <a:prstGeom prst="round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perceptual discrimination</a:t>
            </a:r>
          </a:p>
        </p:txBody>
      </p:sp>
      <p:cxnSp>
        <p:nvCxnSpPr>
          <p:cNvPr id="4" name="Straight Arrow Connector 3">
            <a:extLst>
              <a:ext uri="{FF2B5EF4-FFF2-40B4-BE49-F238E27FC236}">
                <a16:creationId xmlns:a16="http://schemas.microsoft.com/office/drawing/2014/main" id="{563F3BEC-583A-7B34-7B6E-1FEA8A9AC47F}"/>
              </a:ext>
            </a:extLst>
          </p:cNvPr>
          <p:cNvCxnSpPr>
            <a:cxnSpLocks/>
            <a:stCxn id="2" idx="3"/>
            <a:endCxn id="3" idx="1"/>
          </p:cNvCxnSpPr>
          <p:nvPr/>
        </p:nvCxnSpPr>
        <p:spPr>
          <a:xfrm>
            <a:off x="2718574" y="6262249"/>
            <a:ext cx="855026"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 name="Multiply 9">
            <a:extLst>
              <a:ext uri="{FF2B5EF4-FFF2-40B4-BE49-F238E27FC236}">
                <a16:creationId xmlns:a16="http://schemas.microsoft.com/office/drawing/2014/main" id="{38665062-2436-23E9-E961-234EB615314E}"/>
              </a:ext>
            </a:extLst>
          </p:cNvPr>
          <p:cNvSpPr/>
          <p:nvPr/>
        </p:nvSpPr>
        <p:spPr>
          <a:xfrm>
            <a:off x="2635078" y="5864140"/>
            <a:ext cx="894944" cy="796216"/>
          </a:xfrm>
          <a:prstGeom prst="mathMultiply">
            <a:avLst/>
          </a:prstGeom>
          <a:solidFill>
            <a:srgbClr val="9B9C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8C479BD-4FBA-BFCF-F58A-27CA9CFE31BC}"/>
              </a:ext>
            </a:extLst>
          </p:cNvPr>
          <p:cNvSpPr txBox="1"/>
          <p:nvPr/>
        </p:nvSpPr>
        <p:spPr>
          <a:xfrm>
            <a:off x="6925633" y="5501405"/>
            <a:ext cx="1804789" cy="707886"/>
          </a:xfrm>
          <a:prstGeom prst="rect">
            <a:avLst/>
          </a:prstGeom>
          <a:noFill/>
        </p:spPr>
        <p:txBody>
          <a:bodyPr wrap="none" rtlCol="0">
            <a:spAutoFit/>
          </a:bodyPr>
          <a:lstStyle/>
          <a:p>
            <a:r>
              <a:rPr lang="en-US" sz="4000" dirty="0">
                <a:solidFill>
                  <a:srgbClr val="66CCEE"/>
                </a:solidFill>
              </a:rPr>
              <a:t>Low LD</a:t>
            </a:r>
          </a:p>
        </p:txBody>
      </p:sp>
      <p:sp>
        <p:nvSpPr>
          <p:cNvPr id="12" name="TextBox 11">
            <a:extLst>
              <a:ext uri="{FF2B5EF4-FFF2-40B4-BE49-F238E27FC236}">
                <a16:creationId xmlns:a16="http://schemas.microsoft.com/office/drawing/2014/main" id="{18BB3656-AA03-E5C5-CBFC-7CA8ACFF13CF}"/>
              </a:ext>
            </a:extLst>
          </p:cNvPr>
          <p:cNvSpPr txBox="1"/>
          <p:nvPr/>
        </p:nvSpPr>
        <p:spPr>
          <a:xfrm>
            <a:off x="9473426" y="5501405"/>
            <a:ext cx="1912703" cy="707886"/>
          </a:xfrm>
          <a:prstGeom prst="rect">
            <a:avLst/>
          </a:prstGeom>
          <a:noFill/>
        </p:spPr>
        <p:txBody>
          <a:bodyPr wrap="none" rtlCol="0">
            <a:spAutoFit/>
          </a:bodyPr>
          <a:lstStyle/>
          <a:p>
            <a:r>
              <a:rPr lang="en-US" sz="4000" dirty="0">
                <a:solidFill>
                  <a:srgbClr val="332288"/>
                </a:solidFill>
              </a:rPr>
              <a:t>High LD</a:t>
            </a:r>
          </a:p>
        </p:txBody>
      </p:sp>
      <p:sp>
        <p:nvSpPr>
          <p:cNvPr id="13" name="TextBox 12">
            <a:extLst>
              <a:ext uri="{FF2B5EF4-FFF2-40B4-BE49-F238E27FC236}">
                <a16:creationId xmlns:a16="http://schemas.microsoft.com/office/drawing/2014/main" id="{1C830A51-7560-76E0-015C-38127DC04E0F}"/>
              </a:ext>
            </a:extLst>
          </p:cNvPr>
          <p:cNvSpPr txBox="1"/>
          <p:nvPr/>
        </p:nvSpPr>
        <p:spPr>
          <a:xfrm>
            <a:off x="7303010" y="6036011"/>
            <a:ext cx="1106393" cy="523220"/>
          </a:xfrm>
          <a:prstGeom prst="rect">
            <a:avLst/>
          </a:prstGeom>
          <a:noFill/>
        </p:spPr>
        <p:txBody>
          <a:bodyPr wrap="none" rtlCol="0">
            <a:spAutoFit/>
          </a:bodyPr>
          <a:lstStyle/>
          <a:p>
            <a:r>
              <a:rPr lang="en-US" sz="2800" dirty="0">
                <a:solidFill>
                  <a:srgbClr val="66CCEE"/>
                </a:solidFill>
              </a:rPr>
              <a:t>n = 42</a:t>
            </a:r>
          </a:p>
        </p:txBody>
      </p:sp>
      <p:sp>
        <p:nvSpPr>
          <p:cNvPr id="14" name="TextBox 13">
            <a:extLst>
              <a:ext uri="{FF2B5EF4-FFF2-40B4-BE49-F238E27FC236}">
                <a16:creationId xmlns:a16="http://schemas.microsoft.com/office/drawing/2014/main" id="{DA7E6CA0-F6A7-0757-77C5-1448CC979B02}"/>
              </a:ext>
            </a:extLst>
          </p:cNvPr>
          <p:cNvSpPr txBox="1"/>
          <p:nvPr/>
        </p:nvSpPr>
        <p:spPr>
          <a:xfrm>
            <a:off x="9876580" y="6047597"/>
            <a:ext cx="1106393" cy="523220"/>
          </a:xfrm>
          <a:prstGeom prst="rect">
            <a:avLst/>
          </a:prstGeom>
          <a:noFill/>
        </p:spPr>
        <p:txBody>
          <a:bodyPr wrap="none" rtlCol="0">
            <a:spAutoFit/>
          </a:bodyPr>
          <a:lstStyle/>
          <a:p>
            <a:r>
              <a:rPr lang="en-US" sz="2800" dirty="0">
                <a:solidFill>
                  <a:srgbClr val="332288"/>
                </a:solidFill>
              </a:rPr>
              <a:t>n = 38</a:t>
            </a:r>
          </a:p>
        </p:txBody>
      </p:sp>
      <p:sp>
        <p:nvSpPr>
          <p:cNvPr id="15" name="Rounded Rectangle 14">
            <a:extLst>
              <a:ext uri="{FF2B5EF4-FFF2-40B4-BE49-F238E27FC236}">
                <a16:creationId xmlns:a16="http://schemas.microsoft.com/office/drawing/2014/main" id="{65C214AF-024B-814C-6986-7BBE0A42CF64}"/>
              </a:ext>
            </a:extLst>
          </p:cNvPr>
          <p:cNvSpPr/>
          <p:nvPr/>
        </p:nvSpPr>
        <p:spPr>
          <a:xfrm>
            <a:off x="1975029" y="1422895"/>
            <a:ext cx="8241941" cy="401220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Training with multiple languages did not provide an additional learning advantage</a:t>
            </a:r>
          </a:p>
        </p:txBody>
      </p:sp>
    </p:spTree>
    <p:extLst>
      <p:ext uri="{BB962C8B-B14F-4D97-AF65-F5344CB8AC3E}">
        <p14:creationId xmlns:p14="http://schemas.microsoft.com/office/powerpoint/2010/main" val="318061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0" grpId="0" animBg="1"/>
      <p:bldP spid="1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E2148-412C-3DC7-81FB-17C177FF8E3A}"/>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12276546-3996-9E17-D627-FE84A74A0551}"/>
              </a:ext>
            </a:extLst>
          </p:cNvPr>
          <p:cNvSpPr/>
          <p:nvPr/>
        </p:nvSpPr>
        <p:spPr>
          <a:xfrm>
            <a:off x="196175" y="1600334"/>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Specific LD</a:t>
            </a:r>
          </a:p>
        </p:txBody>
      </p:sp>
      <p:sp>
        <p:nvSpPr>
          <p:cNvPr id="6" name="Rounded Rectangle 5">
            <a:extLst>
              <a:ext uri="{FF2B5EF4-FFF2-40B4-BE49-F238E27FC236}">
                <a16:creationId xmlns:a16="http://schemas.microsoft.com/office/drawing/2014/main" id="{72A24151-D202-A57E-749D-ABAD2BD45065}"/>
              </a:ext>
            </a:extLst>
          </p:cNvPr>
          <p:cNvSpPr/>
          <p:nvPr/>
        </p:nvSpPr>
        <p:spPr>
          <a:xfrm>
            <a:off x="3573601" y="1600334"/>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Gradient categorization</a:t>
            </a:r>
          </a:p>
        </p:txBody>
      </p:sp>
      <p:sp>
        <p:nvSpPr>
          <p:cNvPr id="7" name="Rounded Rectangle 6">
            <a:extLst>
              <a:ext uri="{FF2B5EF4-FFF2-40B4-BE49-F238E27FC236}">
                <a16:creationId xmlns:a16="http://schemas.microsoft.com/office/drawing/2014/main" id="{90B6B253-5983-B7E7-988B-12B7D8C1934E}"/>
              </a:ext>
            </a:extLst>
          </p:cNvPr>
          <p:cNvSpPr/>
          <p:nvPr/>
        </p:nvSpPr>
        <p:spPr>
          <a:xfrm>
            <a:off x="196175" y="3429000"/>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Specific LD</a:t>
            </a:r>
          </a:p>
        </p:txBody>
      </p:sp>
      <p:sp>
        <p:nvSpPr>
          <p:cNvPr id="9" name="Rounded Rectangle 8">
            <a:extLst>
              <a:ext uri="{FF2B5EF4-FFF2-40B4-BE49-F238E27FC236}">
                <a16:creationId xmlns:a16="http://schemas.microsoft.com/office/drawing/2014/main" id="{26007413-1CBA-D314-0838-FD958503457F}"/>
              </a:ext>
            </a:extLst>
          </p:cNvPr>
          <p:cNvSpPr/>
          <p:nvPr/>
        </p:nvSpPr>
        <p:spPr>
          <a:xfrm>
            <a:off x="3573601" y="3429000"/>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L2 perceptual discrimination</a:t>
            </a:r>
          </a:p>
        </p:txBody>
      </p:sp>
      <p:sp>
        <p:nvSpPr>
          <p:cNvPr id="10" name="Rounded Rectangle 9">
            <a:extLst>
              <a:ext uri="{FF2B5EF4-FFF2-40B4-BE49-F238E27FC236}">
                <a16:creationId xmlns:a16="http://schemas.microsoft.com/office/drawing/2014/main" id="{5BC589E5-2987-EBA8-3967-DB08F6339E58}"/>
              </a:ext>
            </a:extLst>
          </p:cNvPr>
          <p:cNvSpPr/>
          <p:nvPr/>
        </p:nvSpPr>
        <p:spPr>
          <a:xfrm>
            <a:off x="3537931" y="5257666"/>
            <a:ext cx="2558069" cy="1162320"/>
          </a:xfrm>
          <a:prstGeom prst="round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perceptual discrimination</a:t>
            </a:r>
          </a:p>
        </p:txBody>
      </p:sp>
      <p:cxnSp>
        <p:nvCxnSpPr>
          <p:cNvPr id="11" name="Straight Arrow Connector 10">
            <a:extLst>
              <a:ext uri="{FF2B5EF4-FFF2-40B4-BE49-F238E27FC236}">
                <a16:creationId xmlns:a16="http://schemas.microsoft.com/office/drawing/2014/main" id="{3634AC17-2FC3-5A6B-309C-146F84C137FF}"/>
              </a:ext>
            </a:extLst>
          </p:cNvPr>
          <p:cNvCxnSpPr>
            <a:cxnSpLocks/>
            <a:stCxn id="5" idx="3"/>
            <a:endCxn id="6" idx="1"/>
          </p:cNvCxnSpPr>
          <p:nvPr/>
        </p:nvCxnSpPr>
        <p:spPr>
          <a:xfrm>
            <a:off x="2718575" y="2181495"/>
            <a:ext cx="855026" cy="0"/>
          </a:xfrm>
          <a:prstGeom prst="straightConnector1">
            <a:avLst/>
          </a:prstGeom>
          <a:ln w="63500">
            <a:solidFill>
              <a:srgbClr val="9B9CA1">
                <a:alpha val="25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3A606BA-7AD2-7001-05F9-8E590E379532}"/>
              </a:ext>
            </a:extLst>
          </p:cNvPr>
          <p:cNvCxnSpPr>
            <a:cxnSpLocks/>
            <a:stCxn id="7" idx="3"/>
            <a:endCxn id="9" idx="1"/>
          </p:cNvCxnSpPr>
          <p:nvPr/>
        </p:nvCxnSpPr>
        <p:spPr>
          <a:xfrm>
            <a:off x="2718575" y="4010161"/>
            <a:ext cx="855026" cy="0"/>
          </a:xfrm>
          <a:prstGeom prst="straightConnector1">
            <a:avLst/>
          </a:prstGeom>
          <a:ln w="63500">
            <a:solidFill>
              <a:srgbClr val="9B9CA1">
                <a:alpha val="25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3B5DAED2-3C1E-1D37-476B-214D3C2F96FC}"/>
              </a:ext>
            </a:extLst>
          </p:cNvPr>
          <p:cNvCxnSpPr>
            <a:cxnSpLocks/>
            <a:stCxn id="30" idx="3"/>
            <a:endCxn id="10" idx="1"/>
          </p:cNvCxnSpPr>
          <p:nvPr/>
        </p:nvCxnSpPr>
        <p:spPr>
          <a:xfrm flipV="1">
            <a:off x="2718575" y="5838826"/>
            <a:ext cx="819356" cy="1"/>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useBgFill="1">
        <p:nvSpPr>
          <p:cNvPr id="30" name="Rounded Rectangle 29">
            <a:extLst>
              <a:ext uri="{FF2B5EF4-FFF2-40B4-BE49-F238E27FC236}">
                <a16:creationId xmlns:a16="http://schemas.microsoft.com/office/drawing/2014/main" id="{74C91C8A-BE38-7A3A-E59F-FD1593D6ADA3}"/>
              </a:ext>
            </a:extLst>
          </p:cNvPr>
          <p:cNvSpPr/>
          <p:nvPr/>
        </p:nvSpPr>
        <p:spPr>
          <a:xfrm>
            <a:off x="196175" y="5257666"/>
            <a:ext cx="2522400" cy="1162321"/>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Gradient categorization</a:t>
            </a:r>
          </a:p>
        </p:txBody>
      </p:sp>
      <p:sp>
        <p:nvSpPr>
          <p:cNvPr id="36" name="TextBox 35">
            <a:extLst>
              <a:ext uri="{FF2B5EF4-FFF2-40B4-BE49-F238E27FC236}">
                <a16:creationId xmlns:a16="http://schemas.microsoft.com/office/drawing/2014/main" id="{E06EC6BD-DB74-3AA3-CF02-C64353CC2358}"/>
              </a:ext>
            </a:extLst>
          </p:cNvPr>
          <p:cNvSpPr txBox="1"/>
          <p:nvPr/>
        </p:nvSpPr>
        <p:spPr>
          <a:xfrm>
            <a:off x="10522571" y="3783915"/>
            <a:ext cx="817853" cy="400110"/>
          </a:xfrm>
          <a:prstGeom prst="rect">
            <a:avLst/>
          </a:prstGeom>
          <a:noFill/>
        </p:spPr>
        <p:txBody>
          <a:bodyPr wrap="none" rtlCol="0">
            <a:spAutoFit/>
          </a:bodyPr>
          <a:lstStyle/>
          <a:p>
            <a:r>
              <a:rPr lang="en-US" sz="2000" dirty="0"/>
              <a:t>Slope</a:t>
            </a:r>
          </a:p>
        </p:txBody>
      </p:sp>
      <p:sp>
        <p:nvSpPr>
          <p:cNvPr id="37" name="TextBox 36">
            <a:extLst>
              <a:ext uri="{FF2B5EF4-FFF2-40B4-BE49-F238E27FC236}">
                <a16:creationId xmlns:a16="http://schemas.microsoft.com/office/drawing/2014/main" id="{93337A96-76E6-2D16-E0BD-6F05943D5E93}"/>
              </a:ext>
            </a:extLst>
          </p:cNvPr>
          <p:cNvSpPr txBox="1"/>
          <p:nvPr/>
        </p:nvSpPr>
        <p:spPr>
          <a:xfrm>
            <a:off x="10246264" y="6183673"/>
            <a:ext cx="1562968" cy="707886"/>
          </a:xfrm>
          <a:prstGeom prst="rect">
            <a:avLst/>
          </a:prstGeom>
          <a:noFill/>
        </p:spPr>
        <p:txBody>
          <a:bodyPr wrap="square" rtlCol="0">
            <a:spAutoFit/>
          </a:bodyPr>
          <a:lstStyle/>
          <a:p>
            <a:pPr algn="ctr"/>
            <a:r>
              <a:rPr lang="en-US" sz="2000" dirty="0"/>
              <a:t>Response Variability</a:t>
            </a:r>
          </a:p>
        </p:txBody>
      </p:sp>
      <p:sp>
        <p:nvSpPr>
          <p:cNvPr id="56" name="Rectangle 55">
            <a:extLst>
              <a:ext uri="{FF2B5EF4-FFF2-40B4-BE49-F238E27FC236}">
                <a16:creationId xmlns:a16="http://schemas.microsoft.com/office/drawing/2014/main" id="{4E5FFF8B-0232-44CC-0FB5-52401E4CA98D}"/>
              </a:ext>
            </a:extLst>
          </p:cNvPr>
          <p:cNvSpPr/>
          <p:nvPr/>
        </p:nvSpPr>
        <p:spPr>
          <a:xfrm>
            <a:off x="10029104" y="1982568"/>
            <a:ext cx="1804789" cy="15601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2E9DEDCF-34CB-074C-960A-B54CA46676B7}"/>
              </a:ext>
            </a:extLst>
          </p:cNvPr>
          <p:cNvSpPr/>
          <p:nvPr/>
        </p:nvSpPr>
        <p:spPr>
          <a:xfrm>
            <a:off x="10125353" y="4477443"/>
            <a:ext cx="1804789" cy="15601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3C9945C-83C1-3C97-154E-4088FD8C8FEE}"/>
              </a:ext>
            </a:extLst>
          </p:cNvPr>
          <p:cNvSpPr txBox="1"/>
          <p:nvPr/>
        </p:nvSpPr>
        <p:spPr>
          <a:xfrm rot="16200000">
            <a:off x="8501468" y="2540759"/>
            <a:ext cx="1895695" cy="707886"/>
          </a:xfrm>
          <a:prstGeom prst="rect">
            <a:avLst/>
          </a:prstGeom>
          <a:noFill/>
        </p:spPr>
        <p:txBody>
          <a:bodyPr wrap="square" rtlCol="0">
            <a:spAutoFit/>
          </a:bodyPr>
          <a:lstStyle/>
          <a:p>
            <a:pPr algn="ctr"/>
            <a:r>
              <a:rPr lang="en-US" sz="2000" dirty="0"/>
              <a:t>Discrimination Accuracy</a:t>
            </a:r>
          </a:p>
        </p:txBody>
      </p:sp>
      <p:sp>
        <p:nvSpPr>
          <p:cNvPr id="16" name="TextBox 15">
            <a:extLst>
              <a:ext uri="{FF2B5EF4-FFF2-40B4-BE49-F238E27FC236}">
                <a16:creationId xmlns:a16="http://schemas.microsoft.com/office/drawing/2014/main" id="{000C8901-1F20-2668-7145-60D36799F401}"/>
              </a:ext>
            </a:extLst>
          </p:cNvPr>
          <p:cNvSpPr txBox="1"/>
          <p:nvPr/>
        </p:nvSpPr>
        <p:spPr>
          <a:xfrm>
            <a:off x="7530815" y="218443"/>
            <a:ext cx="1975221" cy="584775"/>
          </a:xfrm>
          <a:prstGeom prst="rect">
            <a:avLst/>
          </a:prstGeom>
          <a:noFill/>
        </p:spPr>
        <p:txBody>
          <a:bodyPr wrap="none" rtlCol="0">
            <a:spAutoFit/>
          </a:bodyPr>
          <a:lstStyle/>
          <a:p>
            <a:r>
              <a:rPr lang="en-US" sz="3200" dirty="0">
                <a:solidFill>
                  <a:srgbClr val="AA4499"/>
                </a:solidFill>
              </a:rPr>
              <a:t>L1 English</a:t>
            </a:r>
          </a:p>
        </p:txBody>
      </p:sp>
      <p:sp>
        <p:nvSpPr>
          <p:cNvPr id="17" name="TextBox 16">
            <a:extLst>
              <a:ext uri="{FF2B5EF4-FFF2-40B4-BE49-F238E27FC236}">
                <a16:creationId xmlns:a16="http://schemas.microsoft.com/office/drawing/2014/main" id="{3BF0C30E-38FB-A799-74A2-40385AAA1902}"/>
              </a:ext>
            </a:extLst>
          </p:cNvPr>
          <p:cNvSpPr txBox="1"/>
          <p:nvPr/>
        </p:nvSpPr>
        <p:spPr>
          <a:xfrm>
            <a:off x="9755229" y="218442"/>
            <a:ext cx="2355132" cy="584775"/>
          </a:xfrm>
          <a:prstGeom prst="rect">
            <a:avLst/>
          </a:prstGeom>
          <a:noFill/>
        </p:spPr>
        <p:txBody>
          <a:bodyPr wrap="square" rtlCol="0">
            <a:spAutoFit/>
          </a:bodyPr>
          <a:lstStyle/>
          <a:p>
            <a:r>
              <a:rPr lang="en-US" sz="3200" dirty="0">
                <a:solidFill>
                  <a:srgbClr val="4477AA"/>
                </a:solidFill>
              </a:rPr>
              <a:t>L2 Japanese</a:t>
            </a:r>
          </a:p>
        </p:txBody>
      </p:sp>
      <p:cxnSp>
        <p:nvCxnSpPr>
          <p:cNvPr id="22" name="Straight Connector 21">
            <a:extLst>
              <a:ext uri="{FF2B5EF4-FFF2-40B4-BE49-F238E27FC236}">
                <a16:creationId xmlns:a16="http://schemas.microsoft.com/office/drawing/2014/main" id="{07B2BB71-F22B-DA43-A901-B67F2B0FB30D}"/>
              </a:ext>
            </a:extLst>
          </p:cNvPr>
          <p:cNvCxnSpPr>
            <a:cxnSpLocks/>
          </p:cNvCxnSpPr>
          <p:nvPr/>
        </p:nvCxnSpPr>
        <p:spPr>
          <a:xfrm>
            <a:off x="10328825" y="2552924"/>
            <a:ext cx="1205344" cy="381682"/>
          </a:xfrm>
          <a:prstGeom prst="line">
            <a:avLst/>
          </a:prstGeom>
          <a:ln w="38100">
            <a:solidFill>
              <a:srgbClr val="AA4499"/>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CCC37CC-0FFD-8C47-6C02-74ED9AE0B80D}"/>
              </a:ext>
            </a:extLst>
          </p:cNvPr>
          <p:cNvCxnSpPr>
            <a:cxnSpLocks/>
          </p:cNvCxnSpPr>
          <p:nvPr/>
        </p:nvCxnSpPr>
        <p:spPr>
          <a:xfrm>
            <a:off x="10337349" y="2635931"/>
            <a:ext cx="1196820" cy="371703"/>
          </a:xfrm>
          <a:prstGeom prst="line">
            <a:avLst/>
          </a:prstGeom>
          <a:ln w="38100">
            <a:solidFill>
              <a:srgbClr val="4477AA"/>
            </a:solidFill>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1C086C4F-2687-1721-1408-28C756BF98EC}"/>
              </a:ext>
            </a:extLst>
          </p:cNvPr>
          <p:cNvSpPr txBox="1"/>
          <p:nvPr/>
        </p:nvSpPr>
        <p:spPr>
          <a:xfrm rot="16200000">
            <a:off x="8558188" y="4903586"/>
            <a:ext cx="1895695" cy="707886"/>
          </a:xfrm>
          <a:prstGeom prst="rect">
            <a:avLst/>
          </a:prstGeom>
          <a:noFill/>
        </p:spPr>
        <p:txBody>
          <a:bodyPr wrap="square" rtlCol="0">
            <a:spAutoFit/>
          </a:bodyPr>
          <a:lstStyle/>
          <a:p>
            <a:pPr algn="ctr"/>
            <a:r>
              <a:rPr lang="en-US" sz="2000" dirty="0"/>
              <a:t>Discrimination Accuracy</a:t>
            </a:r>
          </a:p>
        </p:txBody>
      </p:sp>
      <p:cxnSp>
        <p:nvCxnSpPr>
          <p:cNvPr id="42" name="Straight Connector 41">
            <a:extLst>
              <a:ext uri="{FF2B5EF4-FFF2-40B4-BE49-F238E27FC236}">
                <a16:creationId xmlns:a16="http://schemas.microsoft.com/office/drawing/2014/main" id="{7DCAE52C-D897-1A3F-C27E-F1164CCB58D3}"/>
              </a:ext>
            </a:extLst>
          </p:cNvPr>
          <p:cNvCxnSpPr>
            <a:cxnSpLocks/>
          </p:cNvCxnSpPr>
          <p:nvPr/>
        </p:nvCxnSpPr>
        <p:spPr>
          <a:xfrm>
            <a:off x="10400549" y="5035719"/>
            <a:ext cx="1205344" cy="381682"/>
          </a:xfrm>
          <a:prstGeom prst="line">
            <a:avLst/>
          </a:prstGeom>
          <a:ln w="38100">
            <a:solidFill>
              <a:srgbClr val="AA4499"/>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2D61D690-EB53-5C1E-0B8B-FB236B039668}"/>
              </a:ext>
            </a:extLst>
          </p:cNvPr>
          <p:cNvCxnSpPr>
            <a:cxnSpLocks/>
          </p:cNvCxnSpPr>
          <p:nvPr/>
        </p:nvCxnSpPr>
        <p:spPr>
          <a:xfrm>
            <a:off x="10409073" y="5118726"/>
            <a:ext cx="1196820" cy="371703"/>
          </a:xfrm>
          <a:prstGeom prst="line">
            <a:avLst/>
          </a:prstGeom>
          <a:ln w="38100">
            <a:solidFill>
              <a:srgbClr val="4477A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70852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57AA6-05EA-90C1-7FD5-96DB922985F4}"/>
            </a:ext>
          </a:extLst>
        </p:cNvPr>
        <p:cNvGrpSpPr/>
        <p:nvPr/>
      </p:nvGrpSpPr>
      <p:grpSpPr>
        <a:xfrm>
          <a:off x="0" y="0"/>
          <a:ext cx="0" cy="0"/>
          <a:chOff x="0" y="0"/>
          <a:chExt cx="0" cy="0"/>
        </a:xfrm>
      </p:grpSpPr>
      <p:sp>
        <p:nvSpPr>
          <p:cNvPr id="8" name="Title 19">
            <a:extLst>
              <a:ext uri="{FF2B5EF4-FFF2-40B4-BE49-F238E27FC236}">
                <a16:creationId xmlns:a16="http://schemas.microsoft.com/office/drawing/2014/main" id="{3EE894C1-953F-ABAB-81FD-38789002973E}"/>
              </a:ext>
            </a:extLst>
          </p:cNvPr>
          <p:cNvSpPr txBox="1">
            <a:spLocks/>
          </p:cNvSpPr>
          <p:nvPr/>
        </p:nvSpPr>
        <p:spPr>
          <a:xfrm>
            <a:off x="344009" y="510829"/>
            <a:ext cx="5084026" cy="3436508"/>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AA3377"/>
                </a:solidFill>
              </a:rPr>
              <a:t>L1 nor L2 categorization measures </a:t>
            </a:r>
            <a:r>
              <a:rPr lang="en-US" sz="4000" dirty="0"/>
              <a:t>did not predict pre- or posttest </a:t>
            </a:r>
            <a:r>
              <a:rPr lang="en-US" sz="4000" dirty="0">
                <a:solidFill>
                  <a:srgbClr val="228833"/>
                </a:solidFill>
              </a:rPr>
              <a:t>L2 discrimination ability</a:t>
            </a:r>
          </a:p>
        </p:txBody>
      </p:sp>
      <p:sp>
        <p:nvSpPr>
          <p:cNvPr id="3" name="TextBox 2">
            <a:extLst>
              <a:ext uri="{FF2B5EF4-FFF2-40B4-BE49-F238E27FC236}">
                <a16:creationId xmlns:a16="http://schemas.microsoft.com/office/drawing/2014/main" id="{AE68A1B6-B152-27D8-A737-353C7EC8D6A1}"/>
              </a:ext>
            </a:extLst>
          </p:cNvPr>
          <p:cNvSpPr txBox="1"/>
          <p:nvPr/>
        </p:nvSpPr>
        <p:spPr>
          <a:xfrm>
            <a:off x="7530815" y="218443"/>
            <a:ext cx="1975221" cy="584775"/>
          </a:xfrm>
          <a:prstGeom prst="rect">
            <a:avLst/>
          </a:prstGeom>
          <a:noFill/>
        </p:spPr>
        <p:txBody>
          <a:bodyPr wrap="none" rtlCol="0">
            <a:spAutoFit/>
          </a:bodyPr>
          <a:lstStyle/>
          <a:p>
            <a:r>
              <a:rPr lang="en-US" sz="3200" dirty="0">
                <a:solidFill>
                  <a:srgbClr val="AA4499"/>
                </a:solidFill>
              </a:rPr>
              <a:t>L1 English</a:t>
            </a:r>
          </a:p>
        </p:txBody>
      </p:sp>
      <p:sp>
        <p:nvSpPr>
          <p:cNvPr id="9" name="TextBox 8">
            <a:extLst>
              <a:ext uri="{FF2B5EF4-FFF2-40B4-BE49-F238E27FC236}">
                <a16:creationId xmlns:a16="http://schemas.microsoft.com/office/drawing/2014/main" id="{E8B3C49F-C3A0-5F13-5D5A-11AF74D59465}"/>
              </a:ext>
            </a:extLst>
          </p:cNvPr>
          <p:cNvSpPr txBox="1"/>
          <p:nvPr/>
        </p:nvSpPr>
        <p:spPr>
          <a:xfrm>
            <a:off x="9755229" y="218442"/>
            <a:ext cx="2355132" cy="584775"/>
          </a:xfrm>
          <a:prstGeom prst="rect">
            <a:avLst/>
          </a:prstGeom>
          <a:noFill/>
        </p:spPr>
        <p:txBody>
          <a:bodyPr wrap="square" rtlCol="0">
            <a:spAutoFit/>
          </a:bodyPr>
          <a:lstStyle/>
          <a:p>
            <a:r>
              <a:rPr lang="en-US" sz="3200" dirty="0">
                <a:solidFill>
                  <a:srgbClr val="4477AA"/>
                </a:solidFill>
              </a:rPr>
              <a:t>L2 Japanese</a:t>
            </a:r>
          </a:p>
        </p:txBody>
      </p:sp>
      <p:pic>
        <p:nvPicPr>
          <p:cNvPr id="14" name="Picture 13" descr="A graph of a model&#10;&#10;AI-generated content may be incorrect.">
            <a:extLst>
              <a:ext uri="{FF2B5EF4-FFF2-40B4-BE49-F238E27FC236}">
                <a16:creationId xmlns:a16="http://schemas.microsoft.com/office/drawing/2014/main" id="{0767F0B5-0D1D-265B-4751-9D84EB9EC307}"/>
              </a:ext>
            </a:extLst>
          </p:cNvPr>
          <p:cNvPicPr>
            <a:picLocks noChangeAspect="1"/>
          </p:cNvPicPr>
          <p:nvPr/>
        </p:nvPicPr>
        <p:blipFill>
          <a:blip r:embed="rId3"/>
          <a:srcRect b="7271"/>
          <a:stretch>
            <a:fillRect/>
          </a:stretch>
        </p:blipFill>
        <p:spPr>
          <a:xfrm>
            <a:off x="5922345" y="825788"/>
            <a:ext cx="6269655" cy="5813770"/>
          </a:xfrm>
          <a:prstGeom prst="rect">
            <a:avLst/>
          </a:prstGeom>
        </p:spPr>
      </p:pic>
      <p:sp>
        <p:nvSpPr>
          <p:cNvPr id="19" name="Rounded Rectangle 18">
            <a:extLst>
              <a:ext uri="{FF2B5EF4-FFF2-40B4-BE49-F238E27FC236}">
                <a16:creationId xmlns:a16="http://schemas.microsoft.com/office/drawing/2014/main" id="{CA68A667-9D3E-14A2-CEE7-984429DCB01A}"/>
              </a:ext>
            </a:extLst>
          </p:cNvPr>
          <p:cNvSpPr/>
          <p:nvPr/>
        </p:nvSpPr>
        <p:spPr>
          <a:xfrm>
            <a:off x="3341756" y="5184851"/>
            <a:ext cx="2558069" cy="1162320"/>
          </a:xfrm>
          <a:prstGeom prst="round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perceptual discrimination</a:t>
            </a:r>
          </a:p>
        </p:txBody>
      </p:sp>
      <p:cxnSp>
        <p:nvCxnSpPr>
          <p:cNvPr id="20" name="Straight Arrow Connector 19">
            <a:extLst>
              <a:ext uri="{FF2B5EF4-FFF2-40B4-BE49-F238E27FC236}">
                <a16:creationId xmlns:a16="http://schemas.microsoft.com/office/drawing/2014/main" id="{85968A49-4F68-BD6C-D6CD-A47654B45DD4}"/>
              </a:ext>
            </a:extLst>
          </p:cNvPr>
          <p:cNvCxnSpPr>
            <a:cxnSpLocks/>
            <a:stCxn id="21" idx="3"/>
            <a:endCxn id="19" idx="1"/>
          </p:cNvCxnSpPr>
          <p:nvPr/>
        </p:nvCxnSpPr>
        <p:spPr>
          <a:xfrm flipV="1">
            <a:off x="2522400" y="5766011"/>
            <a:ext cx="819356" cy="1"/>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useBgFill="1">
        <p:nvSpPr>
          <p:cNvPr id="21" name="Rounded Rectangle 20">
            <a:extLst>
              <a:ext uri="{FF2B5EF4-FFF2-40B4-BE49-F238E27FC236}">
                <a16:creationId xmlns:a16="http://schemas.microsoft.com/office/drawing/2014/main" id="{68570F06-9BC4-13D3-EB81-535FE2839AA9}"/>
              </a:ext>
            </a:extLst>
          </p:cNvPr>
          <p:cNvSpPr/>
          <p:nvPr/>
        </p:nvSpPr>
        <p:spPr>
          <a:xfrm>
            <a:off x="0" y="5184851"/>
            <a:ext cx="2522400" cy="1162321"/>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Gradient categorization</a:t>
            </a:r>
          </a:p>
        </p:txBody>
      </p:sp>
      <p:sp>
        <p:nvSpPr>
          <p:cNvPr id="23" name="Multiply 22">
            <a:extLst>
              <a:ext uri="{FF2B5EF4-FFF2-40B4-BE49-F238E27FC236}">
                <a16:creationId xmlns:a16="http://schemas.microsoft.com/office/drawing/2014/main" id="{FD452F81-AC17-C95D-2608-CE4210A815E2}"/>
              </a:ext>
            </a:extLst>
          </p:cNvPr>
          <p:cNvSpPr/>
          <p:nvPr/>
        </p:nvSpPr>
        <p:spPr>
          <a:xfrm>
            <a:off x="2484606" y="5367903"/>
            <a:ext cx="894944" cy="796216"/>
          </a:xfrm>
          <a:prstGeom prst="mathMultiply">
            <a:avLst/>
          </a:prstGeom>
          <a:solidFill>
            <a:srgbClr val="9B9C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7F97EC9D-02C9-7880-54A6-7A973FECD199}"/>
              </a:ext>
            </a:extLst>
          </p:cNvPr>
          <p:cNvSpPr/>
          <p:nvPr/>
        </p:nvSpPr>
        <p:spPr>
          <a:xfrm>
            <a:off x="1975029" y="1422895"/>
            <a:ext cx="8241941" cy="401220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Gradient categorization did not play a role in improving perceptual discrimination accuracy</a:t>
            </a:r>
          </a:p>
        </p:txBody>
      </p:sp>
    </p:spTree>
    <p:extLst>
      <p:ext uri="{BB962C8B-B14F-4D97-AF65-F5344CB8AC3E}">
        <p14:creationId xmlns:p14="http://schemas.microsoft.com/office/powerpoint/2010/main" val="244063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3" grpId="0" animBg="1"/>
      <p:bldP spid="2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D34DE-31BE-5A1D-1B04-D4BEA753FE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C99517-34AF-87B0-09B3-B40157F0B1EC}"/>
              </a:ext>
            </a:extLst>
          </p:cNvPr>
          <p:cNvSpPr>
            <a:spLocks noGrp="1"/>
          </p:cNvSpPr>
          <p:nvPr>
            <p:ph type="title"/>
          </p:nvPr>
        </p:nvSpPr>
        <p:spPr/>
        <p:txBody>
          <a:bodyPr/>
          <a:lstStyle/>
          <a:p>
            <a:r>
              <a:rPr lang="en-US" dirty="0"/>
              <a:t>Study 3</a:t>
            </a:r>
          </a:p>
        </p:txBody>
      </p:sp>
      <p:sp>
        <p:nvSpPr>
          <p:cNvPr id="5" name="Text Placeholder 4">
            <a:extLst>
              <a:ext uri="{FF2B5EF4-FFF2-40B4-BE49-F238E27FC236}">
                <a16:creationId xmlns:a16="http://schemas.microsoft.com/office/drawing/2014/main" id="{94BFEA31-E20B-2F58-D320-577200062A7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34829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5734B-631F-72A7-0460-023739E88B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74DB3-2D42-0231-3984-C1530CA11222}"/>
              </a:ext>
            </a:extLst>
          </p:cNvPr>
          <p:cNvSpPr>
            <a:spLocks noGrp="1"/>
          </p:cNvSpPr>
          <p:nvPr>
            <p:ph type="title"/>
          </p:nvPr>
        </p:nvSpPr>
        <p:spPr>
          <a:xfrm>
            <a:off x="838199" y="892221"/>
            <a:ext cx="11205648" cy="1325563"/>
          </a:xfrm>
        </p:spPr>
        <p:txBody>
          <a:bodyPr>
            <a:normAutofit fontScale="90000"/>
          </a:bodyPr>
          <a:lstStyle/>
          <a:p>
            <a:r>
              <a:rPr lang="en-US" dirty="0"/>
              <a:t>L2 Japanese classroom learners (n = 18) completed </a:t>
            </a:r>
            <a:r>
              <a:rPr lang="en-US" dirty="0">
                <a:solidFill>
                  <a:srgbClr val="AA3377"/>
                </a:solidFill>
              </a:rPr>
              <a:t>VAS</a:t>
            </a:r>
            <a:r>
              <a:rPr lang="en-US" dirty="0"/>
              <a:t>,</a:t>
            </a:r>
            <a:r>
              <a:rPr lang="en-US" dirty="0">
                <a:solidFill>
                  <a:srgbClr val="AA3377"/>
                </a:solidFill>
              </a:rPr>
              <a:t> </a:t>
            </a:r>
            <a:r>
              <a:rPr lang="en-US" dirty="0">
                <a:solidFill>
                  <a:schemeClr val="accent6">
                    <a:lumMod val="60000"/>
                    <a:lumOff val="40000"/>
                  </a:schemeClr>
                </a:solidFill>
              </a:rPr>
              <a:t>perceptual discrimination</a:t>
            </a:r>
            <a:r>
              <a:rPr lang="en-US" dirty="0"/>
              <a:t>, and </a:t>
            </a:r>
            <a:r>
              <a:rPr lang="en-US" dirty="0">
                <a:solidFill>
                  <a:schemeClr val="accent6">
                    <a:lumMod val="50000"/>
                  </a:schemeClr>
                </a:solidFill>
              </a:rPr>
              <a:t>L2 listening assessment </a:t>
            </a:r>
            <a:r>
              <a:rPr lang="en-US" dirty="0"/>
              <a:t>tasks before and after a period of longitudinal </a:t>
            </a:r>
            <a:r>
              <a:rPr lang="en-US" dirty="0">
                <a:solidFill>
                  <a:srgbClr val="4477AA"/>
                </a:solidFill>
              </a:rPr>
              <a:t>perceptual discrimination training</a:t>
            </a:r>
            <a:br>
              <a:rPr lang="en-US" dirty="0"/>
            </a:br>
            <a:endParaRPr lang="en-US" dirty="0"/>
          </a:p>
        </p:txBody>
      </p:sp>
      <p:sp useBgFill="1">
        <p:nvSpPr>
          <p:cNvPr id="4" name="Rounded Rectangle 3">
            <a:extLst>
              <a:ext uri="{FF2B5EF4-FFF2-40B4-BE49-F238E27FC236}">
                <a16:creationId xmlns:a16="http://schemas.microsoft.com/office/drawing/2014/main" id="{A1C2CA70-1801-95F5-BABA-AA263B14654C}"/>
              </a:ext>
            </a:extLst>
          </p:cNvPr>
          <p:cNvSpPr/>
          <p:nvPr/>
        </p:nvSpPr>
        <p:spPr>
          <a:xfrm>
            <a:off x="838199" y="2871379"/>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5" name="Rounded Rectangle 4">
            <a:extLst>
              <a:ext uri="{FF2B5EF4-FFF2-40B4-BE49-F238E27FC236}">
                <a16:creationId xmlns:a16="http://schemas.microsoft.com/office/drawing/2014/main" id="{2962BEE7-15EB-CEF3-4F43-3CBAB9549E8D}"/>
              </a:ext>
            </a:extLst>
          </p:cNvPr>
          <p:cNvSpPr/>
          <p:nvPr/>
        </p:nvSpPr>
        <p:spPr>
          <a:xfrm>
            <a:off x="7657903" y="2871379"/>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17058C1F-E2AD-AB87-C9F7-B004F743FA16}"/>
              </a:ext>
            </a:extLst>
          </p:cNvPr>
          <p:cNvCxnSpPr>
            <a:stCxn id="4" idx="3"/>
            <a:endCxn id="5" idx="1"/>
          </p:cNvCxnSpPr>
          <p:nvPr/>
        </p:nvCxnSpPr>
        <p:spPr>
          <a:xfrm>
            <a:off x="4056824" y="3681919"/>
            <a:ext cx="3601079"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useBgFill="1">
        <p:nvSpPr>
          <p:cNvPr id="7" name="Rounded Rectangle 6">
            <a:extLst>
              <a:ext uri="{FF2B5EF4-FFF2-40B4-BE49-F238E27FC236}">
                <a16:creationId xmlns:a16="http://schemas.microsoft.com/office/drawing/2014/main" id="{B27447A5-E722-4DE4-B536-8B5161A3B6B0}"/>
              </a:ext>
            </a:extLst>
          </p:cNvPr>
          <p:cNvSpPr/>
          <p:nvPr/>
        </p:nvSpPr>
        <p:spPr>
          <a:xfrm>
            <a:off x="4248050" y="5124715"/>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cxnSp>
        <p:nvCxnSpPr>
          <p:cNvPr id="16" name="Straight Arrow Connector 15">
            <a:extLst>
              <a:ext uri="{FF2B5EF4-FFF2-40B4-BE49-F238E27FC236}">
                <a16:creationId xmlns:a16="http://schemas.microsoft.com/office/drawing/2014/main" id="{F553323D-003C-A87D-22D6-429F2B30D480}"/>
              </a:ext>
            </a:extLst>
          </p:cNvPr>
          <p:cNvCxnSpPr>
            <a:cxnSpLocks/>
            <a:stCxn id="4" idx="3"/>
            <a:endCxn id="7" idx="0"/>
          </p:cNvCxnSpPr>
          <p:nvPr/>
        </p:nvCxnSpPr>
        <p:spPr>
          <a:xfrm>
            <a:off x="4056824" y="3681919"/>
            <a:ext cx="1800539"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D45FE3B-1A2A-1214-6B0C-271FE359AFF9}"/>
              </a:ext>
            </a:extLst>
          </p:cNvPr>
          <p:cNvSpPr txBox="1"/>
          <p:nvPr/>
        </p:nvSpPr>
        <p:spPr>
          <a:xfrm rot="2398686">
            <a:off x="3907933" y="4286090"/>
            <a:ext cx="1811714" cy="492443"/>
          </a:xfrm>
          <a:prstGeom prst="rect">
            <a:avLst/>
          </a:prstGeom>
          <a:noFill/>
        </p:spPr>
        <p:txBody>
          <a:bodyPr wrap="none" rtlCol="0">
            <a:spAutoFit/>
          </a:bodyPr>
          <a:lstStyle/>
          <a:p>
            <a:r>
              <a:rPr lang="en-US" sz="2600" dirty="0"/>
              <a:t>Specific LD</a:t>
            </a:r>
          </a:p>
        </p:txBody>
      </p:sp>
      <p:sp>
        <p:nvSpPr>
          <p:cNvPr id="18" name="TextBox 17">
            <a:extLst>
              <a:ext uri="{FF2B5EF4-FFF2-40B4-BE49-F238E27FC236}">
                <a16:creationId xmlns:a16="http://schemas.microsoft.com/office/drawing/2014/main" id="{7414C367-EFAD-50C4-A14F-E5612DCB98BD}"/>
              </a:ext>
            </a:extLst>
          </p:cNvPr>
          <p:cNvSpPr txBox="1"/>
          <p:nvPr/>
        </p:nvSpPr>
        <p:spPr>
          <a:xfrm>
            <a:off x="4172829" y="3149622"/>
            <a:ext cx="3369064" cy="492443"/>
          </a:xfrm>
          <a:prstGeom prst="rect">
            <a:avLst/>
          </a:prstGeom>
          <a:noFill/>
        </p:spPr>
        <p:txBody>
          <a:bodyPr wrap="none" rtlCol="0">
            <a:spAutoFit/>
          </a:bodyPr>
          <a:lstStyle/>
          <a:p>
            <a:r>
              <a:rPr lang="en-US" sz="2600" dirty="0"/>
              <a:t>Long-term Specific LD</a:t>
            </a:r>
          </a:p>
        </p:txBody>
      </p:sp>
      <p:sp>
        <p:nvSpPr>
          <p:cNvPr id="19" name="Rounded Rectangle 18">
            <a:extLst>
              <a:ext uri="{FF2B5EF4-FFF2-40B4-BE49-F238E27FC236}">
                <a16:creationId xmlns:a16="http://schemas.microsoft.com/office/drawing/2014/main" id="{22364791-9F2E-F6F2-8374-4E2B584B5F74}"/>
              </a:ext>
            </a:extLst>
          </p:cNvPr>
          <p:cNvSpPr/>
          <p:nvPr/>
        </p:nvSpPr>
        <p:spPr>
          <a:xfrm>
            <a:off x="9709208" y="4260715"/>
            <a:ext cx="2334639" cy="1439693"/>
          </a:xfrm>
          <a:prstGeom prst="round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perceptual discrimination</a:t>
            </a:r>
          </a:p>
        </p:txBody>
      </p:sp>
      <p:sp>
        <p:nvSpPr>
          <p:cNvPr id="20" name="Rounded Rectangle 19">
            <a:extLst>
              <a:ext uri="{FF2B5EF4-FFF2-40B4-BE49-F238E27FC236}">
                <a16:creationId xmlns:a16="http://schemas.microsoft.com/office/drawing/2014/main" id="{3FED7768-DECE-0620-C65D-99D89036BA1E}"/>
              </a:ext>
            </a:extLst>
          </p:cNvPr>
          <p:cNvSpPr/>
          <p:nvPr/>
        </p:nvSpPr>
        <p:spPr>
          <a:xfrm>
            <a:off x="8892082" y="5477044"/>
            <a:ext cx="2334639" cy="1439693"/>
          </a:xfrm>
          <a:prstGeom prst="roundRect">
            <a:avLst/>
          </a:prstGeom>
          <a:noFill/>
          <a:ln w="317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listening assessment</a:t>
            </a:r>
          </a:p>
        </p:txBody>
      </p:sp>
    </p:spTree>
    <p:extLst>
      <p:ext uri="{BB962C8B-B14F-4D97-AF65-F5344CB8AC3E}">
        <p14:creationId xmlns:p14="http://schemas.microsoft.com/office/powerpoint/2010/main" val="22745995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E006E-854F-5794-041B-932BAF66E1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C17F9-BB04-F23F-B244-D621972BC710}"/>
              </a:ext>
            </a:extLst>
          </p:cNvPr>
          <p:cNvSpPr>
            <a:spLocks noGrp="1"/>
          </p:cNvSpPr>
          <p:nvPr>
            <p:ph type="title"/>
          </p:nvPr>
        </p:nvSpPr>
        <p:spPr>
          <a:xfrm>
            <a:off x="838199" y="490359"/>
            <a:ext cx="11204643" cy="1200329"/>
          </a:xfrm>
        </p:spPr>
        <p:txBody>
          <a:bodyPr>
            <a:normAutofit fontScale="90000"/>
          </a:bodyPr>
          <a:lstStyle/>
          <a:p>
            <a:r>
              <a:rPr lang="en-US" dirty="0"/>
              <a:t>The effect of </a:t>
            </a:r>
            <a:r>
              <a:rPr lang="en-US" dirty="0">
                <a:solidFill>
                  <a:srgbClr val="4477AA"/>
                </a:solidFill>
              </a:rPr>
              <a:t>perceptual training</a:t>
            </a:r>
            <a:r>
              <a:rPr lang="en-US" dirty="0"/>
              <a:t> on </a:t>
            </a:r>
            <a:r>
              <a:rPr lang="en-US" dirty="0">
                <a:solidFill>
                  <a:srgbClr val="228833"/>
                </a:solidFill>
              </a:rPr>
              <a:t>L2 learning </a:t>
            </a:r>
            <a:r>
              <a:rPr lang="en-US" dirty="0"/>
              <a:t>was compared between training with different levels of </a:t>
            </a:r>
            <a:r>
              <a:rPr lang="en-US" dirty="0">
                <a:solidFill>
                  <a:srgbClr val="4477AA"/>
                </a:solidFill>
              </a:rPr>
              <a:t>specific LD </a:t>
            </a:r>
            <a:r>
              <a:rPr lang="en-US" dirty="0"/>
              <a:t>and receiving classroom instruction alone</a:t>
            </a:r>
          </a:p>
        </p:txBody>
      </p:sp>
      <p:sp>
        <p:nvSpPr>
          <p:cNvPr id="3" name="TextBox 2">
            <a:extLst>
              <a:ext uri="{FF2B5EF4-FFF2-40B4-BE49-F238E27FC236}">
                <a16:creationId xmlns:a16="http://schemas.microsoft.com/office/drawing/2014/main" id="{3CC251D2-6AC4-9B95-FEF9-D4BB983F8FD0}"/>
              </a:ext>
            </a:extLst>
          </p:cNvPr>
          <p:cNvSpPr txBox="1"/>
          <p:nvPr/>
        </p:nvSpPr>
        <p:spPr>
          <a:xfrm>
            <a:off x="4165286" y="2259768"/>
            <a:ext cx="1804789" cy="707886"/>
          </a:xfrm>
          <a:prstGeom prst="rect">
            <a:avLst/>
          </a:prstGeom>
          <a:noFill/>
        </p:spPr>
        <p:txBody>
          <a:bodyPr wrap="square" rtlCol="0">
            <a:spAutoFit/>
          </a:bodyPr>
          <a:lstStyle/>
          <a:p>
            <a:r>
              <a:rPr lang="en-US" sz="4000" dirty="0">
                <a:solidFill>
                  <a:srgbClr val="66CCEE"/>
                </a:solidFill>
              </a:rPr>
              <a:t>Low LD</a:t>
            </a:r>
          </a:p>
        </p:txBody>
      </p:sp>
      <p:sp>
        <p:nvSpPr>
          <p:cNvPr id="4" name="TextBox 3">
            <a:extLst>
              <a:ext uri="{FF2B5EF4-FFF2-40B4-BE49-F238E27FC236}">
                <a16:creationId xmlns:a16="http://schemas.microsoft.com/office/drawing/2014/main" id="{8E62E1AB-9FED-4DCA-C3C4-9BA70D9AC3FB}"/>
              </a:ext>
            </a:extLst>
          </p:cNvPr>
          <p:cNvSpPr txBox="1"/>
          <p:nvPr/>
        </p:nvSpPr>
        <p:spPr>
          <a:xfrm>
            <a:off x="8889686" y="2259768"/>
            <a:ext cx="1912703" cy="707886"/>
          </a:xfrm>
          <a:prstGeom prst="rect">
            <a:avLst/>
          </a:prstGeom>
          <a:noFill/>
        </p:spPr>
        <p:txBody>
          <a:bodyPr wrap="square" rtlCol="0">
            <a:spAutoFit/>
          </a:bodyPr>
          <a:lstStyle/>
          <a:p>
            <a:r>
              <a:rPr lang="en-US" sz="4000" dirty="0">
                <a:solidFill>
                  <a:srgbClr val="332288"/>
                </a:solidFill>
              </a:rPr>
              <a:t>High LD</a:t>
            </a:r>
          </a:p>
        </p:txBody>
      </p:sp>
      <p:sp>
        <p:nvSpPr>
          <p:cNvPr id="5" name="TextBox 4">
            <a:extLst>
              <a:ext uri="{FF2B5EF4-FFF2-40B4-BE49-F238E27FC236}">
                <a16:creationId xmlns:a16="http://schemas.microsoft.com/office/drawing/2014/main" id="{2964C8E3-7862-6BF6-AE52-E28B0ABDF552}"/>
              </a:ext>
            </a:extLst>
          </p:cNvPr>
          <p:cNvSpPr txBox="1"/>
          <p:nvPr/>
        </p:nvSpPr>
        <p:spPr>
          <a:xfrm>
            <a:off x="4165286" y="3251990"/>
            <a:ext cx="3302314" cy="1938992"/>
          </a:xfrm>
          <a:prstGeom prst="rect">
            <a:avLst/>
          </a:prstGeom>
          <a:noFill/>
        </p:spPr>
        <p:txBody>
          <a:bodyPr wrap="square" rtlCol="0">
            <a:spAutoFit/>
          </a:bodyPr>
          <a:lstStyle/>
          <a:p>
            <a:r>
              <a:rPr lang="en-US" sz="2400" u="sng" dirty="0"/>
              <a:t>Classroom instruction</a:t>
            </a:r>
          </a:p>
          <a:p>
            <a:endParaRPr lang="en-US" sz="2400" u="sng" dirty="0"/>
          </a:p>
          <a:p>
            <a:r>
              <a:rPr lang="en-US" sz="2400" u="sng" dirty="0"/>
              <a:t>Japanese minimal pairs</a:t>
            </a:r>
          </a:p>
          <a:p>
            <a:r>
              <a:rPr lang="en-US" sz="2400" i="1" dirty="0" err="1"/>
              <a:t>oto</a:t>
            </a:r>
            <a:r>
              <a:rPr lang="en-US" sz="2400" dirty="0"/>
              <a:t> vs. </a:t>
            </a:r>
            <a:r>
              <a:rPr lang="en-US" sz="2400" i="1" dirty="0"/>
              <a:t>otto</a:t>
            </a:r>
            <a:endParaRPr lang="en-US" sz="2400" dirty="0"/>
          </a:p>
          <a:p>
            <a:r>
              <a:rPr lang="en-US" sz="2400" i="1" dirty="0" err="1"/>
              <a:t>shiru</a:t>
            </a:r>
            <a:r>
              <a:rPr lang="en-US" sz="2400" dirty="0"/>
              <a:t> vs. </a:t>
            </a:r>
            <a:r>
              <a:rPr lang="en-US" sz="2400" i="1" dirty="0" err="1"/>
              <a:t>shiiru</a:t>
            </a:r>
            <a:endParaRPr lang="en-US" sz="2400" i="1" dirty="0"/>
          </a:p>
        </p:txBody>
      </p:sp>
      <p:sp>
        <p:nvSpPr>
          <p:cNvPr id="6" name="TextBox 5">
            <a:extLst>
              <a:ext uri="{FF2B5EF4-FFF2-40B4-BE49-F238E27FC236}">
                <a16:creationId xmlns:a16="http://schemas.microsoft.com/office/drawing/2014/main" id="{43E40D70-A24F-C646-A621-833DDD11502C}"/>
              </a:ext>
            </a:extLst>
          </p:cNvPr>
          <p:cNvSpPr txBox="1"/>
          <p:nvPr/>
        </p:nvSpPr>
        <p:spPr>
          <a:xfrm>
            <a:off x="8889686" y="3251990"/>
            <a:ext cx="3302314" cy="1938992"/>
          </a:xfrm>
          <a:prstGeom prst="rect">
            <a:avLst/>
          </a:prstGeom>
          <a:noFill/>
        </p:spPr>
        <p:txBody>
          <a:bodyPr wrap="square" rtlCol="0">
            <a:spAutoFit/>
          </a:bodyPr>
          <a:lstStyle/>
          <a:p>
            <a:r>
              <a:rPr lang="en-US" sz="2400" u="sng" dirty="0"/>
              <a:t>Classroom instruction</a:t>
            </a:r>
            <a:endParaRPr lang="en-US" sz="2400" i="1" dirty="0"/>
          </a:p>
          <a:p>
            <a:endParaRPr lang="en-US" sz="2400" u="sng" dirty="0"/>
          </a:p>
          <a:p>
            <a:r>
              <a:rPr lang="en-US" sz="2400" u="sng" dirty="0"/>
              <a:t>Japanese minimal pairs</a:t>
            </a:r>
          </a:p>
          <a:p>
            <a:r>
              <a:rPr lang="en-US" sz="2400" i="1" dirty="0" err="1"/>
              <a:t>oto</a:t>
            </a:r>
            <a:r>
              <a:rPr lang="en-US" sz="2400" dirty="0"/>
              <a:t> vs. </a:t>
            </a:r>
            <a:r>
              <a:rPr lang="en-US" sz="2400" i="1" dirty="0"/>
              <a:t>otto </a:t>
            </a:r>
          </a:p>
          <a:p>
            <a:r>
              <a:rPr lang="en-US" sz="2400" i="1" dirty="0" err="1"/>
              <a:t>shiru</a:t>
            </a:r>
            <a:r>
              <a:rPr lang="en-US" sz="2400" dirty="0"/>
              <a:t> vs. </a:t>
            </a:r>
            <a:r>
              <a:rPr lang="en-US" sz="2400" i="1" dirty="0" err="1"/>
              <a:t>shiiru</a:t>
            </a:r>
            <a:r>
              <a:rPr lang="en-US" sz="2400" i="1" dirty="0"/>
              <a:t> </a:t>
            </a:r>
            <a:endParaRPr lang="en-US" sz="2400" dirty="0"/>
          </a:p>
        </p:txBody>
      </p:sp>
      <p:sp>
        <p:nvSpPr>
          <p:cNvPr id="7" name="TextBox 6">
            <a:extLst>
              <a:ext uri="{FF2B5EF4-FFF2-40B4-BE49-F238E27FC236}">
                <a16:creationId xmlns:a16="http://schemas.microsoft.com/office/drawing/2014/main" id="{2EFF935C-5635-5C38-BEAE-192791601AF8}"/>
              </a:ext>
            </a:extLst>
          </p:cNvPr>
          <p:cNvSpPr txBox="1"/>
          <p:nvPr/>
        </p:nvSpPr>
        <p:spPr>
          <a:xfrm>
            <a:off x="8889686" y="5475318"/>
            <a:ext cx="2651047" cy="1200329"/>
          </a:xfrm>
          <a:prstGeom prst="rect">
            <a:avLst/>
          </a:prstGeom>
          <a:noFill/>
        </p:spPr>
        <p:txBody>
          <a:bodyPr wrap="square" rtlCol="0">
            <a:spAutoFit/>
          </a:bodyPr>
          <a:lstStyle/>
          <a:p>
            <a:r>
              <a:rPr lang="en-US" sz="2400" u="sng" dirty="0"/>
              <a:t>MSA minimal pairs</a:t>
            </a:r>
            <a:endParaRPr lang="en-US" sz="2400" dirty="0"/>
          </a:p>
          <a:p>
            <a:r>
              <a:rPr lang="en-US" sz="2400" i="1" dirty="0" err="1"/>
              <a:t>watara</a:t>
            </a:r>
            <a:r>
              <a:rPr lang="en-US" sz="2400" i="1" dirty="0"/>
              <a:t> </a:t>
            </a:r>
            <a:r>
              <a:rPr lang="en-US" sz="2400" dirty="0"/>
              <a:t>vs. </a:t>
            </a:r>
            <a:r>
              <a:rPr lang="en-US" sz="2400" i="1" dirty="0" err="1"/>
              <a:t>wattara</a:t>
            </a:r>
            <a:endParaRPr lang="en-US" sz="2400" dirty="0"/>
          </a:p>
          <a:p>
            <a:r>
              <a:rPr lang="en-US" sz="2400" i="1" dirty="0" err="1"/>
              <a:t>kataba</a:t>
            </a:r>
            <a:r>
              <a:rPr lang="en-US" sz="2400" i="1" dirty="0"/>
              <a:t> </a:t>
            </a:r>
            <a:r>
              <a:rPr lang="en-US" sz="2400" dirty="0"/>
              <a:t>vs. </a:t>
            </a:r>
            <a:r>
              <a:rPr lang="en-US" sz="2400" i="1" dirty="0" err="1"/>
              <a:t>kaataba</a:t>
            </a:r>
            <a:endParaRPr lang="en-US" sz="2400" i="1" dirty="0"/>
          </a:p>
        </p:txBody>
      </p:sp>
      <p:sp>
        <p:nvSpPr>
          <p:cNvPr id="9" name="TextBox 8">
            <a:extLst>
              <a:ext uri="{FF2B5EF4-FFF2-40B4-BE49-F238E27FC236}">
                <a16:creationId xmlns:a16="http://schemas.microsoft.com/office/drawing/2014/main" id="{292AFF45-8317-05CD-9DC2-BC4F4CAA8613}"/>
              </a:ext>
            </a:extLst>
          </p:cNvPr>
          <p:cNvSpPr txBox="1"/>
          <p:nvPr/>
        </p:nvSpPr>
        <p:spPr>
          <a:xfrm>
            <a:off x="487216" y="2259768"/>
            <a:ext cx="2119797" cy="707886"/>
          </a:xfrm>
          <a:prstGeom prst="rect">
            <a:avLst/>
          </a:prstGeom>
          <a:noFill/>
        </p:spPr>
        <p:txBody>
          <a:bodyPr wrap="square" rtlCol="0">
            <a:spAutoFit/>
          </a:bodyPr>
          <a:lstStyle/>
          <a:p>
            <a:r>
              <a:rPr lang="en-US" sz="4000" dirty="0">
                <a:solidFill>
                  <a:srgbClr val="CC6677"/>
                </a:solidFill>
              </a:rPr>
              <a:t>Control</a:t>
            </a:r>
          </a:p>
        </p:txBody>
      </p:sp>
      <p:sp>
        <p:nvSpPr>
          <p:cNvPr id="10" name="TextBox 9">
            <a:extLst>
              <a:ext uri="{FF2B5EF4-FFF2-40B4-BE49-F238E27FC236}">
                <a16:creationId xmlns:a16="http://schemas.microsoft.com/office/drawing/2014/main" id="{059B168A-B1CB-2592-8AC1-D09F5554E513}"/>
              </a:ext>
            </a:extLst>
          </p:cNvPr>
          <p:cNvSpPr txBox="1"/>
          <p:nvPr/>
        </p:nvSpPr>
        <p:spPr>
          <a:xfrm>
            <a:off x="487216" y="3251990"/>
            <a:ext cx="3302314" cy="461665"/>
          </a:xfrm>
          <a:prstGeom prst="rect">
            <a:avLst/>
          </a:prstGeom>
          <a:noFill/>
        </p:spPr>
        <p:txBody>
          <a:bodyPr wrap="square" rtlCol="0">
            <a:spAutoFit/>
          </a:bodyPr>
          <a:lstStyle/>
          <a:p>
            <a:r>
              <a:rPr lang="en-US" sz="2400" u="sng" dirty="0"/>
              <a:t>Classroom instruction</a:t>
            </a:r>
            <a:endParaRPr lang="en-US" sz="2400" i="1" dirty="0"/>
          </a:p>
        </p:txBody>
      </p:sp>
      <p:sp>
        <p:nvSpPr>
          <p:cNvPr id="11" name="TextBox 10">
            <a:extLst>
              <a:ext uri="{FF2B5EF4-FFF2-40B4-BE49-F238E27FC236}">
                <a16:creationId xmlns:a16="http://schemas.microsoft.com/office/drawing/2014/main" id="{5993D19C-DC00-D0FB-BD13-79BC8309D39C}"/>
              </a:ext>
            </a:extLst>
          </p:cNvPr>
          <p:cNvSpPr txBox="1"/>
          <p:nvPr/>
        </p:nvSpPr>
        <p:spPr>
          <a:xfrm>
            <a:off x="27525" y="6334780"/>
            <a:ext cx="5158976" cy="523220"/>
          </a:xfrm>
          <a:prstGeom prst="rect">
            <a:avLst/>
          </a:prstGeom>
          <a:noFill/>
        </p:spPr>
        <p:txBody>
          <a:bodyPr wrap="none" rtlCol="0">
            <a:spAutoFit/>
          </a:bodyPr>
          <a:lstStyle/>
          <a:p>
            <a:r>
              <a:rPr lang="en-US" sz="2800" dirty="0"/>
              <a:t>3-4 weeks between pre and post</a:t>
            </a:r>
          </a:p>
        </p:txBody>
      </p:sp>
    </p:spTree>
    <p:extLst>
      <p:ext uri="{BB962C8B-B14F-4D97-AF65-F5344CB8AC3E}">
        <p14:creationId xmlns:p14="http://schemas.microsoft.com/office/powerpoint/2010/main" val="1278056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screenshot of a phone&#10;&#10;AI-generated content may be incorrect.">
            <a:extLst>
              <a:ext uri="{FF2B5EF4-FFF2-40B4-BE49-F238E27FC236}">
                <a16:creationId xmlns:a16="http://schemas.microsoft.com/office/drawing/2014/main" id="{6C6BAAAF-02A9-9EB3-2F57-7915A7DF2357}"/>
              </a:ext>
            </a:extLst>
          </p:cNvPr>
          <p:cNvPicPr>
            <a:picLocks noChangeAspect="1"/>
          </p:cNvPicPr>
          <p:nvPr/>
        </p:nvPicPr>
        <p:blipFill>
          <a:blip r:embed="rId3"/>
          <a:stretch>
            <a:fillRect/>
          </a:stretch>
        </p:blipFill>
        <p:spPr>
          <a:xfrm>
            <a:off x="1331843" y="655983"/>
            <a:ext cx="10324633" cy="5148908"/>
          </a:xfrm>
          <a:prstGeom prst="rect">
            <a:avLst/>
          </a:prstGeom>
        </p:spPr>
      </p:pic>
    </p:spTree>
    <p:extLst>
      <p:ext uri="{BB962C8B-B14F-4D97-AF65-F5344CB8AC3E}">
        <p14:creationId xmlns:p14="http://schemas.microsoft.com/office/powerpoint/2010/main" val="22890277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test&#10;&#10;AI-generated content may be incorrect.">
            <a:extLst>
              <a:ext uri="{FF2B5EF4-FFF2-40B4-BE49-F238E27FC236}">
                <a16:creationId xmlns:a16="http://schemas.microsoft.com/office/drawing/2014/main" id="{D3350C06-9F5F-E620-B484-799F0317D65B}"/>
              </a:ext>
            </a:extLst>
          </p:cNvPr>
          <p:cNvPicPr>
            <a:picLocks noChangeAspect="1"/>
          </p:cNvPicPr>
          <p:nvPr/>
        </p:nvPicPr>
        <p:blipFill>
          <a:blip r:embed="rId5"/>
          <a:srcRect b="26585"/>
          <a:stretch>
            <a:fillRect/>
          </a:stretch>
        </p:blipFill>
        <p:spPr>
          <a:xfrm>
            <a:off x="1981200" y="1500554"/>
            <a:ext cx="8229600" cy="4994031"/>
          </a:xfrm>
          <a:prstGeom prst="rect">
            <a:avLst/>
          </a:prstGeom>
        </p:spPr>
      </p:pic>
      <p:pic>
        <p:nvPicPr>
          <p:cNvPr id="4" name="F_kiita_s.mp3">
            <a:hlinkClick r:id="" action="ppaction://media"/>
            <a:extLst>
              <a:ext uri="{FF2B5EF4-FFF2-40B4-BE49-F238E27FC236}">
                <a16:creationId xmlns:a16="http://schemas.microsoft.com/office/drawing/2014/main" id="{4C90250C-8B0B-B4A1-1075-62FC5A49C11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969846" y="3538416"/>
            <a:ext cx="812800" cy="812800"/>
          </a:xfrm>
          <a:prstGeom prst="rect">
            <a:avLst/>
          </a:prstGeom>
        </p:spPr>
      </p:pic>
      <p:sp>
        <p:nvSpPr>
          <p:cNvPr id="5" name="TextBox 4">
            <a:extLst>
              <a:ext uri="{FF2B5EF4-FFF2-40B4-BE49-F238E27FC236}">
                <a16:creationId xmlns:a16="http://schemas.microsoft.com/office/drawing/2014/main" id="{39207B93-5274-A956-06E8-3B8414BC80C8}"/>
              </a:ext>
            </a:extLst>
          </p:cNvPr>
          <p:cNvSpPr txBox="1"/>
          <p:nvPr/>
        </p:nvSpPr>
        <p:spPr>
          <a:xfrm>
            <a:off x="3460674" y="4984673"/>
            <a:ext cx="834074" cy="523220"/>
          </a:xfrm>
          <a:prstGeom prst="rect">
            <a:avLst/>
          </a:prstGeom>
          <a:noFill/>
        </p:spPr>
        <p:txBody>
          <a:bodyPr wrap="none" rtlCol="0">
            <a:spAutoFit/>
          </a:bodyPr>
          <a:lstStyle/>
          <a:p>
            <a:r>
              <a:rPr lang="en-US" sz="2800" i="1" dirty="0" err="1"/>
              <a:t>kiita</a:t>
            </a:r>
            <a:endParaRPr lang="en-US" sz="2800" i="1" dirty="0"/>
          </a:p>
        </p:txBody>
      </p:sp>
      <p:sp>
        <p:nvSpPr>
          <p:cNvPr id="6" name="TextBox 5">
            <a:extLst>
              <a:ext uri="{FF2B5EF4-FFF2-40B4-BE49-F238E27FC236}">
                <a16:creationId xmlns:a16="http://schemas.microsoft.com/office/drawing/2014/main" id="{66C670A9-E1A6-D132-7128-2A773F599CAF}"/>
              </a:ext>
            </a:extLst>
          </p:cNvPr>
          <p:cNvSpPr txBox="1"/>
          <p:nvPr/>
        </p:nvSpPr>
        <p:spPr>
          <a:xfrm>
            <a:off x="7788416" y="4929554"/>
            <a:ext cx="935577" cy="523220"/>
          </a:xfrm>
          <a:prstGeom prst="rect">
            <a:avLst/>
          </a:prstGeom>
          <a:noFill/>
        </p:spPr>
        <p:txBody>
          <a:bodyPr wrap="none" rtlCol="0">
            <a:spAutoFit/>
          </a:bodyPr>
          <a:lstStyle/>
          <a:p>
            <a:r>
              <a:rPr lang="en-US" sz="2800" i="1" dirty="0" err="1"/>
              <a:t>kieta</a:t>
            </a:r>
            <a:endParaRPr lang="en-US" sz="2800" i="1" dirty="0"/>
          </a:p>
        </p:txBody>
      </p:sp>
      <p:sp>
        <p:nvSpPr>
          <p:cNvPr id="7" name="TextBox 6">
            <a:extLst>
              <a:ext uri="{FF2B5EF4-FFF2-40B4-BE49-F238E27FC236}">
                <a16:creationId xmlns:a16="http://schemas.microsoft.com/office/drawing/2014/main" id="{06AA6BD0-FE74-ED56-731E-BD773C09CE6D}"/>
              </a:ext>
            </a:extLst>
          </p:cNvPr>
          <p:cNvSpPr txBox="1"/>
          <p:nvPr/>
        </p:nvSpPr>
        <p:spPr>
          <a:xfrm>
            <a:off x="3439449" y="5580216"/>
            <a:ext cx="855299" cy="523220"/>
          </a:xfrm>
          <a:prstGeom prst="rect">
            <a:avLst/>
          </a:prstGeom>
          <a:noFill/>
        </p:spPr>
        <p:txBody>
          <a:bodyPr wrap="none" rtlCol="0">
            <a:spAutoFit/>
          </a:bodyPr>
          <a:lstStyle/>
          <a:p>
            <a:r>
              <a:rPr lang="en-US" sz="2800" i="1" dirty="0"/>
              <a:t>kitta</a:t>
            </a:r>
          </a:p>
        </p:txBody>
      </p:sp>
      <p:sp>
        <p:nvSpPr>
          <p:cNvPr id="8" name="TextBox 7">
            <a:extLst>
              <a:ext uri="{FF2B5EF4-FFF2-40B4-BE49-F238E27FC236}">
                <a16:creationId xmlns:a16="http://schemas.microsoft.com/office/drawing/2014/main" id="{9B53A186-C9F9-83C3-5F32-BBE75F17A6CC}"/>
              </a:ext>
            </a:extLst>
          </p:cNvPr>
          <p:cNvSpPr txBox="1"/>
          <p:nvPr/>
        </p:nvSpPr>
        <p:spPr>
          <a:xfrm>
            <a:off x="7784316" y="5580216"/>
            <a:ext cx="744819" cy="523220"/>
          </a:xfrm>
          <a:prstGeom prst="rect">
            <a:avLst/>
          </a:prstGeom>
          <a:noFill/>
        </p:spPr>
        <p:txBody>
          <a:bodyPr wrap="none" rtlCol="0">
            <a:spAutoFit/>
          </a:bodyPr>
          <a:lstStyle/>
          <a:p>
            <a:r>
              <a:rPr lang="en-US" sz="2800" i="1" dirty="0"/>
              <a:t>kita</a:t>
            </a:r>
          </a:p>
        </p:txBody>
      </p:sp>
      <p:sp>
        <p:nvSpPr>
          <p:cNvPr id="9" name="TextBox 8">
            <a:extLst>
              <a:ext uri="{FF2B5EF4-FFF2-40B4-BE49-F238E27FC236}">
                <a16:creationId xmlns:a16="http://schemas.microsoft.com/office/drawing/2014/main" id="{8F579E99-A4AF-4ACD-573C-F1AF483E9A94}"/>
              </a:ext>
            </a:extLst>
          </p:cNvPr>
          <p:cNvSpPr txBox="1"/>
          <p:nvPr/>
        </p:nvSpPr>
        <p:spPr>
          <a:xfrm>
            <a:off x="8200965" y="3538416"/>
            <a:ext cx="2932919" cy="523220"/>
          </a:xfrm>
          <a:prstGeom prst="rect">
            <a:avLst/>
          </a:prstGeom>
          <a:noFill/>
        </p:spPr>
        <p:txBody>
          <a:bodyPr wrap="none" rtlCol="0">
            <a:spAutoFit/>
          </a:bodyPr>
          <a:lstStyle/>
          <a:p>
            <a:r>
              <a:rPr lang="en-US" sz="2800" i="1" dirty="0"/>
              <a:t>kinoo </a:t>
            </a:r>
            <a:r>
              <a:rPr lang="en-US" sz="2800" i="1" dirty="0" err="1"/>
              <a:t>kare</a:t>
            </a:r>
            <a:r>
              <a:rPr lang="en-US" sz="2800" i="1" dirty="0"/>
              <a:t> ga </a:t>
            </a:r>
            <a:r>
              <a:rPr lang="en-US" sz="2800" i="1" u="sng" dirty="0" err="1"/>
              <a:t>kiita</a:t>
            </a:r>
            <a:endParaRPr lang="en-US" sz="2800" i="1" u="sng" dirty="0"/>
          </a:p>
        </p:txBody>
      </p:sp>
      <p:sp>
        <p:nvSpPr>
          <p:cNvPr id="10" name="Donut 9">
            <a:extLst>
              <a:ext uri="{FF2B5EF4-FFF2-40B4-BE49-F238E27FC236}">
                <a16:creationId xmlns:a16="http://schemas.microsoft.com/office/drawing/2014/main" id="{539D769B-83B2-36C9-22DC-8AB383C57346}"/>
              </a:ext>
            </a:extLst>
          </p:cNvPr>
          <p:cNvSpPr/>
          <p:nvPr/>
        </p:nvSpPr>
        <p:spPr>
          <a:xfrm>
            <a:off x="4817420" y="4750211"/>
            <a:ext cx="935577" cy="904220"/>
          </a:xfrm>
          <a:prstGeom prst="donut">
            <a:avLst/>
          </a:prstGeom>
          <a:solidFill>
            <a:schemeClr val="accent6">
              <a:alpha val="5046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itle 10">
            <a:extLst>
              <a:ext uri="{FF2B5EF4-FFF2-40B4-BE49-F238E27FC236}">
                <a16:creationId xmlns:a16="http://schemas.microsoft.com/office/drawing/2014/main" id="{8FDDF73B-B077-3E49-F8CA-B0AA8F040F80}"/>
              </a:ext>
            </a:extLst>
          </p:cNvPr>
          <p:cNvSpPr>
            <a:spLocks noGrp="1"/>
          </p:cNvSpPr>
          <p:nvPr>
            <p:ph type="title"/>
          </p:nvPr>
        </p:nvSpPr>
        <p:spPr>
          <a:xfrm>
            <a:off x="838200" y="223178"/>
            <a:ext cx="10515600" cy="1325563"/>
          </a:xfrm>
        </p:spPr>
        <p:txBody>
          <a:bodyPr>
            <a:normAutofit fontScale="90000"/>
          </a:bodyPr>
          <a:lstStyle/>
          <a:p>
            <a:r>
              <a:rPr lang="en-US" dirty="0">
                <a:solidFill>
                  <a:srgbClr val="228833"/>
                </a:solidFill>
              </a:rPr>
              <a:t>L2 listening assessment accuracy </a:t>
            </a:r>
            <a:r>
              <a:rPr lang="en-US" dirty="0"/>
              <a:t>was measured by a multiple-choice partial dictation (MCPD) task using more natural L2 speech recordings</a:t>
            </a:r>
          </a:p>
        </p:txBody>
      </p:sp>
    </p:spTree>
    <p:extLst>
      <p:ext uri="{BB962C8B-B14F-4D97-AF65-F5344CB8AC3E}">
        <p14:creationId xmlns:p14="http://schemas.microsoft.com/office/powerpoint/2010/main" val="92465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512" fill="hold"/>
                                        <p:tgtEl>
                                          <p:spTgt spid="4"/>
                                        </p:tgtEl>
                                      </p:cBhvr>
                                    </p:cmd>
                                  </p:childTnLst>
                                </p:cTn>
                              </p:par>
                              <p:par>
                                <p:cTn id="11" presetID="22" presetClass="entr" presetSubtype="8"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1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8" fill="hold" display="0">
                  <p:stCondLst>
                    <p:cond delay="indefinite"/>
                  </p:stCondLst>
                  <p:endCondLst>
                    <p:cond evt="onStopAudio" delay="0">
                      <p:tgtEl>
                        <p:sldTgt/>
                      </p:tgtEl>
                    </p:cond>
                  </p:endCondLst>
                </p:cTn>
                <p:tgtEl>
                  <p:spTgt spid="4"/>
                </p:tgtEl>
              </p:cMediaNode>
            </p:audio>
          </p:childTnLst>
        </p:cTn>
      </p:par>
    </p:tnLst>
    <p:bldLst>
      <p:bldP spid="5" grpId="0"/>
      <p:bldP spid="6" grpId="0"/>
      <p:bldP spid="7" grpId="0"/>
      <p:bldP spid="8" grpId="0"/>
      <p:bldP spid="9" grpId="0"/>
      <p:bldP spid="1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67406CF3-9B06-A7A0-C0DA-6FCC34F7E945}"/>
              </a:ext>
            </a:extLst>
          </p:cNvPr>
          <p:cNvSpPr/>
          <p:nvPr/>
        </p:nvSpPr>
        <p:spPr>
          <a:xfrm>
            <a:off x="196175" y="1600334"/>
            <a:ext cx="2522400" cy="1162321"/>
          </a:xfrm>
          <a:prstGeom prst="roundRect">
            <a:avLst/>
          </a:prstGeom>
          <a:noFill/>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Specific LD</a:t>
            </a:r>
          </a:p>
        </p:txBody>
      </p:sp>
      <p:sp>
        <p:nvSpPr>
          <p:cNvPr id="13" name="Rounded Rectangle 12">
            <a:extLst>
              <a:ext uri="{FF2B5EF4-FFF2-40B4-BE49-F238E27FC236}">
                <a16:creationId xmlns:a16="http://schemas.microsoft.com/office/drawing/2014/main" id="{7EB356FB-298A-C7CD-7B3F-748D2A7C743E}"/>
              </a:ext>
            </a:extLst>
          </p:cNvPr>
          <p:cNvSpPr/>
          <p:nvPr/>
        </p:nvSpPr>
        <p:spPr>
          <a:xfrm>
            <a:off x="3573601" y="1600334"/>
            <a:ext cx="2522400" cy="1162321"/>
          </a:xfrm>
          <a:prstGeom prst="roundRect">
            <a:avLst/>
          </a:prstGeom>
          <a:noFill/>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Gradient categorization</a:t>
            </a:r>
          </a:p>
        </p:txBody>
      </p:sp>
      <p:sp>
        <p:nvSpPr>
          <p:cNvPr id="14" name="Rounded Rectangle 13">
            <a:extLst>
              <a:ext uri="{FF2B5EF4-FFF2-40B4-BE49-F238E27FC236}">
                <a16:creationId xmlns:a16="http://schemas.microsoft.com/office/drawing/2014/main" id="{65C1A10F-869C-70B8-9ED1-CA964CC03544}"/>
              </a:ext>
            </a:extLst>
          </p:cNvPr>
          <p:cNvSpPr/>
          <p:nvPr/>
        </p:nvSpPr>
        <p:spPr>
          <a:xfrm>
            <a:off x="196175" y="3429000"/>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Specific LD</a:t>
            </a:r>
          </a:p>
        </p:txBody>
      </p:sp>
      <p:sp>
        <p:nvSpPr>
          <p:cNvPr id="15" name="Rounded Rectangle 14">
            <a:extLst>
              <a:ext uri="{FF2B5EF4-FFF2-40B4-BE49-F238E27FC236}">
                <a16:creationId xmlns:a16="http://schemas.microsoft.com/office/drawing/2014/main" id="{8B5F5367-37CD-5A7F-659C-436C75946B39}"/>
              </a:ext>
            </a:extLst>
          </p:cNvPr>
          <p:cNvSpPr/>
          <p:nvPr/>
        </p:nvSpPr>
        <p:spPr>
          <a:xfrm>
            <a:off x="3573601" y="3429000"/>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L2 perceptual discrimination</a:t>
            </a:r>
          </a:p>
        </p:txBody>
      </p:sp>
      <p:sp>
        <p:nvSpPr>
          <p:cNvPr id="16" name="Rounded Rectangle 15">
            <a:extLst>
              <a:ext uri="{FF2B5EF4-FFF2-40B4-BE49-F238E27FC236}">
                <a16:creationId xmlns:a16="http://schemas.microsoft.com/office/drawing/2014/main" id="{17251917-E3BD-B3BF-12D0-7AB029429E28}"/>
              </a:ext>
            </a:extLst>
          </p:cNvPr>
          <p:cNvSpPr/>
          <p:nvPr/>
        </p:nvSpPr>
        <p:spPr>
          <a:xfrm>
            <a:off x="3537931" y="5257666"/>
            <a:ext cx="2558069" cy="1162320"/>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L2 listening assessment</a:t>
            </a:r>
          </a:p>
        </p:txBody>
      </p:sp>
      <p:cxnSp>
        <p:nvCxnSpPr>
          <p:cNvPr id="17" name="Straight Arrow Connector 16">
            <a:extLst>
              <a:ext uri="{FF2B5EF4-FFF2-40B4-BE49-F238E27FC236}">
                <a16:creationId xmlns:a16="http://schemas.microsoft.com/office/drawing/2014/main" id="{CB7F0F50-CF86-7932-42F2-568996734067}"/>
              </a:ext>
            </a:extLst>
          </p:cNvPr>
          <p:cNvCxnSpPr>
            <a:cxnSpLocks/>
            <a:stCxn id="12" idx="3"/>
            <a:endCxn id="13" idx="1"/>
          </p:cNvCxnSpPr>
          <p:nvPr/>
        </p:nvCxnSpPr>
        <p:spPr>
          <a:xfrm>
            <a:off x="2718575" y="2181495"/>
            <a:ext cx="855026" cy="0"/>
          </a:xfrm>
          <a:prstGeom prst="straightConnector1">
            <a:avLst/>
          </a:prstGeom>
          <a:ln w="63500">
            <a:solidFill>
              <a:srgbClr val="9B9CA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7D87E4E-696C-819E-4FDF-527854236BBC}"/>
              </a:ext>
            </a:extLst>
          </p:cNvPr>
          <p:cNvCxnSpPr>
            <a:cxnSpLocks/>
            <a:stCxn id="14" idx="3"/>
            <a:endCxn id="15" idx="1"/>
          </p:cNvCxnSpPr>
          <p:nvPr/>
        </p:nvCxnSpPr>
        <p:spPr>
          <a:xfrm>
            <a:off x="2718575" y="4010161"/>
            <a:ext cx="855026" cy="0"/>
          </a:xfrm>
          <a:prstGeom prst="straightConnector1">
            <a:avLst/>
          </a:prstGeom>
          <a:ln w="63500">
            <a:solidFill>
              <a:srgbClr val="9B9CA1">
                <a:alpha val="25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89B8224-6E98-ED73-AA49-601E5E63B3D7}"/>
              </a:ext>
            </a:extLst>
          </p:cNvPr>
          <p:cNvCxnSpPr>
            <a:cxnSpLocks/>
            <a:stCxn id="20" idx="3"/>
            <a:endCxn id="16" idx="1"/>
          </p:cNvCxnSpPr>
          <p:nvPr/>
        </p:nvCxnSpPr>
        <p:spPr>
          <a:xfrm flipV="1">
            <a:off x="2718575" y="5838826"/>
            <a:ext cx="819356" cy="1"/>
          </a:xfrm>
          <a:prstGeom prst="straightConnector1">
            <a:avLst/>
          </a:prstGeom>
          <a:ln w="63500">
            <a:solidFill>
              <a:srgbClr val="9B9CA1">
                <a:alpha val="25000"/>
              </a:srgbClr>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a:extLst>
              <a:ext uri="{FF2B5EF4-FFF2-40B4-BE49-F238E27FC236}">
                <a16:creationId xmlns:a16="http://schemas.microsoft.com/office/drawing/2014/main" id="{E6312C61-5B2A-B679-873E-E2C51DFAAD77}"/>
              </a:ext>
            </a:extLst>
          </p:cNvPr>
          <p:cNvSpPr/>
          <p:nvPr/>
        </p:nvSpPr>
        <p:spPr>
          <a:xfrm>
            <a:off x="196175" y="5257666"/>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Specific LD</a:t>
            </a:r>
          </a:p>
        </p:txBody>
      </p:sp>
      <p:sp>
        <p:nvSpPr>
          <p:cNvPr id="43" name="Rectangle 42">
            <a:extLst>
              <a:ext uri="{FF2B5EF4-FFF2-40B4-BE49-F238E27FC236}">
                <a16:creationId xmlns:a16="http://schemas.microsoft.com/office/drawing/2014/main" id="{AC182A60-34F8-3570-88B4-626C417C115C}"/>
              </a:ext>
            </a:extLst>
          </p:cNvPr>
          <p:cNvSpPr/>
          <p:nvPr/>
        </p:nvSpPr>
        <p:spPr>
          <a:xfrm>
            <a:off x="7757641" y="1848120"/>
            <a:ext cx="120676" cy="107994"/>
          </a:xfrm>
          <a:prstGeom prst="rect">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B356008C-6549-A83E-61D8-8176D79EE894}"/>
              </a:ext>
            </a:extLst>
          </p:cNvPr>
          <p:cNvSpPr/>
          <p:nvPr/>
        </p:nvSpPr>
        <p:spPr>
          <a:xfrm>
            <a:off x="7466384" y="1271123"/>
            <a:ext cx="1804789" cy="15601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A06C2234-9CF8-1DF6-48B2-FCA7BAC2EAAD}"/>
              </a:ext>
            </a:extLst>
          </p:cNvPr>
          <p:cNvSpPr txBox="1"/>
          <p:nvPr/>
        </p:nvSpPr>
        <p:spPr>
          <a:xfrm>
            <a:off x="7569810" y="2893889"/>
            <a:ext cx="1690976" cy="461665"/>
          </a:xfrm>
          <a:prstGeom prst="rect">
            <a:avLst/>
          </a:prstGeom>
          <a:noFill/>
        </p:spPr>
        <p:txBody>
          <a:bodyPr wrap="none" rtlCol="0">
            <a:spAutoFit/>
          </a:bodyPr>
          <a:lstStyle/>
          <a:p>
            <a:r>
              <a:rPr lang="en-US" sz="2400" dirty="0"/>
              <a:t>Pre	Post</a:t>
            </a:r>
          </a:p>
        </p:txBody>
      </p:sp>
      <p:sp>
        <p:nvSpPr>
          <p:cNvPr id="46" name="TextBox 45">
            <a:extLst>
              <a:ext uri="{FF2B5EF4-FFF2-40B4-BE49-F238E27FC236}">
                <a16:creationId xmlns:a16="http://schemas.microsoft.com/office/drawing/2014/main" id="{8603286B-9720-CE5A-AF87-A6CE81C6A5BE}"/>
              </a:ext>
            </a:extLst>
          </p:cNvPr>
          <p:cNvSpPr txBox="1"/>
          <p:nvPr/>
        </p:nvSpPr>
        <p:spPr>
          <a:xfrm rot="16200000">
            <a:off x="6717223" y="1851154"/>
            <a:ext cx="817853" cy="400110"/>
          </a:xfrm>
          <a:prstGeom prst="rect">
            <a:avLst/>
          </a:prstGeom>
          <a:noFill/>
        </p:spPr>
        <p:txBody>
          <a:bodyPr wrap="none" rtlCol="0">
            <a:spAutoFit/>
          </a:bodyPr>
          <a:lstStyle/>
          <a:p>
            <a:r>
              <a:rPr lang="en-US" sz="2000" dirty="0"/>
              <a:t>Slope</a:t>
            </a:r>
          </a:p>
        </p:txBody>
      </p:sp>
      <p:sp>
        <p:nvSpPr>
          <p:cNvPr id="47" name="TextBox 46">
            <a:extLst>
              <a:ext uri="{FF2B5EF4-FFF2-40B4-BE49-F238E27FC236}">
                <a16:creationId xmlns:a16="http://schemas.microsoft.com/office/drawing/2014/main" id="{4F8B2787-C100-32C5-F536-822A5DE70D61}"/>
              </a:ext>
            </a:extLst>
          </p:cNvPr>
          <p:cNvSpPr txBox="1"/>
          <p:nvPr/>
        </p:nvSpPr>
        <p:spPr>
          <a:xfrm rot="16200000">
            <a:off x="6299542" y="4083935"/>
            <a:ext cx="1562968" cy="707886"/>
          </a:xfrm>
          <a:prstGeom prst="rect">
            <a:avLst/>
          </a:prstGeom>
          <a:noFill/>
        </p:spPr>
        <p:txBody>
          <a:bodyPr wrap="square" rtlCol="0">
            <a:spAutoFit/>
          </a:bodyPr>
          <a:lstStyle/>
          <a:p>
            <a:pPr algn="ctr"/>
            <a:r>
              <a:rPr lang="en-US" sz="2000" dirty="0"/>
              <a:t>Response Variability</a:t>
            </a:r>
          </a:p>
        </p:txBody>
      </p:sp>
      <p:cxnSp>
        <p:nvCxnSpPr>
          <p:cNvPr id="48" name="Straight Connector 47">
            <a:extLst>
              <a:ext uri="{FF2B5EF4-FFF2-40B4-BE49-F238E27FC236}">
                <a16:creationId xmlns:a16="http://schemas.microsoft.com/office/drawing/2014/main" id="{FF8CB9B4-4836-EDD4-9828-A1FDB67867E1}"/>
              </a:ext>
            </a:extLst>
          </p:cNvPr>
          <p:cNvCxnSpPr>
            <a:cxnSpLocks/>
            <a:stCxn id="43" idx="3"/>
            <a:endCxn id="56" idx="3"/>
          </p:cNvCxnSpPr>
          <p:nvPr/>
        </p:nvCxnSpPr>
        <p:spPr>
          <a:xfrm>
            <a:off x="7878317" y="1902117"/>
            <a:ext cx="1215597" cy="154640"/>
          </a:xfrm>
          <a:prstGeom prst="line">
            <a:avLst/>
          </a:prstGeom>
          <a:ln w="38100">
            <a:solidFill>
              <a:srgbClr val="66CCEE"/>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C82A530-C4C3-48E4-C1D9-1BE00A4D32FF}"/>
              </a:ext>
            </a:extLst>
          </p:cNvPr>
          <p:cNvCxnSpPr>
            <a:cxnSpLocks/>
          </p:cNvCxnSpPr>
          <p:nvPr/>
        </p:nvCxnSpPr>
        <p:spPr>
          <a:xfrm>
            <a:off x="7785151" y="1868873"/>
            <a:ext cx="1252181" cy="591263"/>
          </a:xfrm>
          <a:prstGeom prst="line">
            <a:avLst/>
          </a:prstGeom>
          <a:ln w="38100">
            <a:solidFill>
              <a:srgbClr val="332288"/>
            </a:solidFill>
          </a:ln>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242E1B04-6EA8-4C09-F259-9F935AD4889F}"/>
              </a:ext>
            </a:extLst>
          </p:cNvPr>
          <p:cNvSpPr/>
          <p:nvPr/>
        </p:nvSpPr>
        <p:spPr>
          <a:xfrm>
            <a:off x="7466384" y="3617778"/>
            <a:ext cx="1804789" cy="15601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E3729937-73BD-B1F7-57F3-96DF950C30E6}"/>
              </a:ext>
            </a:extLst>
          </p:cNvPr>
          <p:cNvCxnSpPr>
            <a:cxnSpLocks/>
          </p:cNvCxnSpPr>
          <p:nvPr/>
        </p:nvCxnSpPr>
        <p:spPr>
          <a:xfrm>
            <a:off x="7731808" y="4236542"/>
            <a:ext cx="1287006" cy="193944"/>
          </a:xfrm>
          <a:prstGeom prst="line">
            <a:avLst/>
          </a:prstGeom>
          <a:ln w="38100">
            <a:solidFill>
              <a:srgbClr val="66CCEE"/>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4681E4DC-FF01-0642-D932-E89DA4B1F66E}"/>
              </a:ext>
            </a:extLst>
          </p:cNvPr>
          <p:cNvCxnSpPr>
            <a:cxnSpLocks/>
          </p:cNvCxnSpPr>
          <p:nvPr/>
        </p:nvCxnSpPr>
        <p:spPr>
          <a:xfrm>
            <a:off x="7752522" y="4269850"/>
            <a:ext cx="1253225" cy="515759"/>
          </a:xfrm>
          <a:prstGeom prst="line">
            <a:avLst/>
          </a:prstGeom>
          <a:ln w="38100">
            <a:solidFill>
              <a:srgbClr val="332288"/>
            </a:solidFill>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1BC8EAA8-C691-E890-970E-7E0BBE575BB9}"/>
              </a:ext>
            </a:extLst>
          </p:cNvPr>
          <p:cNvSpPr txBox="1"/>
          <p:nvPr/>
        </p:nvSpPr>
        <p:spPr>
          <a:xfrm>
            <a:off x="7569810" y="5231232"/>
            <a:ext cx="1690976" cy="461665"/>
          </a:xfrm>
          <a:prstGeom prst="rect">
            <a:avLst/>
          </a:prstGeom>
          <a:noFill/>
        </p:spPr>
        <p:txBody>
          <a:bodyPr wrap="none" rtlCol="0">
            <a:spAutoFit/>
          </a:bodyPr>
          <a:lstStyle/>
          <a:p>
            <a:r>
              <a:rPr lang="en-US" sz="2400" dirty="0"/>
              <a:t>Pre	Post</a:t>
            </a:r>
          </a:p>
        </p:txBody>
      </p:sp>
      <p:sp>
        <p:nvSpPr>
          <p:cNvPr id="54" name="Rectangle 53">
            <a:extLst>
              <a:ext uri="{FF2B5EF4-FFF2-40B4-BE49-F238E27FC236}">
                <a16:creationId xmlns:a16="http://schemas.microsoft.com/office/drawing/2014/main" id="{E255FA0F-D8D5-FBEF-12E7-D5F57CD7CBA2}"/>
              </a:ext>
            </a:extLst>
          </p:cNvPr>
          <p:cNvSpPr/>
          <p:nvPr/>
        </p:nvSpPr>
        <p:spPr>
          <a:xfrm>
            <a:off x="7716060" y="1816276"/>
            <a:ext cx="120676" cy="107994"/>
          </a:xfrm>
          <a:prstGeom prst="rect">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8884C89E-40AD-EDEF-5121-979C22D3DFAF}"/>
              </a:ext>
            </a:extLst>
          </p:cNvPr>
          <p:cNvSpPr/>
          <p:nvPr/>
        </p:nvSpPr>
        <p:spPr>
          <a:xfrm>
            <a:off x="8973238" y="2399231"/>
            <a:ext cx="120676" cy="107994"/>
          </a:xfrm>
          <a:prstGeom prst="rect">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C25D13E-A6F0-A81C-64E3-FBD3176FBABC}"/>
              </a:ext>
            </a:extLst>
          </p:cNvPr>
          <p:cNvSpPr/>
          <p:nvPr/>
        </p:nvSpPr>
        <p:spPr>
          <a:xfrm>
            <a:off x="8973238" y="2002760"/>
            <a:ext cx="120676" cy="107994"/>
          </a:xfrm>
          <a:prstGeom prst="rect">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Decision 56">
            <a:extLst>
              <a:ext uri="{FF2B5EF4-FFF2-40B4-BE49-F238E27FC236}">
                <a16:creationId xmlns:a16="http://schemas.microsoft.com/office/drawing/2014/main" id="{35FAA882-314F-45E1-1D3D-0BDE871BDA7F}"/>
              </a:ext>
            </a:extLst>
          </p:cNvPr>
          <p:cNvSpPr/>
          <p:nvPr/>
        </p:nvSpPr>
        <p:spPr>
          <a:xfrm>
            <a:off x="7688397" y="4164148"/>
            <a:ext cx="138487" cy="144788"/>
          </a:xfrm>
          <a:prstGeom prst="flowChartDecision">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Decision 57">
            <a:extLst>
              <a:ext uri="{FF2B5EF4-FFF2-40B4-BE49-F238E27FC236}">
                <a16:creationId xmlns:a16="http://schemas.microsoft.com/office/drawing/2014/main" id="{639213C9-8FE2-27E1-D203-296431DF097C}"/>
              </a:ext>
            </a:extLst>
          </p:cNvPr>
          <p:cNvSpPr/>
          <p:nvPr/>
        </p:nvSpPr>
        <p:spPr>
          <a:xfrm>
            <a:off x="8930729" y="4353978"/>
            <a:ext cx="138487" cy="144788"/>
          </a:xfrm>
          <a:prstGeom prst="flowChartDecision">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Decision 58">
            <a:extLst>
              <a:ext uri="{FF2B5EF4-FFF2-40B4-BE49-F238E27FC236}">
                <a16:creationId xmlns:a16="http://schemas.microsoft.com/office/drawing/2014/main" id="{630FB4FB-E1E4-E5C5-215A-45A775AFAA91}"/>
              </a:ext>
            </a:extLst>
          </p:cNvPr>
          <p:cNvSpPr/>
          <p:nvPr/>
        </p:nvSpPr>
        <p:spPr>
          <a:xfrm>
            <a:off x="8921485" y="4714777"/>
            <a:ext cx="138487" cy="144788"/>
          </a:xfrm>
          <a:prstGeom prst="flowChartDecision">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Decision 59">
            <a:extLst>
              <a:ext uri="{FF2B5EF4-FFF2-40B4-BE49-F238E27FC236}">
                <a16:creationId xmlns:a16="http://schemas.microsoft.com/office/drawing/2014/main" id="{89E9F3C8-C2BA-1856-0D71-C0419EB33321}"/>
              </a:ext>
            </a:extLst>
          </p:cNvPr>
          <p:cNvSpPr/>
          <p:nvPr/>
        </p:nvSpPr>
        <p:spPr>
          <a:xfrm>
            <a:off x="7670211" y="4197509"/>
            <a:ext cx="138487" cy="144788"/>
          </a:xfrm>
          <a:prstGeom prst="flowChartDecision">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E7A46514-A6B4-F798-E419-7D339E89A45F}"/>
              </a:ext>
            </a:extLst>
          </p:cNvPr>
          <p:cNvCxnSpPr>
            <a:cxnSpLocks/>
            <a:stCxn id="62" idx="1"/>
            <a:endCxn id="63" idx="3"/>
          </p:cNvCxnSpPr>
          <p:nvPr/>
        </p:nvCxnSpPr>
        <p:spPr>
          <a:xfrm>
            <a:off x="7670211" y="1852245"/>
            <a:ext cx="1397313" cy="26351"/>
          </a:xfrm>
          <a:prstGeom prst="line">
            <a:avLst/>
          </a:prstGeom>
          <a:ln w="38100">
            <a:solidFill>
              <a:srgbClr val="CC6677"/>
            </a:solidFill>
          </a:ln>
        </p:spPr>
        <p:style>
          <a:lnRef idx="2">
            <a:schemeClr val="accent1"/>
          </a:lnRef>
          <a:fillRef idx="0">
            <a:schemeClr val="accent1"/>
          </a:fillRef>
          <a:effectRef idx="1">
            <a:schemeClr val="accent1"/>
          </a:effectRef>
          <a:fontRef idx="minor">
            <a:schemeClr val="tx1"/>
          </a:fontRef>
        </p:style>
      </p:cxnSp>
      <p:sp>
        <p:nvSpPr>
          <p:cNvPr id="62" name="Rectangle 61">
            <a:extLst>
              <a:ext uri="{FF2B5EF4-FFF2-40B4-BE49-F238E27FC236}">
                <a16:creationId xmlns:a16="http://schemas.microsoft.com/office/drawing/2014/main" id="{73D1A1EA-A27C-E96C-AC73-90C635838072}"/>
              </a:ext>
            </a:extLst>
          </p:cNvPr>
          <p:cNvSpPr/>
          <p:nvPr/>
        </p:nvSpPr>
        <p:spPr>
          <a:xfrm>
            <a:off x="7670211" y="1798248"/>
            <a:ext cx="120676" cy="107994"/>
          </a:xfrm>
          <a:prstGeom prst="rect">
            <a:avLst/>
          </a:prstGeom>
          <a:solidFill>
            <a:srgbClr val="CC66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A1954364-DCC7-8EC4-2B4A-911ADF32FA3E}"/>
              </a:ext>
            </a:extLst>
          </p:cNvPr>
          <p:cNvSpPr/>
          <p:nvPr/>
        </p:nvSpPr>
        <p:spPr>
          <a:xfrm>
            <a:off x="8946848" y="1824599"/>
            <a:ext cx="120676" cy="107994"/>
          </a:xfrm>
          <a:prstGeom prst="rect">
            <a:avLst/>
          </a:prstGeom>
          <a:solidFill>
            <a:srgbClr val="CC66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E29618A3-B2E2-822E-EEEF-F92CFBDD8250}"/>
              </a:ext>
            </a:extLst>
          </p:cNvPr>
          <p:cNvCxnSpPr>
            <a:cxnSpLocks/>
          </p:cNvCxnSpPr>
          <p:nvPr/>
        </p:nvCxnSpPr>
        <p:spPr>
          <a:xfrm>
            <a:off x="7706007" y="4149687"/>
            <a:ext cx="1283447" cy="10189"/>
          </a:xfrm>
          <a:prstGeom prst="line">
            <a:avLst/>
          </a:prstGeom>
          <a:ln w="38100">
            <a:solidFill>
              <a:srgbClr val="CC6677"/>
            </a:solidFill>
          </a:ln>
        </p:spPr>
        <p:style>
          <a:lnRef idx="2">
            <a:schemeClr val="accent1"/>
          </a:lnRef>
          <a:fillRef idx="0">
            <a:schemeClr val="accent1"/>
          </a:fillRef>
          <a:effectRef idx="1">
            <a:schemeClr val="accent1"/>
          </a:effectRef>
          <a:fontRef idx="minor">
            <a:schemeClr val="tx1"/>
          </a:fontRef>
        </p:style>
      </p:cxnSp>
      <p:sp>
        <p:nvSpPr>
          <p:cNvPr id="69" name="Decision 68">
            <a:extLst>
              <a:ext uri="{FF2B5EF4-FFF2-40B4-BE49-F238E27FC236}">
                <a16:creationId xmlns:a16="http://schemas.microsoft.com/office/drawing/2014/main" id="{4F2D462F-2174-5139-CDC1-8D0F2BB6AF96}"/>
              </a:ext>
            </a:extLst>
          </p:cNvPr>
          <p:cNvSpPr/>
          <p:nvPr/>
        </p:nvSpPr>
        <p:spPr>
          <a:xfrm>
            <a:off x="7627959" y="4084524"/>
            <a:ext cx="138487" cy="144788"/>
          </a:xfrm>
          <a:prstGeom prst="flowChartDecision">
            <a:avLst/>
          </a:prstGeom>
          <a:solidFill>
            <a:srgbClr val="CC66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Decision 69">
            <a:extLst>
              <a:ext uri="{FF2B5EF4-FFF2-40B4-BE49-F238E27FC236}">
                <a16:creationId xmlns:a16="http://schemas.microsoft.com/office/drawing/2014/main" id="{C74ED035-2587-9AAA-F256-B078E3F0F3EB}"/>
              </a:ext>
            </a:extLst>
          </p:cNvPr>
          <p:cNvSpPr/>
          <p:nvPr/>
        </p:nvSpPr>
        <p:spPr>
          <a:xfrm>
            <a:off x="8919044" y="4084524"/>
            <a:ext cx="138487" cy="144788"/>
          </a:xfrm>
          <a:prstGeom prst="flowChartDecision">
            <a:avLst/>
          </a:prstGeom>
          <a:solidFill>
            <a:srgbClr val="CC66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20A48244-C9E1-CB95-4BE5-FAC762998FD0}"/>
              </a:ext>
            </a:extLst>
          </p:cNvPr>
          <p:cNvSpPr txBox="1"/>
          <p:nvPr/>
        </p:nvSpPr>
        <p:spPr>
          <a:xfrm>
            <a:off x="7716560" y="135894"/>
            <a:ext cx="1804789" cy="707886"/>
          </a:xfrm>
          <a:prstGeom prst="rect">
            <a:avLst/>
          </a:prstGeom>
          <a:noFill/>
        </p:spPr>
        <p:txBody>
          <a:bodyPr wrap="square" rtlCol="0">
            <a:spAutoFit/>
          </a:bodyPr>
          <a:lstStyle/>
          <a:p>
            <a:r>
              <a:rPr lang="en-US" sz="4000" dirty="0">
                <a:solidFill>
                  <a:srgbClr val="66CCEE"/>
                </a:solidFill>
              </a:rPr>
              <a:t>Low LD</a:t>
            </a:r>
          </a:p>
        </p:txBody>
      </p:sp>
      <p:sp>
        <p:nvSpPr>
          <p:cNvPr id="74" name="TextBox 73">
            <a:extLst>
              <a:ext uri="{FF2B5EF4-FFF2-40B4-BE49-F238E27FC236}">
                <a16:creationId xmlns:a16="http://schemas.microsoft.com/office/drawing/2014/main" id="{FFECD64A-8476-E085-4EEB-1A49C94A18B9}"/>
              </a:ext>
            </a:extLst>
          </p:cNvPr>
          <p:cNvSpPr txBox="1"/>
          <p:nvPr/>
        </p:nvSpPr>
        <p:spPr>
          <a:xfrm>
            <a:off x="9825351" y="135894"/>
            <a:ext cx="1912703" cy="707886"/>
          </a:xfrm>
          <a:prstGeom prst="rect">
            <a:avLst/>
          </a:prstGeom>
          <a:noFill/>
        </p:spPr>
        <p:txBody>
          <a:bodyPr wrap="square" rtlCol="0">
            <a:spAutoFit/>
          </a:bodyPr>
          <a:lstStyle/>
          <a:p>
            <a:r>
              <a:rPr lang="en-US" sz="4000" dirty="0">
                <a:solidFill>
                  <a:srgbClr val="332288"/>
                </a:solidFill>
              </a:rPr>
              <a:t>High LD</a:t>
            </a:r>
          </a:p>
        </p:txBody>
      </p:sp>
      <p:sp>
        <p:nvSpPr>
          <p:cNvPr id="75" name="TextBox 74">
            <a:extLst>
              <a:ext uri="{FF2B5EF4-FFF2-40B4-BE49-F238E27FC236}">
                <a16:creationId xmlns:a16="http://schemas.microsoft.com/office/drawing/2014/main" id="{B4540FD4-91C0-6ECA-071D-FEC0773913A3}"/>
              </a:ext>
            </a:extLst>
          </p:cNvPr>
          <p:cNvSpPr txBox="1"/>
          <p:nvPr/>
        </p:nvSpPr>
        <p:spPr>
          <a:xfrm>
            <a:off x="5596763" y="135894"/>
            <a:ext cx="2119797" cy="707886"/>
          </a:xfrm>
          <a:prstGeom prst="rect">
            <a:avLst/>
          </a:prstGeom>
          <a:noFill/>
        </p:spPr>
        <p:txBody>
          <a:bodyPr wrap="square" rtlCol="0">
            <a:spAutoFit/>
          </a:bodyPr>
          <a:lstStyle/>
          <a:p>
            <a:r>
              <a:rPr lang="en-US" sz="4000" dirty="0">
                <a:solidFill>
                  <a:srgbClr val="CC6677"/>
                </a:solidFill>
              </a:rPr>
              <a:t>Control</a:t>
            </a:r>
          </a:p>
        </p:txBody>
      </p:sp>
    </p:spTree>
    <p:extLst>
      <p:ext uri="{BB962C8B-B14F-4D97-AF65-F5344CB8AC3E}">
        <p14:creationId xmlns:p14="http://schemas.microsoft.com/office/powerpoint/2010/main" val="3890190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different colored lines&#10;&#10;AI-generated content may be incorrect.">
            <a:extLst>
              <a:ext uri="{FF2B5EF4-FFF2-40B4-BE49-F238E27FC236}">
                <a16:creationId xmlns:a16="http://schemas.microsoft.com/office/drawing/2014/main" id="{E1E4DA4F-0EF1-149E-1235-093812E0E001}"/>
              </a:ext>
            </a:extLst>
          </p:cNvPr>
          <p:cNvPicPr>
            <a:picLocks noChangeAspect="1"/>
          </p:cNvPicPr>
          <p:nvPr/>
        </p:nvPicPr>
        <p:blipFill>
          <a:blip r:embed="rId3"/>
          <a:srcRect b="12091"/>
          <a:stretch>
            <a:fillRect/>
          </a:stretch>
        </p:blipFill>
        <p:spPr>
          <a:xfrm>
            <a:off x="6326709" y="1702235"/>
            <a:ext cx="5710308" cy="5019871"/>
          </a:xfrm>
          <a:prstGeom prst="rect">
            <a:avLst/>
          </a:prstGeom>
        </p:spPr>
      </p:pic>
      <p:sp>
        <p:nvSpPr>
          <p:cNvPr id="11" name="Rounded Rectangle 10">
            <a:extLst>
              <a:ext uri="{FF2B5EF4-FFF2-40B4-BE49-F238E27FC236}">
                <a16:creationId xmlns:a16="http://schemas.microsoft.com/office/drawing/2014/main" id="{06C988C5-F536-8769-258B-5732960C00F0}"/>
              </a:ext>
            </a:extLst>
          </p:cNvPr>
          <p:cNvSpPr/>
          <p:nvPr/>
        </p:nvSpPr>
        <p:spPr>
          <a:xfrm>
            <a:off x="154983" y="5164283"/>
            <a:ext cx="2522400" cy="1162321"/>
          </a:xfrm>
          <a:prstGeom prst="roundRect">
            <a:avLst/>
          </a:prstGeom>
          <a:noFill/>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Specific LD</a:t>
            </a:r>
          </a:p>
        </p:txBody>
      </p:sp>
      <p:sp>
        <p:nvSpPr>
          <p:cNvPr id="12" name="Rounded Rectangle 11">
            <a:extLst>
              <a:ext uri="{FF2B5EF4-FFF2-40B4-BE49-F238E27FC236}">
                <a16:creationId xmlns:a16="http://schemas.microsoft.com/office/drawing/2014/main" id="{9BD29EAE-06C2-94DE-4118-8A49E0129524}"/>
              </a:ext>
            </a:extLst>
          </p:cNvPr>
          <p:cNvSpPr/>
          <p:nvPr/>
        </p:nvSpPr>
        <p:spPr>
          <a:xfrm>
            <a:off x="3532409" y="5164283"/>
            <a:ext cx="2522400" cy="1162321"/>
          </a:xfrm>
          <a:prstGeom prst="roundRect">
            <a:avLst/>
          </a:prstGeom>
          <a:noFill/>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Gradient categorization</a:t>
            </a:r>
          </a:p>
        </p:txBody>
      </p:sp>
      <p:cxnSp>
        <p:nvCxnSpPr>
          <p:cNvPr id="13" name="Straight Arrow Connector 12">
            <a:extLst>
              <a:ext uri="{FF2B5EF4-FFF2-40B4-BE49-F238E27FC236}">
                <a16:creationId xmlns:a16="http://schemas.microsoft.com/office/drawing/2014/main" id="{9C0B13BB-C1AB-109C-CDFB-035E11429E07}"/>
              </a:ext>
            </a:extLst>
          </p:cNvPr>
          <p:cNvCxnSpPr>
            <a:cxnSpLocks/>
            <a:stCxn id="11" idx="3"/>
            <a:endCxn id="12" idx="1"/>
          </p:cNvCxnSpPr>
          <p:nvPr/>
        </p:nvCxnSpPr>
        <p:spPr>
          <a:xfrm>
            <a:off x="2677383" y="5745444"/>
            <a:ext cx="855026" cy="0"/>
          </a:xfrm>
          <a:prstGeom prst="straightConnector1">
            <a:avLst/>
          </a:prstGeom>
          <a:ln w="63500">
            <a:solidFill>
              <a:srgbClr val="9B9CA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4715CA4-FFED-89EA-2EA9-1FA272E67A62}"/>
              </a:ext>
            </a:extLst>
          </p:cNvPr>
          <p:cNvSpPr txBox="1"/>
          <p:nvPr/>
        </p:nvSpPr>
        <p:spPr>
          <a:xfrm>
            <a:off x="7716560" y="135894"/>
            <a:ext cx="1804789" cy="707886"/>
          </a:xfrm>
          <a:prstGeom prst="rect">
            <a:avLst/>
          </a:prstGeom>
          <a:noFill/>
        </p:spPr>
        <p:txBody>
          <a:bodyPr wrap="square" rtlCol="0">
            <a:spAutoFit/>
          </a:bodyPr>
          <a:lstStyle/>
          <a:p>
            <a:r>
              <a:rPr lang="en-US" sz="4000" dirty="0">
                <a:solidFill>
                  <a:srgbClr val="66CCEE"/>
                </a:solidFill>
              </a:rPr>
              <a:t>Low LD</a:t>
            </a:r>
          </a:p>
        </p:txBody>
      </p:sp>
      <p:sp>
        <p:nvSpPr>
          <p:cNvPr id="15" name="TextBox 14">
            <a:extLst>
              <a:ext uri="{FF2B5EF4-FFF2-40B4-BE49-F238E27FC236}">
                <a16:creationId xmlns:a16="http://schemas.microsoft.com/office/drawing/2014/main" id="{B3B70BE0-E1FF-52FD-09A7-5FAF18C6C0E3}"/>
              </a:ext>
            </a:extLst>
          </p:cNvPr>
          <p:cNvSpPr txBox="1"/>
          <p:nvPr/>
        </p:nvSpPr>
        <p:spPr>
          <a:xfrm>
            <a:off x="9825351" y="135894"/>
            <a:ext cx="1912703" cy="707886"/>
          </a:xfrm>
          <a:prstGeom prst="rect">
            <a:avLst/>
          </a:prstGeom>
          <a:noFill/>
        </p:spPr>
        <p:txBody>
          <a:bodyPr wrap="square" rtlCol="0">
            <a:spAutoFit/>
          </a:bodyPr>
          <a:lstStyle/>
          <a:p>
            <a:r>
              <a:rPr lang="en-US" sz="4000" dirty="0">
                <a:solidFill>
                  <a:srgbClr val="332288"/>
                </a:solidFill>
              </a:rPr>
              <a:t>High LD</a:t>
            </a:r>
          </a:p>
        </p:txBody>
      </p:sp>
      <p:sp>
        <p:nvSpPr>
          <p:cNvPr id="16" name="TextBox 15">
            <a:extLst>
              <a:ext uri="{FF2B5EF4-FFF2-40B4-BE49-F238E27FC236}">
                <a16:creationId xmlns:a16="http://schemas.microsoft.com/office/drawing/2014/main" id="{43D71F09-640E-EC08-226B-E2D1B8B57AC1}"/>
              </a:ext>
            </a:extLst>
          </p:cNvPr>
          <p:cNvSpPr txBox="1"/>
          <p:nvPr/>
        </p:nvSpPr>
        <p:spPr>
          <a:xfrm>
            <a:off x="5596763" y="135894"/>
            <a:ext cx="2119797" cy="707886"/>
          </a:xfrm>
          <a:prstGeom prst="rect">
            <a:avLst/>
          </a:prstGeom>
          <a:noFill/>
        </p:spPr>
        <p:txBody>
          <a:bodyPr wrap="square" rtlCol="0">
            <a:spAutoFit/>
          </a:bodyPr>
          <a:lstStyle/>
          <a:p>
            <a:r>
              <a:rPr lang="en-US" sz="4000" dirty="0">
                <a:solidFill>
                  <a:srgbClr val="CC6677"/>
                </a:solidFill>
              </a:rPr>
              <a:t>Control</a:t>
            </a:r>
          </a:p>
        </p:txBody>
      </p:sp>
      <p:sp>
        <p:nvSpPr>
          <p:cNvPr id="19" name="TextBox 18">
            <a:extLst>
              <a:ext uri="{FF2B5EF4-FFF2-40B4-BE49-F238E27FC236}">
                <a16:creationId xmlns:a16="http://schemas.microsoft.com/office/drawing/2014/main" id="{5D1F9B8F-3FDB-2497-109B-553A0B0A1421}"/>
              </a:ext>
            </a:extLst>
          </p:cNvPr>
          <p:cNvSpPr txBox="1"/>
          <p:nvPr/>
        </p:nvSpPr>
        <p:spPr>
          <a:xfrm>
            <a:off x="8158363" y="582170"/>
            <a:ext cx="914033" cy="523220"/>
          </a:xfrm>
          <a:prstGeom prst="rect">
            <a:avLst/>
          </a:prstGeom>
          <a:noFill/>
        </p:spPr>
        <p:txBody>
          <a:bodyPr wrap="none" rtlCol="0">
            <a:spAutoFit/>
          </a:bodyPr>
          <a:lstStyle/>
          <a:p>
            <a:r>
              <a:rPr lang="en-US" sz="2800" dirty="0">
                <a:solidFill>
                  <a:srgbClr val="66CCEE"/>
                </a:solidFill>
              </a:rPr>
              <a:t>n = 5</a:t>
            </a:r>
          </a:p>
        </p:txBody>
      </p:sp>
      <p:sp>
        <p:nvSpPr>
          <p:cNvPr id="20" name="TextBox 19">
            <a:extLst>
              <a:ext uri="{FF2B5EF4-FFF2-40B4-BE49-F238E27FC236}">
                <a16:creationId xmlns:a16="http://schemas.microsoft.com/office/drawing/2014/main" id="{B7CFF5F2-484B-24B7-6048-31DB70EF5CD3}"/>
              </a:ext>
            </a:extLst>
          </p:cNvPr>
          <p:cNvSpPr txBox="1"/>
          <p:nvPr/>
        </p:nvSpPr>
        <p:spPr>
          <a:xfrm>
            <a:off x="10324685" y="582170"/>
            <a:ext cx="914033" cy="523220"/>
          </a:xfrm>
          <a:prstGeom prst="rect">
            <a:avLst/>
          </a:prstGeom>
          <a:noFill/>
        </p:spPr>
        <p:txBody>
          <a:bodyPr wrap="none" rtlCol="0">
            <a:spAutoFit/>
          </a:bodyPr>
          <a:lstStyle/>
          <a:p>
            <a:r>
              <a:rPr lang="en-US" sz="2800" dirty="0">
                <a:solidFill>
                  <a:srgbClr val="332288"/>
                </a:solidFill>
              </a:rPr>
              <a:t>n = 7</a:t>
            </a:r>
          </a:p>
        </p:txBody>
      </p:sp>
      <p:sp>
        <p:nvSpPr>
          <p:cNvPr id="25" name="TextBox 24">
            <a:extLst>
              <a:ext uri="{FF2B5EF4-FFF2-40B4-BE49-F238E27FC236}">
                <a16:creationId xmlns:a16="http://schemas.microsoft.com/office/drawing/2014/main" id="{11EB9810-B030-8BFF-A7A2-E24FCAAB1E2E}"/>
              </a:ext>
            </a:extLst>
          </p:cNvPr>
          <p:cNvSpPr txBox="1"/>
          <p:nvPr/>
        </p:nvSpPr>
        <p:spPr>
          <a:xfrm>
            <a:off x="6199644" y="582170"/>
            <a:ext cx="914033" cy="523220"/>
          </a:xfrm>
          <a:prstGeom prst="rect">
            <a:avLst/>
          </a:prstGeom>
          <a:noFill/>
        </p:spPr>
        <p:txBody>
          <a:bodyPr wrap="none" rtlCol="0">
            <a:spAutoFit/>
          </a:bodyPr>
          <a:lstStyle/>
          <a:p>
            <a:r>
              <a:rPr lang="en-US" sz="2800" dirty="0">
                <a:solidFill>
                  <a:srgbClr val="CC6677"/>
                </a:solidFill>
              </a:rPr>
              <a:t>n = 6</a:t>
            </a:r>
          </a:p>
        </p:txBody>
      </p:sp>
      <p:sp>
        <p:nvSpPr>
          <p:cNvPr id="27" name="Title 19">
            <a:extLst>
              <a:ext uri="{FF2B5EF4-FFF2-40B4-BE49-F238E27FC236}">
                <a16:creationId xmlns:a16="http://schemas.microsoft.com/office/drawing/2014/main" id="{8E77CDC1-86D4-83C9-4154-CEA2519D8B37}"/>
              </a:ext>
            </a:extLst>
          </p:cNvPr>
          <p:cNvSpPr txBox="1">
            <a:spLocks/>
          </p:cNvSpPr>
          <p:nvPr/>
        </p:nvSpPr>
        <p:spPr>
          <a:xfrm>
            <a:off x="559032" y="594256"/>
            <a:ext cx="4100895" cy="3340034"/>
          </a:xfrm>
          <a:prstGeom prst="rect">
            <a:avLst/>
          </a:prstGeom>
        </p:spPr>
        <p:txBody>
          <a:bodyP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4477AA"/>
                </a:solidFill>
              </a:rPr>
              <a:t>LD training condition </a:t>
            </a:r>
            <a:r>
              <a:rPr lang="en-US" dirty="0"/>
              <a:t>did not lead to changes in </a:t>
            </a:r>
            <a:r>
              <a:rPr lang="en-US" dirty="0">
                <a:solidFill>
                  <a:srgbClr val="AA3377"/>
                </a:solidFill>
              </a:rPr>
              <a:t>L1 or L2 categorization measures</a:t>
            </a:r>
          </a:p>
        </p:txBody>
      </p:sp>
      <p:sp>
        <p:nvSpPr>
          <p:cNvPr id="30" name="TextBox 29">
            <a:extLst>
              <a:ext uri="{FF2B5EF4-FFF2-40B4-BE49-F238E27FC236}">
                <a16:creationId xmlns:a16="http://schemas.microsoft.com/office/drawing/2014/main" id="{C576A9F0-4955-CD00-2E1A-3F7487AD0436}"/>
              </a:ext>
            </a:extLst>
          </p:cNvPr>
          <p:cNvSpPr txBox="1"/>
          <p:nvPr/>
        </p:nvSpPr>
        <p:spPr>
          <a:xfrm>
            <a:off x="2801862" y="4914446"/>
            <a:ext cx="429862" cy="830997"/>
          </a:xfrm>
          <a:prstGeom prst="rect">
            <a:avLst/>
          </a:prstGeom>
          <a:noFill/>
        </p:spPr>
        <p:txBody>
          <a:bodyPr wrap="square" rtlCol="0">
            <a:spAutoFit/>
          </a:bodyPr>
          <a:lstStyle/>
          <a:p>
            <a:r>
              <a:rPr lang="en-US" sz="4800" dirty="0">
                <a:solidFill>
                  <a:schemeClr val="tx1">
                    <a:lumMod val="50000"/>
                    <a:lumOff val="50000"/>
                  </a:schemeClr>
                </a:solidFill>
              </a:rPr>
              <a:t>?</a:t>
            </a:r>
          </a:p>
        </p:txBody>
      </p:sp>
    </p:spTree>
    <p:extLst>
      <p:ext uri="{BB962C8B-B14F-4D97-AF65-F5344CB8AC3E}">
        <p14:creationId xmlns:p14="http://schemas.microsoft.com/office/powerpoint/2010/main" val="324476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E0F77-8ABB-E418-C708-29AD79CDCB99}"/>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0AA95616-9E5B-ACEA-AE0E-6AF1FF455E1C}"/>
              </a:ext>
            </a:extLst>
          </p:cNvPr>
          <p:cNvSpPr/>
          <p:nvPr/>
        </p:nvSpPr>
        <p:spPr>
          <a:xfrm>
            <a:off x="196175" y="1600334"/>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Specific LD</a:t>
            </a:r>
          </a:p>
        </p:txBody>
      </p:sp>
      <p:sp>
        <p:nvSpPr>
          <p:cNvPr id="13" name="Rounded Rectangle 12">
            <a:extLst>
              <a:ext uri="{FF2B5EF4-FFF2-40B4-BE49-F238E27FC236}">
                <a16:creationId xmlns:a16="http://schemas.microsoft.com/office/drawing/2014/main" id="{B31425E5-6F73-084E-0DA6-CE462940824D}"/>
              </a:ext>
            </a:extLst>
          </p:cNvPr>
          <p:cNvSpPr/>
          <p:nvPr/>
        </p:nvSpPr>
        <p:spPr>
          <a:xfrm>
            <a:off x="3573601" y="1600334"/>
            <a:ext cx="2522400" cy="1162321"/>
          </a:xfrm>
          <a:prstGeom prst="roundRect">
            <a:avLst/>
          </a:prstGeom>
          <a:noFill/>
          <a:ln w="31750">
            <a:solidFill>
              <a:srgbClr val="9B9CA1">
                <a:alpha val="2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alpha val="25000"/>
                  </a:schemeClr>
                </a:solidFill>
              </a:rPr>
              <a:t>Gradient categorization</a:t>
            </a:r>
          </a:p>
        </p:txBody>
      </p:sp>
      <p:sp>
        <p:nvSpPr>
          <p:cNvPr id="14" name="Rounded Rectangle 13">
            <a:extLst>
              <a:ext uri="{FF2B5EF4-FFF2-40B4-BE49-F238E27FC236}">
                <a16:creationId xmlns:a16="http://schemas.microsoft.com/office/drawing/2014/main" id="{B379C4DB-74D0-EFBE-5C7D-AEAF25ABD9D0}"/>
              </a:ext>
            </a:extLst>
          </p:cNvPr>
          <p:cNvSpPr/>
          <p:nvPr/>
        </p:nvSpPr>
        <p:spPr>
          <a:xfrm>
            <a:off x="196175" y="3429000"/>
            <a:ext cx="2522400" cy="1162321"/>
          </a:xfrm>
          <a:prstGeom prst="roundRect">
            <a:avLst/>
          </a:prstGeom>
          <a:noFill/>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Specific LD</a:t>
            </a:r>
          </a:p>
        </p:txBody>
      </p:sp>
      <p:sp>
        <p:nvSpPr>
          <p:cNvPr id="15" name="Rounded Rectangle 14">
            <a:extLst>
              <a:ext uri="{FF2B5EF4-FFF2-40B4-BE49-F238E27FC236}">
                <a16:creationId xmlns:a16="http://schemas.microsoft.com/office/drawing/2014/main" id="{0056163D-656F-00D9-2686-1E6808B7C0C9}"/>
              </a:ext>
            </a:extLst>
          </p:cNvPr>
          <p:cNvSpPr/>
          <p:nvPr/>
        </p:nvSpPr>
        <p:spPr>
          <a:xfrm>
            <a:off x="3573601" y="3429000"/>
            <a:ext cx="2522400" cy="1162321"/>
          </a:xfrm>
          <a:prstGeom prst="round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perceptual discrimination</a:t>
            </a:r>
          </a:p>
        </p:txBody>
      </p:sp>
      <p:cxnSp>
        <p:nvCxnSpPr>
          <p:cNvPr id="17" name="Straight Arrow Connector 16">
            <a:extLst>
              <a:ext uri="{FF2B5EF4-FFF2-40B4-BE49-F238E27FC236}">
                <a16:creationId xmlns:a16="http://schemas.microsoft.com/office/drawing/2014/main" id="{56930638-3DCA-60D8-BD7D-F0A577767A4C}"/>
              </a:ext>
            </a:extLst>
          </p:cNvPr>
          <p:cNvCxnSpPr>
            <a:cxnSpLocks/>
            <a:stCxn id="12" idx="3"/>
            <a:endCxn id="13" idx="1"/>
          </p:cNvCxnSpPr>
          <p:nvPr/>
        </p:nvCxnSpPr>
        <p:spPr>
          <a:xfrm>
            <a:off x="2718575" y="2181495"/>
            <a:ext cx="855026" cy="0"/>
          </a:xfrm>
          <a:prstGeom prst="straightConnector1">
            <a:avLst/>
          </a:prstGeom>
          <a:ln w="63500">
            <a:solidFill>
              <a:srgbClr val="9B9CA1">
                <a:alpha val="25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1654CCA-629C-4495-1282-772F621AE0B8}"/>
              </a:ext>
            </a:extLst>
          </p:cNvPr>
          <p:cNvCxnSpPr>
            <a:cxnSpLocks/>
            <a:stCxn id="14" idx="3"/>
            <a:endCxn id="15" idx="1"/>
          </p:cNvCxnSpPr>
          <p:nvPr/>
        </p:nvCxnSpPr>
        <p:spPr>
          <a:xfrm>
            <a:off x="2718575" y="4010161"/>
            <a:ext cx="855026" cy="0"/>
          </a:xfrm>
          <a:prstGeom prst="straightConnector1">
            <a:avLst/>
          </a:prstGeom>
          <a:ln w="63500">
            <a:solidFill>
              <a:srgbClr val="9B9CA1"/>
            </a:solidFill>
            <a:tailEnd type="triangle"/>
          </a:ln>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B8CCD9BA-196E-30C4-BA18-C38F51E69CB4}"/>
              </a:ext>
            </a:extLst>
          </p:cNvPr>
          <p:cNvSpPr/>
          <p:nvPr/>
        </p:nvSpPr>
        <p:spPr>
          <a:xfrm>
            <a:off x="9138410" y="2636040"/>
            <a:ext cx="130924" cy="146345"/>
          </a:xfrm>
          <a:prstGeom prst="ellipse">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8C1F4EC-B62B-6071-AD0B-E7EB771EDCCB}"/>
              </a:ext>
            </a:extLst>
          </p:cNvPr>
          <p:cNvSpPr/>
          <p:nvPr/>
        </p:nvSpPr>
        <p:spPr>
          <a:xfrm>
            <a:off x="8783922" y="1740240"/>
            <a:ext cx="2082857" cy="16233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A8E18BC-FEB4-2392-68A8-FCD41B86E32A}"/>
              </a:ext>
            </a:extLst>
          </p:cNvPr>
          <p:cNvSpPr txBox="1"/>
          <p:nvPr/>
        </p:nvSpPr>
        <p:spPr>
          <a:xfrm rot="16200000">
            <a:off x="7131733" y="2307370"/>
            <a:ext cx="1895695" cy="707886"/>
          </a:xfrm>
          <a:prstGeom prst="rect">
            <a:avLst/>
          </a:prstGeom>
          <a:noFill/>
        </p:spPr>
        <p:txBody>
          <a:bodyPr wrap="square" rtlCol="0">
            <a:spAutoFit/>
          </a:bodyPr>
          <a:lstStyle/>
          <a:p>
            <a:pPr algn="ctr"/>
            <a:r>
              <a:rPr lang="en-US" sz="2000" dirty="0"/>
              <a:t>Discrimination Accuracy</a:t>
            </a:r>
          </a:p>
        </p:txBody>
      </p:sp>
      <p:cxnSp>
        <p:nvCxnSpPr>
          <p:cNvPr id="5" name="Straight Connector 4">
            <a:extLst>
              <a:ext uri="{FF2B5EF4-FFF2-40B4-BE49-F238E27FC236}">
                <a16:creationId xmlns:a16="http://schemas.microsoft.com/office/drawing/2014/main" id="{EAD40815-A2F0-AB8A-A7EE-97F6A2BB241D}"/>
              </a:ext>
            </a:extLst>
          </p:cNvPr>
          <p:cNvCxnSpPr>
            <a:cxnSpLocks/>
            <a:stCxn id="2" idx="6"/>
          </p:cNvCxnSpPr>
          <p:nvPr/>
        </p:nvCxnSpPr>
        <p:spPr>
          <a:xfrm flipV="1">
            <a:off x="9269334" y="2290290"/>
            <a:ext cx="1247046" cy="418923"/>
          </a:xfrm>
          <a:prstGeom prst="line">
            <a:avLst/>
          </a:prstGeom>
          <a:ln w="38100">
            <a:solidFill>
              <a:srgbClr val="66CCEE"/>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67597F7-3B55-EA9D-6232-1F5D1C8008B3}"/>
              </a:ext>
            </a:extLst>
          </p:cNvPr>
          <p:cNvCxnSpPr>
            <a:cxnSpLocks/>
            <a:stCxn id="8" idx="6"/>
            <a:endCxn id="10" idx="3"/>
          </p:cNvCxnSpPr>
          <p:nvPr/>
        </p:nvCxnSpPr>
        <p:spPr>
          <a:xfrm flipV="1">
            <a:off x="9205769" y="1993833"/>
            <a:ext cx="1264765" cy="664047"/>
          </a:xfrm>
          <a:prstGeom prst="line">
            <a:avLst/>
          </a:prstGeom>
          <a:ln w="38100">
            <a:solidFill>
              <a:srgbClr val="33228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EE4AC69-2246-5BC9-3120-603D43800A45}"/>
              </a:ext>
            </a:extLst>
          </p:cNvPr>
          <p:cNvSpPr txBox="1"/>
          <p:nvPr/>
        </p:nvSpPr>
        <p:spPr>
          <a:xfrm>
            <a:off x="8974668" y="3548496"/>
            <a:ext cx="1690976" cy="461665"/>
          </a:xfrm>
          <a:prstGeom prst="rect">
            <a:avLst/>
          </a:prstGeom>
          <a:noFill/>
        </p:spPr>
        <p:txBody>
          <a:bodyPr wrap="none" rtlCol="0">
            <a:spAutoFit/>
          </a:bodyPr>
          <a:lstStyle/>
          <a:p>
            <a:r>
              <a:rPr lang="en-US" sz="2400" dirty="0"/>
              <a:t>Pre	Post</a:t>
            </a:r>
          </a:p>
        </p:txBody>
      </p:sp>
      <p:sp>
        <p:nvSpPr>
          <p:cNvPr id="8" name="Oval 7">
            <a:extLst>
              <a:ext uri="{FF2B5EF4-FFF2-40B4-BE49-F238E27FC236}">
                <a16:creationId xmlns:a16="http://schemas.microsoft.com/office/drawing/2014/main" id="{8394D791-A9D4-9F98-E0B6-CD5554E8CEFB}"/>
              </a:ext>
            </a:extLst>
          </p:cNvPr>
          <p:cNvSpPr/>
          <p:nvPr/>
        </p:nvSpPr>
        <p:spPr>
          <a:xfrm>
            <a:off x="9074845" y="2584707"/>
            <a:ext cx="130924" cy="146345"/>
          </a:xfrm>
          <a:prstGeom prst="ellipse">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CA438A8-0DE0-5F22-F4A2-013CDA84FCE5}"/>
              </a:ext>
            </a:extLst>
          </p:cNvPr>
          <p:cNvSpPr/>
          <p:nvPr/>
        </p:nvSpPr>
        <p:spPr>
          <a:xfrm>
            <a:off x="10451361" y="2240910"/>
            <a:ext cx="130924" cy="146345"/>
          </a:xfrm>
          <a:prstGeom prst="ellipse">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74237E7-164D-3C33-622A-B6D36A4BBE98}"/>
              </a:ext>
            </a:extLst>
          </p:cNvPr>
          <p:cNvSpPr/>
          <p:nvPr/>
        </p:nvSpPr>
        <p:spPr>
          <a:xfrm>
            <a:off x="10451361" y="1868920"/>
            <a:ext cx="130924" cy="146345"/>
          </a:xfrm>
          <a:prstGeom prst="ellipse">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EA4DB662-5B2E-4820-A250-8BAB7A69D131}"/>
              </a:ext>
            </a:extLst>
          </p:cNvPr>
          <p:cNvSpPr/>
          <p:nvPr/>
        </p:nvSpPr>
        <p:spPr>
          <a:xfrm>
            <a:off x="9124877" y="2762655"/>
            <a:ext cx="130924" cy="146345"/>
          </a:xfrm>
          <a:prstGeom prst="ellipse">
            <a:avLst/>
          </a:prstGeom>
          <a:solidFill>
            <a:srgbClr val="CC66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608F4459-B274-55CA-8740-75513BC755B4}"/>
              </a:ext>
            </a:extLst>
          </p:cNvPr>
          <p:cNvCxnSpPr>
            <a:cxnSpLocks/>
            <a:stCxn id="27" idx="6"/>
            <a:endCxn id="29" idx="2"/>
          </p:cNvCxnSpPr>
          <p:nvPr/>
        </p:nvCxnSpPr>
        <p:spPr>
          <a:xfrm flipV="1">
            <a:off x="9255801" y="2643093"/>
            <a:ext cx="1195560" cy="192735"/>
          </a:xfrm>
          <a:prstGeom prst="line">
            <a:avLst/>
          </a:prstGeom>
          <a:ln w="38100">
            <a:solidFill>
              <a:srgbClr val="CC6677"/>
            </a:solidFill>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41ECA807-BAC0-B82A-A250-3ADCA64E364C}"/>
              </a:ext>
            </a:extLst>
          </p:cNvPr>
          <p:cNvSpPr/>
          <p:nvPr/>
        </p:nvSpPr>
        <p:spPr>
          <a:xfrm>
            <a:off x="10451361" y="2569920"/>
            <a:ext cx="130924" cy="146345"/>
          </a:xfrm>
          <a:prstGeom prst="ellipse">
            <a:avLst/>
          </a:prstGeom>
          <a:solidFill>
            <a:srgbClr val="CC66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a:extLst>
              <a:ext uri="{FF2B5EF4-FFF2-40B4-BE49-F238E27FC236}">
                <a16:creationId xmlns:a16="http://schemas.microsoft.com/office/drawing/2014/main" id="{BCE8AFEF-07E0-FAF4-287E-C17CF2794E74}"/>
              </a:ext>
            </a:extLst>
          </p:cNvPr>
          <p:cNvSpPr/>
          <p:nvPr/>
        </p:nvSpPr>
        <p:spPr>
          <a:xfrm>
            <a:off x="3537931" y="5257666"/>
            <a:ext cx="2558069" cy="1162320"/>
          </a:xfrm>
          <a:prstGeom prst="roundRect">
            <a:avLst/>
          </a:prstGeom>
          <a:noFill/>
          <a:ln w="317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listening assessment</a:t>
            </a:r>
          </a:p>
        </p:txBody>
      </p:sp>
      <p:cxnSp>
        <p:nvCxnSpPr>
          <p:cNvPr id="44" name="Straight Arrow Connector 43">
            <a:extLst>
              <a:ext uri="{FF2B5EF4-FFF2-40B4-BE49-F238E27FC236}">
                <a16:creationId xmlns:a16="http://schemas.microsoft.com/office/drawing/2014/main" id="{57A6507A-553B-FC0D-DAB3-DE54A480565F}"/>
              </a:ext>
            </a:extLst>
          </p:cNvPr>
          <p:cNvCxnSpPr>
            <a:cxnSpLocks/>
            <a:stCxn id="45" idx="3"/>
            <a:endCxn id="43" idx="1"/>
          </p:cNvCxnSpPr>
          <p:nvPr/>
        </p:nvCxnSpPr>
        <p:spPr>
          <a:xfrm flipV="1">
            <a:off x="2718575" y="5838826"/>
            <a:ext cx="819356" cy="1"/>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useBgFill="1">
        <p:nvSpPr>
          <p:cNvPr id="45" name="Rounded Rectangle 44">
            <a:extLst>
              <a:ext uri="{FF2B5EF4-FFF2-40B4-BE49-F238E27FC236}">
                <a16:creationId xmlns:a16="http://schemas.microsoft.com/office/drawing/2014/main" id="{87F6E8DB-73A5-9DF9-9BB6-BD9F2EFECCC7}"/>
              </a:ext>
            </a:extLst>
          </p:cNvPr>
          <p:cNvSpPr/>
          <p:nvPr/>
        </p:nvSpPr>
        <p:spPr>
          <a:xfrm>
            <a:off x="196175" y="5257666"/>
            <a:ext cx="2522400" cy="1162321"/>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Specific LD</a:t>
            </a:r>
          </a:p>
        </p:txBody>
      </p:sp>
      <p:sp>
        <p:nvSpPr>
          <p:cNvPr id="46" name="Oval 45">
            <a:extLst>
              <a:ext uri="{FF2B5EF4-FFF2-40B4-BE49-F238E27FC236}">
                <a16:creationId xmlns:a16="http://schemas.microsoft.com/office/drawing/2014/main" id="{E37EA0BB-2586-AAEB-D493-2E890DA266AC}"/>
              </a:ext>
            </a:extLst>
          </p:cNvPr>
          <p:cNvSpPr/>
          <p:nvPr/>
        </p:nvSpPr>
        <p:spPr>
          <a:xfrm>
            <a:off x="9138411" y="5232392"/>
            <a:ext cx="130924" cy="146345"/>
          </a:xfrm>
          <a:prstGeom prst="ellipse">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E9B590E-E387-3A34-51BD-17F6C7A54081}"/>
              </a:ext>
            </a:extLst>
          </p:cNvPr>
          <p:cNvSpPr/>
          <p:nvPr/>
        </p:nvSpPr>
        <p:spPr>
          <a:xfrm>
            <a:off x="8783923" y="4336592"/>
            <a:ext cx="2082857" cy="16233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A9CF48AE-3DF8-C542-C7CD-7856965D9C72}"/>
              </a:ext>
            </a:extLst>
          </p:cNvPr>
          <p:cNvSpPr txBox="1"/>
          <p:nvPr/>
        </p:nvSpPr>
        <p:spPr>
          <a:xfrm rot="16200000">
            <a:off x="7131734" y="4749834"/>
            <a:ext cx="1895695" cy="1015663"/>
          </a:xfrm>
          <a:prstGeom prst="rect">
            <a:avLst/>
          </a:prstGeom>
          <a:noFill/>
        </p:spPr>
        <p:txBody>
          <a:bodyPr wrap="square" rtlCol="0">
            <a:spAutoFit/>
          </a:bodyPr>
          <a:lstStyle/>
          <a:p>
            <a:pPr algn="ctr"/>
            <a:r>
              <a:rPr lang="en-US" sz="2000" dirty="0"/>
              <a:t>Listening Assessment Accuracy</a:t>
            </a:r>
          </a:p>
        </p:txBody>
      </p:sp>
      <p:cxnSp>
        <p:nvCxnSpPr>
          <p:cNvPr id="49" name="Straight Connector 48">
            <a:extLst>
              <a:ext uri="{FF2B5EF4-FFF2-40B4-BE49-F238E27FC236}">
                <a16:creationId xmlns:a16="http://schemas.microsoft.com/office/drawing/2014/main" id="{4E2216CA-7A41-03B9-F6AA-B650F5BB35A1}"/>
              </a:ext>
            </a:extLst>
          </p:cNvPr>
          <p:cNvCxnSpPr>
            <a:cxnSpLocks/>
            <a:stCxn id="46" idx="6"/>
          </p:cNvCxnSpPr>
          <p:nvPr/>
        </p:nvCxnSpPr>
        <p:spPr>
          <a:xfrm flipV="1">
            <a:off x="9269335" y="4886642"/>
            <a:ext cx="1247046" cy="418923"/>
          </a:xfrm>
          <a:prstGeom prst="line">
            <a:avLst/>
          </a:prstGeom>
          <a:ln w="38100">
            <a:solidFill>
              <a:srgbClr val="66CCEE"/>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CBC9ECC-1649-5166-161A-445404AA870E}"/>
              </a:ext>
            </a:extLst>
          </p:cNvPr>
          <p:cNvCxnSpPr>
            <a:cxnSpLocks/>
            <a:stCxn id="52" idx="6"/>
            <a:endCxn id="54" idx="3"/>
          </p:cNvCxnSpPr>
          <p:nvPr/>
        </p:nvCxnSpPr>
        <p:spPr>
          <a:xfrm flipV="1">
            <a:off x="9205770" y="4590185"/>
            <a:ext cx="1264765" cy="664047"/>
          </a:xfrm>
          <a:prstGeom prst="line">
            <a:avLst/>
          </a:prstGeom>
          <a:ln w="38100">
            <a:solidFill>
              <a:srgbClr val="332288"/>
            </a:solidFill>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04CBA1AC-6877-0B20-587E-37C6A849B314}"/>
              </a:ext>
            </a:extLst>
          </p:cNvPr>
          <p:cNvSpPr txBox="1"/>
          <p:nvPr/>
        </p:nvSpPr>
        <p:spPr>
          <a:xfrm>
            <a:off x="8974669" y="6144848"/>
            <a:ext cx="1690976" cy="461665"/>
          </a:xfrm>
          <a:prstGeom prst="rect">
            <a:avLst/>
          </a:prstGeom>
          <a:noFill/>
        </p:spPr>
        <p:txBody>
          <a:bodyPr wrap="none" rtlCol="0">
            <a:spAutoFit/>
          </a:bodyPr>
          <a:lstStyle/>
          <a:p>
            <a:r>
              <a:rPr lang="en-US" sz="2400" dirty="0"/>
              <a:t>Pre	Post</a:t>
            </a:r>
          </a:p>
        </p:txBody>
      </p:sp>
      <p:sp>
        <p:nvSpPr>
          <p:cNvPr id="52" name="Oval 51">
            <a:extLst>
              <a:ext uri="{FF2B5EF4-FFF2-40B4-BE49-F238E27FC236}">
                <a16:creationId xmlns:a16="http://schemas.microsoft.com/office/drawing/2014/main" id="{5210BD91-9366-9A51-6169-CB956C9AF20D}"/>
              </a:ext>
            </a:extLst>
          </p:cNvPr>
          <p:cNvSpPr/>
          <p:nvPr/>
        </p:nvSpPr>
        <p:spPr>
          <a:xfrm>
            <a:off x="9074846" y="5181059"/>
            <a:ext cx="130924" cy="146345"/>
          </a:xfrm>
          <a:prstGeom prst="ellipse">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39677841-A020-50F5-6443-697EACEF8667}"/>
              </a:ext>
            </a:extLst>
          </p:cNvPr>
          <p:cNvSpPr/>
          <p:nvPr/>
        </p:nvSpPr>
        <p:spPr>
          <a:xfrm>
            <a:off x="10451362" y="4837262"/>
            <a:ext cx="130924" cy="146345"/>
          </a:xfrm>
          <a:prstGeom prst="ellipse">
            <a:avLst/>
          </a:prstGeom>
          <a:solidFill>
            <a:srgbClr val="66CC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6DB8933A-5735-D492-C5B1-AD0E87AF0AE4}"/>
              </a:ext>
            </a:extLst>
          </p:cNvPr>
          <p:cNvSpPr/>
          <p:nvPr/>
        </p:nvSpPr>
        <p:spPr>
          <a:xfrm>
            <a:off x="10451362" y="4465272"/>
            <a:ext cx="130924" cy="146345"/>
          </a:xfrm>
          <a:prstGeom prst="ellipse">
            <a:avLst/>
          </a:prstGeom>
          <a:solidFill>
            <a:srgbClr val="3322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D62138DC-219D-A73C-9FE1-98DE9D57E4C3}"/>
              </a:ext>
            </a:extLst>
          </p:cNvPr>
          <p:cNvSpPr/>
          <p:nvPr/>
        </p:nvSpPr>
        <p:spPr>
          <a:xfrm>
            <a:off x="9124878" y="5359007"/>
            <a:ext cx="130924" cy="146345"/>
          </a:xfrm>
          <a:prstGeom prst="ellipse">
            <a:avLst/>
          </a:prstGeom>
          <a:solidFill>
            <a:srgbClr val="CC66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D1A9B317-2E0A-31C0-E880-1D50ADA40F45}"/>
              </a:ext>
            </a:extLst>
          </p:cNvPr>
          <p:cNvCxnSpPr>
            <a:cxnSpLocks/>
            <a:stCxn id="55" idx="6"/>
            <a:endCxn id="57" idx="2"/>
          </p:cNvCxnSpPr>
          <p:nvPr/>
        </p:nvCxnSpPr>
        <p:spPr>
          <a:xfrm flipV="1">
            <a:off x="9255802" y="5239445"/>
            <a:ext cx="1195560" cy="192735"/>
          </a:xfrm>
          <a:prstGeom prst="line">
            <a:avLst/>
          </a:prstGeom>
          <a:ln w="38100">
            <a:solidFill>
              <a:srgbClr val="CC6677"/>
            </a:solidFill>
          </a:ln>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D1924D55-4E6B-016B-6706-2678D3DB0D1A}"/>
              </a:ext>
            </a:extLst>
          </p:cNvPr>
          <p:cNvSpPr/>
          <p:nvPr/>
        </p:nvSpPr>
        <p:spPr>
          <a:xfrm>
            <a:off x="10451362" y="5166272"/>
            <a:ext cx="130924" cy="146345"/>
          </a:xfrm>
          <a:prstGeom prst="ellipse">
            <a:avLst/>
          </a:prstGeom>
          <a:solidFill>
            <a:srgbClr val="CC66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142AAA19-6D19-BB01-63F5-C5937CC0E9AD}"/>
              </a:ext>
            </a:extLst>
          </p:cNvPr>
          <p:cNvSpPr txBox="1"/>
          <p:nvPr/>
        </p:nvSpPr>
        <p:spPr>
          <a:xfrm>
            <a:off x="7716560" y="135894"/>
            <a:ext cx="1804789" cy="707886"/>
          </a:xfrm>
          <a:prstGeom prst="rect">
            <a:avLst/>
          </a:prstGeom>
          <a:noFill/>
        </p:spPr>
        <p:txBody>
          <a:bodyPr wrap="square" rtlCol="0">
            <a:spAutoFit/>
          </a:bodyPr>
          <a:lstStyle/>
          <a:p>
            <a:r>
              <a:rPr lang="en-US" sz="4000" dirty="0">
                <a:solidFill>
                  <a:srgbClr val="66CCEE"/>
                </a:solidFill>
              </a:rPr>
              <a:t>Low LD</a:t>
            </a:r>
          </a:p>
        </p:txBody>
      </p:sp>
      <p:sp>
        <p:nvSpPr>
          <p:cNvPr id="59" name="TextBox 58">
            <a:extLst>
              <a:ext uri="{FF2B5EF4-FFF2-40B4-BE49-F238E27FC236}">
                <a16:creationId xmlns:a16="http://schemas.microsoft.com/office/drawing/2014/main" id="{9D707C2A-2097-F9D9-D9AB-7C56980AECD6}"/>
              </a:ext>
            </a:extLst>
          </p:cNvPr>
          <p:cNvSpPr txBox="1"/>
          <p:nvPr/>
        </p:nvSpPr>
        <p:spPr>
          <a:xfrm>
            <a:off x="9825351" y="135894"/>
            <a:ext cx="1912703" cy="707886"/>
          </a:xfrm>
          <a:prstGeom prst="rect">
            <a:avLst/>
          </a:prstGeom>
          <a:noFill/>
        </p:spPr>
        <p:txBody>
          <a:bodyPr wrap="square" rtlCol="0">
            <a:spAutoFit/>
          </a:bodyPr>
          <a:lstStyle/>
          <a:p>
            <a:r>
              <a:rPr lang="en-US" sz="4000" dirty="0">
                <a:solidFill>
                  <a:srgbClr val="332288"/>
                </a:solidFill>
              </a:rPr>
              <a:t>High LD</a:t>
            </a:r>
          </a:p>
        </p:txBody>
      </p:sp>
      <p:sp>
        <p:nvSpPr>
          <p:cNvPr id="60" name="TextBox 59">
            <a:extLst>
              <a:ext uri="{FF2B5EF4-FFF2-40B4-BE49-F238E27FC236}">
                <a16:creationId xmlns:a16="http://schemas.microsoft.com/office/drawing/2014/main" id="{1AC1B2FB-4CED-089E-7EDD-E742408142A6}"/>
              </a:ext>
            </a:extLst>
          </p:cNvPr>
          <p:cNvSpPr txBox="1"/>
          <p:nvPr/>
        </p:nvSpPr>
        <p:spPr>
          <a:xfrm>
            <a:off x="5596763" y="135894"/>
            <a:ext cx="2119797" cy="707886"/>
          </a:xfrm>
          <a:prstGeom prst="rect">
            <a:avLst/>
          </a:prstGeom>
          <a:noFill/>
        </p:spPr>
        <p:txBody>
          <a:bodyPr wrap="square" rtlCol="0">
            <a:spAutoFit/>
          </a:bodyPr>
          <a:lstStyle/>
          <a:p>
            <a:r>
              <a:rPr lang="en-US" sz="4000" dirty="0">
                <a:solidFill>
                  <a:srgbClr val="CC6677"/>
                </a:solidFill>
              </a:rPr>
              <a:t>Control</a:t>
            </a:r>
          </a:p>
        </p:txBody>
      </p:sp>
    </p:spTree>
    <p:extLst>
      <p:ext uri="{BB962C8B-B14F-4D97-AF65-F5344CB8AC3E}">
        <p14:creationId xmlns:p14="http://schemas.microsoft.com/office/powerpoint/2010/main" val="41705419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0056AFE6-3520-3E15-0424-409763CD5A53}"/>
              </a:ext>
            </a:extLst>
          </p:cNvPr>
          <p:cNvCxnSpPr>
            <a:cxnSpLocks/>
            <a:stCxn id="28" idx="3"/>
            <a:endCxn id="16" idx="1"/>
          </p:cNvCxnSpPr>
          <p:nvPr/>
        </p:nvCxnSpPr>
        <p:spPr>
          <a:xfrm>
            <a:off x="8847201" y="6376995"/>
            <a:ext cx="986409" cy="0"/>
          </a:xfrm>
          <a:prstGeom prst="straightConnector1">
            <a:avLst/>
          </a:prstGeom>
          <a:ln w="63500">
            <a:solidFill>
              <a:srgbClr val="9B9CA1"/>
            </a:solidFill>
            <a:tailEnd type="triangle"/>
          </a:ln>
        </p:spPr>
        <p:style>
          <a:lnRef idx="2">
            <a:schemeClr val="accent1"/>
          </a:lnRef>
          <a:fillRef idx="0">
            <a:schemeClr val="accent1"/>
          </a:fillRef>
          <a:effectRef idx="1">
            <a:schemeClr val="accent1"/>
          </a:effectRef>
          <a:fontRef idx="minor">
            <a:schemeClr val="tx1"/>
          </a:fontRef>
        </p:style>
      </p:cxnSp>
      <p:pic>
        <p:nvPicPr>
          <p:cNvPr id="7" name="Picture 6" descr="A graph of a number of points&#10;&#10;AI-generated content may be incorrect.">
            <a:extLst>
              <a:ext uri="{FF2B5EF4-FFF2-40B4-BE49-F238E27FC236}">
                <a16:creationId xmlns:a16="http://schemas.microsoft.com/office/drawing/2014/main" id="{688D85B4-D464-38BB-AFA2-F3B5544B203F}"/>
              </a:ext>
            </a:extLst>
          </p:cNvPr>
          <p:cNvPicPr>
            <a:picLocks noChangeAspect="1"/>
          </p:cNvPicPr>
          <p:nvPr/>
        </p:nvPicPr>
        <p:blipFill>
          <a:blip r:embed="rId3"/>
          <a:srcRect b="21280"/>
          <a:stretch>
            <a:fillRect/>
          </a:stretch>
        </p:blipFill>
        <p:spPr>
          <a:xfrm>
            <a:off x="6403529" y="2059327"/>
            <a:ext cx="5030018" cy="3959630"/>
          </a:xfrm>
          <a:prstGeom prst="rect">
            <a:avLst/>
          </a:prstGeom>
        </p:spPr>
      </p:pic>
      <p:pic>
        <p:nvPicPr>
          <p:cNvPr id="11" name="Picture 10" descr="A graph with lines and dots&#10;&#10;AI-generated content may be incorrect.">
            <a:extLst>
              <a:ext uri="{FF2B5EF4-FFF2-40B4-BE49-F238E27FC236}">
                <a16:creationId xmlns:a16="http://schemas.microsoft.com/office/drawing/2014/main" id="{6E9ACAD7-4C11-B7AC-2F0A-7BBEF8710935}"/>
              </a:ext>
            </a:extLst>
          </p:cNvPr>
          <p:cNvPicPr>
            <a:picLocks noChangeAspect="1"/>
          </p:cNvPicPr>
          <p:nvPr/>
        </p:nvPicPr>
        <p:blipFill>
          <a:blip r:embed="rId4"/>
          <a:srcRect b="15261"/>
          <a:stretch>
            <a:fillRect/>
          </a:stretch>
        </p:blipFill>
        <p:spPr>
          <a:xfrm>
            <a:off x="926332" y="1878586"/>
            <a:ext cx="5030017" cy="4262355"/>
          </a:xfrm>
          <a:prstGeom prst="rect">
            <a:avLst/>
          </a:prstGeom>
        </p:spPr>
      </p:pic>
      <p:sp useBgFill="1">
        <p:nvSpPr>
          <p:cNvPr id="15" name="Rounded Rectangle 14">
            <a:extLst>
              <a:ext uri="{FF2B5EF4-FFF2-40B4-BE49-F238E27FC236}">
                <a16:creationId xmlns:a16="http://schemas.microsoft.com/office/drawing/2014/main" id="{19880CDF-5193-2162-4440-C0FC0D754FC3}"/>
              </a:ext>
            </a:extLst>
          </p:cNvPr>
          <p:cNvSpPr/>
          <p:nvPr/>
        </p:nvSpPr>
        <p:spPr>
          <a:xfrm>
            <a:off x="4096482" y="6018958"/>
            <a:ext cx="1904444" cy="707886"/>
          </a:xfrm>
          <a:prstGeom prst="roundRect">
            <a:avLst/>
          </a:prstGeom>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L2 perceptual discrimination</a:t>
            </a:r>
          </a:p>
        </p:txBody>
      </p:sp>
      <p:sp>
        <p:nvSpPr>
          <p:cNvPr id="16" name="Rounded Rectangle 15">
            <a:extLst>
              <a:ext uri="{FF2B5EF4-FFF2-40B4-BE49-F238E27FC236}">
                <a16:creationId xmlns:a16="http://schemas.microsoft.com/office/drawing/2014/main" id="{E55CC6A2-1F7B-CAB5-F2A9-4E2D03E273A1}"/>
              </a:ext>
            </a:extLst>
          </p:cNvPr>
          <p:cNvSpPr/>
          <p:nvPr/>
        </p:nvSpPr>
        <p:spPr>
          <a:xfrm>
            <a:off x="9833610" y="6023051"/>
            <a:ext cx="1904444" cy="707887"/>
          </a:xfrm>
          <a:prstGeom prst="roundRect">
            <a:avLst/>
          </a:prstGeom>
          <a:noFill/>
          <a:ln w="317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L2 listening assessment</a:t>
            </a:r>
          </a:p>
        </p:txBody>
      </p:sp>
      <p:sp>
        <p:nvSpPr>
          <p:cNvPr id="17" name="Rounded Rectangle 16">
            <a:extLst>
              <a:ext uri="{FF2B5EF4-FFF2-40B4-BE49-F238E27FC236}">
                <a16:creationId xmlns:a16="http://schemas.microsoft.com/office/drawing/2014/main" id="{C74A136E-90D7-81D3-1C92-5D2CC2380511}"/>
              </a:ext>
            </a:extLst>
          </p:cNvPr>
          <p:cNvSpPr/>
          <p:nvPr/>
        </p:nvSpPr>
        <p:spPr>
          <a:xfrm>
            <a:off x="1097107" y="6018957"/>
            <a:ext cx="1904444" cy="707887"/>
          </a:xfrm>
          <a:prstGeom prst="roundRect">
            <a:avLst/>
          </a:prstGeom>
          <a:noFill/>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Specific LD</a:t>
            </a:r>
          </a:p>
        </p:txBody>
      </p:sp>
      <p:cxnSp>
        <p:nvCxnSpPr>
          <p:cNvPr id="18" name="Straight Arrow Connector 17">
            <a:extLst>
              <a:ext uri="{FF2B5EF4-FFF2-40B4-BE49-F238E27FC236}">
                <a16:creationId xmlns:a16="http://schemas.microsoft.com/office/drawing/2014/main" id="{DDA7AEEB-E048-7414-1383-3F00356A1F74}"/>
              </a:ext>
            </a:extLst>
          </p:cNvPr>
          <p:cNvCxnSpPr>
            <a:cxnSpLocks/>
            <a:stCxn id="17" idx="3"/>
            <a:endCxn id="15" idx="1"/>
          </p:cNvCxnSpPr>
          <p:nvPr/>
        </p:nvCxnSpPr>
        <p:spPr>
          <a:xfrm>
            <a:off x="3001551" y="6372901"/>
            <a:ext cx="1094931" cy="0"/>
          </a:xfrm>
          <a:prstGeom prst="straightConnector1">
            <a:avLst/>
          </a:prstGeom>
          <a:ln w="63500">
            <a:solidFill>
              <a:srgbClr val="9B9CA1"/>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a:extLst>
              <a:ext uri="{FF2B5EF4-FFF2-40B4-BE49-F238E27FC236}">
                <a16:creationId xmlns:a16="http://schemas.microsoft.com/office/drawing/2014/main" id="{E0BA7048-0034-3FBE-AC08-E4B708142B9C}"/>
              </a:ext>
            </a:extLst>
          </p:cNvPr>
          <p:cNvSpPr/>
          <p:nvPr/>
        </p:nvSpPr>
        <p:spPr>
          <a:xfrm>
            <a:off x="6942757" y="6023051"/>
            <a:ext cx="1904444" cy="707887"/>
          </a:xfrm>
          <a:prstGeom prst="roundRect">
            <a:avLst/>
          </a:prstGeom>
          <a:noFill/>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Specific LD</a:t>
            </a:r>
          </a:p>
        </p:txBody>
      </p:sp>
      <p:sp>
        <p:nvSpPr>
          <p:cNvPr id="38" name="TextBox 37">
            <a:extLst>
              <a:ext uri="{FF2B5EF4-FFF2-40B4-BE49-F238E27FC236}">
                <a16:creationId xmlns:a16="http://schemas.microsoft.com/office/drawing/2014/main" id="{224FA066-6B53-5345-72C6-77475ACFF329}"/>
              </a:ext>
            </a:extLst>
          </p:cNvPr>
          <p:cNvSpPr txBox="1"/>
          <p:nvPr/>
        </p:nvSpPr>
        <p:spPr>
          <a:xfrm>
            <a:off x="7716560" y="135894"/>
            <a:ext cx="1804789" cy="707886"/>
          </a:xfrm>
          <a:prstGeom prst="rect">
            <a:avLst/>
          </a:prstGeom>
          <a:noFill/>
        </p:spPr>
        <p:txBody>
          <a:bodyPr wrap="square" rtlCol="0">
            <a:spAutoFit/>
          </a:bodyPr>
          <a:lstStyle/>
          <a:p>
            <a:r>
              <a:rPr lang="en-US" sz="4000" dirty="0">
                <a:solidFill>
                  <a:srgbClr val="66CCEE"/>
                </a:solidFill>
              </a:rPr>
              <a:t>Low LD</a:t>
            </a:r>
          </a:p>
        </p:txBody>
      </p:sp>
      <p:sp>
        <p:nvSpPr>
          <p:cNvPr id="39" name="TextBox 38">
            <a:extLst>
              <a:ext uri="{FF2B5EF4-FFF2-40B4-BE49-F238E27FC236}">
                <a16:creationId xmlns:a16="http://schemas.microsoft.com/office/drawing/2014/main" id="{BEB736F1-D1D7-F76C-231C-66B6C44E717E}"/>
              </a:ext>
            </a:extLst>
          </p:cNvPr>
          <p:cNvSpPr txBox="1"/>
          <p:nvPr/>
        </p:nvSpPr>
        <p:spPr>
          <a:xfrm>
            <a:off x="9825351" y="135894"/>
            <a:ext cx="1912703" cy="707886"/>
          </a:xfrm>
          <a:prstGeom prst="rect">
            <a:avLst/>
          </a:prstGeom>
          <a:noFill/>
        </p:spPr>
        <p:txBody>
          <a:bodyPr wrap="square" rtlCol="0">
            <a:spAutoFit/>
          </a:bodyPr>
          <a:lstStyle/>
          <a:p>
            <a:r>
              <a:rPr lang="en-US" sz="4000" dirty="0">
                <a:solidFill>
                  <a:srgbClr val="332288"/>
                </a:solidFill>
              </a:rPr>
              <a:t>High LD</a:t>
            </a:r>
          </a:p>
        </p:txBody>
      </p:sp>
      <p:sp>
        <p:nvSpPr>
          <p:cNvPr id="40" name="TextBox 39">
            <a:extLst>
              <a:ext uri="{FF2B5EF4-FFF2-40B4-BE49-F238E27FC236}">
                <a16:creationId xmlns:a16="http://schemas.microsoft.com/office/drawing/2014/main" id="{F586401E-2DE5-7714-DBBA-613B3E0E7642}"/>
              </a:ext>
            </a:extLst>
          </p:cNvPr>
          <p:cNvSpPr txBox="1"/>
          <p:nvPr/>
        </p:nvSpPr>
        <p:spPr>
          <a:xfrm>
            <a:off x="5596763" y="135894"/>
            <a:ext cx="2119797" cy="707886"/>
          </a:xfrm>
          <a:prstGeom prst="rect">
            <a:avLst/>
          </a:prstGeom>
          <a:noFill/>
        </p:spPr>
        <p:txBody>
          <a:bodyPr wrap="square" rtlCol="0">
            <a:spAutoFit/>
          </a:bodyPr>
          <a:lstStyle/>
          <a:p>
            <a:r>
              <a:rPr lang="en-US" sz="4000" dirty="0">
                <a:solidFill>
                  <a:srgbClr val="CC6677"/>
                </a:solidFill>
              </a:rPr>
              <a:t>Control</a:t>
            </a:r>
          </a:p>
        </p:txBody>
      </p:sp>
      <p:sp>
        <p:nvSpPr>
          <p:cNvPr id="41" name="TextBox 40">
            <a:extLst>
              <a:ext uri="{FF2B5EF4-FFF2-40B4-BE49-F238E27FC236}">
                <a16:creationId xmlns:a16="http://schemas.microsoft.com/office/drawing/2014/main" id="{47DD8D0C-CD38-A5F6-674B-244AA2E33FFD}"/>
              </a:ext>
            </a:extLst>
          </p:cNvPr>
          <p:cNvSpPr txBox="1"/>
          <p:nvPr/>
        </p:nvSpPr>
        <p:spPr>
          <a:xfrm>
            <a:off x="8158363" y="582170"/>
            <a:ext cx="914033" cy="523220"/>
          </a:xfrm>
          <a:prstGeom prst="rect">
            <a:avLst/>
          </a:prstGeom>
          <a:noFill/>
        </p:spPr>
        <p:txBody>
          <a:bodyPr wrap="none" rtlCol="0">
            <a:spAutoFit/>
          </a:bodyPr>
          <a:lstStyle/>
          <a:p>
            <a:r>
              <a:rPr lang="en-US" sz="2800" dirty="0">
                <a:solidFill>
                  <a:srgbClr val="66CCEE"/>
                </a:solidFill>
              </a:rPr>
              <a:t>n = 5</a:t>
            </a:r>
          </a:p>
        </p:txBody>
      </p:sp>
      <p:sp>
        <p:nvSpPr>
          <p:cNvPr id="42" name="TextBox 41">
            <a:extLst>
              <a:ext uri="{FF2B5EF4-FFF2-40B4-BE49-F238E27FC236}">
                <a16:creationId xmlns:a16="http://schemas.microsoft.com/office/drawing/2014/main" id="{114D05D8-7248-19BE-65E0-E54F4C97DDA3}"/>
              </a:ext>
            </a:extLst>
          </p:cNvPr>
          <p:cNvSpPr txBox="1"/>
          <p:nvPr/>
        </p:nvSpPr>
        <p:spPr>
          <a:xfrm>
            <a:off x="10324685" y="582170"/>
            <a:ext cx="914033" cy="523220"/>
          </a:xfrm>
          <a:prstGeom prst="rect">
            <a:avLst/>
          </a:prstGeom>
          <a:noFill/>
        </p:spPr>
        <p:txBody>
          <a:bodyPr wrap="none" rtlCol="0">
            <a:spAutoFit/>
          </a:bodyPr>
          <a:lstStyle/>
          <a:p>
            <a:r>
              <a:rPr lang="en-US" sz="2800" dirty="0">
                <a:solidFill>
                  <a:srgbClr val="332288"/>
                </a:solidFill>
              </a:rPr>
              <a:t>n = 7</a:t>
            </a:r>
          </a:p>
        </p:txBody>
      </p:sp>
      <p:sp>
        <p:nvSpPr>
          <p:cNvPr id="43" name="TextBox 42">
            <a:extLst>
              <a:ext uri="{FF2B5EF4-FFF2-40B4-BE49-F238E27FC236}">
                <a16:creationId xmlns:a16="http://schemas.microsoft.com/office/drawing/2014/main" id="{5612D5AA-E215-C868-EC71-3C2C5C38D508}"/>
              </a:ext>
            </a:extLst>
          </p:cNvPr>
          <p:cNvSpPr txBox="1"/>
          <p:nvPr/>
        </p:nvSpPr>
        <p:spPr>
          <a:xfrm>
            <a:off x="6199644" y="582170"/>
            <a:ext cx="914033" cy="523220"/>
          </a:xfrm>
          <a:prstGeom prst="rect">
            <a:avLst/>
          </a:prstGeom>
          <a:noFill/>
        </p:spPr>
        <p:txBody>
          <a:bodyPr wrap="none" rtlCol="0">
            <a:spAutoFit/>
          </a:bodyPr>
          <a:lstStyle/>
          <a:p>
            <a:r>
              <a:rPr lang="en-US" sz="2800" dirty="0">
                <a:solidFill>
                  <a:srgbClr val="CC6677"/>
                </a:solidFill>
              </a:rPr>
              <a:t>n = 6</a:t>
            </a:r>
          </a:p>
        </p:txBody>
      </p:sp>
      <p:sp>
        <p:nvSpPr>
          <p:cNvPr id="46" name="Rounded Rectangle 45">
            <a:extLst>
              <a:ext uri="{FF2B5EF4-FFF2-40B4-BE49-F238E27FC236}">
                <a16:creationId xmlns:a16="http://schemas.microsoft.com/office/drawing/2014/main" id="{001A1DCA-B03B-88E9-82D0-58F60CB52A1D}"/>
              </a:ext>
            </a:extLst>
          </p:cNvPr>
          <p:cNvSpPr/>
          <p:nvPr/>
        </p:nvSpPr>
        <p:spPr>
          <a:xfrm>
            <a:off x="1975029" y="1423217"/>
            <a:ext cx="8241941" cy="401220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There </a:t>
            </a:r>
            <a:r>
              <a:rPr lang="en-US" sz="4000" i="1" dirty="0">
                <a:solidFill>
                  <a:schemeClr val="tx1"/>
                </a:solidFill>
              </a:rPr>
              <a:t>may</a:t>
            </a:r>
            <a:r>
              <a:rPr lang="en-US" sz="4000" dirty="0">
                <a:solidFill>
                  <a:schemeClr val="tx1"/>
                </a:solidFill>
              </a:rPr>
              <a:t> be a benefit to perceptual training as a supplement to classroom instruction</a:t>
            </a:r>
          </a:p>
        </p:txBody>
      </p:sp>
      <p:sp>
        <p:nvSpPr>
          <p:cNvPr id="47" name="TextBox 46">
            <a:extLst>
              <a:ext uri="{FF2B5EF4-FFF2-40B4-BE49-F238E27FC236}">
                <a16:creationId xmlns:a16="http://schemas.microsoft.com/office/drawing/2014/main" id="{74A5D32E-B3E2-1332-F3B8-57EA337E5AEC}"/>
              </a:ext>
            </a:extLst>
          </p:cNvPr>
          <p:cNvSpPr txBox="1"/>
          <p:nvPr/>
        </p:nvSpPr>
        <p:spPr>
          <a:xfrm>
            <a:off x="3279824" y="5607552"/>
            <a:ext cx="429862" cy="830997"/>
          </a:xfrm>
          <a:prstGeom prst="rect">
            <a:avLst/>
          </a:prstGeom>
          <a:noFill/>
        </p:spPr>
        <p:txBody>
          <a:bodyPr wrap="square" rtlCol="0">
            <a:spAutoFit/>
          </a:bodyPr>
          <a:lstStyle/>
          <a:p>
            <a:r>
              <a:rPr lang="en-US" sz="4800" dirty="0">
                <a:solidFill>
                  <a:schemeClr val="tx1">
                    <a:lumMod val="50000"/>
                    <a:lumOff val="50000"/>
                  </a:schemeClr>
                </a:solidFill>
              </a:rPr>
              <a:t>?</a:t>
            </a:r>
          </a:p>
        </p:txBody>
      </p:sp>
      <p:sp>
        <p:nvSpPr>
          <p:cNvPr id="48" name="TextBox 47">
            <a:extLst>
              <a:ext uri="{FF2B5EF4-FFF2-40B4-BE49-F238E27FC236}">
                <a16:creationId xmlns:a16="http://schemas.microsoft.com/office/drawing/2014/main" id="{939D48A7-1704-9B12-DF34-07D2E2101597}"/>
              </a:ext>
            </a:extLst>
          </p:cNvPr>
          <p:cNvSpPr txBox="1"/>
          <p:nvPr/>
        </p:nvSpPr>
        <p:spPr>
          <a:xfrm>
            <a:off x="9034873" y="5656037"/>
            <a:ext cx="429862" cy="830997"/>
          </a:xfrm>
          <a:prstGeom prst="rect">
            <a:avLst/>
          </a:prstGeom>
          <a:noFill/>
        </p:spPr>
        <p:txBody>
          <a:bodyPr wrap="square" rtlCol="0">
            <a:spAutoFit/>
          </a:bodyPr>
          <a:lstStyle/>
          <a:p>
            <a:r>
              <a:rPr lang="en-US" sz="4800" dirty="0">
                <a:solidFill>
                  <a:schemeClr val="tx1">
                    <a:lumMod val="50000"/>
                    <a:lumOff val="50000"/>
                  </a:schemeClr>
                </a:solidFill>
              </a:rPr>
              <a:t>?</a:t>
            </a:r>
          </a:p>
        </p:txBody>
      </p:sp>
    </p:spTree>
    <p:extLst>
      <p:ext uri="{BB962C8B-B14F-4D97-AF65-F5344CB8AC3E}">
        <p14:creationId xmlns:p14="http://schemas.microsoft.com/office/powerpoint/2010/main" val="151005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p:bldP spid="4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F03D4-B0D8-D1A2-5AD6-606DC0CF4022}"/>
              </a:ext>
            </a:extLst>
          </p:cNvPr>
          <p:cNvSpPr>
            <a:spLocks noGrp="1"/>
          </p:cNvSpPr>
          <p:nvPr>
            <p:ph type="title"/>
          </p:nvPr>
        </p:nvSpPr>
        <p:spPr/>
        <p:txBody>
          <a:bodyPr/>
          <a:lstStyle/>
          <a:p>
            <a:r>
              <a:rPr lang="en-US" dirty="0"/>
              <a:t>Summary and Conclusion</a:t>
            </a:r>
          </a:p>
        </p:txBody>
      </p:sp>
      <p:sp>
        <p:nvSpPr>
          <p:cNvPr id="3" name="Text Placeholder 2">
            <a:extLst>
              <a:ext uri="{FF2B5EF4-FFF2-40B4-BE49-F238E27FC236}">
                <a16:creationId xmlns:a16="http://schemas.microsoft.com/office/drawing/2014/main" id="{256DDAB4-677A-0743-4F81-9B7A421480E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826678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08137-FDD1-6C53-026C-2F4B40FDC06D}"/>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2656D95F-0A16-268E-20EB-AF2BA7EB9EEC}"/>
              </a:ext>
            </a:extLst>
          </p:cNvPr>
          <p:cNvSpPr/>
          <p:nvPr/>
        </p:nvSpPr>
        <p:spPr>
          <a:xfrm>
            <a:off x="838200" y="2618460"/>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0C2A0414-E24C-9A21-3780-A39145143E37}"/>
              </a:ext>
            </a:extLst>
          </p:cNvPr>
          <p:cNvSpPr/>
          <p:nvPr/>
        </p:nvSpPr>
        <p:spPr>
          <a:xfrm>
            <a:off x="7657904" y="2618460"/>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cxnSp>
        <p:nvCxnSpPr>
          <p:cNvPr id="6" name="Straight Arrow Connector 5">
            <a:extLst>
              <a:ext uri="{FF2B5EF4-FFF2-40B4-BE49-F238E27FC236}">
                <a16:creationId xmlns:a16="http://schemas.microsoft.com/office/drawing/2014/main" id="{97D92E90-497D-0E5F-9452-B6AC31A7BBAB}"/>
              </a:ext>
            </a:extLst>
          </p:cNvPr>
          <p:cNvCxnSpPr>
            <a:stCxn id="3" idx="3"/>
            <a:endCxn id="4" idx="1"/>
          </p:cNvCxnSpPr>
          <p:nvPr/>
        </p:nvCxnSpPr>
        <p:spPr>
          <a:xfrm>
            <a:off x="4056825" y="3429000"/>
            <a:ext cx="3601079" cy="0"/>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useBgFill="1">
        <p:nvSpPr>
          <p:cNvPr id="10" name="Rounded Rectangle 9">
            <a:extLst>
              <a:ext uri="{FF2B5EF4-FFF2-40B4-BE49-F238E27FC236}">
                <a16:creationId xmlns:a16="http://schemas.microsoft.com/office/drawing/2014/main" id="{D91FE7D3-2742-3BBB-9AB2-72ED96FA6548}"/>
              </a:ext>
            </a:extLst>
          </p:cNvPr>
          <p:cNvSpPr/>
          <p:nvPr/>
        </p:nvSpPr>
        <p:spPr>
          <a:xfrm>
            <a:off x="4248051" y="4871796"/>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cxnSp>
        <p:nvCxnSpPr>
          <p:cNvPr id="2" name="Straight Arrow Connector 1">
            <a:extLst>
              <a:ext uri="{FF2B5EF4-FFF2-40B4-BE49-F238E27FC236}">
                <a16:creationId xmlns:a16="http://schemas.microsoft.com/office/drawing/2014/main" id="{3BB001F3-E4E8-51E4-4028-2072B657013A}"/>
              </a:ext>
            </a:extLst>
          </p:cNvPr>
          <p:cNvCxnSpPr>
            <a:cxnSpLocks/>
            <a:stCxn id="3" idx="3"/>
            <a:endCxn id="10" idx="0"/>
          </p:cNvCxnSpPr>
          <p:nvPr/>
        </p:nvCxnSpPr>
        <p:spPr>
          <a:xfrm>
            <a:off x="4056825" y="3429000"/>
            <a:ext cx="1800539"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0001935-6251-DCF1-5BE9-685F3775D58B}"/>
              </a:ext>
            </a:extLst>
          </p:cNvPr>
          <p:cNvCxnSpPr>
            <a:cxnSpLocks/>
            <a:stCxn id="10" idx="0"/>
          </p:cNvCxnSpPr>
          <p:nvPr/>
        </p:nvCxnSpPr>
        <p:spPr>
          <a:xfrm flipV="1">
            <a:off x="5857364" y="3429000"/>
            <a:ext cx="1800540" cy="1442796"/>
          </a:xfrm>
          <a:prstGeom prst="straightConnector1">
            <a:avLst/>
          </a:prstGeom>
          <a:ln w="635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C9E29A0E-E70F-3DAE-606F-A2391DBA40A8}"/>
              </a:ext>
            </a:extLst>
          </p:cNvPr>
          <p:cNvSpPr txBox="1">
            <a:spLocks/>
          </p:cNvSpPr>
          <p:nvPr/>
        </p:nvSpPr>
        <p:spPr>
          <a:xfrm>
            <a:off x="420411" y="250827"/>
            <a:ext cx="10873903" cy="155709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What are the roles of </a:t>
            </a:r>
            <a:r>
              <a:rPr lang="en-US" sz="4000" dirty="0">
                <a:solidFill>
                  <a:srgbClr val="4477AA"/>
                </a:solidFill>
              </a:rPr>
              <a:t>linguistic diversity</a:t>
            </a:r>
            <a:r>
              <a:rPr lang="en-US" sz="4000" dirty="0"/>
              <a:t> and </a:t>
            </a:r>
            <a:r>
              <a:rPr lang="en-US" sz="4000" dirty="0">
                <a:solidFill>
                  <a:srgbClr val="AA3377"/>
                </a:solidFill>
              </a:rPr>
              <a:t>gradient categorization</a:t>
            </a:r>
            <a:r>
              <a:rPr lang="en-US" sz="4000" dirty="0"/>
              <a:t> in </a:t>
            </a:r>
            <a:r>
              <a:rPr lang="en-US" sz="4000" dirty="0">
                <a:solidFill>
                  <a:srgbClr val="228833"/>
                </a:solidFill>
              </a:rPr>
              <a:t>L2 speech category learning</a:t>
            </a:r>
            <a:r>
              <a:rPr lang="en-US" sz="4000" dirty="0"/>
              <a:t>? </a:t>
            </a:r>
          </a:p>
        </p:txBody>
      </p:sp>
      <p:sp>
        <p:nvSpPr>
          <p:cNvPr id="5" name="TextBox 4">
            <a:extLst>
              <a:ext uri="{FF2B5EF4-FFF2-40B4-BE49-F238E27FC236}">
                <a16:creationId xmlns:a16="http://schemas.microsoft.com/office/drawing/2014/main" id="{26318C26-E4CE-A08D-FC5E-EA70319F79FB}"/>
              </a:ext>
            </a:extLst>
          </p:cNvPr>
          <p:cNvSpPr txBox="1"/>
          <p:nvPr/>
        </p:nvSpPr>
        <p:spPr>
          <a:xfrm>
            <a:off x="5642432" y="3625301"/>
            <a:ext cx="429862" cy="830997"/>
          </a:xfrm>
          <a:prstGeom prst="rect">
            <a:avLst/>
          </a:prstGeom>
          <a:noFill/>
        </p:spPr>
        <p:txBody>
          <a:bodyPr wrap="square" rtlCol="0">
            <a:spAutoFit/>
          </a:bodyPr>
          <a:lstStyle/>
          <a:p>
            <a:r>
              <a:rPr lang="en-US" sz="4800" dirty="0">
                <a:solidFill>
                  <a:schemeClr val="tx1">
                    <a:lumMod val="50000"/>
                    <a:lumOff val="50000"/>
                  </a:schemeClr>
                </a:solidFill>
              </a:rPr>
              <a:t>?</a:t>
            </a:r>
          </a:p>
        </p:txBody>
      </p:sp>
      <p:sp>
        <p:nvSpPr>
          <p:cNvPr id="7" name="Multiply 6">
            <a:extLst>
              <a:ext uri="{FF2B5EF4-FFF2-40B4-BE49-F238E27FC236}">
                <a16:creationId xmlns:a16="http://schemas.microsoft.com/office/drawing/2014/main" id="{D8CF299B-7346-8445-A607-E005D563109A}"/>
              </a:ext>
            </a:extLst>
          </p:cNvPr>
          <p:cNvSpPr/>
          <p:nvPr/>
        </p:nvSpPr>
        <p:spPr>
          <a:xfrm>
            <a:off x="4414009" y="3677473"/>
            <a:ext cx="894944" cy="796216"/>
          </a:xfrm>
          <a:prstGeom prst="mathMultiply">
            <a:avLst/>
          </a:prstGeom>
          <a:solidFill>
            <a:srgbClr val="9B9C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ultiply 7">
            <a:extLst>
              <a:ext uri="{FF2B5EF4-FFF2-40B4-BE49-F238E27FC236}">
                <a16:creationId xmlns:a16="http://schemas.microsoft.com/office/drawing/2014/main" id="{4F57C33D-5F06-D341-BAD9-60C89ED7B871}"/>
              </a:ext>
            </a:extLst>
          </p:cNvPr>
          <p:cNvSpPr/>
          <p:nvPr/>
        </p:nvSpPr>
        <p:spPr>
          <a:xfrm>
            <a:off x="5401199" y="3030891"/>
            <a:ext cx="894944" cy="796216"/>
          </a:xfrm>
          <a:prstGeom prst="mathMultiply">
            <a:avLst/>
          </a:prstGeom>
          <a:solidFill>
            <a:srgbClr val="9B9C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ultiply 8">
            <a:extLst>
              <a:ext uri="{FF2B5EF4-FFF2-40B4-BE49-F238E27FC236}">
                <a16:creationId xmlns:a16="http://schemas.microsoft.com/office/drawing/2014/main" id="{9B83A49A-EAD8-ECF2-C07B-96AC3FB8B3FA}"/>
              </a:ext>
            </a:extLst>
          </p:cNvPr>
          <p:cNvSpPr/>
          <p:nvPr/>
        </p:nvSpPr>
        <p:spPr>
          <a:xfrm>
            <a:off x="6324181" y="3682715"/>
            <a:ext cx="894944" cy="796216"/>
          </a:xfrm>
          <a:prstGeom prst="mathMultiply">
            <a:avLst/>
          </a:prstGeom>
          <a:solidFill>
            <a:srgbClr val="9B9C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5042964"/>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descr="A screenshot of a computer&#10;&#10;AI-generated content may be incorrect.">
            <a:extLst>
              <a:ext uri="{FF2B5EF4-FFF2-40B4-BE49-F238E27FC236}">
                <a16:creationId xmlns:a16="http://schemas.microsoft.com/office/drawing/2014/main" id="{9A3BA7C8-12AF-BC99-9A16-C379418AB5C2}"/>
              </a:ext>
            </a:extLst>
          </p:cNvPr>
          <p:cNvPicPr>
            <a:picLocks noChangeAspect="1"/>
          </p:cNvPicPr>
          <p:nvPr/>
        </p:nvPicPr>
        <p:blipFill>
          <a:blip r:embed="rId3"/>
          <a:srcRect l="2334" t="4697" r="3191" b="23042"/>
          <a:stretch>
            <a:fillRect/>
          </a:stretch>
        </p:blipFill>
        <p:spPr>
          <a:xfrm>
            <a:off x="457202" y="394191"/>
            <a:ext cx="5426764" cy="2760256"/>
          </a:xfrm>
          <a:prstGeom prst="rect">
            <a:avLst/>
          </a:prstGeom>
        </p:spPr>
      </p:pic>
      <p:sp>
        <p:nvSpPr>
          <p:cNvPr id="67" name="Rectangle 66">
            <a:extLst>
              <a:ext uri="{FF2B5EF4-FFF2-40B4-BE49-F238E27FC236}">
                <a16:creationId xmlns:a16="http://schemas.microsoft.com/office/drawing/2014/main" id="{417CDA24-35F8-4540-8C52-3096D6D94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A graph of different colored lines&#10;&#10;AI-generated content may be incorrect.">
            <a:extLst>
              <a:ext uri="{FF2B5EF4-FFF2-40B4-BE49-F238E27FC236}">
                <a16:creationId xmlns:a16="http://schemas.microsoft.com/office/drawing/2014/main" id="{90664429-594E-378D-EEBE-50CEF91BA1A7}"/>
              </a:ext>
            </a:extLst>
          </p:cNvPr>
          <p:cNvPicPr>
            <a:picLocks noChangeAspect="1"/>
          </p:cNvPicPr>
          <p:nvPr/>
        </p:nvPicPr>
        <p:blipFill>
          <a:blip r:embed="rId4"/>
          <a:srcRect l="7450" b="9117"/>
          <a:stretch>
            <a:fillRect/>
          </a:stretch>
        </p:blipFill>
        <p:spPr>
          <a:xfrm>
            <a:off x="7118830" y="142742"/>
            <a:ext cx="4019857" cy="3286258"/>
          </a:xfrm>
          <a:prstGeom prst="rect">
            <a:avLst/>
          </a:prstGeom>
        </p:spPr>
      </p:pic>
      <p:sp>
        <p:nvSpPr>
          <p:cNvPr id="68" name="Rectangle 67">
            <a:extLst>
              <a:ext uri="{FF2B5EF4-FFF2-40B4-BE49-F238E27FC236}">
                <a16:creationId xmlns:a16="http://schemas.microsoft.com/office/drawing/2014/main" id="{8658BFE0-4E65-4174-9C75-687C94E88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FA75DFED-A0C1-4A83-BE1D-0271C1826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552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screenshot of a test&#10;&#10;AI-generated content may be incorrect.">
            <a:extLst>
              <a:ext uri="{FF2B5EF4-FFF2-40B4-BE49-F238E27FC236}">
                <a16:creationId xmlns:a16="http://schemas.microsoft.com/office/drawing/2014/main" id="{9486346E-B31C-75ED-5647-CA224EB67664}"/>
              </a:ext>
            </a:extLst>
          </p:cNvPr>
          <p:cNvPicPr>
            <a:picLocks noChangeAspect="1"/>
          </p:cNvPicPr>
          <p:nvPr/>
        </p:nvPicPr>
        <p:blipFill>
          <a:blip r:embed="rId5"/>
          <a:srcRect b="26585"/>
          <a:stretch>
            <a:fillRect/>
          </a:stretch>
        </p:blipFill>
        <p:spPr>
          <a:xfrm>
            <a:off x="6856727" y="3728808"/>
            <a:ext cx="4544065" cy="2760560"/>
          </a:xfrm>
          <a:prstGeom prst="rect">
            <a:avLst/>
          </a:prstGeom>
        </p:spPr>
      </p:pic>
      <p:grpSp>
        <p:nvGrpSpPr>
          <p:cNvPr id="13" name="Group 12">
            <a:extLst>
              <a:ext uri="{FF2B5EF4-FFF2-40B4-BE49-F238E27FC236}">
                <a16:creationId xmlns:a16="http://schemas.microsoft.com/office/drawing/2014/main" id="{3C310F38-5F43-F263-093D-B21FFAD5109B}"/>
              </a:ext>
            </a:extLst>
          </p:cNvPr>
          <p:cNvGrpSpPr/>
          <p:nvPr/>
        </p:nvGrpSpPr>
        <p:grpSpPr>
          <a:xfrm>
            <a:off x="457201" y="3772237"/>
            <a:ext cx="5426764" cy="2478278"/>
            <a:chOff x="1751904" y="2266151"/>
            <a:chExt cx="8688190" cy="3588549"/>
          </a:xfrm>
        </p:grpSpPr>
        <p:pic>
          <p:nvPicPr>
            <p:cNvPr id="14" name="Picture 13">
              <a:extLst>
                <a:ext uri="{FF2B5EF4-FFF2-40B4-BE49-F238E27FC236}">
                  <a16:creationId xmlns:a16="http://schemas.microsoft.com/office/drawing/2014/main" id="{270BB041-8AB7-B75F-7348-286A900AED36}"/>
                </a:ext>
              </a:extLst>
            </p:cNvPr>
            <p:cNvPicPr>
              <a:picLocks noChangeAspect="1"/>
            </p:cNvPicPr>
            <p:nvPr/>
          </p:nvPicPr>
          <p:blipFill>
            <a:blip r:embed="rId6"/>
            <a:stretch>
              <a:fillRect/>
            </a:stretch>
          </p:blipFill>
          <p:spPr>
            <a:xfrm>
              <a:off x="2541465" y="2266151"/>
              <a:ext cx="7109069" cy="3588549"/>
            </a:xfrm>
            <a:prstGeom prst="rect">
              <a:avLst/>
            </a:prstGeom>
          </p:spPr>
        </p:pic>
        <p:sp useBgFill="1">
          <p:nvSpPr>
            <p:cNvPr id="15" name="TextBox 14">
              <a:extLst>
                <a:ext uri="{FF2B5EF4-FFF2-40B4-BE49-F238E27FC236}">
                  <a16:creationId xmlns:a16="http://schemas.microsoft.com/office/drawing/2014/main" id="{86680273-F571-B7E9-19C7-127EB934DDB2}"/>
                </a:ext>
              </a:extLst>
            </p:cNvPr>
            <p:cNvSpPr txBox="1"/>
            <p:nvPr/>
          </p:nvSpPr>
          <p:spPr>
            <a:xfrm>
              <a:off x="8398042" y="4689167"/>
              <a:ext cx="2042052" cy="481704"/>
            </a:xfrm>
            <a:prstGeom prst="rect">
              <a:avLst/>
            </a:prstGeom>
          </p:spPr>
          <p:txBody>
            <a:bodyPr wrap="square" rtlCol="0">
              <a:spAutoFit/>
            </a:bodyPr>
            <a:lstStyle/>
            <a:p>
              <a:pPr defTabSz="813084">
                <a:spcAft>
                  <a:spcPts val="593"/>
                </a:spcAft>
              </a:pPr>
              <a:r>
                <a:rPr lang="en-US" sz="1601" kern="1200">
                  <a:solidFill>
                    <a:schemeClr val="tx1"/>
                  </a:solidFill>
                  <a:latin typeface="+mn-lt"/>
                  <a:ea typeface="+mn-ea"/>
                  <a:cs typeface="+mn-cs"/>
                </a:rPr>
                <a:t>multilingual</a:t>
              </a:r>
              <a:endParaRPr lang="en-US"/>
            </a:p>
          </p:txBody>
        </p:sp>
        <p:sp useBgFill="1">
          <p:nvSpPr>
            <p:cNvPr id="16" name="TextBox 15">
              <a:extLst>
                <a:ext uri="{FF2B5EF4-FFF2-40B4-BE49-F238E27FC236}">
                  <a16:creationId xmlns:a16="http://schemas.microsoft.com/office/drawing/2014/main" id="{748A6169-A2DC-2DE2-78F5-B1BC856427FD}"/>
                </a:ext>
              </a:extLst>
            </p:cNvPr>
            <p:cNvSpPr txBox="1"/>
            <p:nvPr/>
          </p:nvSpPr>
          <p:spPr>
            <a:xfrm>
              <a:off x="1751904" y="4689167"/>
              <a:ext cx="2170025" cy="481704"/>
            </a:xfrm>
            <a:prstGeom prst="rect">
              <a:avLst/>
            </a:prstGeom>
          </p:spPr>
          <p:txBody>
            <a:bodyPr wrap="square" rtlCol="0">
              <a:spAutoFit/>
            </a:bodyPr>
            <a:lstStyle/>
            <a:p>
              <a:pPr defTabSz="813084">
                <a:spcAft>
                  <a:spcPts val="593"/>
                </a:spcAft>
              </a:pPr>
              <a:r>
                <a:rPr lang="en-US" sz="1601" kern="1200">
                  <a:solidFill>
                    <a:schemeClr val="tx1"/>
                  </a:solidFill>
                  <a:latin typeface="+mn-lt"/>
                  <a:ea typeface="+mn-ea"/>
                  <a:cs typeface="+mn-cs"/>
                </a:rPr>
                <a:t>monolingual</a:t>
              </a:r>
              <a:endParaRPr lang="en-US"/>
            </a:p>
          </p:txBody>
        </p:sp>
      </p:grpSp>
      <p:sp useBgFill="1">
        <p:nvSpPr>
          <p:cNvPr id="22" name="Rounded Rectangle 21">
            <a:extLst>
              <a:ext uri="{FF2B5EF4-FFF2-40B4-BE49-F238E27FC236}">
                <a16:creationId xmlns:a16="http://schemas.microsoft.com/office/drawing/2014/main" id="{C7A6889B-06BD-4646-3C55-5F4AF5E85DC1}"/>
              </a:ext>
            </a:extLst>
          </p:cNvPr>
          <p:cNvSpPr/>
          <p:nvPr/>
        </p:nvSpPr>
        <p:spPr>
          <a:xfrm>
            <a:off x="1982583" y="2903097"/>
            <a:ext cx="2375999" cy="1143246"/>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Linguistic diversity</a:t>
            </a:r>
          </a:p>
        </p:txBody>
      </p:sp>
      <p:sp useBgFill="1">
        <p:nvSpPr>
          <p:cNvPr id="23" name="Rounded Rectangle 22">
            <a:extLst>
              <a:ext uri="{FF2B5EF4-FFF2-40B4-BE49-F238E27FC236}">
                <a16:creationId xmlns:a16="http://schemas.microsoft.com/office/drawing/2014/main" id="{659033F4-EA98-C9D2-1737-7CAD1D26B950}"/>
              </a:ext>
            </a:extLst>
          </p:cNvPr>
          <p:cNvSpPr/>
          <p:nvPr/>
        </p:nvSpPr>
        <p:spPr>
          <a:xfrm>
            <a:off x="7940192" y="1202696"/>
            <a:ext cx="2367715" cy="1143246"/>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Gradient categorization</a:t>
            </a:r>
          </a:p>
        </p:txBody>
      </p:sp>
      <p:sp useBgFill="1">
        <p:nvSpPr>
          <p:cNvPr id="25" name="Rounded Rectangle 24">
            <a:extLst>
              <a:ext uri="{FF2B5EF4-FFF2-40B4-BE49-F238E27FC236}">
                <a16:creationId xmlns:a16="http://schemas.microsoft.com/office/drawing/2014/main" id="{D96898A4-01F9-8522-FAB4-73F2797B4A54}"/>
              </a:ext>
            </a:extLst>
          </p:cNvPr>
          <p:cNvSpPr/>
          <p:nvPr/>
        </p:nvSpPr>
        <p:spPr>
          <a:xfrm>
            <a:off x="7880484" y="4439753"/>
            <a:ext cx="2375999" cy="1143246"/>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 speech learning</a:t>
            </a:r>
          </a:p>
        </p:txBody>
      </p:sp>
    </p:spTree>
    <p:extLst>
      <p:ext uri="{BB962C8B-B14F-4D97-AF65-F5344CB8AC3E}">
        <p14:creationId xmlns:p14="http://schemas.microsoft.com/office/powerpoint/2010/main" val="35917642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test&#10;&#10;AI-generated content may be incorrect.">
            <a:extLst>
              <a:ext uri="{FF2B5EF4-FFF2-40B4-BE49-F238E27FC236}">
                <a16:creationId xmlns:a16="http://schemas.microsoft.com/office/drawing/2014/main" id="{FA493EBD-EF17-CF46-3045-B7FB80BFB79C}"/>
              </a:ext>
            </a:extLst>
          </p:cNvPr>
          <p:cNvPicPr>
            <a:picLocks noChangeAspect="1"/>
          </p:cNvPicPr>
          <p:nvPr/>
        </p:nvPicPr>
        <p:blipFill>
          <a:blip r:embed="rId3"/>
          <a:srcRect b="26585"/>
          <a:stretch>
            <a:fillRect/>
          </a:stretch>
        </p:blipFill>
        <p:spPr>
          <a:xfrm>
            <a:off x="1510749" y="481078"/>
            <a:ext cx="9890044" cy="6008290"/>
          </a:xfrm>
          <a:prstGeom prst="rect">
            <a:avLst/>
          </a:prstGeom>
        </p:spPr>
      </p:pic>
      <p:sp useBgFill="1">
        <p:nvSpPr>
          <p:cNvPr id="5" name="Rounded Rectangle 4">
            <a:extLst>
              <a:ext uri="{FF2B5EF4-FFF2-40B4-BE49-F238E27FC236}">
                <a16:creationId xmlns:a16="http://schemas.microsoft.com/office/drawing/2014/main" id="{EBFF820C-D9E1-9799-A824-141980F443C8}"/>
              </a:ext>
            </a:extLst>
          </p:cNvPr>
          <p:cNvSpPr/>
          <p:nvPr/>
        </p:nvSpPr>
        <p:spPr>
          <a:xfrm>
            <a:off x="4376880" y="3485223"/>
            <a:ext cx="3438240" cy="1428442"/>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spTree>
    <p:extLst>
      <p:ext uri="{BB962C8B-B14F-4D97-AF65-F5344CB8AC3E}">
        <p14:creationId xmlns:p14="http://schemas.microsoft.com/office/powerpoint/2010/main" val="1095837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4A2AAB3A-45BA-5DA4-DE49-0BE6CC9DF960}"/>
              </a:ext>
            </a:extLst>
          </p:cNvPr>
          <p:cNvSpPr/>
          <p:nvPr/>
        </p:nvSpPr>
        <p:spPr>
          <a:xfrm>
            <a:off x="1975029" y="1423217"/>
            <a:ext cx="8241941" cy="401220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There </a:t>
            </a:r>
            <a:r>
              <a:rPr lang="en-US" sz="4000" i="1" dirty="0">
                <a:solidFill>
                  <a:schemeClr val="tx1"/>
                </a:solidFill>
              </a:rPr>
              <a:t>may</a:t>
            </a:r>
            <a:r>
              <a:rPr lang="en-US" sz="4000" dirty="0">
                <a:solidFill>
                  <a:schemeClr val="tx1"/>
                </a:solidFill>
              </a:rPr>
              <a:t> be a benefit to perceptual training as a supplement to classroom instruction</a:t>
            </a:r>
          </a:p>
        </p:txBody>
      </p:sp>
    </p:spTree>
    <p:extLst>
      <p:ext uri="{BB962C8B-B14F-4D97-AF65-F5344CB8AC3E}">
        <p14:creationId xmlns:p14="http://schemas.microsoft.com/office/powerpoint/2010/main" val="4778699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68345-3AB1-BF1C-9923-2A8CC9B5A7FD}"/>
              </a:ext>
            </a:extLst>
          </p:cNvPr>
          <p:cNvSpPr>
            <a:spLocks noGrp="1"/>
          </p:cNvSpPr>
          <p:nvPr>
            <p:ph type="title"/>
          </p:nvPr>
        </p:nvSpPr>
        <p:spPr/>
        <p:txBody>
          <a:bodyPr/>
          <a:lstStyle/>
          <a:p>
            <a:r>
              <a:rPr lang="en-US" dirty="0"/>
              <a:t>Acknowledgements</a:t>
            </a:r>
          </a:p>
        </p:txBody>
      </p:sp>
      <p:sp>
        <p:nvSpPr>
          <p:cNvPr id="3" name="Content Placeholder 2">
            <a:extLst>
              <a:ext uri="{FF2B5EF4-FFF2-40B4-BE49-F238E27FC236}">
                <a16:creationId xmlns:a16="http://schemas.microsoft.com/office/drawing/2014/main" id="{71754D74-B08F-E294-6208-F52F3C68DB8B}"/>
              </a:ext>
            </a:extLst>
          </p:cNvPr>
          <p:cNvSpPr>
            <a:spLocks noGrp="1"/>
          </p:cNvSpPr>
          <p:nvPr>
            <p:ph idx="1"/>
          </p:nvPr>
        </p:nvSpPr>
        <p:spPr>
          <a:xfrm>
            <a:off x="460513" y="1825625"/>
            <a:ext cx="5960165" cy="5032375"/>
          </a:xfrm>
        </p:spPr>
        <p:txBody>
          <a:bodyPr>
            <a:normAutofit lnSpcReduction="10000"/>
          </a:bodyPr>
          <a:lstStyle/>
          <a:p>
            <a:r>
              <a:rPr lang="en-US" dirty="0"/>
              <a:t>Dr. Seth Wiener</a:t>
            </a:r>
          </a:p>
          <a:p>
            <a:r>
              <a:rPr lang="en-US" dirty="0"/>
              <a:t>Dr. Lori Holt</a:t>
            </a:r>
          </a:p>
          <a:p>
            <a:r>
              <a:rPr lang="en-US" dirty="0"/>
              <a:t>Drs. Ethan Kutlu and </a:t>
            </a:r>
            <a:r>
              <a:rPr lang="en-US" dirty="0" err="1"/>
              <a:t>Sanghee</a:t>
            </a:r>
            <a:r>
              <a:rPr lang="en-US" dirty="0"/>
              <a:t> Kang</a:t>
            </a:r>
          </a:p>
          <a:p>
            <a:r>
              <a:rPr lang="en-US" dirty="0"/>
              <a:t>Drs. Christina Bjorndahl, Natalie </a:t>
            </a:r>
            <a:r>
              <a:rPr lang="en-US" dirty="0" err="1"/>
              <a:t>Amgott</a:t>
            </a:r>
            <a:endParaRPr lang="en-US" dirty="0"/>
          </a:p>
          <a:p>
            <a:r>
              <a:rPr lang="en-US" dirty="0"/>
              <a:t>Yumiko Adachi, Joseph Garcia, Dr. Seth McCombie</a:t>
            </a:r>
          </a:p>
          <a:p>
            <a:r>
              <a:rPr lang="en-US" dirty="0"/>
              <a:t>Speakers for my stimuli &amp; study participants</a:t>
            </a:r>
          </a:p>
          <a:p>
            <a:r>
              <a:rPr lang="en-US" dirty="0"/>
              <a:t>Funding bodies: NSF &amp; Duolingo Inc.</a:t>
            </a:r>
          </a:p>
        </p:txBody>
      </p:sp>
      <p:sp>
        <p:nvSpPr>
          <p:cNvPr id="5" name="Content Placeholder 2">
            <a:extLst>
              <a:ext uri="{FF2B5EF4-FFF2-40B4-BE49-F238E27FC236}">
                <a16:creationId xmlns:a16="http://schemas.microsoft.com/office/drawing/2014/main" id="{E4846FBB-E8C5-7AB8-1A72-661D8F3293C2}"/>
              </a:ext>
            </a:extLst>
          </p:cNvPr>
          <p:cNvSpPr txBox="1">
            <a:spLocks/>
          </p:cNvSpPr>
          <p:nvPr/>
        </p:nvSpPr>
        <p:spPr>
          <a:xfrm>
            <a:off x="6420678" y="1825625"/>
            <a:ext cx="5781261" cy="503237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Department of Psychology, Department of Languages, Cultures, &amp; Applied Linguistics</a:t>
            </a:r>
          </a:p>
          <a:p>
            <a:r>
              <a:rPr lang="en-US" dirty="0"/>
              <a:t>LAPP Lab, Holt Lab</a:t>
            </a:r>
          </a:p>
          <a:p>
            <a:r>
              <a:rPr lang="en-US" dirty="0"/>
              <a:t>Austin </a:t>
            </a:r>
            <a:r>
              <a:rPr lang="en-US" dirty="0" err="1"/>
              <a:t>Luor</a:t>
            </a:r>
            <a:r>
              <a:rPr lang="en-US" dirty="0"/>
              <a:t>, Alana Hodson, Jenah Black, Christi Gomez</a:t>
            </a:r>
          </a:p>
          <a:p>
            <a:r>
              <a:rPr lang="en-US" dirty="0"/>
              <a:t>Leigh Montgomery &amp; Dr. Gregory Thorkelson</a:t>
            </a:r>
          </a:p>
          <a:p>
            <a:r>
              <a:rPr lang="en-US" dirty="0"/>
              <a:t>Friends and family</a:t>
            </a:r>
          </a:p>
          <a:p>
            <a:r>
              <a:rPr lang="en-US" dirty="0"/>
              <a:t>Dr. Kem Obasih</a:t>
            </a:r>
          </a:p>
          <a:p>
            <a:r>
              <a:rPr lang="en-US" dirty="0"/>
              <a:t>Noah Satterlee &lt;3</a:t>
            </a:r>
          </a:p>
        </p:txBody>
      </p:sp>
    </p:spTree>
    <p:extLst>
      <p:ext uri="{BB962C8B-B14F-4D97-AF65-F5344CB8AC3E}">
        <p14:creationId xmlns:p14="http://schemas.microsoft.com/office/powerpoint/2010/main" val="40022485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A41C71-1B0A-F774-F9B4-ED78F86FAFE9}"/>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5ED16E53-1277-2805-B18A-043553255BE0}"/>
              </a:ext>
            </a:extLst>
          </p:cNvPr>
          <p:cNvSpPr/>
          <p:nvPr/>
        </p:nvSpPr>
        <p:spPr>
          <a:xfrm>
            <a:off x="442287" y="508129"/>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84839D25-866F-DDEA-2740-D0FD104FE184}"/>
              </a:ext>
            </a:extLst>
          </p:cNvPr>
          <p:cNvSpPr/>
          <p:nvPr/>
        </p:nvSpPr>
        <p:spPr>
          <a:xfrm>
            <a:off x="8531087" y="511598"/>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sp useBgFill="1">
        <p:nvSpPr>
          <p:cNvPr id="10" name="Rounded Rectangle 9">
            <a:extLst>
              <a:ext uri="{FF2B5EF4-FFF2-40B4-BE49-F238E27FC236}">
                <a16:creationId xmlns:a16="http://schemas.microsoft.com/office/drawing/2014/main" id="{4AF84CA7-3E7E-E340-50C5-E5D22AD76A70}"/>
              </a:ext>
            </a:extLst>
          </p:cNvPr>
          <p:cNvSpPr/>
          <p:nvPr/>
        </p:nvSpPr>
        <p:spPr>
          <a:xfrm>
            <a:off x="4486687" y="508129"/>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sp>
        <p:nvSpPr>
          <p:cNvPr id="13" name="TextBox 12">
            <a:extLst>
              <a:ext uri="{FF2B5EF4-FFF2-40B4-BE49-F238E27FC236}">
                <a16:creationId xmlns:a16="http://schemas.microsoft.com/office/drawing/2014/main" id="{1C27434F-DFDC-AE20-06C7-260A6D5B4CC2}"/>
              </a:ext>
            </a:extLst>
          </p:cNvPr>
          <p:cNvSpPr txBox="1"/>
          <p:nvPr/>
        </p:nvSpPr>
        <p:spPr>
          <a:xfrm>
            <a:off x="4486686" y="2123159"/>
            <a:ext cx="3218625"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variable within and between individuals</a:t>
            </a:r>
          </a:p>
          <a:p>
            <a:pPr marL="342900" indent="-342900">
              <a:buFont typeface="Arial" panose="020B0604020202020204" pitchFamily="34" charset="0"/>
              <a:buChar char="•"/>
            </a:pPr>
            <a:r>
              <a:rPr lang="en-US" sz="2400" dirty="0"/>
              <a:t>variable within and between language contrasts</a:t>
            </a:r>
          </a:p>
          <a:p>
            <a:pPr marL="342900" indent="-342900">
              <a:buFont typeface="Arial" panose="020B0604020202020204" pitchFamily="34" charset="0"/>
              <a:buChar char="•"/>
            </a:pPr>
            <a:r>
              <a:rPr lang="en-US" sz="2400" dirty="0"/>
              <a:t>stable across time, not easily manipulable by perceptual training</a:t>
            </a:r>
          </a:p>
        </p:txBody>
      </p:sp>
      <p:sp>
        <p:nvSpPr>
          <p:cNvPr id="14" name="TextBox 13">
            <a:extLst>
              <a:ext uri="{FF2B5EF4-FFF2-40B4-BE49-F238E27FC236}">
                <a16:creationId xmlns:a16="http://schemas.microsoft.com/office/drawing/2014/main" id="{E8975271-4DBF-04A6-1B75-C03D21B62FBD}"/>
              </a:ext>
            </a:extLst>
          </p:cNvPr>
          <p:cNvSpPr txBox="1"/>
          <p:nvPr/>
        </p:nvSpPr>
        <p:spPr>
          <a:xfrm>
            <a:off x="8531085" y="2123159"/>
            <a:ext cx="3218624"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not correlated with gradient categorization measures</a:t>
            </a:r>
          </a:p>
          <a:p>
            <a:pPr marL="285750" indent="-285750">
              <a:buFont typeface="Arial" panose="020B0604020202020204" pitchFamily="34" charset="0"/>
              <a:buChar char="•"/>
            </a:pPr>
            <a:r>
              <a:rPr lang="en-US" sz="2400" dirty="0"/>
              <a:t>not affected by specific LD training</a:t>
            </a:r>
          </a:p>
          <a:p>
            <a:pPr marL="285750" indent="-285750">
              <a:buFont typeface="Arial" panose="020B0604020202020204" pitchFamily="34" charset="0"/>
              <a:buChar char="•"/>
            </a:pPr>
            <a:endParaRPr lang="en-US" sz="2400" dirty="0"/>
          </a:p>
        </p:txBody>
      </p:sp>
      <p:sp>
        <p:nvSpPr>
          <p:cNvPr id="15" name="TextBox 14">
            <a:extLst>
              <a:ext uri="{FF2B5EF4-FFF2-40B4-BE49-F238E27FC236}">
                <a16:creationId xmlns:a16="http://schemas.microsoft.com/office/drawing/2014/main" id="{224194AD-16ED-BA1D-92C1-7DED1F087194}"/>
              </a:ext>
            </a:extLst>
          </p:cNvPr>
          <p:cNvSpPr txBox="1"/>
          <p:nvPr/>
        </p:nvSpPr>
        <p:spPr>
          <a:xfrm>
            <a:off x="442287" y="2123159"/>
            <a:ext cx="3218624"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experiential LD not correlated with gradient categorization measures</a:t>
            </a:r>
          </a:p>
        </p:txBody>
      </p:sp>
      <p:sp>
        <p:nvSpPr>
          <p:cNvPr id="18" name="TextBox 17">
            <a:extLst>
              <a:ext uri="{FF2B5EF4-FFF2-40B4-BE49-F238E27FC236}">
                <a16:creationId xmlns:a16="http://schemas.microsoft.com/office/drawing/2014/main" id="{C51C3822-97B1-A69E-3620-89C4415CAD2D}"/>
              </a:ext>
            </a:extLst>
          </p:cNvPr>
          <p:cNvSpPr txBox="1"/>
          <p:nvPr/>
        </p:nvSpPr>
        <p:spPr>
          <a:xfrm>
            <a:off x="442286" y="4062151"/>
            <a:ext cx="3218623" cy="1569660"/>
          </a:xfrm>
          <a:prstGeom prst="rect">
            <a:avLst/>
          </a:prstGeom>
          <a:noFill/>
        </p:spPr>
        <p:txBody>
          <a:bodyPr wrap="square">
            <a:spAutoFit/>
          </a:bodyPr>
          <a:lstStyle/>
          <a:p>
            <a:pPr marL="285750" indent="-285750">
              <a:buFont typeface="Arial" panose="020B0604020202020204" pitchFamily="34" charset="0"/>
              <a:buChar char="•"/>
            </a:pPr>
            <a:r>
              <a:rPr lang="en-US" sz="2400" dirty="0"/>
              <a:t>effect may take place over years, perceptual training too short</a:t>
            </a:r>
          </a:p>
        </p:txBody>
      </p:sp>
    </p:spTree>
    <p:extLst>
      <p:ext uri="{BB962C8B-B14F-4D97-AF65-F5344CB8AC3E}">
        <p14:creationId xmlns:p14="http://schemas.microsoft.com/office/powerpoint/2010/main" val="3686538950"/>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AE433C-2ED4-918C-16F5-FC6015FFC06D}"/>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36BA8480-FBF3-4500-06F3-431C8CF193FC}"/>
              </a:ext>
            </a:extLst>
          </p:cNvPr>
          <p:cNvSpPr/>
          <p:nvPr/>
        </p:nvSpPr>
        <p:spPr>
          <a:xfrm>
            <a:off x="442287" y="508129"/>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D1A5C94B-1EF0-6294-BD8D-7088876C7C9B}"/>
              </a:ext>
            </a:extLst>
          </p:cNvPr>
          <p:cNvSpPr/>
          <p:nvPr/>
        </p:nvSpPr>
        <p:spPr>
          <a:xfrm>
            <a:off x="8531087" y="511598"/>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sp useBgFill="1">
        <p:nvSpPr>
          <p:cNvPr id="10" name="Rounded Rectangle 9">
            <a:extLst>
              <a:ext uri="{FF2B5EF4-FFF2-40B4-BE49-F238E27FC236}">
                <a16:creationId xmlns:a16="http://schemas.microsoft.com/office/drawing/2014/main" id="{74E8E5FF-40A5-C5BD-C54D-317452D9DD98}"/>
              </a:ext>
            </a:extLst>
          </p:cNvPr>
          <p:cNvSpPr/>
          <p:nvPr/>
        </p:nvSpPr>
        <p:spPr>
          <a:xfrm>
            <a:off x="4486687" y="508129"/>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sp>
        <p:nvSpPr>
          <p:cNvPr id="13" name="TextBox 12">
            <a:extLst>
              <a:ext uri="{FF2B5EF4-FFF2-40B4-BE49-F238E27FC236}">
                <a16:creationId xmlns:a16="http://schemas.microsoft.com/office/drawing/2014/main" id="{317EE5CF-0F1A-0814-C8CC-CE7EAA50F596}"/>
              </a:ext>
            </a:extLst>
          </p:cNvPr>
          <p:cNvSpPr txBox="1"/>
          <p:nvPr/>
        </p:nvSpPr>
        <p:spPr>
          <a:xfrm>
            <a:off x="4486686" y="2129209"/>
            <a:ext cx="3218625"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Used VAS task with wider variety of contrast pairs and languages</a:t>
            </a:r>
          </a:p>
        </p:txBody>
      </p:sp>
      <p:sp>
        <p:nvSpPr>
          <p:cNvPr id="14" name="TextBox 13">
            <a:extLst>
              <a:ext uri="{FF2B5EF4-FFF2-40B4-BE49-F238E27FC236}">
                <a16:creationId xmlns:a16="http://schemas.microsoft.com/office/drawing/2014/main" id="{247FFC1D-15D7-8228-09B0-B014464C87FF}"/>
              </a:ext>
            </a:extLst>
          </p:cNvPr>
          <p:cNvSpPr txBox="1"/>
          <p:nvPr/>
        </p:nvSpPr>
        <p:spPr>
          <a:xfrm>
            <a:off x="8531087" y="2175375"/>
            <a:ext cx="3218624"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Created novel listening assessment task with naturalistic recordings not often used in psycholinguistics research</a:t>
            </a:r>
          </a:p>
        </p:txBody>
      </p:sp>
      <p:sp>
        <p:nvSpPr>
          <p:cNvPr id="2" name="TextBox 1">
            <a:extLst>
              <a:ext uri="{FF2B5EF4-FFF2-40B4-BE49-F238E27FC236}">
                <a16:creationId xmlns:a16="http://schemas.microsoft.com/office/drawing/2014/main" id="{5B562B64-F650-572C-943B-66DBBFA41C9E}"/>
              </a:ext>
            </a:extLst>
          </p:cNvPr>
          <p:cNvSpPr txBox="1"/>
          <p:nvPr/>
        </p:nvSpPr>
        <p:spPr>
          <a:xfrm>
            <a:off x="442287" y="2129208"/>
            <a:ext cx="3218623"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Created part 2 of LDQ, including equations to score MLD-P</a:t>
            </a:r>
          </a:p>
          <a:p>
            <a:pPr marL="342900" indent="-342900">
              <a:buFont typeface="Arial" panose="020B0604020202020204" pitchFamily="34" charset="0"/>
              <a:buChar char="•"/>
            </a:pPr>
            <a:r>
              <a:rPr lang="en-US" sz="2400" dirty="0"/>
              <a:t>MLD-P is a new construct that has yet to be validated</a:t>
            </a:r>
          </a:p>
          <a:p>
            <a:pPr marL="342900" indent="-342900">
              <a:buFont typeface="Arial" panose="020B0604020202020204" pitchFamily="34" charset="0"/>
              <a:buChar char="•"/>
            </a:pPr>
            <a:r>
              <a:rPr lang="en-US" sz="2400" dirty="0"/>
              <a:t>Novel use of specific LD as experimental manipulation</a:t>
            </a:r>
          </a:p>
        </p:txBody>
      </p:sp>
    </p:spTree>
    <p:extLst>
      <p:ext uri="{BB962C8B-B14F-4D97-AF65-F5344CB8AC3E}">
        <p14:creationId xmlns:p14="http://schemas.microsoft.com/office/powerpoint/2010/main" val="584494201"/>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0A7979-5A98-40D8-342A-CEB104624D63}"/>
            </a:ext>
          </a:extLst>
        </p:cNvPr>
        <p:cNvGrpSpPr/>
        <p:nvPr/>
      </p:nvGrpSpPr>
      <p:grpSpPr>
        <a:xfrm>
          <a:off x="0" y="0"/>
          <a:ext cx="0" cy="0"/>
          <a:chOff x="0" y="0"/>
          <a:chExt cx="0" cy="0"/>
        </a:xfrm>
      </p:grpSpPr>
      <p:sp useBgFill="1">
        <p:nvSpPr>
          <p:cNvPr id="3" name="Rounded Rectangle 2">
            <a:extLst>
              <a:ext uri="{FF2B5EF4-FFF2-40B4-BE49-F238E27FC236}">
                <a16:creationId xmlns:a16="http://schemas.microsoft.com/office/drawing/2014/main" id="{36913CAD-64A7-735C-EB97-9E9A4D96A9E8}"/>
              </a:ext>
            </a:extLst>
          </p:cNvPr>
          <p:cNvSpPr/>
          <p:nvPr/>
        </p:nvSpPr>
        <p:spPr>
          <a:xfrm>
            <a:off x="442287" y="508129"/>
            <a:ext cx="3218625" cy="1621079"/>
          </a:xfrm>
          <a:prstGeom prst="roundRect">
            <a:avLst/>
          </a:prstGeom>
          <a:ln w="31750">
            <a:solidFill>
              <a:srgbClr val="447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Linguistic diversity</a:t>
            </a:r>
          </a:p>
        </p:txBody>
      </p:sp>
      <p:sp useBgFill="1">
        <p:nvSpPr>
          <p:cNvPr id="4" name="Rounded Rectangle 3">
            <a:extLst>
              <a:ext uri="{FF2B5EF4-FFF2-40B4-BE49-F238E27FC236}">
                <a16:creationId xmlns:a16="http://schemas.microsoft.com/office/drawing/2014/main" id="{D9B16C9B-EFC6-BA56-5EBD-3B40ABAAF787}"/>
              </a:ext>
            </a:extLst>
          </p:cNvPr>
          <p:cNvSpPr/>
          <p:nvPr/>
        </p:nvSpPr>
        <p:spPr>
          <a:xfrm>
            <a:off x="8531087" y="511598"/>
            <a:ext cx="3218625" cy="1621079"/>
          </a:xfrm>
          <a:prstGeom prst="roundRect">
            <a:avLst/>
          </a:prstGeom>
          <a:ln w="31750">
            <a:solidFill>
              <a:srgbClr val="2288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L2 speech learning</a:t>
            </a:r>
          </a:p>
        </p:txBody>
      </p:sp>
      <p:sp useBgFill="1">
        <p:nvSpPr>
          <p:cNvPr id="10" name="Rounded Rectangle 9">
            <a:extLst>
              <a:ext uri="{FF2B5EF4-FFF2-40B4-BE49-F238E27FC236}">
                <a16:creationId xmlns:a16="http://schemas.microsoft.com/office/drawing/2014/main" id="{90FB5319-E2D6-CF46-495E-6DC12F461699}"/>
              </a:ext>
            </a:extLst>
          </p:cNvPr>
          <p:cNvSpPr/>
          <p:nvPr/>
        </p:nvSpPr>
        <p:spPr>
          <a:xfrm>
            <a:off x="4486687" y="508129"/>
            <a:ext cx="3218625" cy="1621079"/>
          </a:xfrm>
          <a:prstGeom prst="roundRect">
            <a:avLst/>
          </a:prstGeom>
          <a:ln w="31750">
            <a:solidFill>
              <a:srgbClr val="AA44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Gradient categorization</a:t>
            </a:r>
          </a:p>
        </p:txBody>
      </p:sp>
      <p:sp>
        <p:nvSpPr>
          <p:cNvPr id="13" name="TextBox 12">
            <a:extLst>
              <a:ext uri="{FF2B5EF4-FFF2-40B4-BE49-F238E27FC236}">
                <a16:creationId xmlns:a16="http://schemas.microsoft.com/office/drawing/2014/main" id="{56188387-1CA5-9E24-A4B5-589F8E4B0892}"/>
              </a:ext>
            </a:extLst>
          </p:cNvPr>
          <p:cNvSpPr txBox="1"/>
          <p:nvPr/>
        </p:nvSpPr>
        <p:spPr>
          <a:xfrm>
            <a:off x="4486686" y="2129208"/>
            <a:ext cx="3218625"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Future work should supplement VAS with neuroimaging measures</a:t>
            </a:r>
          </a:p>
        </p:txBody>
      </p:sp>
      <p:sp>
        <p:nvSpPr>
          <p:cNvPr id="14" name="TextBox 13">
            <a:extLst>
              <a:ext uri="{FF2B5EF4-FFF2-40B4-BE49-F238E27FC236}">
                <a16:creationId xmlns:a16="http://schemas.microsoft.com/office/drawing/2014/main" id="{56268EED-05B7-83B5-76F9-4F16CC575EBB}"/>
              </a:ext>
            </a:extLst>
          </p:cNvPr>
          <p:cNvSpPr txBox="1"/>
          <p:nvPr/>
        </p:nvSpPr>
        <p:spPr>
          <a:xfrm>
            <a:off x="8531087" y="2129208"/>
            <a:ext cx="3218624"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Future work should validate MCPD listening assessment </a:t>
            </a:r>
          </a:p>
        </p:txBody>
      </p:sp>
      <p:sp>
        <p:nvSpPr>
          <p:cNvPr id="2" name="TextBox 1">
            <a:extLst>
              <a:ext uri="{FF2B5EF4-FFF2-40B4-BE49-F238E27FC236}">
                <a16:creationId xmlns:a16="http://schemas.microsoft.com/office/drawing/2014/main" id="{E8EB701C-0321-1021-1152-E95CE1B6A1B9}"/>
              </a:ext>
            </a:extLst>
          </p:cNvPr>
          <p:cNvSpPr txBox="1"/>
          <p:nvPr/>
        </p:nvSpPr>
        <p:spPr>
          <a:xfrm>
            <a:off x="442286" y="2129208"/>
            <a:ext cx="3218625"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Future work should validate Part 2 questions with objective measures of passive exposure to LD</a:t>
            </a:r>
          </a:p>
          <a:p>
            <a:pPr marL="342900" indent="-342900">
              <a:buFont typeface="Arial" panose="020B0604020202020204" pitchFamily="34" charset="0"/>
              <a:buChar char="•"/>
            </a:pPr>
            <a:r>
              <a:rPr lang="en-US" sz="2400" dirty="0"/>
              <a:t>Future work should expand specific LD training by using more languages, contrasts, and time </a:t>
            </a:r>
          </a:p>
        </p:txBody>
      </p:sp>
    </p:spTree>
    <p:extLst>
      <p:ext uri="{BB962C8B-B14F-4D97-AF65-F5344CB8AC3E}">
        <p14:creationId xmlns:p14="http://schemas.microsoft.com/office/powerpoint/2010/main" val="1110047889"/>
      </p:ext>
    </p:extLst>
  </p:cSld>
  <p:clrMapOvr>
    <a:masterClrMapping/>
  </p:clrMapOvr>
  <mc:AlternateContent xmlns:mc="http://schemas.openxmlformats.org/markup-compatibility/2006" xmlns:p14="http://schemas.microsoft.com/office/powerpoint/2010/main">
    <mc:Choice Requires="p14">
      <p:transition spd="slow" p14:dur="2000" advTm="11540"/>
    </mc:Choice>
    <mc:Fallback xmlns="">
      <p:transition spd="slow" advTm="11540"/>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95C6-48D7-0191-30E0-D2C7F36DEE66}"/>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0ECA23B-B382-48C1-7E61-1977FC2DFD93}"/>
              </a:ext>
            </a:extLst>
          </p:cNvPr>
          <p:cNvSpPr>
            <a:spLocks noGrp="1"/>
          </p:cNvSpPr>
          <p:nvPr>
            <p:ph idx="1"/>
          </p:nvPr>
        </p:nvSpPr>
        <p:spPr/>
        <p:txBody>
          <a:bodyPr/>
          <a:lstStyle/>
          <a:p>
            <a:pPr marL="514350" indent="-514350">
              <a:buAutoNum type="arabicPeriod"/>
            </a:pPr>
            <a:r>
              <a:rPr lang="en-US" dirty="0"/>
              <a:t>Background</a:t>
            </a:r>
          </a:p>
          <a:p>
            <a:pPr marL="514350" indent="-514350">
              <a:buAutoNum type="arabicPeriod"/>
            </a:pPr>
            <a:r>
              <a:rPr lang="en-US" dirty="0"/>
              <a:t>Research Gap, Hypothesis, Research Questions</a:t>
            </a:r>
          </a:p>
          <a:p>
            <a:pPr marL="514350" indent="-514350">
              <a:buAutoNum type="arabicPeriod"/>
            </a:pPr>
            <a:r>
              <a:rPr lang="en-US" dirty="0"/>
              <a:t>Study 1</a:t>
            </a:r>
          </a:p>
          <a:p>
            <a:pPr marL="514350" indent="-514350">
              <a:buAutoNum type="arabicPeriod"/>
            </a:pPr>
            <a:r>
              <a:rPr lang="en-US" dirty="0"/>
              <a:t>Study 2</a:t>
            </a:r>
          </a:p>
          <a:p>
            <a:pPr marL="514350" indent="-514350">
              <a:buAutoNum type="arabicPeriod"/>
            </a:pPr>
            <a:r>
              <a:rPr lang="en-US" dirty="0"/>
              <a:t>Study 3</a:t>
            </a:r>
          </a:p>
          <a:p>
            <a:pPr marL="514350" indent="-514350">
              <a:buAutoNum type="arabicPeriod"/>
            </a:pPr>
            <a:r>
              <a:rPr lang="en-US" dirty="0"/>
              <a:t>Summary, Implications, Future Directions</a:t>
            </a:r>
          </a:p>
        </p:txBody>
      </p:sp>
    </p:spTree>
    <p:extLst>
      <p:ext uri="{BB962C8B-B14F-4D97-AF65-F5344CB8AC3E}">
        <p14:creationId xmlns:p14="http://schemas.microsoft.com/office/powerpoint/2010/main" val="23732967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130AD0-1362-D3E6-350F-2BE2CC5157D7}"/>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03C0DAA2-F861-D1C1-8A50-B4BA1210CF0D}"/>
              </a:ext>
            </a:extLst>
          </p:cNvPr>
          <p:cNvSpPr>
            <a:spLocks noGrp="1"/>
          </p:cNvSpPr>
          <p:nvPr>
            <p:ph idx="1"/>
          </p:nvPr>
        </p:nvSpPr>
        <p:spPr/>
        <p:txBody>
          <a:bodyPr>
            <a:normAutofit lnSpcReduction="10000"/>
          </a:bodyPr>
          <a:lstStyle/>
          <a:p>
            <a:r>
              <a:rPr lang="en-US" dirty="0"/>
              <a:t>learning L2 speech involves learning new categories</a:t>
            </a:r>
          </a:p>
          <a:p>
            <a:r>
              <a:rPr lang="en-US" dirty="0"/>
              <a:t>category learning involves mapping from variable acoustics to discrete categories</a:t>
            </a:r>
          </a:p>
          <a:p>
            <a:r>
              <a:rPr lang="en-US" dirty="0"/>
              <a:t>people categorize in different ways – gradiently or categorically</a:t>
            </a:r>
          </a:p>
          <a:p>
            <a:r>
              <a:rPr lang="en-US" dirty="0"/>
              <a:t>what leads to these differences? one thing could be exposure to linguistic diversity</a:t>
            </a:r>
          </a:p>
          <a:p>
            <a:r>
              <a:rPr lang="en-US" dirty="0"/>
              <a:t>evidence of linguistic diversity being connected to gradient categorization</a:t>
            </a:r>
          </a:p>
          <a:p>
            <a:r>
              <a:rPr lang="en-US" dirty="0"/>
              <a:t>why gradient categorization may be helpful in L2 speech learning (including some conflicting prelim evidence)</a:t>
            </a:r>
          </a:p>
        </p:txBody>
      </p:sp>
    </p:spTree>
    <p:extLst>
      <p:ext uri="{BB962C8B-B14F-4D97-AF65-F5344CB8AC3E}">
        <p14:creationId xmlns:p14="http://schemas.microsoft.com/office/powerpoint/2010/main" val="2614909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D060D-A542-839E-B12E-A99FCF66C95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C5A8AE0-3CE4-C09F-B03A-0123A09CFF86}"/>
              </a:ext>
            </a:extLst>
          </p:cNvPr>
          <p:cNvSpPr>
            <a:spLocks noGrp="1"/>
          </p:cNvSpPr>
          <p:nvPr>
            <p:ph idx="1"/>
          </p:nvPr>
        </p:nvSpPr>
        <p:spPr/>
        <p:txBody>
          <a:bodyPr>
            <a:normAutofit/>
          </a:bodyPr>
          <a:lstStyle/>
          <a:p>
            <a:pPr marL="0" indent="0">
              <a:buNone/>
            </a:pPr>
            <a:r>
              <a:rPr lang="en-US" dirty="0"/>
              <a:t>RQ1: Is increased experience with linguistic diversity (hereafter, </a:t>
            </a:r>
            <a:r>
              <a:rPr lang="en-US" dirty="0">
                <a:solidFill>
                  <a:srgbClr val="4477AA"/>
                </a:solidFill>
              </a:rPr>
              <a:t>experiential linguistic diversity</a:t>
            </a:r>
            <a:r>
              <a:rPr lang="en-US" dirty="0"/>
              <a:t>) from one’s language history, usage, and exposure predictive of higher degrees of </a:t>
            </a:r>
            <a:r>
              <a:rPr lang="en-US" dirty="0">
                <a:solidFill>
                  <a:srgbClr val="AA4499"/>
                </a:solidFill>
              </a:rPr>
              <a:t>gradient categorization </a:t>
            </a:r>
            <a:r>
              <a:rPr lang="en-US" dirty="0"/>
              <a:t>of L2 speech as it is with L1 speech? If so, do higher degrees of </a:t>
            </a:r>
            <a:r>
              <a:rPr lang="en-US" dirty="0">
                <a:solidFill>
                  <a:srgbClr val="AA4499"/>
                </a:solidFill>
              </a:rPr>
              <a:t>L2 gradient categorization </a:t>
            </a:r>
            <a:r>
              <a:rPr lang="en-US" dirty="0"/>
              <a:t>predict the </a:t>
            </a:r>
            <a:r>
              <a:rPr lang="en-US" dirty="0">
                <a:solidFill>
                  <a:schemeClr val="accent6">
                    <a:lumMod val="75000"/>
                  </a:schemeClr>
                </a:solidFill>
              </a:rPr>
              <a:t>degree of usage of the secondary acoustic cue</a:t>
            </a:r>
            <a:r>
              <a:rPr lang="en-US" dirty="0"/>
              <a:t> in the perception of L2 phonemic contrasts, as we see with L1 gradiency and secondary cue use?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1444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5A8AE0-3CE4-C09F-B03A-0123A09CFF86}"/>
              </a:ext>
            </a:extLst>
          </p:cNvPr>
          <p:cNvSpPr>
            <a:spLocks noGrp="1"/>
          </p:cNvSpPr>
          <p:nvPr>
            <p:ph idx="1"/>
          </p:nvPr>
        </p:nvSpPr>
        <p:spPr/>
        <p:txBody>
          <a:bodyPr>
            <a:normAutofit/>
          </a:bodyPr>
          <a:lstStyle/>
          <a:p>
            <a:pPr marL="0" indent="0">
              <a:buNone/>
            </a:pPr>
            <a:r>
              <a:rPr lang="en-US" dirty="0"/>
              <a:t>RQ2: Can we promote </a:t>
            </a:r>
            <a:r>
              <a:rPr lang="en-US" dirty="0">
                <a:solidFill>
                  <a:srgbClr val="AA4499"/>
                </a:solidFill>
              </a:rPr>
              <a:t>gradient categorization </a:t>
            </a:r>
            <a:r>
              <a:rPr lang="en-US" dirty="0"/>
              <a:t>in listeners through exposure to </a:t>
            </a:r>
            <a:r>
              <a:rPr lang="en-US" dirty="0">
                <a:solidFill>
                  <a:srgbClr val="4477AA"/>
                </a:solidFill>
              </a:rPr>
              <a:t>specific linguistic diversity </a:t>
            </a:r>
            <a:r>
              <a:rPr lang="en-US" dirty="0"/>
              <a:t>via perceptual training? If so, does </a:t>
            </a:r>
            <a:r>
              <a:rPr lang="en-US" dirty="0">
                <a:solidFill>
                  <a:srgbClr val="AA4499"/>
                </a:solidFill>
              </a:rPr>
              <a:t>gradient categorization </a:t>
            </a:r>
            <a:r>
              <a:rPr lang="en-US" dirty="0"/>
              <a:t>increase perceptual sensitivity to </a:t>
            </a:r>
            <a:r>
              <a:rPr lang="en-US" dirty="0">
                <a:solidFill>
                  <a:srgbClr val="CCBB44"/>
                </a:solidFill>
              </a:rPr>
              <a:t>discriminate between target language phonemic contrasts</a:t>
            </a:r>
            <a:r>
              <a:rPr lang="en-US" dirty="0"/>
              <a:t>?</a:t>
            </a:r>
          </a:p>
          <a:p>
            <a:pPr marL="0" indent="0">
              <a:buNone/>
            </a:pPr>
            <a:endParaRPr lang="en-US" dirty="0"/>
          </a:p>
          <a:p>
            <a:pPr marL="0" indent="0">
              <a:buNone/>
            </a:pPr>
            <a:endParaRPr lang="en-US" dirty="0"/>
          </a:p>
        </p:txBody>
      </p:sp>
      <p:sp>
        <p:nvSpPr>
          <p:cNvPr id="5" name="Title 4">
            <a:extLst>
              <a:ext uri="{FF2B5EF4-FFF2-40B4-BE49-F238E27FC236}">
                <a16:creationId xmlns:a16="http://schemas.microsoft.com/office/drawing/2014/main" id="{05DD286E-8BBA-9F55-D199-4D8DA9A56C2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82436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5A8AE0-3CE4-C09F-B03A-0123A09CFF86}"/>
              </a:ext>
            </a:extLst>
          </p:cNvPr>
          <p:cNvSpPr>
            <a:spLocks noGrp="1"/>
          </p:cNvSpPr>
          <p:nvPr>
            <p:ph idx="1"/>
          </p:nvPr>
        </p:nvSpPr>
        <p:spPr/>
        <p:txBody>
          <a:bodyPr>
            <a:normAutofit/>
          </a:bodyPr>
          <a:lstStyle/>
          <a:p>
            <a:pPr marL="0" indent="0">
              <a:buNone/>
            </a:pPr>
            <a:r>
              <a:rPr lang="en-US" dirty="0"/>
              <a:t>RQ3: </a:t>
            </a:r>
            <a:r>
              <a:rPr lang="en-US" dirty="0">
                <a:effectLst/>
                <a:ea typeface="Yu Gothic" panose="020B0400000000000000" pitchFamily="34" charset="-128"/>
                <a:cs typeface="Times New Roman (Body CS)"/>
              </a:rPr>
              <a:t>Does exposure to </a:t>
            </a:r>
            <a:r>
              <a:rPr lang="en-US" dirty="0">
                <a:solidFill>
                  <a:srgbClr val="4477AA"/>
                </a:solidFill>
                <a:effectLst/>
                <a:ea typeface="Yu Gothic" panose="020B0400000000000000" pitchFamily="34" charset="-128"/>
                <a:cs typeface="Times New Roman (Body CS)"/>
              </a:rPr>
              <a:t>specific linguistic diversity </a:t>
            </a:r>
            <a:r>
              <a:rPr lang="en-US" dirty="0">
                <a:effectLst/>
                <a:ea typeface="Yu Gothic" panose="020B0400000000000000" pitchFamily="34" charset="-128"/>
                <a:cs typeface="Times New Roman (Body CS)"/>
              </a:rPr>
              <a:t>through perceptual training lead to improvements in </a:t>
            </a:r>
            <a:r>
              <a:rPr lang="en-US" dirty="0">
                <a:solidFill>
                  <a:srgbClr val="CCBB44"/>
                </a:solidFill>
                <a:effectLst/>
                <a:ea typeface="Yu Gothic" panose="020B0400000000000000" pitchFamily="34" charset="-128"/>
                <a:cs typeface="Times New Roman (Body CS)"/>
              </a:rPr>
              <a:t>L2 speech perception and listening</a:t>
            </a:r>
            <a:r>
              <a:rPr lang="en-US" dirty="0">
                <a:effectLst/>
                <a:ea typeface="Yu Gothic" panose="020B0400000000000000" pitchFamily="34" charset="-128"/>
                <a:cs typeface="Times New Roman (Body CS)"/>
              </a:rPr>
              <a:t>?</a:t>
            </a:r>
            <a:r>
              <a:rPr lang="en-US" dirty="0">
                <a:effectLst/>
              </a:rPr>
              <a:t> </a:t>
            </a:r>
          </a:p>
        </p:txBody>
      </p:sp>
      <p:sp>
        <p:nvSpPr>
          <p:cNvPr id="5" name="Title 4">
            <a:extLst>
              <a:ext uri="{FF2B5EF4-FFF2-40B4-BE49-F238E27FC236}">
                <a16:creationId xmlns:a16="http://schemas.microsoft.com/office/drawing/2014/main" id="{72DB2BC5-A152-04A3-87B5-40A95069362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580087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08874-8CE2-A02F-36F7-D69C3E1D8141}"/>
              </a:ext>
            </a:extLst>
          </p:cNvPr>
          <p:cNvSpPr>
            <a:spLocks noGrp="1"/>
          </p:cNvSpPr>
          <p:nvPr>
            <p:ph type="title"/>
          </p:nvPr>
        </p:nvSpPr>
        <p:spPr/>
        <p:txBody>
          <a:bodyPr/>
          <a:lstStyle/>
          <a:p>
            <a:r>
              <a:rPr lang="en-US" dirty="0"/>
              <a:t>Specific aims</a:t>
            </a:r>
          </a:p>
        </p:txBody>
      </p:sp>
      <p:sp>
        <p:nvSpPr>
          <p:cNvPr id="3" name="Content Placeholder 2">
            <a:extLst>
              <a:ext uri="{FF2B5EF4-FFF2-40B4-BE49-F238E27FC236}">
                <a16:creationId xmlns:a16="http://schemas.microsoft.com/office/drawing/2014/main" id="{5C09634A-7394-9CBA-1432-CE6350D2524D}"/>
              </a:ext>
            </a:extLst>
          </p:cNvPr>
          <p:cNvSpPr>
            <a:spLocks noGrp="1"/>
          </p:cNvSpPr>
          <p:nvPr>
            <p:ph idx="1"/>
          </p:nvPr>
        </p:nvSpPr>
        <p:spPr>
          <a:xfrm>
            <a:off x="838200" y="1825625"/>
            <a:ext cx="10515600" cy="4855394"/>
          </a:xfrm>
        </p:spPr>
        <p:txBody>
          <a:bodyPr>
            <a:normAutofit fontScale="92500" lnSpcReduction="10000"/>
          </a:bodyPr>
          <a:lstStyle/>
          <a:p>
            <a:pPr marL="0" indent="0">
              <a:buNone/>
            </a:pPr>
            <a:r>
              <a:rPr lang="en-US" dirty="0"/>
              <a:t>Experiment 1: Aim 1 is to determine whether experiential linguistic diversity from listeners’ language history, usage, and exposure predicts (1) degree of gradient categorization of L1 and L2 speech and (2) perceptual flexibility and acoustic cue integration. </a:t>
            </a:r>
          </a:p>
          <a:p>
            <a:pPr marL="0" indent="0">
              <a:buNone/>
            </a:pPr>
            <a:r>
              <a:rPr lang="en-US" dirty="0"/>
              <a:t>Experiment 2: Aim 2 is to investigate the effects of short-term, specific exposure to linguistic diversity through perceptual training on (1) gradient categorization of L1 and L2 speech and (2) L2 phoneme discrimination. Here, specific linguistic diversity is operationalized as the number of languages used in the perceptual discrimination training task. </a:t>
            </a:r>
          </a:p>
          <a:p>
            <a:pPr marL="0" indent="0">
              <a:buNone/>
            </a:pPr>
            <a:r>
              <a:rPr lang="en-US" dirty="0"/>
              <a:t>Experiment 3: Aim 3 is to investigate the effects of long-term, specific exposure to linguistic diversity through perceptual training, in conjunction with foreign language classroom instruction, on the (1) gradient categorization of L1 and L2 speech, (2) L2 phoneme discrimination, and (3) L2 speech perception and listening. </a:t>
            </a:r>
          </a:p>
        </p:txBody>
      </p:sp>
    </p:spTree>
    <p:extLst>
      <p:ext uri="{BB962C8B-B14F-4D97-AF65-F5344CB8AC3E}">
        <p14:creationId xmlns:p14="http://schemas.microsoft.com/office/powerpoint/2010/main" val="32522477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screenshot of a cell phone&#10;&#10;AI-generated content may be incorrect.">
            <a:extLst>
              <a:ext uri="{FF2B5EF4-FFF2-40B4-BE49-F238E27FC236}">
                <a16:creationId xmlns:a16="http://schemas.microsoft.com/office/drawing/2014/main" id="{194D95B9-6AEB-ED6C-565D-496C4C3BF1AB}"/>
              </a:ext>
            </a:extLst>
          </p:cNvPr>
          <p:cNvPicPr>
            <a:picLocks noChangeAspect="1"/>
          </p:cNvPicPr>
          <p:nvPr/>
        </p:nvPicPr>
        <p:blipFill>
          <a:blip r:embed="rId2"/>
          <a:stretch>
            <a:fillRect/>
          </a:stretch>
        </p:blipFill>
        <p:spPr>
          <a:xfrm>
            <a:off x="1405932" y="259456"/>
            <a:ext cx="9380136" cy="6339088"/>
          </a:xfrm>
          <a:prstGeom prst="rect">
            <a:avLst/>
          </a:prstGeom>
        </p:spPr>
      </p:pic>
    </p:spTree>
    <p:extLst>
      <p:ext uri="{BB962C8B-B14F-4D97-AF65-F5344CB8AC3E}">
        <p14:creationId xmlns:p14="http://schemas.microsoft.com/office/powerpoint/2010/main" val="9636504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15862-5AB6-171A-3BEF-FF0E9B61E6EB}"/>
              </a:ext>
            </a:extLst>
          </p:cNvPr>
          <p:cNvSpPr>
            <a:spLocks noGrp="1"/>
          </p:cNvSpPr>
          <p:nvPr>
            <p:ph type="title"/>
          </p:nvPr>
        </p:nvSpPr>
        <p:spPr>
          <a:xfrm>
            <a:off x="644525" y="208702"/>
            <a:ext cx="10515600" cy="1133475"/>
          </a:xfrm>
        </p:spPr>
        <p:txBody>
          <a:bodyPr/>
          <a:lstStyle/>
          <a:p>
            <a:r>
              <a:rPr lang="en-US" dirty="0"/>
              <a:t>Study 1</a:t>
            </a:r>
          </a:p>
        </p:txBody>
      </p:sp>
      <p:sp>
        <p:nvSpPr>
          <p:cNvPr id="15" name="TextBox 14">
            <a:extLst>
              <a:ext uri="{FF2B5EF4-FFF2-40B4-BE49-F238E27FC236}">
                <a16:creationId xmlns:a16="http://schemas.microsoft.com/office/drawing/2014/main" id="{29A0D124-99D0-B0C7-9464-1D54187E04AA}"/>
              </a:ext>
            </a:extLst>
          </p:cNvPr>
          <p:cNvSpPr txBox="1"/>
          <p:nvPr/>
        </p:nvSpPr>
        <p:spPr>
          <a:xfrm>
            <a:off x="838200" y="5318106"/>
            <a:ext cx="10515600" cy="954107"/>
          </a:xfrm>
          <a:prstGeom prst="rect">
            <a:avLst/>
          </a:prstGeom>
          <a:noFill/>
        </p:spPr>
        <p:txBody>
          <a:bodyPr wrap="square" rtlCol="0">
            <a:spAutoFit/>
          </a:bodyPr>
          <a:lstStyle/>
          <a:p>
            <a:r>
              <a:rPr lang="en-US" sz="2800" dirty="0"/>
              <a:t>Participants completed the </a:t>
            </a:r>
            <a:r>
              <a:rPr lang="en-US" sz="2800" dirty="0">
                <a:solidFill>
                  <a:srgbClr val="4477AA"/>
                </a:solidFill>
              </a:rPr>
              <a:t>Linguistic Diversity Questionnaire (LDQ) </a:t>
            </a:r>
          </a:p>
          <a:p>
            <a:r>
              <a:rPr lang="en-US" sz="2800" dirty="0"/>
              <a:t>and the </a:t>
            </a:r>
            <a:r>
              <a:rPr lang="en-US" sz="2800" dirty="0">
                <a:solidFill>
                  <a:srgbClr val="AA4499"/>
                </a:solidFill>
              </a:rPr>
              <a:t>Visual Analog Scale (VAS) </a:t>
            </a:r>
            <a:r>
              <a:rPr lang="en-US" sz="2800" dirty="0"/>
              <a:t>task</a:t>
            </a:r>
          </a:p>
        </p:txBody>
      </p:sp>
      <p:pic>
        <p:nvPicPr>
          <p:cNvPr id="22" name="Picture 21">
            <a:extLst>
              <a:ext uri="{FF2B5EF4-FFF2-40B4-BE49-F238E27FC236}">
                <a16:creationId xmlns:a16="http://schemas.microsoft.com/office/drawing/2014/main" id="{6C8252F4-83AE-3D73-8851-F7D5494C7977}"/>
              </a:ext>
            </a:extLst>
          </p:cNvPr>
          <p:cNvPicPr>
            <a:picLocks noChangeAspect="1"/>
          </p:cNvPicPr>
          <p:nvPr/>
        </p:nvPicPr>
        <p:blipFill>
          <a:blip r:embed="rId3"/>
          <a:stretch>
            <a:fillRect/>
          </a:stretch>
        </p:blipFill>
        <p:spPr>
          <a:xfrm>
            <a:off x="4410467" y="0"/>
            <a:ext cx="7781533" cy="3434493"/>
          </a:xfrm>
          <a:prstGeom prst="rect">
            <a:avLst/>
          </a:prstGeom>
        </p:spPr>
      </p:pic>
      <p:pic>
        <p:nvPicPr>
          <p:cNvPr id="23" name="Graphic 22" descr="Clipboard with solid fill">
            <a:extLst>
              <a:ext uri="{FF2B5EF4-FFF2-40B4-BE49-F238E27FC236}">
                <a16:creationId xmlns:a16="http://schemas.microsoft.com/office/drawing/2014/main" id="{C00CFF15-60D9-3EC0-1C06-4FEB23DDF6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87925" y="3429000"/>
            <a:ext cx="914400" cy="914400"/>
          </a:xfrm>
          <a:prstGeom prst="rect">
            <a:avLst/>
          </a:prstGeom>
        </p:spPr>
      </p:pic>
      <p:pic>
        <p:nvPicPr>
          <p:cNvPr id="24" name="Graphic 23" descr="Swipe Gesture with solid fill">
            <a:extLst>
              <a:ext uri="{FF2B5EF4-FFF2-40B4-BE49-F238E27FC236}">
                <a16:creationId xmlns:a16="http://schemas.microsoft.com/office/drawing/2014/main" id="{68669859-1AA5-B9D9-1258-5162F361F0C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44033" y="1717246"/>
            <a:ext cx="914400" cy="914400"/>
          </a:xfrm>
          <a:prstGeom prst="rect">
            <a:avLst/>
          </a:prstGeom>
        </p:spPr>
      </p:pic>
      <p:sp>
        <p:nvSpPr>
          <p:cNvPr id="25" name="TextBox 24">
            <a:extLst>
              <a:ext uri="{FF2B5EF4-FFF2-40B4-BE49-F238E27FC236}">
                <a16:creationId xmlns:a16="http://schemas.microsoft.com/office/drawing/2014/main" id="{32CEB7A5-B46E-03A1-6585-9AA680562DED}"/>
              </a:ext>
            </a:extLst>
          </p:cNvPr>
          <p:cNvSpPr txBox="1"/>
          <p:nvPr/>
        </p:nvSpPr>
        <p:spPr>
          <a:xfrm>
            <a:off x="673142" y="1424858"/>
            <a:ext cx="1236236" cy="584775"/>
          </a:xfrm>
          <a:prstGeom prst="rect">
            <a:avLst/>
          </a:prstGeom>
          <a:noFill/>
        </p:spPr>
        <p:txBody>
          <a:bodyPr wrap="none" rtlCol="0">
            <a:spAutoFit/>
          </a:bodyPr>
          <a:lstStyle/>
          <a:p>
            <a:r>
              <a:rPr lang="en-US" sz="3200" dirty="0"/>
              <a:t>n = 76</a:t>
            </a:r>
          </a:p>
        </p:txBody>
      </p:sp>
    </p:spTree>
    <p:extLst>
      <p:ext uri="{BB962C8B-B14F-4D97-AF65-F5344CB8AC3E}">
        <p14:creationId xmlns:p14="http://schemas.microsoft.com/office/powerpoint/2010/main" val="3184341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D4D2BE-11E1-36B9-27F1-CBA48CAA63C7}"/>
              </a:ext>
            </a:extLst>
          </p:cNvPr>
          <p:cNvSpPr>
            <a:spLocks noGrp="1"/>
          </p:cNvSpPr>
          <p:nvPr>
            <p:ph type="title"/>
          </p:nvPr>
        </p:nvSpPr>
        <p:spPr>
          <a:xfrm>
            <a:off x="838198" y="225986"/>
            <a:ext cx="10515600" cy="1752433"/>
          </a:xfrm>
        </p:spPr>
        <p:txBody>
          <a:bodyPr>
            <a:normAutofit fontScale="90000"/>
          </a:bodyPr>
          <a:lstStyle/>
          <a:p>
            <a:r>
              <a:rPr lang="en-US" dirty="0"/>
              <a:t>The LDQ scored two indices of multilingual language diversity (MLD) based on active and passive use of and exposure to linguistic diversity</a:t>
            </a:r>
          </a:p>
        </p:txBody>
      </p:sp>
      <p:pic>
        <p:nvPicPr>
          <p:cNvPr id="6" name="Graphic 5" descr="Clipboard with solid fill">
            <a:extLst>
              <a:ext uri="{FF2B5EF4-FFF2-40B4-BE49-F238E27FC236}">
                <a16:creationId xmlns:a16="http://schemas.microsoft.com/office/drawing/2014/main" id="{4B4B8636-4FE4-5254-8146-83BF28DCB9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95538" y="113506"/>
            <a:ext cx="914400" cy="914400"/>
          </a:xfrm>
          <a:prstGeom prst="rect">
            <a:avLst/>
          </a:prstGeom>
        </p:spPr>
      </p:pic>
      <p:sp>
        <p:nvSpPr>
          <p:cNvPr id="14" name="TextBox 13">
            <a:extLst>
              <a:ext uri="{FF2B5EF4-FFF2-40B4-BE49-F238E27FC236}">
                <a16:creationId xmlns:a16="http://schemas.microsoft.com/office/drawing/2014/main" id="{A7131FC2-7A0C-6A66-429B-A10A8C15CD6E}"/>
              </a:ext>
            </a:extLst>
          </p:cNvPr>
          <p:cNvSpPr txBox="1"/>
          <p:nvPr/>
        </p:nvSpPr>
        <p:spPr>
          <a:xfrm>
            <a:off x="229978" y="6003293"/>
            <a:ext cx="11732041" cy="830997"/>
          </a:xfrm>
          <a:prstGeom prst="rect">
            <a:avLst/>
          </a:prstGeom>
          <a:noFill/>
        </p:spPr>
        <p:txBody>
          <a:bodyPr wrap="square" rtlCol="0">
            <a:spAutoFit/>
          </a:bodyPr>
          <a:lstStyle/>
          <a:p>
            <a:r>
              <a:rPr lang="en-US" sz="2400" dirty="0"/>
              <a:t>MLD-A (active): native and learned languages; speaking, listening, reading, writing</a:t>
            </a:r>
          </a:p>
          <a:p>
            <a:r>
              <a:rPr lang="en-US" sz="2400" dirty="0"/>
              <a:t>MLD-P (passive): native, learned, and unfamiliar languages; listening and reading</a:t>
            </a:r>
          </a:p>
        </p:txBody>
      </p:sp>
      <p:grpSp>
        <p:nvGrpSpPr>
          <p:cNvPr id="17" name="Group 16">
            <a:extLst>
              <a:ext uri="{FF2B5EF4-FFF2-40B4-BE49-F238E27FC236}">
                <a16:creationId xmlns:a16="http://schemas.microsoft.com/office/drawing/2014/main" id="{BC89843E-383D-C978-8B79-47363812F631}"/>
              </a:ext>
            </a:extLst>
          </p:cNvPr>
          <p:cNvGrpSpPr/>
          <p:nvPr/>
        </p:nvGrpSpPr>
        <p:grpSpPr>
          <a:xfrm>
            <a:off x="2431081" y="2196581"/>
            <a:ext cx="7329833" cy="3588549"/>
            <a:chOff x="2431083" y="2266151"/>
            <a:chExt cx="7329833" cy="3588549"/>
          </a:xfrm>
        </p:grpSpPr>
        <p:pic>
          <p:nvPicPr>
            <p:cNvPr id="13" name="Picture 12">
              <a:extLst>
                <a:ext uri="{FF2B5EF4-FFF2-40B4-BE49-F238E27FC236}">
                  <a16:creationId xmlns:a16="http://schemas.microsoft.com/office/drawing/2014/main" id="{C2EF2B21-CE86-4A0D-4FD7-DD222F435E0E}"/>
                </a:ext>
              </a:extLst>
            </p:cNvPr>
            <p:cNvPicPr>
              <a:picLocks noChangeAspect="1"/>
            </p:cNvPicPr>
            <p:nvPr/>
          </p:nvPicPr>
          <p:blipFill>
            <a:blip r:embed="rId5"/>
            <a:stretch>
              <a:fillRect/>
            </a:stretch>
          </p:blipFill>
          <p:spPr>
            <a:xfrm>
              <a:off x="2541465" y="2266151"/>
              <a:ext cx="7109069" cy="3588549"/>
            </a:xfrm>
            <a:prstGeom prst="rect">
              <a:avLst/>
            </a:prstGeom>
          </p:spPr>
        </p:pic>
        <p:sp useBgFill="1">
          <p:nvSpPr>
            <p:cNvPr id="15" name="TextBox 14">
              <a:extLst>
                <a:ext uri="{FF2B5EF4-FFF2-40B4-BE49-F238E27FC236}">
                  <a16:creationId xmlns:a16="http://schemas.microsoft.com/office/drawing/2014/main" id="{5510A408-9776-9CF2-E044-78A22B50BA10}"/>
                </a:ext>
              </a:extLst>
            </p:cNvPr>
            <p:cNvSpPr txBox="1"/>
            <p:nvPr/>
          </p:nvSpPr>
          <p:spPr>
            <a:xfrm>
              <a:off x="8398042" y="4740442"/>
              <a:ext cx="1362874" cy="369332"/>
            </a:xfrm>
            <a:prstGeom prst="rect">
              <a:avLst/>
            </a:prstGeom>
          </p:spPr>
          <p:txBody>
            <a:bodyPr wrap="none" rtlCol="0">
              <a:spAutoFit/>
            </a:bodyPr>
            <a:lstStyle/>
            <a:p>
              <a:r>
                <a:rPr lang="en-US" dirty="0"/>
                <a:t>multilingual</a:t>
              </a:r>
            </a:p>
          </p:txBody>
        </p:sp>
        <p:sp useBgFill="1">
          <p:nvSpPr>
            <p:cNvPr id="16" name="TextBox 15">
              <a:extLst>
                <a:ext uri="{FF2B5EF4-FFF2-40B4-BE49-F238E27FC236}">
                  <a16:creationId xmlns:a16="http://schemas.microsoft.com/office/drawing/2014/main" id="{41E0AA39-9D97-5FF6-FE9C-3F0DC0E305AC}"/>
                </a:ext>
              </a:extLst>
            </p:cNvPr>
            <p:cNvSpPr txBox="1"/>
            <p:nvPr/>
          </p:nvSpPr>
          <p:spPr>
            <a:xfrm>
              <a:off x="2431083" y="4740442"/>
              <a:ext cx="1425390" cy="369332"/>
            </a:xfrm>
            <a:prstGeom prst="rect">
              <a:avLst/>
            </a:prstGeom>
          </p:spPr>
          <p:txBody>
            <a:bodyPr wrap="none" rtlCol="0">
              <a:spAutoFit/>
            </a:bodyPr>
            <a:lstStyle/>
            <a:p>
              <a:r>
                <a:rPr lang="en-US" dirty="0"/>
                <a:t>monolingual</a:t>
              </a:r>
            </a:p>
          </p:txBody>
        </p:sp>
      </p:grpSp>
    </p:spTree>
    <p:extLst>
      <p:ext uri="{BB962C8B-B14F-4D97-AF65-F5344CB8AC3E}">
        <p14:creationId xmlns:p14="http://schemas.microsoft.com/office/powerpoint/2010/main" val="166879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49DEA-698C-7C57-2CA1-EB693FBA10AD}"/>
              </a:ext>
            </a:extLst>
          </p:cNvPr>
          <p:cNvSpPr>
            <a:spLocks noGrp="1"/>
          </p:cNvSpPr>
          <p:nvPr>
            <p:ph type="title"/>
          </p:nvPr>
        </p:nvSpPr>
        <p:spPr>
          <a:xfrm>
            <a:off x="633046" y="0"/>
            <a:ext cx="11095892" cy="1325563"/>
          </a:xfrm>
        </p:spPr>
        <p:txBody>
          <a:bodyPr>
            <a:normAutofit fontScale="90000"/>
          </a:bodyPr>
          <a:lstStyle/>
          <a:p>
            <a:r>
              <a:rPr lang="en-US" dirty="0"/>
              <a:t>Part 2 of the LDQ scored MLD-P based on passive use and exposure to linguistic diversity in 10 contexts</a:t>
            </a:r>
          </a:p>
        </p:txBody>
      </p:sp>
      <p:graphicFrame>
        <p:nvGraphicFramePr>
          <p:cNvPr id="4" name="Content Placeholder 3">
            <a:extLst>
              <a:ext uri="{FF2B5EF4-FFF2-40B4-BE49-F238E27FC236}">
                <a16:creationId xmlns:a16="http://schemas.microsoft.com/office/drawing/2014/main" id="{D86A0EC6-A21F-3F90-DBBC-0AAA0FE95AAF}"/>
              </a:ext>
            </a:extLst>
          </p:cNvPr>
          <p:cNvGraphicFramePr>
            <a:graphicFrameLocks noGrp="1"/>
          </p:cNvGraphicFramePr>
          <p:nvPr>
            <p:ph idx="1"/>
            <p:extLst>
              <p:ext uri="{D42A27DB-BD31-4B8C-83A1-F6EECF244321}">
                <p14:modId xmlns:p14="http://schemas.microsoft.com/office/powerpoint/2010/main" val="192519378"/>
              </p:ext>
            </p:extLst>
          </p:nvPr>
        </p:nvGraphicFramePr>
        <p:xfrm>
          <a:off x="633046" y="1611961"/>
          <a:ext cx="10351386" cy="5246039"/>
        </p:xfrm>
        <a:graphic>
          <a:graphicData uri="http://schemas.openxmlformats.org/drawingml/2006/table">
            <a:tbl>
              <a:tblPr firstRow="1" bandRow="1">
                <a:tableStyleId>{5C22544A-7EE6-4342-B048-85BDC9FD1C3A}</a:tableStyleId>
              </a:tblPr>
              <a:tblGrid>
                <a:gridCol w="1875692">
                  <a:extLst>
                    <a:ext uri="{9D8B030D-6E8A-4147-A177-3AD203B41FA5}">
                      <a16:colId xmlns:a16="http://schemas.microsoft.com/office/drawing/2014/main" val="435380038"/>
                    </a:ext>
                  </a:extLst>
                </a:gridCol>
                <a:gridCol w="6887263">
                  <a:extLst>
                    <a:ext uri="{9D8B030D-6E8A-4147-A177-3AD203B41FA5}">
                      <a16:colId xmlns:a16="http://schemas.microsoft.com/office/drawing/2014/main" val="1744425155"/>
                    </a:ext>
                  </a:extLst>
                </a:gridCol>
                <a:gridCol w="1588431">
                  <a:extLst>
                    <a:ext uri="{9D8B030D-6E8A-4147-A177-3AD203B41FA5}">
                      <a16:colId xmlns:a16="http://schemas.microsoft.com/office/drawing/2014/main" val="349299812"/>
                    </a:ext>
                  </a:extLst>
                </a:gridCol>
              </a:tblGrid>
              <a:tr h="200524">
                <a:tc>
                  <a:txBody>
                    <a:bodyPr/>
                    <a:lstStyle/>
                    <a:p>
                      <a:pPr marL="0" marR="0" algn="l">
                        <a:lnSpc>
                          <a:spcPct val="120000"/>
                        </a:lnSpc>
                        <a:spcBef>
                          <a:spcPts val="500"/>
                        </a:spcBef>
                        <a:spcAft>
                          <a:spcPts val="500"/>
                        </a:spcAft>
                        <a:buNone/>
                      </a:pPr>
                      <a:r>
                        <a:rPr lang="en-US" sz="1600">
                          <a:effectLst/>
                        </a:rPr>
                        <a:t>Category</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a:effectLst/>
                        </a:rPr>
                        <a:t>Context</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a:effectLst/>
                        </a:rPr>
                        <a:t>Context Label</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983260103"/>
                  </a:ext>
                </a:extLst>
              </a:tr>
              <a:tr h="414848">
                <a:tc rowSpan="4">
                  <a:txBody>
                    <a:bodyPr/>
                    <a:lstStyle/>
                    <a:p>
                      <a:pPr marL="0" marR="0" algn="l">
                        <a:lnSpc>
                          <a:spcPct val="120000"/>
                        </a:lnSpc>
                        <a:spcBef>
                          <a:spcPts val="500"/>
                        </a:spcBef>
                        <a:spcAft>
                          <a:spcPts val="500"/>
                        </a:spcAft>
                        <a:buNone/>
                      </a:pPr>
                      <a:r>
                        <a:rPr lang="en-US" sz="1600">
                          <a:effectLst/>
                        </a:rPr>
                        <a:t>Entertainment contexts</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tc>
                <a:tc>
                  <a:txBody>
                    <a:bodyPr/>
                    <a:lstStyle/>
                    <a:p>
                      <a:pPr marL="0" marR="0" algn="l">
                        <a:lnSpc>
                          <a:spcPct val="120000"/>
                        </a:lnSpc>
                        <a:spcBef>
                          <a:spcPts val="500"/>
                        </a:spcBef>
                        <a:spcAft>
                          <a:spcPts val="500"/>
                        </a:spcAft>
                        <a:buNone/>
                      </a:pPr>
                      <a:r>
                        <a:rPr lang="en-US" sz="1600">
                          <a:effectLst/>
                        </a:rPr>
                        <a:t>Watching TV, film, videos on websites like YouTube or Twitch (with or without subtitles)</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dirty="0">
                          <a:effectLst/>
                        </a:rPr>
                        <a:t>Watching</a:t>
                      </a:r>
                      <a:endParaRPr lang="en-US" sz="18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889461353"/>
                  </a:ext>
                </a:extLst>
              </a:tr>
              <a:tr h="315462">
                <a:tc vMerge="1">
                  <a:txBody>
                    <a:bodyPr/>
                    <a:lstStyle/>
                    <a:p>
                      <a:endParaRPr lang="en-US"/>
                    </a:p>
                  </a:txBody>
                  <a:tcPr/>
                </a:tc>
                <a:tc>
                  <a:txBody>
                    <a:bodyPr/>
                    <a:lstStyle/>
                    <a:p>
                      <a:pPr marL="0" marR="0" algn="l">
                        <a:lnSpc>
                          <a:spcPct val="120000"/>
                        </a:lnSpc>
                        <a:spcBef>
                          <a:spcPts val="500"/>
                        </a:spcBef>
                        <a:spcAft>
                          <a:spcPts val="500"/>
                        </a:spcAft>
                        <a:buNone/>
                      </a:pPr>
                      <a:r>
                        <a:rPr lang="en-US" sz="1600">
                          <a:effectLst/>
                        </a:rPr>
                        <a:t>Listening to radio, music, podcasts, audiobooks</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a:effectLst/>
                        </a:rPr>
                        <a:t>Listening</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167775693"/>
                  </a:ext>
                </a:extLst>
              </a:tr>
              <a:tr h="200524">
                <a:tc vMerge="1">
                  <a:txBody>
                    <a:bodyPr/>
                    <a:lstStyle/>
                    <a:p>
                      <a:endParaRPr lang="en-US"/>
                    </a:p>
                  </a:txBody>
                  <a:tcPr/>
                </a:tc>
                <a:tc>
                  <a:txBody>
                    <a:bodyPr/>
                    <a:lstStyle/>
                    <a:p>
                      <a:pPr marL="0" marR="0" algn="l">
                        <a:lnSpc>
                          <a:spcPct val="120000"/>
                        </a:lnSpc>
                        <a:spcBef>
                          <a:spcPts val="500"/>
                        </a:spcBef>
                        <a:spcAft>
                          <a:spcPts val="500"/>
                        </a:spcAft>
                        <a:buNone/>
                      </a:pPr>
                      <a:r>
                        <a:rPr lang="en-US" sz="1600">
                          <a:effectLst/>
                        </a:rPr>
                        <a:t>Playing video games, mobile games, online games</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a:effectLst/>
                        </a:rPr>
                        <a:t>Games</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010494079"/>
                  </a:ext>
                </a:extLst>
              </a:tr>
              <a:tr h="825465">
                <a:tc vMerge="1">
                  <a:txBody>
                    <a:bodyPr/>
                    <a:lstStyle/>
                    <a:p>
                      <a:endParaRPr lang="en-US"/>
                    </a:p>
                  </a:txBody>
                  <a:tcPr/>
                </a:tc>
                <a:tc>
                  <a:txBody>
                    <a:bodyPr/>
                    <a:lstStyle/>
                    <a:p>
                      <a:pPr marL="0" marR="0" algn="l">
                        <a:lnSpc>
                          <a:spcPct val="120000"/>
                        </a:lnSpc>
                        <a:spcBef>
                          <a:spcPts val="500"/>
                        </a:spcBef>
                        <a:spcAft>
                          <a:spcPts val="500"/>
                        </a:spcAft>
                        <a:buNone/>
                      </a:pPr>
                      <a:r>
                        <a:rPr lang="en-US" sz="1600">
                          <a:effectLst/>
                        </a:rPr>
                        <a:t>Using social media or browsing the internet, (with or without the use of automatic translation tools) – include here interacting with generative AI and using language learning apps</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a:effectLst/>
                        </a:rPr>
                        <a:t>Online</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29586280"/>
                  </a:ext>
                </a:extLst>
              </a:tr>
              <a:tr h="200524">
                <a:tc rowSpan="5">
                  <a:txBody>
                    <a:bodyPr/>
                    <a:lstStyle/>
                    <a:p>
                      <a:pPr marL="0" marR="0" algn="l">
                        <a:lnSpc>
                          <a:spcPct val="120000"/>
                        </a:lnSpc>
                        <a:spcBef>
                          <a:spcPts val="500"/>
                        </a:spcBef>
                        <a:spcAft>
                          <a:spcPts val="500"/>
                        </a:spcAft>
                        <a:buNone/>
                      </a:pPr>
                      <a:r>
                        <a:rPr lang="en-US" sz="1600">
                          <a:effectLst/>
                        </a:rPr>
                        <a:t>Interpersonal contexts (in person or digitally)</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tc>
                <a:tc>
                  <a:txBody>
                    <a:bodyPr/>
                    <a:lstStyle/>
                    <a:p>
                      <a:pPr marL="0" marR="0" algn="l">
                        <a:lnSpc>
                          <a:spcPct val="120000"/>
                        </a:lnSpc>
                        <a:spcBef>
                          <a:spcPts val="500"/>
                        </a:spcBef>
                        <a:spcAft>
                          <a:spcPts val="500"/>
                        </a:spcAft>
                        <a:buNone/>
                      </a:pPr>
                      <a:r>
                        <a:rPr lang="en-US" sz="1600">
                          <a:effectLst/>
                        </a:rPr>
                        <a:t>At home (e.g., with your partner, child(ren), roommates)</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a:effectLst/>
                        </a:rPr>
                        <a:t>Home</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075282932"/>
                  </a:ext>
                </a:extLst>
              </a:tr>
              <a:tr h="614487">
                <a:tc vMerge="1">
                  <a:txBody>
                    <a:bodyPr/>
                    <a:lstStyle/>
                    <a:p>
                      <a:endParaRPr lang="en-US"/>
                    </a:p>
                  </a:txBody>
                  <a:tcPr/>
                </a:tc>
                <a:tc>
                  <a:txBody>
                    <a:bodyPr/>
                    <a:lstStyle/>
                    <a:p>
                      <a:pPr marL="0" marR="0" algn="l">
                        <a:lnSpc>
                          <a:spcPct val="120000"/>
                        </a:lnSpc>
                        <a:spcBef>
                          <a:spcPts val="500"/>
                        </a:spcBef>
                        <a:spcAft>
                          <a:spcPts val="500"/>
                        </a:spcAft>
                        <a:buNone/>
                      </a:pPr>
                      <a:r>
                        <a:rPr lang="en-US" sz="1600">
                          <a:effectLst/>
                        </a:rPr>
                        <a:t>With family (parents, siblings, grandparents, caregivers, extended family – note: this may be the same as the context above for you)</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a:effectLst/>
                        </a:rPr>
                        <a:t>Family</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00003680"/>
                  </a:ext>
                </a:extLst>
              </a:tr>
              <a:tr h="614487">
                <a:tc vMerge="1">
                  <a:txBody>
                    <a:bodyPr/>
                    <a:lstStyle/>
                    <a:p>
                      <a:endParaRPr lang="en-US"/>
                    </a:p>
                  </a:txBody>
                  <a:tcPr/>
                </a:tc>
                <a:tc>
                  <a:txBody>
                    <a:bodyPr/>
                    <a:lstStyle/>
                    <a:p>
                      <a:pPr marL="0" marR="0" algn="l">
                        <a:lnSpc>
                          <a:spcPct val="120000"/>
                        </a:lnSpc>
                        <a:spcBef>
                          <a:spcPts val="500"/>
                        </a:spcBef>
                        <a:spcAft>
                          <a:spcPts val="500"/>
                        </a:spcAft>
                        <a:buNone/>
                      </a:pPr>
                      <a:r>
                        <a:rPr lang="en-US" sz="1600">
                          <a:effectLst/>
                        </a:rPr>
                        <a:t>In social contexts with friends, neighbors, peers from hobbies or communities (e.g., religious community, neighborhood coalition, online community)</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a:effectLst/>
                        </a:rPr>
                        <a:t>Social</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23362995"/>
                  </a:ext>
                </a:extLst>
              </a:tr>
              <a:tr h="614487">
                <a:tc vMerge="1">
                  <a:txBody>
                    <a:bodyPr/>
                    <a:lstStyle/>
                    <a:p>
                      <a:endParaRPr lang="en-US"/>
                    </a:p>
                  </a:txBody>
                  <a:tcPr/>
                </a:tc>
                <a:tc>
                  <a:txBody>
                    <a:bodyPr/>
                    <a:lstStyle/>
                    <a:p>
                      <a:pPr marL="0" marR="0" algn="l">
                        <a:lnSpc>
                          <a:spcPct val="120000"/>
                        </a:lnSpc>
                        <a:spcBef>
                          <a:spcPts val="500"/>
                        </a:spcBef>
                        <a:spcAft>
                          <a:spcPts val="500"/>
                        </a:spcAft>
                        <a:buNone/>
                      </a:pPr>
                      <a:r>
                        <a:rPr lang="en-US" sz="1600">
                          <a:effectLst/>
                        </a:rPr>
                        <a:t>In work or school contexts with co-workers/colleagues/classmates (this context can include taking language classes)</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a:effectLst/>
                        </a:rPr>
                        <a:t>Work/school</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609586013"/>
                  </a:ext>
                </a:extLst>
              </a:tr>
              <a:tr h="414848">
                <a:tc vMerge="1">
                  <a:txBody>
                    <a:bodyPr/>
                    <a:lstStyle/>
                    <a:p>
                      <a:endParaRPr lang="en-US"/>
                    </a:p>
                  </a:txBody>
                  <a:tcPr/>
                </a:tc>
                <a:tc>
                  <a:txBody>
                    <a:bodyPr/>
                    <a:lstStyle/>
                    <a:p>
                      <a:pPr marL="0" marR="0" algn="l">
                        <a:lnSpc>
                          <a:spcPct val="120000"/>
                        </a:lnSpc>
                        <a:spcBef>
                          <a:spcPts val="500"/>
                        </a:spcBef>
                        <a:spcAft>
                          <a:spcPts val="500"/>
                        </a:spcAft>
                        <a:buNone/>
                      </a:pPr>
                      <a:r>
                        <a:rPr lang="en-US" sz="1600">
                          <a:effectLst/>
                        </a:rPr>
                        <a:t>Out of home in commercial or official contexts (e.g., restaurants, stores, doctor’s office, bank)</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a:effectLst/>
                        </a:rPr>
                        <a:t>Out of home</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73098199"/>
                  </a:ext>
                </a:extLst>
              </a:tr>
              <a:tr h="200524">
                <a:tc>
                  <a:txBody>
                    <a:bodyPr/>
                    <a:lstStyle/>
                    <a:p>
                      <a:pPr marL="0" marR="0" algn="l">
                        <a:lnSpc>
                          <a:spcPct val="120000"/>
                        </a:lnSpc>
                        <a:spcBef>
                          <a:spcPts val="500"/>
                        </a:spcBef>
                        <a:spcAft>
                          <a:spcPts val="500"/>
                        </a:spcAft>
                        <a:buNone/>
                      </a:pPr>
                      <a:r>
                        <a:rPr lang="en-US" sz="1600">
                          <a:effectLst/>
                        </a:rPr>
                        <a:t>None of these</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tc>
                <a:tc>
                  <a:txBody>
                    <a:bodyPr/>
                    <a:lstStyle/>
                    <a:p>
                      <a:pPr marL="0" marR="0" algn="l">
                        <a:lnSpc>
                          <a:spcPct val="120000"/>
                        </a:lnSpc>
                        <a:spcBef>
                          <a:spcPts val="500"/>
                        </a:spcBef>
                        <a:spcAft>
                          <a:spcPts val="500"/>
                        </a:spcAft>
                        <a:buNone/>
                      </a:pPr>
                      <a:r>
                        <a:rPr lang="en-US" sz="1600">
                          <a:effectLst/>
                        </a:rPr>
                        <a:t>Situations and settings not listed above. Please specify:</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tc>
                  <a:txBody>
                    <a:bodyPr/>
                    <a:lstStyle/>
                    <a:p>
                      <a:pPr marL="0" marR="0" algn="l">
                        <a:lnSpc>
                          <a:spcPct val="120000"/>
                        </a:lnSpc>
                        <a:spcBef>
                          <a:spcPts val="500"/>
                        </a:spcBef>
                        <a:spcAft>
                          <a:spcPts val="500"/>
                        </a:spcAft>
                        <a:buNone/>
                      </a:pPr>
                      <a:r>
                        <a:rPr lang="en-US" sz="1600" dirty="0">
                          <a:effectLst/>
                        </a:rPr>
                        <a:t>Other</a:t>
                      </a:r>
                      <a:endParaRPr lang="en-US" sz="18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279328001"/>
                  </a:ext>
                </a:extLst>
              </a:tr>
            </a:tbl>
          </a:graphicData>
        </a:graphic>
      </p:graphicFrame>
    </p:spTree>
    <p:extLst>
      <p:ext uri="{BB962C8B-B14F-4D97-AF65-F5344CB8AC3E}">
        <p14:creationId xmlns:p14="http://schemas.microsoft.com/office/powerpoint/2010/main" val="13578541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14F64-E483-793E-A1D3-A05B3544CB40}"/>
              </a:ext>
            </a:extLst>
          </p:cNvPr>
          <p:cNvSpPr>
            <a:spLocks noGrp="1"/>
          </p:cNvSpPr>
          <p:nvPr>
            <p:ph type="title"/>
          </p:nvPr>
        </p:nvSpPr>
        <p:spPr/>
        <p:txBody>
          <a:bodyPr/>
          <a:lstStyle/>
          <a:p>
            <a:r>
              <a:rPr lang="en-US" dirty="0"/>
              <a:t>LDQ-Part 2 calculations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80D200D-801C-275E-25B1-101FE47D3419}"/>
                  </a:ext>
                </a:extLst>
              </p:cNvPr>
              <p:cNvSpPr txBox="1"/>
              <p:nvPr/>
            </p:nvSpPr>
            <p:spPr>
              <a:xfrm>
                <a:off x="838200" y="2812477"/>
                <a:ext cx="4651829" cy="5442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𝑐</m:t>
                          </m:r>
                        </m:sub>
                      </m:sSub>
                      <m:r>
                        <a:rPr lang="en-US" b="0" i="1" smtClean="0">
                          <a:latin typeface="Cambria Math" panose="02040503050406030204" pitchFamily="18" charset="0"/>
                        </a:rPr>
                        <m:t>=−</m:t>
                      </m:r>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𝑙𝑜𝑔</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sub>
                              </m:sSub>
                            </m:e>
                          </m:d>
                        </m:e>
                      </m:nary>
                    </m:oMath>
                  </m:oMathPara>
                </a14:m>
                <a:endParaRPr lang="en-US" dirty="0"/>
              </a:p>
            </p:txBody>
          </p:sp>
        </mc:Choice>
        <mc:Fallback xmlns="">
          <p:sp>
            <p:nvSpPr>
              <p:cNvPr id="4" name="TextBox 3">
                <a:extLst>
                  <a:ext uri="{FF2B5EF4-FFF2-40B4-BE49-F238E27FC236}">
                    <a16:creationId xmlns:a16="http://schemas.microsoft.com/office/drawing/2014/main" id="{F80D200D-801C-275E-25B1-101FE47D3419}"/>
                  </a:ext>
                </a:extLst>
              </p:cNvPr>
              <p:cNvSpPr txBox="1">
                <a:spLocks noRot="1" noChangeAspect="1" noMove="1" noResize="1" noEditPoints="1" noAdjustHandles="1" noChangeArrowheads="1" noChangeShapeType="1" noTextEdit="1"/>
              </p:cNvSpPr>
              <p:nvPr/>
            </p:nvSpPr>
            <p:spPr>
              <a:xfrm>
                <a:off x="838200" y="2812477"/>
                <a:ext cx="4651829" cy="544252"/>
              </a:xfrm>
              <a:prstGeom prst="rect">
                <a:avLst/>
              </a:prstGeom>
              <a:blipFill>
                <a:blip r:embed="rId3"/>
                <a:stretch>
                  <a:fillRect t="-181818" b="-261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7C5D520-DB3B-AF3C-383F-E811572F21E0}"/>
                  </a:ext>
                </a:extLst>
              </p:cNvPr>
              <p:cNvSpPr txBox="1"/>
              <p:nvPr/>
            </p:nvSpPr>
            <p:spPr>
              <a:xfrm>
                <a:off x="2075863" y="4431985"/>
                <a:ext cx="1948289" cy="6122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panose="02040503050406030204" pitchFamily="18" charset="0"/>
                                </a:rPr>
                                <m:t>h𝑜𝑢𝑟𝑠</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i="1">
                                  <a:latin typeface="Cambria Math" panose="02040503050406030204" pitchFamily="18" charset="0"/>
                                </a:rPr>
                                <m:t>𝑖</m:t>
                              </m:r>
                            </m:sub>
                          </m:sSub>
                        </m:num>
                        <m:den>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h𝑜𝑢𝑟𝑠</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sub>
                              </m:sSub>
                            </m:e>
                          </m:nary>
                        </m:den>
                      </m:f>
                    </m:oMath>
                  </m:oMathPara>
                </a14:m>
                <a:endParaRPr lang="en-US" dirty="0"/>
              </a:p>
            </p:txBody>
          </p:sp>
        </mc:Choice>
        <mc:Fallback xmlns="">
          <p:sp>
            <p:nvSpPr>
              <p:cNvPr id="5" name="TextBox 4">
                <a:extLst>
                  <a:ext uri="{FF2B5EF4-FFF2-40B4-BE49-F238E27FC236}">
                    <a16:creationId xmlns:a16="http://schemas.microsoft.com/office/drawing/2014/main" id="{37C5D520-DB3B-AF3C-383F-E811572F21E0}"/>
                  </a:ext>
                </a:extLst>
              </p:cNvPr>
              <p:cNvSpPr txBox="1">
                <a:spLocks noRot="1" noChangeAspect="1" noMove="1" noResize="1" noEditPoints="1" noAdjustHandles="1" noChangeArrowheads="1" noChangeShapeType="1" noTextEdit="1"/>
              </p:cNvSpPr>
              <p:nvPr/>
            </p:nvSpPr>
            <p:spPr>
              <a:xfrm>
                <a:off x="2075863" y="4431985"/>
                <a:ext cx="1948289" cy="612284"/>
              </a:xfrm>
              <a:prstGeom prst="rect">
                <a:avLst/>
              </a:prstGeom>
              <a:blipFill>
                <a:blip r:embed="rId4"/>
                <a:stretch>
                  <a:fillRect l="-2597" t="-24490" r="-649" b="-1061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CA7A07E-7686-ECCB-FB9D-151381C9FB70}"/>
                  </a:ext>
                </a:extLst>
              </p:cNvPr>
              <p:cNvSpPr txBox="1"/>
              <p:nvPr/>
            </p:nvSpPr>
            <p:spPr>
              <a:xfrm>
                <a:off x="145143" y="5522105"/>
                <a:ext cx="11473542" cy="14822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where</m:t>
                      </m:r>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 =</m:t>
                      </m:r>
                      <m:r>
                        <a:rPr lang="en-US" i="1">
                          <a:latin typeface="Cambria Math" panose="02040503050406030204" pitchFamily="18" charset="0"/>
                        </a:rPr>
                        <m:t>𝑐𝑜𝑛𝑡𝑒𝑥𝑡</m:t>
                      </m:r>
                      <m:r>
                        <a:rPr lang="en-US" i="1">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𝑤𝑎𝑡𝑐h𝑖𝑛𝑔</m:t>
                          </m:r>
                          <m:r>
                            <a:rPr lang="en-US" i="1">
                              <a:latin typeface="Cambria Math" panose="02040503050406030204" pitchFamily="18" charset="0"/>
                            </a:rPr>
                            <m:t>, </m:t>
                          </m:r>
                          <m:r>
                            <a:rPr lang="en-US" i="1">
                              <a:latin typeface="Cambria Math" panose="02040503050406030204" pitchFamily="18" charset="0"/>
                            </a:rPr>
                            <m:t>𝑙𝑖𝑠𝑡𝑒𝑛𝑖𝑛𝑔</m:t>
                          </m:r>
                          <m:r>
                            <a:rPr lang="en-US" i="1">
                              <a:latin typeface="Cambria Math" panose="02040503050406030204" pitchFamily="18" charset="0"/>
                            </a:rPr>
                            <m:t>, </m:t>
                          </m:r>
                          <m:r>
                            <a:rPr lang="en-US" i="1">
                              <a:latin typeface="Cambria Math" panose="02040503050406030204" pitchFamily="18" charset="0"/>
                            </a:rPr>
                            <m:t>𝑔𝑎𝑚𝑒𝑠</m:t>
                          </m:r>
                          <m:r>
                            <a:rPr lang="en-US" i="1">
                              <a:latin typeface="Cambria Math" panose="02040503050406030204" pitchFamily="18" charset="0"/>
                            </a:rPr>
                            <m:t>, </m:t>
                          </m:r>
                          <m:r>
                            <a:rPr lang="en-US" i="1">
                              <a:latin typeface="Cambria Math" panose="02040503050406030204" pitchFamily="18" charset="0"/>
                            </a:rPr>
                            <m:t>𝑖𝑛𝑡𝑒𝑟𝑛𝑒𝑡</m:t>
                          </m:r>
                          <m:r>
                            <a:rPr lang="en-US" i="1">
                              <a:latin typeface="Cambria Math" panose="02040503050406030204" pitchFamily="18" charset="0"/>
                            </a:rPr>
                            <m:t>, </m:t>
                          </m:r>
                          <m:r>
                            <a:rPr lang="en-US" i="1">
                              <a:latin typeface="Cambria Math" panose="02040503050406030204" pitchFamily="18" charset="0"/>
                            </a:rPr>
                            <m:t>h𝑜𝑚𝑒</m:t>
                          </m:r>
                          <m:r>
                            <a:rPr lang="en-US" i="1">
                              <a:latin typeface="Cambria Math" panose="02040503050406030204" pitchFamily="18" charset="0"/>
                            </a:rPr>
                            <m:t>, </m:t>
                          </m:r>
                          <m:r>
                            <a:rPr lang="en-US" i="1">
                              <a:latin typeface="Cambria Math" panose="02040503050406030204" pitchFamily="18" charset="0"/>
                            </a:rPr>
                            <m:t>𝑓𝑎𝑚𝑖𝑙𝑦</m:t>
                          </m:r>
                          <m:r>
                            <a:rPr lang="en-US" i="1">
                              <a:latin typeface="Cambria Math" panose="02040503050406030204" pitchFamily="18" charset="0"/>
                            </a:rPr>
                            <m:t>, </m:t>
                          </m:r>
                          <m:r>
                            <a:rPr lang="en-US" i="1">
                              <a:latin typeface="Cambria Math" panose="02040503050406030204" pitchFamily="18" charset="0"/>
                            </a:rPr>
                            <m:t>𝑠𝑜𝑐𝑖𝑎𝑙</m:t>
                          </m:r>
                          <m:r>
                            <a:rPr lang="en-US" i="1">
                              <a:latin typeface="Cambria Math" panose="02040503050406030204" pitchFamily="18" charset="0"/>
                            </a:rPr>
                            <m:t>, </m:t>
                          </m:r>
                          <m:r>
                            <a:rPr lang="en-US" i="1">
                              <a:latin typeface="Cambria Math" panose="02040503050406030204" pitchFamily="18" charset="0"/>
                            </a:rPr>
                            <m:t>𝑤𝑜𝑟𝑘</m:t>
                          </m:r>
                          <m:r>
                            <a:rPr lang="en-US" i="1">
                              <a:latin typeface="Cambria Math" panose="02040503050406030204" pitchFamily="18" charset="0"/>
                            </a:rPr>
                            <m:t> </m:t>
                          </m:r>
                          <m:r>
                            <a:rPr lang="en-US" i="1">
                              <a:latin typeface="Cambria Math" panose="02040503050406030204" pitchFamily="18" charset="0"/>
                            </a:rPr>
                            <m:t>𝑜𝑟</m:t>
                          </m:r>
                          <m:r>
                            <a:rPr lang="en-US" i="1">
                              <a:latin typeface="Cambria Math" panose="02040503050406030204" pitchFamily="18" charset="0"/>
                            </a:rPr>
                            <m:t> </m:t>
                          </m:r>
                          <m:r>
                            <a:rPr lang="en-US" i="1">
                              <a:latin typeface="Cambria Math" panose="02040503050406030204" pitchFamily="18" charset="0"/>
                            </a:rPr>
                            <m:t>𝑠𝑐h𝑜𝑜𝑙</m:t>
                          </m:r>
                          <m:r>
                            <a:rPr lang="en-US" i="1">
                              <a:latin typeface="Cambria Math" panose="02040503050406030204" pitchFamily="18" charset="0"/>
                            </a:rPr>
                            <m:t>, </m:t>
                          </m:r>
                          <m:r>
                            <a:rPr lang="en-US" i="1">
                              <a:latin typeface="Cambria Math" panose="02040503050406030204" pitchFamily="18" charset="0"/>
                            </a:rPr>
                            <m:t>𝑜𝑢𝑡</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h𝑜𝑚𝑒</m:t>
                          </m:r>
                          <m:r>
                            <a:rPr lang="en-US" i="1">
                              <a:latin typeface="Cambria Math" panose="02040503050406030204" pitchFamily="18" charset="0"/>
                            </a:rPr>
                            <m:t>, </m:t>
                          </m:r>
                          <m:r>
                            <a:rPr lang="en-US" i="1">
                              <a:latin typeface="Cambria Math" panose="02040503050406030204" pitchFamily="18" charset="0"/>
                            </a:rPr>
                            <m:t>𝑜𝑡h𝑒𝑟</m:t>
                          </m:r>
                        </m:e>
                      </m:d>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𝑙𝑎𝑛𝑔𝑢𝑎𝑔𝑒𝑠</m:t>
                      </m:r>
                      <m:r>
                        <a:rPr lang="en-US" b="0" i="1" smtClean="0">
                          <a:latin typeface="Cambria Math" panose="02040503050406030204" pitchFamily="18" charset="0"/>
                        </a:rPr>
                        <m:t> </m:t>
                      </m:r>
                      <m:r>
                        <a:rPr lang="en-US" b="0" i="1" smtClean="0">
                          <a:latin typeface="Cambria Math" panose="02040503050406030204" pitchFamily="18" charset="0"/>
                        </a:rPr>
                        <m:t>𝑟𝑒𝑝𝑜𝑟𝑡𝑒𝑑</m:t>
                      </m:r>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𝑐𝑜𝑛𝑡𝑒𝑥𝑡𝑐</m:t>
                      </m:r>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𝑡h</m:t>
                          </m:r>
                        </m:sup>
                      </m:sSup>
                      <m:r>
                        <a:rPr lang="en-US" b="0" i="1" smtClean="0">
                          <a:latin typeface="Cambria Math" panose="02040503050406030204" pitchFamily="18" charset="0"/>
                        </a:rPr>
                        <m:t> </m:t>
                      </m:r>
                      <m:r>
                        <a:rPr lang="en-US" b="0" i="1" smtClean="0">
                          <a:latin typeface="Cambria Math" panose="02040503050406030204" pitchFamily="18" charset="0"/>
                        </a:rPr>
                        <m:t>𝑙𝑎𝑛𝑔𝑢𝑎𝑔𝑒</m:t>
                      </m:r>
                      <m:r>
                        <a:rPr lang="en-US" b="0" i="1" smtClean="0">
                          <a:latin typeface="Cambria Math" panose="02040503050406030204" pitchFamily="18" charset="0"/>
                        </a:rPr>
                        <m:t> </m:t>
                      </m:r>
                      <m:r>
                        <a:rPr lang="en-US" b="0" i="1" smtClean="0">
                          <a:latin typeface="Cambria Math" panose="02040503050406030204" pitchFamily="18" charset="0"/>
                        </a:rPr>
                        <m:t>𝑟𝑒𝑝𝑜𝑟𝑡𝑒𝑑</m:t>
                      </m:r>
                      <m:r>
                        <a:rPr lang="en-US" b="0" i="1" smtClean="0">
                          <a:latin typeface="Cambria Math" panose="02040503050406030204" pitchFamily="18" charset="0"/>
                        </a:rPr>
                        <m:t> </m:t>
                      </m:r>
                      <m:r>
                        <a:rPr lang="en-US" b="0" i="1" smtClean="0">
                          <a:latin typeface="Cambria Math" panose="02040503050406030204" pitchFamily="18" charset="0"/>
                        </a:rPr>
                        <m:t>𝑤𝑖𝑡h𝑖𝑛</m:t>
                      </m:r>
                      <m:r>
                        <a:rPr lang="en-US" b="0" i="1" smtClean="0">
                          <a:latin typeface="Cambria Math" panose="02040503050406030204" pitchFamily="18" charset="0"/>
                        </a:rPr>
                        <m:t> </m:t>
                      </m:r>
                      <m:r>
                        <a:rPr lang="en-US" b="0" i="1" smtClean="0">
                          <a:latin typeface="Cambria Math" panose="02040503050406030204" pitchFamily="18" charset="0"/>
                        </a:rPr>
                        <m:t>𝑐𝑜𝑛𝑡𝑒𝑥𝑡𝑐</m:t>
                      </m:r>
                      <m:r>
                        <a:rPr lang="en-US" b="0" i="1" smtClean="0">
                          <a:latin typeface="Cambria Math" panose="02040503050406030204" pitchFamily="18" charset="0"/>
                        </a:rPr>
                        <m:t>,</m:t>
                      </m:r>
                    </m:oMath>
                  </m:oMathPara>
                </a14:m>
                <a:endParaRPr lang="en-US" b="0" dirty="0"/>
              </a:p>
              <a:p>
                <a:endParaRPr lang="en-US" dirty="0"/>
              </a:p>
            </p:txBody>
          </p:sp>
        </mc:Choice>
        <mc:Fallback xmlns="">
          <p:sp>
            <p:nvSpPr>
              <p:cNvPr id="6" name="TextBox 5">
                <a:extLst>
                  <a:ext uri="{FF2B5EF4-FFF2-40B4-BE49-F238E27FC236}">
                    <a16:creationId xmlns:a16="http://schemas.microsoft.com/office/drawing/2014/main" id="{6CA7A07E-7686-ECCB-FB9D-151381C9FB70}"/>
                  </a:ext>
                </a:extLst>
              </p:cNvPr>
              <p:cNvSpPr txBox="1">
                <a:spLocks noRot="1" noChangeAspect="1" noMove="1" noResize="1" noEditPoints="1" noAdjustHandles="1" noChangeArrowheads="1" noChangeShapeType="1" noTextEdit="1"/>
              </p:cNvSpPr>
              <p:nvPr/>
            </p:nvSpPr>
            <p:spPr>
              <a:xfrm>
                <a:off x="145143" y="5522105"/>
                <a:ext cx="11473542" cy="14822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5BA241B-185C-0505-DF80-F2EF5F4FFA5F}"/>
                  </a:ext>
                </a:extLst>
              </p:cNvPr>
              <p:cNvSpPr txBox="1"/>
              <p:nvPr/>
            </p:nvSpPr>
            <p:spPr>
              <a:xfrm>
                <a:off x="5881914" y="3132335"/>
                <a:ext cx="4651829" cy="597984"/>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𝑤</m:t>
                          </m:r>
                        </m:sub>
                      </m:sSub>
                      <m:r>
                        <a:rPr lang="en-US" b="0" i="1" smtClean="0">
                          <a:latin typeface="Cambria Math" panose="02040503050406030204" pitchFamily="18" charset="0"/>
                        </a:rPr>
                        <m:t>=</m:t>
                      </m:r>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𝑐𝑜𝑛𝑡𝑒𝑥𝑡𝑠</m:t>
                          </m:r>
                          <m:r>
                            <a:rPr lang="en-US" b="0" i="1" smtClean="0">
                              <a:latin typeface="Cambria Math" panose="02040503050406030204" pitchFamily="18" charset="0"/>
                            </a:rPr>
                            <m:t>}</m:t>
                          </m:r>
                        </m:sub>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h𝑜𝑢𝑟𝑠</m:t>
                                  </m:r>
                                  <m:r>
                                    <a:rPr lang="en-US" i="1">
                                      <a:latin typeface="Cambria Math" panose="02040503050406030204" pitchFamily="18" charset="0"/>
                                    </a:rPr>
                                    <m:t> </m:t>
                                  </m:r>
                                  <m:r>
                                    <a:rPr lang="en-US" i="1">
                                      <a:latin typeface="Cambria Math" panose="02040503050406030204" pitchFamily="18" charset="0"/>
                                    </a:rPr>
                                    <m:t>𝑝𝑒𝑟</m:t>
                                  </m:r>
                                  <m:r>
                                    <a:rPr lang="en-US" i="1">
                                      <a:latin typeface="Cambria Math" panose="02040503050406030204" pitchFamily="18" charset="0"/>
                                    </a:rPr>
                                    <m:t> </m:t>
                                  </m:r>
                                  <m:r>
                                    <a:rPr lang="en-US" i="1">
                                      <a:latin typeface="Cambria Math" panose="02040503050406030204" pitchFamily="18" charset="0"/>
                                    </a:rPr>
                                    <m:t>𝑑𝑎𝑦</m:t>
                                  </m:r>
                                </m:e>
                                <m:sub>
                                  <m:r>
                                    <a:rPr lang="en-US" i="1">
                                      <a:latin typeface="Cambria Math" panose="02040503050406030204" pitchFamily="18" charset="0"/>
                                    </a:rPr>
                                    <m:t>𝑐</m:t>
                                  </m:r>
                                </m:sub>
                              </m:sSub>
                            </m:num>
                            <m:den>
                              <m:r>
                                <a:rPr lang="en-US" b="0" i="1" smtClean="0">
                                  <a:latin typeface="Cambria Math" panose="02040503050406030204" pitchFamily="18" charset="0"/>
                                </a:rPr>
                                <m:t>𝐾</m:t>
                              </m:r>
                            </m:den>
                          </m:f>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𝐶</m:t>
                              </m:r>
                            </m:sub>
                          </m:sSub>
                        </m:e>
                      </m:nary>
                    </m:oMath>
                  </m:oMathPara>
                </a14:m>
                <a:endParaRPr lang="en-US" dirty="0"/>
              </a:p>
            </p:txBody>
          </p:sp>
        </mc:Choice>
        <mc:Fallback xmlns="">
          <p:sp>
            <p:nvSpPr>
              <p:cNvPr id="7" name="TextBox 6">
                <a:extLst>
                  <a:ext uri="{FF2B5EF4-FFF2-40B4-BE49-F238E27FC236}">
                    <a16:creationId xmlns:a16="http://schemas.microsoft.com/office/drawing/2014/main" id="{85BA241B-185C-0505-DF80-F2EF5F4FFA5F}"/>
                  </a:ext>
                </a:extLst>
              </p:cNvPr>
              <p:cNvSpPr txBox="1">
                <a:spLocks noRot="1" noChangeAspect="1" noMove="1" noResize="1" noEditPoints="1" noAdjustHandles="1" noChangeArrowheads="1" noChangeShapeType="1" noTextEdit="1"/>
              </p:cNvSpPr>
              <p:nvPr/>
            </p:nvSpPr>
            <p:spPr>
              <a:xfrm>
                <a:off x="5881914" y="3132335"/>
                <a:ext cx="4651829" cy="597984"/>
              </a:xfrm>
              <a:prstGeom prst="rect">
                <a:avLst/>
              </a:prstGeom>
              <a:blipFill>
                <a:blip r:embed="rId6"/>
                <a:stretch>
                  <a:fillRect l="-272" t="-162500" b="-23750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925444F-0EBD-B63C-802E-ECD7735C87DD}"/>
              </a:ext>
            </a:extLst>
          </p:cNvPr>
          <p:cNvSpPr txBox="1"/>
          <p:nvPr/>
        </p:nvSpPr>
        <p:spPr>
          <a:xfrm>
            <a:off x="604314" y="2372377"/>
            <a:ext cx="2173608" cy="369332"/>
          </a:xfrm>
          <a:prstGeom prst="rect">
            <a:avLst/>
          </a:prstGeom>
          <a:noFill/>
        </p:spPr>
        <p:txBody>
          <a:bodyPr wrap="none" rtlCol="0">
            <a:spAutoFit/>
          </a:bodyPr>
          <a:lstStyle/>
          <a:p>
            <a:r>
              <a:rPr lang="en-US" dirty="0"/>
              <a:t>entropy per context: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4A7994-8A3D-DF9E-44C1-FFE878C1A94E}"/>
                  </a:ext>
                </a:extLst>
              </p:cNvPr>
              <p:cNvSpPr txBox="1"/>
              <p:nvPr/>
            </p:nvSpPr>
            <p:spPr>
              <a:xfrm>
                <a:off x="704704" y="3908989"/>
                <a:ext cx="4794839" cy="381515"/>
              </a:xfrm>
              <a:prstGeom prst="rect">
                <a:avLst/>
              </a:prstGeom>
              <a:noFill/>
            </p:spPr>
            <p:txBody>
              <a:bodyPr wrap="none" rtlCol="0">
                <a:spAutoFit/>
              </a:bodyPr>
              <a:lstStyle/>
              <a:p>
                <a:r>
                  <a:rPr lang="en-US" dirty="0"/>
                  <a:t>where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sub>
                    </m:sSub>
                  </m:oMath>
                </a14:m>
                <a:r>
                  <a:rPr lang="en-US" dirty="0"/>
                  <a:t> aka language proportion per context:</a:t>
                </a:r>
              </a:p>
            </p:txBody>
          </p:sp>
        </mc:Choice>
        <mc:Fallback xmlns="">
          <p:sp>
            <p:nvSpPr>
              <p:cNvPr id="9" name="TextBox 8">
                <a:extLst>
                  <a:ext uri="{FF2B5EF4-FFF2-40B4-BE49-F238E27FC236}">
                    <a16:creationId xmlns:a16="http://schemas.microsoft.com/office/drawing/2014/main" id="{B04A7994-8A3D-DF9E-44C1-FFE878C1A94E}"/>
                  </a:ext>
                </a:extLst>
              </p:cNvPr>
              <p:cNvSpPr txBox="1">
                <a:spLocks noRot="1" noChangeAspect="1" noMove="1" noResize="1" noEditPoints="1" noAdjustHandles="1" noChangeArrowheads="1" noChangeShapeType="1" noTextEdit="1"/>
              </p:cNvSpPr>
              <p:nvPr/>
            </p:nvSpPr>
            <p:spPr>
              <a:xfrm>
                <a:off x="704704" y="3908989"/>
                <a:ext cx="4794839" cy="381515"/>
              </a:xfrm>
              <a:prstGeom prst="rect">
                <a:avLst/>
              </a:prstGeom>
              <a:blipFill>
                <a:blip r:embed="rId7"/>
                <a:stretch>
                  <a:fillRect l="-1058" t="-6452" r="-1323" b="-22581"/>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E45BB271-EE9B-876F-DC82-D8AD92CFC818}"/>
              </a:ext>
            </a:extLst>
          </p:cNvPr>
          <p:cNvSpPr txBox="1"/>
          <p:nvPr/>
        </p:nvSpPr>
        <p:spPr>
          <a:xfrm>
            <a:off x="7257348" y="3936313"/>
            <a:ext cx="4651829" cy="1477328"/>
          </a:xfrm>
          <a:prstGeom prst="rect">
            <a:avLst/>
          </a:prstGeom>
          <a:noFill/>
        </p:spPr>
        <p:txBody>
          <a:bodyPr wrap="square" rtlCol="0">
            <a:spAutoFit/>
          </a:bodyPr>
          <a:lstStyle/>
          <a:p>
            <a:r>
              <a:rPr lang="en-US" dirty="0"/>
              <a:t>here K is a constant scaling factor used to weight each context, and K was set to 24 (to represent 24 hours, such that each context is weighted as a proportion of time spent per day in that context)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35806C4-182D-170B-042A-3FB79A0F3361}"/>
                  </a:ext>
                </a:extLst>
              </p:cNvPr>
              <p:cNvSpPr txBox="1"/>
              <p:nvPr/>
            </p:nvSpPr>
            <p:spPr>
              <a:xfrm>
                <a:off x="5835709" y="2719855"/>
                <a:ext cx="3711465" cy="369332"/>
              </a:xfrm>
              <a:prstGeom prst="rect">
                <a:avLst/>
              </a:prstGeom>
              <a:noFill/>
            </p:spPr>
            <p:txBody>
              <a:bodyPr wrap="none" rtlCol="0">
                <a:spAutoFit/>
              </a:bodyPr>
              <a:lstStyle/>
              <a:p>
                <a:r>
                  <a:rPr lang="en-US" dirty="0"/>
                  <a:t>MLD-P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𝑤</m:t>
                        </m:r>
                      </m:sub>
                    </m:sSub>
                  </m:oMath>
                </a14:m>
                <a:r>
                  <a:rPr lang="en-US" dirty="0"/>
                  <a:t> aka weighted entropy:</a:t>
                </a:r>
              </a:p>
            </p:txBody>
          </p:sp>
        </mc:Choice>
        <mc:Fallback xmlns="">
          <p:sp>
            <p:nvSpPr>
              <p:cNvPr id="11" name="TextBox 10">
                <a:extLst>
                  <a:ext uri="{FF2B5EF4-FFF2-40B4-BE49-F238E27FC236}">
                    <a16:creationId xmlns:a16="http://schemas.microsoft.com/office/drawing/2014/main" id="{335806C4-182D-170B-042A-3FB79A0F3361}"/>
                  </a:ext>
                </a:extLst>
              </p:cNvPr>
              <p:cNvSpPr txBox="1">
                <a:spLocks noRot="1" noChangeAspect="1" noMove="1" noResize="1" noEditPoints="1" noAdjustHandles="1" noChangeArrowheads="1" noChangeShapeType="1" noTextEdit="1"/>
              </p:cNvSpPr>
              <p:nvPr/>
            </p:nvSpPr>
            <p:spPr>
              <a:xfrm>
                <a:off x="5835709" y="2719855"/>
                <a:ext cx="3711465" cy="369332"/>
              </a:xfrm>
              <a:prstGeom prst="rect">
                <a:avLst/>
              </a:prstGeom>
              <a:blipFill>
                <a:blip r:embed="rId8"/>
                <a:stretch>
                  <a:fillRect l="-1365"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E98009B-04DC-C72F-ACC2-FB5599BBFEEE}"/>
                  </a:ext>
                </a:extLst>
              </p:cNvPr>
              <p:cNvSpPr txBox="1"/>
              <p:nvPr/>
            </p:nvSpPr>
            <p:spPr>
              <a:xfrm>
                <a:off x="6817825" y="1074009"/>
                <a:ext cx="5283201" cy="935513"/>
              </a:xfrm>
              <a:prstGeom prst="rect">
                <a:avLst/>
              </a:prstGeom>
              <a:noFill/>
            </p:spPr>
            <p:txBody>
              <a:bodyPr wrap="square" rtlCol="0">
                <a:spAutoFit/>
              </a:bodyPr>
              <a:lstStyle/>
              <a:p>
                <a:r>
                  <a:rPr lang="en-US" dirty="0"/>
                  <a:t>note that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h𝑜𝑢𝑟𝑠</m:t>
                        </m:r>
                        <m:r>
                          <a:rPr lang="en-US" b="0" i="1" smtClean="0">
                            <a:latin typeface="Cambria Math" panose="02040503050406030204" pitchFamily="18" charset="0"/>
                          </a:rPr>
                          <m:t> </m:t>
                        </m:r>
                        <m:r>
                          <a:rPr lang="en-US" b="0" i="1" smtClean="0">
                            <a:latin typeface="Cambria Math" panose="02040503050406030204" pitchFamily="18" charset="0"/>
                          </a:rPr>
                          <m:t>𝑝𝑒𝑟</m:t>
                        </m:r>
                        <m:r>
                          <a:rPr lang="en-US" b="0" i="1" smtClean="0">
                            <a:latin typeface="Cambria Math" panose="02040503050406030204" pitchFamily="18" charset="0"/>
                          </a:rPr>
                          <m:t> </m:t>
                        </m:r>
                        <m:r>
                          <a:rPr lang="en-US" b="0" i="1" smtClean="0">
                            <a:latin typeface="Cambria Math" panose="02040503050406030204" pitchFamily="18" charset="0"/>
                          </a:rPr>
                          <m:t>𝑑𝑎𝑦</m:t>
                        </m:r>
                      </m:e>
                      <m:sub>
                        <m:r>
                          <a:rPr lang="en-US" b="0" i="1" smtClean="0">
                            <a:latin typeface="Cambria Math" panose="02040503050406030204" pitchFamily="18" charset="0"/>
                          </a:rPr>
                          <m:t>𝑐</m:t>
                        </m:r>
                      </m:sub>
                    </m:sSub>
                  </m:oMath>
                </a14:m>
                <a:r>
                  <a:rPr lang="en-US" dirty="0"/>
                  <a:t> is a time reported separate from the hours reported per language per context, and </a:t>
                </a:r>
                <a:r>
                  <a:rPr lang="en-US" b="1" dirty="0"/>
                  <a:t>may or may not </a:t>
                </a:r>
                <a:r>
                  <a:rPr lang="en-US" dirty="0"/>
                  <a:t>equal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h𝑜𝑢𝑟𝑠</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𝑐</m:t>
                            </m:r>
                          </m:sub>
                        </m:sSub>
                      </m:e>
                    </m:nary>
                  </m:oMath>
                </a14:m>
                <a:endParaRPr lang="en-US" dirty="0"/>
              </a:p>
            </p:txBody>
          </p:sp>
        </mc:Choice>
        <mc:Fallback xmlns="">
          <p:sp>
            <p:nvSpPr>
              <p:cNvPr id="13" name="TextBox 12">
                <a:extLst>
                  <a:ext uri="{FF2B5EF4-FFF2-40B4-BE49-F238E27FC236}">
                    <a16:creationId xmlns:a16="http://schemas.microsoft.com/office/drawing/2014/main" id="{DE98009B-04DC-C72F-ACC2-FB5599BBFEEE}"/>
                  </a:ext>
                </a:extLst>
              </p:cNvPr>
              <p:cNvSpPr txBox="1">
                <a:spLocks noRot="1" noChangeAspect="1" noMove="1" noResize="1" noEditPoints="1" noAdjustHandles="1" noChangeArrowheads="1" noChangeShapeType="1" noTextEdit="1"/>
              </p:cNvSpPr>
              <p:nvPr/>
            </p:nvSpPr>
            <p:spPr>
              <a:xfrm>
                <a:off x="6817825" y="1074009"/>
                <a:ext cx="5283201" cy="935513"/>
              </a:xfrm>
              <a:prstGeom prst="rect">
                <a:avLst/>
              </a:prstGeom>
              <a:blipFill>
                <a:blip r:embed="rId9"/>
                <a:stretch>
                  <a:fillRect l="-959" t="-2667" b="-64000"/>
                </a:stretch>
              </a:blipFill>
            </p:spPr>
            <p:txBody>
              <a:bodyPr/>
              <a:lstStyle/>
              <a:p>
                <a:r>
                  <a:rPr lang="en-US">
                    <a:noFill/>
                  </a:rPr>
                  <a:t> </a:t>
                </a:r>
              </a:p>
            </p:txBody>
          </p:sp>
        </mc:Fallback>
      </mc:AlternateContent>
    </p:spTree>
    <p:extLst>
      <p:ext uri="{BB962C8B-B14F-4D97-AF65-F5344CB8AC3E}">
        <p14:creationId xmlns:p14="http://schemas.microsoft.com/office/powerpoint/2010/main" val="26119732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graph of a number of different numbers&#10;&#10;AI-generated content may be incorrect.">
            <a:extLst>
              <a:ext uri="{FF2B5EF4-FFF2-40B4-BE49-F238E27FC236}">
                <a16:creationId xmlns:a16="http://schemas.microsoft.com/office/drawing/2014/main" id="{A90F774F-ED22-4C34-FDE2-56E297B78E87}"/>
              </a:ext>
            </a:extLst>
          </p:cNvPr>
          <p:cNvPicPr>
            <a:picLocks noChangeAspect="1"/>
          </p:cNvPicPr>
          <p:nvPr/>
        </p:nvPicPr>
        <p:blipFill>
          <a:blip r:embed="rId3"/>
          <a:stretch>
            <a:fillRect/>
          </a:stretch>
        </p:blipFill>
        <p:spPr>
          <a:xfrm>
            <a:off x="2110154" y="1691949"/>
            <a:ext cx="8358554" cy="5166051"/>
          </a:xfrm>
          <a:prstGeom prst="rect">
            <a:avLst/>
          </a:prstGeom>
        </p:spPr>
      </p:pic>
      <p:sp>
        <p:nvSpPr>
          <p:cNvPr id="3" name="Title 2">
            <a:extLst>
              <a:ext uri="{FF2B5EF4-FFF2-40B4-BE49-F238E27FC236}">
                <a16:creationId xmlns:a16="http://schemas.microsoft.com/office/drawing/2014/main" id="{B2463FB1-F5DC-134B-EE0C-EBC3353B2640}"/>
              </a:ext>
            </a:extLst>
          </p:cNvPr>
          <p:cNvSpPr>
            <a:spLocks noGrp="1"/>
          </p:cNvSpPr>
          <p:nvPr>
            <p:ph type="title"/>
          </p:nvPr>
        </p:nvSpPr>
        <p:spPr>
          <a:xfrm>
            <a:off x="873369" y="365124"/>
            <a:ext cx="10322169" cy="1325563"/>
          </a:xfrm>
        </p:spPr>
        <p:txBody>
          <a:bodyPr>
            <a:normAutofit fontScale="90000"/>
          </a:bodyPr>
          <a:lstStyle/>
          <a:p>
            <a:r>
              <a:rPr lang="en-US" dirty="0"/>
              <a:t>Most participants were strictly monolingual, but some monolinguals are passively exposed to multiple languages</a:t>
            </a:r>
          </a:p>
        </p:txBody>
      </p:sp>
      <p:pic>
        <p:nvPicPr>
          <p:cNvPr id="4" name="Graphic 3" descr="Clipboard with solid fill">
            <a:extLst>
              <a:ext uri="{FF2B5EF4-FFF2-40B4-BE49-F238E27FC236}">
                <a16:creationId xmlns:a16="http://schemas.microsoft.com/office/drawing/2014/main" id="{3FDA53AB-E5EE-5F75-399C-EBE764C09C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95538" y="113506"/>
            <a:ext cx="914400" cy="914400"/>
          </a:xfrm>
          <a:prstGeom prst="rect">
            <a:avLst/>
          </a:prstGeom>
        </p:spPr>
      </p:pic>
    </p:spTree>
    <p:extLst>
      <p:ext uri="{BB962C8B-B14F-4D97-AF65-F5344CB8AC3E}">
        <p14:creationId xmlns:p14="http://schemas.microsoft.com/office/powerpoint/2010/main" val="9277138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4A2DFA4-1F45-8B3C-DDE1-A83103625F03}"/>
              </a:ext>
            </a:extLst>
          </p:cNvPr>
          <p:cNvGrpSpPr/>
          <p:nvPr/>
        </p:nvGrpSpPr>
        <p:grpSpPr>
          <a:xfrm>
            <a:off x="484094" y="663388"/>
            <a:ext cx="11331388" cy="5827059"/>
            <a:chOff x="484094" y="663388"/>
            <a:chExt cx="11331388" cy="5827059"/>
          </a:xfrm>
        </p:grpSpPr>
        <p:grpSp>
          <p:nvGrpSpPr>
            <p:cNvPr id="8" name="Group 7">
              <a:extLst>
                <a:ext uri="{FF2B5EF4-FFF2-40B4-BE49-F238E27FC236}">
                  <a16:creationId xmlns:a16="http://schemas.microsoft.com/office/drawing/2014/main" id="{519DB6AF-99A9-ADEB-BC62-EDBEC42BB466}"/>
                </a:ext>
              </a:extLst>
            </p:cNvPr>
            <p:cNvGrpSpPr/>
            <p:nvPr/>
          </p:nvGrpSpPr>
          <p:grpSpPr>
            <a:xfrm>
              <a:off x="484094" y="663388"/>
              <a:ext cx="11331388" cy="5827059"/>
              <a:chOff x="484094" y="663388"/>
              <a:chExt cx="11331388" cy="5827059"/>
            </a:xfrm>
          </p:grpSpPr>
          <p:cxnSp>
            <p:nvCxnSpPr>
              <p:cNvPr id="5" name="Straight Connector 4">
                <a:extLst>
                  <a:ext uri="{FF2B5EF4-FFF2-40B4-BE49-F238E27FC236}">
                    <a16:creationId xmlns:a16="http://schemas.microsoft.com/office/drawing/2014/main" id="{48D3EC28-2950-7839-9ADB-9049AD81BFB4}"/>
                  </a:ext>
                </a:extLst>
              </p:cNvPr>
              <p:cNvCxnSpPr>
                <a:cxnSpLocks/>
              </p:cNvCxnSpPr>
              <p:nvPr/>
            </p:nvCxnSpPr>
            <p:spPr>
              <a:xfrm>
                <a:off x="2878015" y="3516923"/>
                <a:ext cx="6435969" cy="0"/>
              </a:xfrm>
              <a:prstGeom prst="line">
                <a:avLst/>
              </a:prstGeom>
              <a:ln w="3810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2A7D0212-95BD-3433-1C9B-69D4775F2480}"/>
                  </a:ext>
                </a:extLst>
              </p:cNvPr>
              <p:cNvSpPr txBox="1"/>
              <p:nvPr/>
            </p:nvSpPr>
            <p:spPr>
              <a:xfrm>
                <a:off x="918775" y="3105834"/>
                <a:ext cx="1555362" cy="646331"/>
              </a:xfrm>
              <a:prstGeom prst="rect">
                <a:avLst/>
              </a:prstGeom>
              <a:noFill/>
            </p:spPr>
            <p:txBody>
              <a:bodyPr wrap="none" rtlCol="0">
                <a:spAutoFit/>
              </a:bodyPr>
              <a:lstStyle/>
              <a:p>
                <a:pPr algn="ctr"/>
                <a:r>
                  <a:rPr lang="en-US" sz="3600" dirty="0"/>
                  <a:t>reason</a:t>
                </a:r>
              </a:p>
            </p:txBody>
          </p:sp>
          <p:sp>
            <p:nvSpPr>
              <p:cNvPr id="3" name="TextBox 2">
                <a:extLst>
                  <a:ext uri="{FF2B5EF4-FFF2-40B4-BE49-F238E27FC236}">
                    <a16:creationId xmlns:a16="http://schemas.microsoft.com/office/drawing/2014/main" id="{372DC601-F5BC-5826-626C-F2504D50DC82}"/>
                  </a:ext>
                </a:extLst>
              </p:cNvPr>
              <p:cNvSpPr txBox="1"/>
              <p:nvPr/>
            </p:nvSpPr>
            <p:spPr>
              <a:xfrm>
                <a:off x="9892654" y="3105833"/>
                <a:ext cx="1172117" cy="646331"/>
              </a:xfrm>
              <a:prstGeom prst="rect">
                <a:avLst/>
              </a:prstGeom>
              <a:noFill/>
            </p:spPr>
            <p:txBody>
              <a:bodyPr wrap="none" rtlCol="0">
                <a:spAutoFit/>
              </a:bodyPr>
              <a:lstStyle/>
              <a:p>
                <a:pPr algn="ctr"/>
                <a:r>
                  <a:rPr lang="en-US" sz="3600" dirty="0"/>
                  <a:t>risen</a:t>
                </a:r>
              </a:p>
            </p:txBody>
          </p:sp>
          <p:sp>
            <p:nvSpPr>
              <p:cNvPr id="4" name="Rectangle 3">
                <a:extLst>
                  <a:ext uri="{FF2B5EF4-FFF2-40B4-BE49-F238E27FC236}">
                    <a16:creationId xmlns:a16="http://schemas.microsoft.com/office/drawing/2014/main" id="{BD484007-1B01-E6AE-175C-6ED05661E52F}"/>
                  </a:ext>
                </a:extLst>
              </p:cNvPr>
              <p:cNvSpPr/>
              <p:nvPr/>
            </p:nvSpPr>
            <p:spPr>
              <a:xfrm>
                <a:off x="484094" y="663388"/>
                <a:ext cx="11331388" cy="58270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DD4FAF7F-45B4-869C-28D3-8E2332B6B61A}"/>
                </a:ext>
              </a:extLst>
            </p:cNvPr>
            <p:cNvSpPr txBox="1"/>
            <p:nvPr/>
          </p:nvSpPr>
          <p:spPr>
            <a:xfrm>
              <a:off x="3079548" y="4737865"/>
              <a:ext cx="6032902" cy="1200329"/>
            </a:xfrm>
            <a:prstGeom prst="rect">
              <a:avLst/>
            </a:prstGeom>
            <a:noFill/>
          </p:spPr>
          <p:txBody>
            <a:bodyPr wrap="square" rtlCol="0">
              <a:spAutoFit/>
            </a:bodyPr>
            <a:lstStyle/>
            <a:p>
              <a:pPr algn="ctr"/>
              <a:r>
                <a:rPr lang="en-US" sz="2400" dirty="0"/>
                <a:t>Click on the slider based on what you think the word sounded like, then press the Spacebar to continue.</a:t>
              </a:r>
            </a:p>
          </p:txBody>
        </p:sp>
      </p:grpSp>
      <p:pic>
        <p:nvPicPr>
          <p:cNvPr id="10" name="Graphic 9" descr="Swipe Gesture with solid fill">
            <a:extLst>
              <a:ext uri="{FF2B5EF4-FFF2-40B4-BE49-F238E27FC236}">
                <a16:creationId xmlns:a16="http://schemas.microsoft.com/office/drawing/2014/main" id="{1E358D8F-B81A-C24E-9A6C-F4922918DAC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0682" y="0"/>
            <a:ext cx="914400" cy="914400"/>
          </a:xfrm>
          <a:prstGeom prst="rect">
            <a:avLst/>
          </a:prstGeom>
        </p:spPr>
      </p:pic>
      <p:pic>
        <p:nvPicPr>
          <p:cNvPr id="11" name="I_IH_spec_1_dur_3">
            <a:hlinkClick r:id="" action="ppaction://media"/>
            <a:extLst>
              <a:ext uri="{FF2B5EF4-FFF2-40B4-BE49-F238E27FC236}">
                <a16:creationId xmlns:a16="http://schemas.microsoft.com/office/drawing/2014/main" id="{890B76E8-344F-4C95-7885-75EFE952AB19}"/>
              </a:ext>
            </a:extLst>
          </p:cNvPr>
          <p:cNvPicPr>
            <a:picLocks noChangeAspect="1"/>
          </p:cNvPicPr>
          <p:nvPr>
            <a:audioFile r:link="rId2"/>
            <p:extLst>
              <p:ext uri="{DAA4B4D4-6D71-4841-9C94-3DE7FCFB9230}">
                <p14:media xmlns:p14="http://schemas.microsoft.com/office/powerpoint/2010/main" r:embed="rId1"/>
              </p:ext>
            </p:extLst>
          </p:nvPr>
        </p:nvPicPr>
        <p:blipFill>
          <a:blip r:embed="rId19"/>
          <a:stretch>
            <a:fillRect/>
          </a:stretch>
        </p:blipFill>
        <p:spPr>
          <a:xfrm>
            <a:off x="1368885" y="2274216"/>
            <a:ext cx="812800" cy="812800"/>
          </a:xfrm>
          <a:prstGeom prst="rect">
            <a:avLst/>
          </a:prstGeom>
        </p:spPr>
      </p:pic>
      <p:pic>
        <p:nvPicPr>
          <p:cNvPr id="12" name="I_IH_spec_2_dur_3">
            <a:hlinkClick r:id="" action="ppaction://media"/>
            <a:extLst>
              <a:ext uri="{FF2B5EF4-FFF2-40B4-BE49-F238E27FC236}">
                <a16:creationId xmlns:a16="http://schemas.microsoft.com/office/drawing/2014/main" id="{5E9A585E-B2BC-CF87-A3FF-4E2A172501A3}"/>
              </a:ext>
            </a:extLst>
          </p:cNvPr>
          <p:cNvPicPr>
            <a:picLocks noChangeAspect="1"/>
          </p:cNvPicPr>
          <p:nvPr>
            <a:audioFile r:link="rId4"/>
            <p:extLst>
              <p:ext uri="{DAA4B4D4-6D71-4841-9C94-3DE7FCFB9230}">
                <p14:media xmlns:p14="http://schemas.microsoft.com/office/powerpoint/2010/main" r:embed="rId3"/>
              </p:ext>
            </p:extLst>
          </p:nvPr>
        </p:nvPicPr>
        <p:blipFill>
          <a:blip r:embed="rId19"/>
          <a:stretch>
            <a:fillRect/>
          </a:stretch>
        </p:blipFill>
        <p:spPr>
          <a:xfrm>
            <a:off x="2942072" y="2256785"/>
            <a:ext cx="812800" cy="812800"/>
          </a:xfrm>
          <a:prstGeom prst="rect">
            <a:avLst/>
          </a:prstGeom>
        </p:spPr>
      </p:pic>
      <p:pic>
        <p:nvPicPr>
          <p:cNvPr id="13" name="I_IH_spec_3_dur_3">
            <a:hlinkClick r:id="" action="ppaction://media"/>
            <a:extLst>
              <a:ext uri="{FF2B5EF4-FFF2-40B4-BE49-F238E27FC236}">
                <a16:creationId xmlns:a16="http://schemas.microsoft.com/office/drawing/2014/main" id="{E87AFF70-2410-A94D-E069-6F386690A9A1}"/>
              </a:ext>
            </a:extLst>
          </p:cNvPr>
          <p:cNvPicPr>
            <a:picLocks noChangeAspect="1"/>
          </p:cNvPicPr>
          <p:nvPr>
            <a:audioFile r:link="rId6"/>
            <p:extLst>
              <p:ext uri="{DAA4B4D4-6D71-4841-9C94-3DE7FCFB9230}">
                <p14:media xmlns:p14="http://schemas.microsoft.com/office/powerpoint/2010/main" r:embed="rId5"/>
              </p:ext>
            </p:extLst>
          </p:nvPr>
        </p:nvPicPr>
        <p:blipFill>
          <a:blip r:embed="rId19"/>
          <a:stretch>
            <a:fillRect/>
          </a:stretch>
        </p:blipFill>
        <p:spPr>
          <a:xfrm>
            <a:off x="4488956" y="2274216"/>
            <a:ext cx="812800" cy="812800"/>
          </a:xfrm>
          <a:prstGeom prst="rect">
            <a:avLst/>
          </a:prstGeom>
        </p:spPr>
      </p:pic>
      <p:pic>
        <p:nvPicPr>
          <p:cNvPr id="14" name="I_IH_spec_4_dur_3">
            <a:hlinkClick r:id="" action="ppaction://media"/>
            <a:extLst>
              <a:ext uri="{FF2B5EF4-FFF2-40B4-BE49-F238E27FC236}">
                <a16:creationId xmlns:a16="http://schemas.microsoft.com/office/drawing/2014/main" id="{FFA5FEBF-423B-7D69-D5D3-19B0F3EB5234}"/>
              </a:ext>
            </a:extLst>
          </p:cNvPr>
          <p:cNvPicPr>
            <a:picLocks noChangeAspect="1"/>
          </p:cNvPicPr>
          <p:nvPr>
            <a:audioFile r:link="rId8"/>
            <p:extLst>
              <p:ext uri="{DAA4B4D4-6D71-4841-9C94-3DE7FCFB9230}">
                <p14:media xmlns:p14="http://schemas.microsoft.com/office/powerpoint/2010/main" r:embed="rId7"/>
              </p:ext>
            </p:extLst>
          </p:nvPr>
        </p:nvPicPr>
        <p:blipFill>
          <a:blip r:embed="rId19"/>
          <a:stretch>
            <a:fillRect/>
          </a:stretch>
        </p:blipFill>
        <p:spPr>
          <a:xfrm>
            <a:off x="5832844" y="2256785"/>
            <a:ext cx="812800" cy="812800"/>
          </a:xfrm>
          <a:prstGeom prst="rect">
            <a:avLst/>
          </a:prstGeom>
        </p:spPr>
      </p:pic>
      <p:pic>
        <p:nvPicPr>
          <p:cNvPr id="15" name="I_IH_spec_5_dur_3">
            <a:hlinkClick r:id="" action="ppaction://media"/>
            <a:extLst>
              <a:ext uri="{FF2B5EF4-FFF2-40B4-BE49-F238E27FC236}">
                <a16:creationId xmlns:a16="http://schemas.microsoft.com/office/drawing/2014/main" id="{3411C8DE-1DEB-68BD-A1D7-E9A6F68C9797}"/>
              </a:ext>
            </a:extLst>
          </p:cNvPr>
          <p:cNvPicPr>
            <a:picLocks noChangeAspect="1"/>
          </p:cNvPicPr>
          <p:nvPr>
            <a:audioFile r:link="rId10"/>
            <p:extLst>
              <p:ext uri="{DAA4B4D4-6D71-4841-9C94-3DE7FCFB9230}">
                <p14:media xmlns:p14="http://schemas.microsoft.com/office/powerpoint/2010/main" r:embed="rId9"/>
              </p:ext>
            </p:extLst>
          </p:nvPr>
        </p:nvPicPr>
        <p:blipFill>
          <a:blip r:embed="rId19"/>
          <a:stretch>
            <a:fillRect/>
          </a:stretch>
        </p:blipFill>
        <p:spPr>
          <a:xfrm>
            <a:off x="7475536" y="2256785"/>
            <a:ext cx="812800" cy="812800"/>
          </a:xfrm>
          <a:prstGeom prst="rect">
            <a:avLst/>
          </a:prstGeom>
        </p:spPr>
      </p:pic>
      <p:pic>
        <p:nvPicPr>
          <p:cNvPr id="16" name="I_IH_spec_6_dur_3">
            <a:hlinkClick r:id="" action="ppaction://media"/>
            <a:extLst>
              <a:ext uri="{FF2B5EF4-FFF2-40B4-BE49-F238E27FC236}">
                <a16:creationId xmlns:a16="http://schemas.microsoft.com/office/drawing/2014/main" id="{A0A6625D-93D2-B8E1-D89B-90D269669FD0}"/>
              </a:ext>
            </a:extLst>
          </p:cNvPr>
          <p:cNvPicPr>
            <a:picLocks noChangeAspect="1"/>
          </p:cNvPicPr>
          <p:nvPr>
            <a:audioFile r:link="rId12"/>
            <p:extLst>
              <p:ext uri="{DAA4B4D4-6D71-4841-9C94-3DE7FCFB9230}">
                <p14:media xmlns:p14="http://schemas.microsoft.com/office/powerpoint/2010/main" r:embed="rId11"/>
              </p:ext>
            </p:extLst>
          </p:nvPr>
        </p:nvPicPr>
        <p:blipFill>
          <a:blip r:embed="rId19"/>
          <a:stretch>
            <a:fillRect/>
          </a:stretch>
        </p:blipFill>
        <p:spPr>
          <a:xfrm>
            <a:off x="8977124" y="2256785"/>
            <a:ext cx="812800" cy="812800"/>
          </a:xfrm>
          <a:prstGeom prst="rect">
            <a:avLst/>
          </a:prstGeom>
        </p:spPr>
      </p:pic>
      <p:pic>
        <p:nvPicPr>
          <p:cNvPr id="17" name="I_IH_spec_7_dur_3">
            <a:hlinkClick r:id="" action="ppaction://media"/>
            <a:extLst>
              <a:ext uri="{FF2B5EF4-FFF2-40B4-BE49-F238E27FC236}">
                <a16:creationId xmlns:a16="http://schemas.microsoft.com/office/drawing/2014/main" id="{8226B8F8-1753-ED77-38AC-D7C2B53F7090}"/>
              </a:ext>
            </a:extLst>
          </p:cNvPr>
          <p:cNvPicPr>
            <a:picLocks noChangeAspect="1"/>
          </p:cNvPicPr>
          <p:nvPr>
            <a:audioFile r:link="rId14"/>
            <p:extLst>
              <p:ext uri="{DAA4B4D4-6D71-4841-9C94-3DE7FCFB9230}">
                <p14:media xmlns:p14="http://schemas.microsoft.com/office/powerpoint/2010/main" r:embed="rId13"/>
              </p:ext>
            </p:extLst>
          </p:nvPr>
        </p:nvPicPr>
        <p:blipFill>
          <a:blip r:embed="rId19"/>
          <a:stretch>
            <a:fillRect/>
          </a:stretch>
        </p:blipFill>
        <p:spPr>
          <a:xfrm>
            <a:off x="10423742" y="2256785"/>
            <a:ext cx="812800" cy="812800"/>
          </a:xfrm>
          <a:prstGeom prst="rect">
            <a:avLst/>
          </a:prstGeom>
        </p:spPr>
      </p:pic>
    </p:spTree>
    <p:extLst>
      <p:ext uri="{BB962C8B-B14F-4D97-AF65-F5344CB8AC3E}">
        <p14:creationId xmlns:p14="http://schemas.microsoft.com/office/powerpoint/2010/main" val="92677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5" fill="hold"/>
                                        <p:tgtEl>
                                          <p:spTgt spid="11"/>
                                        </p:tgtEl>
                                      </p:cBhvr>
                                    </p:cmd>
                                  </p:childTnLst>
                                </p:cTn>
                              </p:par>
                            </p:childTnLst>
                          </p:cTn>
                        </p:par>
                        <p:par>
                          <p:cTn id="7" fill="hold">
                            <p:stCondLst>
                              <p:cond delay="705"/>
                            </p:stCondLst>
                            <p:childTnLst>
                              <p:par>
                                <p:cTn id="8" presetID="1" presetClass="mediacall" presetSubtype="0" fill="hold" nodeType="afterEffect">
                                  <p:stCondLst>
                                    <p:cond delay="250"/>
                                  </p:stCondLst>
                                  <p:childTnLst>
                                    <p:cmd type="call" cmd="playFrom(0.0)">
                                      <p:cBhvr>
                                        <p:cTn id="9" dur="705" fill="hold"/>
                                        <p:tgtEl>
                                          <p:spTgt spid="12"/>
                                        </p:tgtEl>
                                      </p:cBhvr>
                                    </p:cmd>
                                  </p:childTnLst>
                                </p:cTn>
                              </p:par>
                            </p:childTnLst>
                          </p:cTn>
                        </p:par>
                        <p:par>
                          <p:cTn id="10" fill="hold">
                            <p:stCondLst>
                              <p:cond delay="1660"/>
                            </p:stCondLst>
                            <p:childTnLst>
                              <p:par>
                                <p:cTn id="11" presetID="1" presetClass="mediacall" presetSubtype="0" fill="hold" nodeType="afterEffect">
                                  <p:stCondLst>
                                    <p:cond delay="250"/>
                                  </p:stCondLst>
                                  <p:childTnLst>
                                    <p:cmd type="call" cmd="playFrom(0.0)">
                                      <p:cBhvr>
                                        <p:cTn id="12" dur="705" fill="hold"/>
                                        <p:tgtEl>
                                          <p:spTgt spid="13"/>
                                        </p:tgtEl>
                                      </p:cBhvr>
                                    </p:cmd>
                                  </p:childTnLst>
                                </p:cTn>
                              </p:par>
                            </p:childTnLst>
                          </p:cTn>
                        </p:par>
                        <p:par>
                          <p:cTn id="13" fill="hold">
                            <p:stCondLst>
                              <p:cond delay="2615"/>
                            </p:stCondLst>
                            <p:childTnLst>
                              <p:par>
                                <p:cTn id="14" presetID="1" presetClass="mediacall" presetSubtype="0" fill="hold" nodeType="afterEffect">
                                  <p:stCondLst>
                                    <p:cond delay="250"/>
                                  </p:stCondLst>
                                  <p:childTnLst>
                                    <p:cmd type="call" cmd="playFrom(0.0)">
                                      <p:cBhvr>
                                        <p:cTn id="15" dur="705" fill="hold"/>
                                        <p:tgtEl>
                                          <p:spTgt spid="14"/>
                                        </p:tgtEl>
                                      </p:cBhvr>
                                    </p:cmd>
                                  </p:childTnLst>
                                </p:cTn>
                              </p:par>
                            </p:childTnLst>
                          </p:cTn>
                        </p:par>
                        <p:par>
                          <p:cTn id="16" fill="hold">
                            <p:stCondLst>
                              <p:cond delay="3570"/>
                            </p:stCondLst>
                            <p:childTnLst>
                              <p:par>
                                <p:cTn id="17" presetID="1" presetClass="mediacall" presetSubtype="0" fill="hold" nodeType="afterEffect">
                                  <p:stCondLst>
                                    <p:cond delay="250"/>
                                  </p:stCondLst>
                                  <p:childTnLst>
                                    <p:cmd type="call" cmd="playFrom(0.0)">
                                      <p:cBhvr>
                                        <p:cTn id="18" dur="705" fill="hold"/>
                                        <p:tgtEl>
                                          <p:spTgt spid="15"/>
                                        </p:tgtEl>
                                      </p:cBhvr>
                                    </p:cmd>
                                  </p:childTnLst>
                                </p:cTn>
                              </p:par>
                            </p:childTnLst>
                          </p:cTn>
                        </p:par>
                        <p:par>
                          <p:cTn id="19" fill="hold">
                            <p:stCondLst>
                              <p:cond delay="4525"/>
                            </p:stCondLst>
                            <p:childTnLst>
                              <p:par>
                                <p:cTn id="20" presetID="1" presetClass="mediacall" presetSubtype="0" fill="hold" nodeType="afterEffect">
                                  <p:stCondLst>
                                    <p:cond delay="250"/>
                                  </p:stCondLst>
                                  <p:childTnLst>
                                    <p:cmd type="call" cmd="playFrom(0.0)">
                                      <p:cBhvr>
                                        <p:cTn id="21" dur="705" fill="hold"/>
                                        <p:tgtEl>
                                          <p:spTgt spid="16"/>
                                        </p:tgtEl>
                                      </p:cBhvr>
                                    </p:cmd>
                                  </p:childTnLst>
                                </p:cTn>
                              </p:par>
                            </p:childTnLst>
                          </p:cTn>
                        </p:par>
                        <p:par>
                          <p:cTn id="22" fill="hold">
                            <p:stCondLst>
                              <p:cond delay="5480"/>
                            </p:stCondLst>
                            <p:childTnLst>
                              <p:par>
                                <p:cTn id="23" presetID="1" presetClass="mediacall" presetSubtype="0" fill="hold" nodeType="afterEffect">
                                  <p:stCondLst>
                                    <p:cond delay="250"/>
                                  </p:stCondLst>
                                  <p:childTnLst>
                                    <p:cmd type="call" cmd="playFrom(0.0)">
                                      <p:cBhvr>
                                        <p:cTn id="24" dur="705"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5" fill="hold" display="0">
                  <p:stCondLst>
                    <p:cond delay="indefinite"/>
                  </p:stCondLst>
                  <p:endCondLst>
                    <p:cond evt="onStopAudio" delay="0">
                      <p:tgtEl>
                        <p:sldTgt/>
                      </p:tgtEl>
                    </p:cond>
                  </p:endCondLst>
                </p:cTn>
                <p:tgtEl>
                  <p:spTgt spid="11"/>
                </p:tgtEl>
              </p:cMediaNode>
            </p:audio>
            <p:audio>
              <p:cMediaNode vol="80000" showWhenStopped="0">
                <p:cTn id="26" fill="hold" display="0">
                  <p:stCondLst>
                    <p:cond delay="indefinite"/>
                  </p:stCondLst>
                  <p:endCondLst>
                    <p:cond evt="onStopAudio" delay="0">
                      <p:tgtEl>
                        <p:sldTgt/>
                      </p:tgtEl>
                    </p:cond>
                  </p:endCondLst>
                </p:cTn>
                <p:tgtEl>
                  <p:spTgt spid="12"/>
                </p:tgtEl>
              </p:cMediaNode>
            </p:audio>
            <p:audio>
              <p:cMediaNode vol="80000" showWhenStopped="0">
                <p:cTn id="27" fill="hold" display="0">
                  <p:stCondLst>
                    <p:cond delay="indefinite"/>
                  </p:stCondLst>
                  <p:endCondLst>
                    <p:cond evt="onStopAudio" delay="0">
                      <p:tgtEl>
                        <p:sldTgt/>
                      </p:tgtEl>
                    </p:cond>
                  </p:endCondLst>
                </p:cTn>
                <p:tgtEl>
                  <p:spTgt spid="13"/>
                </p:tgtEl>
              </p:cMediaNode>
            </p:audio>
            <p:audio>
              <p:cMediaNode vol="80000" showWhenStopped="0">
                <p:cTn id="28" fill="hold" display="0">
                  <p:stCondLst>
                    <p:cond delay="indefinite"/>
                  </p:stCondLst>
                  <p:endCondLst>
                    <p:cond evt="onStopAudio" delay="0">
                      <p:tgtEl>
                        <p:sldTgt/>
                      </p:tgtEl>
                    </p:cond>
                  </p:endCondLst>
                </p:cTn>
                <p:tgtEl>
                  <p:spTgt spid="14"/>
                </p:tgtEl>
              </p:cMediaNode>
            </p:audio>
            <p:audio>
              <p:cMediaNode vol="80000" showWhenStopped="0">
                <p:cTn id="29" fill="hold" display="0">
                  <p:stCondLst>
                    <p:cond delay="indefinite"/>
                  </p:stCondLst>
                  <p:endCondLst>
                    <p:cond evt="onStopAudio" delay="0">
                      <p:tgtEl>
                        <p:sldTgt/>
                      </p:tgtEl>
                    </p:cond>
                  </p:endCondLst>
                </p:cTn>
                <p:tgtEl>
                  <p:spTgt spid="15"/>
                </p:tgtEl>
              </p:cMediaNode>
            </p:audio>
            <p:audio>
              <p:cMediaNode vol="80000" showWhenStopped="0">
                <p:cTn id="30" fill="hold" display="0">
                  <p:stCondLst>
                    <p:cond delay="indefinite"/>
                  </p:stCondLst>
                  <p:endCondLst>
                    <p:cond evt="onStopAudio" delay="0">
                      <p:tgtEl>
                        <p:sldTgt/>
                      </p:tgtEl>
                    </p:cond>
                  </p:endCondLst>
                </p:cTn>
                <p:tgtEl>
                  <p:spTgt spid="16"/>
                </p:tgtEl>
              </p:cMediaNode>
            </p:audio>
            <p:audio>
              <p:cMediaNode vol="80000" showWhenStopped="0">
                <p:cTn id="31" fill="hold" display="0">
                  <p:stCondLst>
                    <p:cond delay="indefinite"/>
                  </p:stCondLst>
                  <p:endCondLst>
                    <p:cond evt="onStopAudio" delay="0">
                      <p:tgtEl>
                        <p:sldTgt/>
                      </p:tgtEl>
                    </p:cond>
                  </p:endCondLst>
                </p:cTn>
                <p:tgtEl>
                  <p:spTgt spid="17"/>
                </p:tgtEl>
              </p:cMediaNode>
            </p:audio>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A graph showing the slope and slope&#10;&#10;AI-generated content may be incorrect.">
            <a:extLst>
              <a:ext uri="{FF2B5EF4-FFF2-40B4-BE49-F238E27FC236}">
                <a16:creationId xmlns:a16="http://schemas.microsoft.com/office/drawing/2014/main" id="{20F86ED8-85B6-B920-BB6F-7BCC5399E5D3}"/>
              </a:ext>
            </a:extLst>
          </p:cNvPr>
          <p:cNvPicPr>
            <a:picLocks noChangeAspect="1"/>
          </p:cNvPicPr>
          <p:nvPr/>
        </p:nvPicPr>
        <p:blipFill>
          <a:blip r:embed="rId2"/>
          <a:stretch>
            <a:fillRect/>
          </a:stretch>
        </p:blipFill>
        <p:spPr>
          <a:xfrm>
            <a:off x="1138682" y="365102"/>
            <a:ext cx="9914635" cy="6127795"/>
          </a:xfrm>
          <a:prstGeom prst="rect">
            <a:avLst/>
          </a:prstGeom>
        </p:spPr>
      </p:pic>
    </p:spTree>
    <p:extLst>
      <p:ext uri="{BB962C8B-B14F-4D97-AF65-F5344CB8AC3E}">
        <p14:creationId xmlns:p14="http://schemas.microsoft.com/office/powerpoint/2010/main" val="40606827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graph with blue dots&#10;&#10;AI-generated content may be incorrect.">
            <a:extLst>
              <a:ext uri="{FF2B5EF4-FFF2-40B4-BE49-F238E27FC236}">
                <a16:creationId xmlns:a16="http://schemas.microsoft.com/office/drawing/2014/main" id="{3ED72E52-AC36-6FFE-6460-EF20BFF362BC}"/>
              </a:ext>
            </a:extLst>
          </p:cNvPr>
          <p:cNvPicPr>
            <a:picLocks noChangeAspect="1"/>
          </p:cNvPicPr>
          <p:nvPr/>
        </p:nvPicPr>
        <p:blipFill>
          <a:blip r:embed="rId2"/>
          <a:stretch>
            <a:fillRect/>
          </a:stretch>
        </p:blipFill>
        <p:spPr>
          <a:xfrm>
            <a:off x="-29670" y="1799037"/>
            <a:ext cx="12221670" cy="3259925"/>
          </a:xfrm>
          <a:prstGeom prst="rect">
            <a:avLst/>
          </a:prstGeom>
        </p:spPr>
      </p:pic>
    </p:spTree>
    <p:extLst>
      <p:ext uri="{BB962C8B-B14F-4D97-AF65-F5344CB8AC3E}">
        <p14:creationId xmlns:p14="http://schemas.microsoft.com/office/powerpoint/2010/main" val="41872033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Content Placeholder 4" descr="A chart of different colors&#10;&#10;AI-generated content may be incorrect.">
            <a:extLst>
              <a:ext uri="{FF2B5EF4-FFF2-40B4-BE49-F238E27FC236}">
                <a16:creationId xmlns:a16="http://schemas.microsoft.com/office/drawing/2014/main" id="{8BC9A94D-6C53-1B2D-9EAF-FFCBBF57CB08}"/>
              </a:ext>
            </a:extLst>
          </p:cNvPr>
          <p:cNvPicPr>
            <a:picLocks noChangeAspect="1"/>
          </p:cNvPicPr>
          <p:nvPr/>
        </p:nvPicPr>
        <p:blipFill>
          <a:blip r:embed="rId2"/>
          <a:stretch>
            <a:fillRect/>
          </a:stretch>
        </p:blipFill>
        <p:spPr>
          <a:xfrm>
            <a:off x="2868705" y="495095"/>
            <a:ext cx="6454589" cy="5867809"/>
          </a:xfrm>
          <a:prstGeom prst="rect">
            <a:avLst/>
          </a:prstGeom>
        </p:spPr>
      </p:pic>
    </p:spTree>
    <p:extLst>
      <p:ext uri="{BB962C8B-B14F-4D97-AF65-F5344CB8AC3E}">
        <p14:creationId xmlns:p14="http://schemas.microsoft.com/office/powerpoint/2010/main" val="23231404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A graph of different colored lines&#10;&#10;AI-generated content may be incorrect.">
            <a:extLst>
              <a:ext uri="{FF2B5EF4-FFF2-40B4-BE49-F238E27FC236}">
                <a16:creationId xmlns:a16="http://schemas.microsoft.com/office/drawing/2014/main" id="{666A00EB-1003-B85C-1AA0-0F0785CDF1A1}"/>
              </a:ext>
            </a:extLst>
          </p:cNvPr>
          <p:cNvPicPr>
            <a:picLocks noChangeAspect="1"/>
          </p:cNvPicPr>
          <p:nvPr/>
        </p:nvPicPr>
        <p:blipFill>
          <a:blip r:embed="rId2"/>
          <a:stretch>
            <a:fillRect/>
          </a:stretch>
        </p:blipFill>
        <p:spPr>
          <a:xfrm>
            <a:off x="2209800" y="1852246"/>
            <a:ext cx="7772400" cy="4312011"/>
          </a:xfrm>
          <a:prstGeom prst="rect">
            <a:avLst/>
          </a:prstGeom>
        </p:spPr>
      </p:pic>
    </p:spTree>
    <p:extLst>
      <p:ext uri="{BB962C8B-B14F-4D97-AF65-F5344CB8AC3E}">
        <p14:creationId xmlns:p14="http://schemas.microsoft.com/office/powerpoint/2010/main" val="15186784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group of graphs showing different types of numbers&#10;&#10;AI-generated content may be incorrect.">
            <a:extLst>
              <a:ext uri="{FF2B5EF4-FFF2-40B4-BE49-F238E27FC236}">
                <a16:creationId xmlns:a16="http://schemas.microsoft.com/office/drawing/2014/main" id="{1DA90B23-71A5-40EC-5C63-B74556E387E3}"/>
              </a:ext>
            </a:extLst>
          </p:cNvPr>
          <p:cNvPicPr>
            <a:picLocks noChangeAspect="1"/>
          </p:cNvPicPr>
          <p:nvPr/>
        </p:nvPicPr>
        <p:blipFill>
          <a:blip r:embed="rId3"/>
          <a:stretch>
            <a:fillRect/>
          </a:stretch>
        </p:blipFill>
        <p:spPr>
          <a:xfrm>
            <a:off x="1617785" y="1578322"/>
            <a:ext cx="9516619" cy="5279678"/>
          </a:xfrm>
          <a:prstGeom prst="rect">
            <a:avLst/>
          </a:prstGeom>
        </p:spPr>
      </p:pic>
    </p:spTree>
    <p:extLst>
      <p:ext uri="{BB962C8B-B14F-4D97-AF65-F5344CB8AC3E}">
        <p14:creationId xmlns:p14="http://schemas.microsoft.com/office/powerpoint/2010/main" val="24522800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collage of images of a person's body&#10;&#10;AI-generated content may be incorrect.">
            <a:extLst>
              <a:ext uri="{FF2B5EF4-FFF2-40B4-BE49-F238E27FC236}">
                <a16:creationId xmlns:a16="http://schemas.microsoft.com/office/drawing/2014/main" id="{ABEF040F-7154-51C1-87E4-A9336AB546A8}"/>
              </a:ext>
            </a:extLst>
          </p:cNvPr>
          <p:cNvPicPr>
            <a:picLocks noChangeAspect="1"/>
          </p:cNvPicPr>
          <p:nvPr/>
        </p:nvPicPr>
        <p:blipFill>
          <a:blip r:embed="rId2"/>
          <a:stretch>
            <a:fillRect/>
          </a:stretch>
        </p:blipFill>
        <p:spPr>
          <a:xfrm>
            <a:off x="1365227" y="1148863"/>
            <a:ext cx="9461546" cy="5249124"/>
          </a:xfrm>
          <a:prstGeom prst="rect">
            <a:avLst/>
          </a:prstGeom>
        </p:spPr>
      </p:pic>
    </p:spTree>
    <p:extLst>
      <p:ext uri="{BB962C8B-B14F-4D97-AF65-F5344CB8AC3E}">
        <p14:creationId xmlns:p14="http://schemas.microsoft.com/office/powerpoint/2010/main" val="1469772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group of graphs showing different sizes of results&#10;&#10;AI-generated content may be incorrect.">
            <a:extLst>
              <a:ext uri="{FF2B5EF4-FFF2-40B4-BE49-F238E27FC236}">
                <a16:creationId xmlns:a16="http://schemas.microsoft.com/office/drawing/2014/main" id="{6B09F948-2A15-FD49-9505-C1CA8BCB02A6}"/>
              </a:ext>
            </a:extLst>
          </p:cNvPr>
          <p:cNvPicPr>
            <a:picLocks noChangeAspect="1"/>
          </p:cNvPicPr>
          <p:nvPr/>
        </p:nvPicPr>
        <p:blipFill>
          <a:blip r:embed="rId3"/>
          <a:stretch>
            <a:fillRect/>
          </a:stretch>
        </p:blipFill>
        <p:spPr>
          <a:xfrm>
            <a:off x="3285853" y="54296"/>
            <a:ext cx="5620294" cy="6749408"/>
          </a:xfrm>
          <a:prstGeom prst="rect">
            <a:avLst/>
          </a:prstGeom>
        </p:spPr>
      </p:pic>
    </p:spTree>
    <p:extLst>
      <p:ext uri="{BB962C8B-B14F-4D97-AF65-F5344CB8AC3E}">
        <p14:creationId xmlns:p14="http://schemas.microsoft.com/office/powerpoint/2010/main" val="14612633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76A71-1813-EA2D-5714-856CF9F5E050}"/>
              </a:ext>
            </a:extLst>
          </p:cNvPr>
          <p:cNvSpPr>
            <a:spLocks noGrp="1"/>
          </p:cNvSpPr>
          <p:nvPr>
            <p:ph type="title"/>
          </p:nvPr>
        </p:nvSpPr>
        <p:spPr/>
        <p:txBody>
          <a:bodyPr/>
          <a:lstStyle/>
          <a:p>
            <a:r>
              <a:rPr lang="en-US" dirty="0"/>
              <a:t>Study 2 was a two-day experiment that took place at least 24 hours apart</a:t>
            </a:r>
          </a:p>
        </p:txBody>
      </p:sp>
      <p:pic>
        <p:nvPicPr>
          <p:cNvPr id="9" name="Graphic 8" descr="Swipe Gesture with solid fill">
            <a:extLst>
              <a:ext uri="{FF2B5EF4-FFF2-40B4-BE49-F238E27FC236}">
                <a16:creationId xmlns:a16="http://schemas.microsoft.com/office/drawing/2014/main" id="{22E04D9D-FFFD-6C93-FD05-53D567BE71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09442" y="2547316"/>
            <a:ext cx="914400" cy="914400"/>
          </a:xfrm>
          <a:prstGeom prst="rect">
            <a:avLst/>
          </a:prstGeom>
        </p:spPr>
      </p:pic>
      <p:pic>
        <p:nvPicPr>
          <p:cNvPr id="10" name="Graphic 9" descr="Clipboard with solid fill">
            <a:extLst>
              <a:ext uri="{FF2B5EF4-FFF2-40B4-BE49-F238E27FC236}">
                <a16:creationId xmlns:a16="http://schemas.microsoft.com/office/drawing/2014/main" id="{B5089F72-2F69-8E71-E572-7D56AFE583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95830" y="5259049"/>
            <a:ext cx="914400" cy="914400"/>
          </a:xfrm>
          <a:prstGeom prst="rect">
            <a:avLst/>
          </a:prstGeom>
        </p:spPr>
      </p:pic>
      <p:cxnSp>
        <p:nvCxnSpPr>
          <p:cNvPr id="19" name="Straight Arrow Connector 18">
            <a:extLst>
              <a:ext uri="{FF2B5EF4-FFF2-40B4-BE49-F238E27FC236}">
                <a16:creationId xmlns:a16="http://schemas.microsoft.com/office/drawing/2014/main" id="{6692AF99-E894-9222-5BC0-3D15D1F703AE}"/>
              </a:ext>
            </a:extLst>
          </p:cNvPr>
          <p:cNvCxnSpPr>
            <a:cxnSpLocks/>
          </p:cNvCxnSpPr>
          <p:nvPr/>
        </p:nvCxnSpPr>
        <p:spPr>
          <a:xfrm>
            <a:off x="3342453" y="2843358"/>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7FF5569-53E5-0A0F-DD31-5C98D7359414}"/>
              </a:ext>
            </a:extLst>
          </p:cNvPr>
          <p:cNvSpPr txBox="1"/>
          <p:nvPr/>
        </p:nvSpPr>
        <p:spPr>
          <a:xfrm rot="16200000">
            <a:off x="-190126" y="2842418"/>
            <a:ext cx="1049646" cy="523220"/>
          </a:xfrm>
          <a:prstGeom prst="rect">
            <a:avLst/>
          </a:prstGeom>
          <a:noFill/>
        </p:spPr>
        <p:txBody>
          <a:bodyPr wrap="none" rtlCol="0">
            <a:spAutoFit/>
          </a:bodyPr>
          <a:lstStyle/>
          <a:p>
            <a:r>
              <a:rPr lang="en-US" sz="2800" dirty="0"/>
              <a:t>Day 1</a:t>
            </a:r>
          </a:p>
        </p:txBody>
      </p:sp>
      <p:sp>
        <p:nvSpPr>
          <p:cNvPr id="7" name="TextBox 6">
            <a:extLst>
              <a:ext uri="{FF2B5EF4-FFF2-40B4-BE49-F238E27FC236}">
                <a16:creationId xmlns:a16="http://schemas.microsoft.com/office/drawing/2014/main" id="{7A763679-A7E3-BF57-82E9-65B31668F781}"/>
              </a:ext>
            </a:extLst>
          </p:cNvPr>
          <p:cNvSpPr txBox="1"/>
          <p:nvPr/>
        </p:nvSpPr>
        <p:spPr>
          <a:xfrm rot="16200000">
            <a:off x="-179710" y="5370869"/>
            <a:ext cx="1049646" cy="523220"/>
          </a:xfrm>
          <a:prstGeom prst="rect">
            <a:avLst/>
          </a:prstGeom>
          <a:noFill/>
        </p:spPr>
        <p:txBody>
          <a:bodyPr wrap="none" rtlCol="0">
            <a:spAutoFit/>
          </a:bodyPr>
          <a:lstStyle/>
          <a:p>
            <a:r>
              <a:rPr lang="en-US" sz="2800" dirty="0"/>
              <a:t>Day 2</a:t>
            </a:r>
          </a:p>
        </p:txBody>
      </p:sp>
      <p:pic>
        <p:nvPicPr>
          <p:cNvPr id="8" name="Graphic 7" descr="Ear with solid fill">
            <a:extLst>
              <a:ext uri="{FF2B5EF4-FFF2-40B4-BE49-F238E27FC236}">
                <a16:creationId xmlns:a16="http://schemas.microsoft.com/office/drawing/2014/main" id="{8A3AD579-7018-C288-6AF9-AE084107470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14715" y="5188897"/>
            <a:ext cx="914400" cy="914400"/>
          </a:xfrm>
          <a:prstGeom prst="rect">
            <a:avLst/>
          </a:prstGeom>
        </p:spPr>
      </p:pic>
      <p:cxnSp>
        <p:nvCxnSpPr>
          <p:cNvPr id="18" name="Straight Arrow Connector 17">
            <a:extLst>
              <a:ext uri="{FF2B5EF4-FFF2-40B4-BE49-F238E27FC236}">
                <a16:creationId xmlns:a16="http://schemas.microsoft.com/office/drawing/2014/main" id="{3234C9E3-E3CB-D3C5-1CC2-06250C8F89AD}"/>
              </a:ext>
            </a:extLst>
          </p:cNvPr>
          <p:cNvCxnSpPr>
            <a:cxnSpLocks/>
          </p:cNvCxnSpPr>
          <p:nvPr/>
        </p:nvCxnSpPr>
        <p:spPr>
          <a:xfrm>
            <a:off x="6635618" y="2843358"/>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22" name="Graphic 21" descr="Chat with solid fill">
            <a:extLst>
              <a:ext uri="{FF2B5EF4-FFF2-40B4-BE49-F238E27FC236}">
                <a16:creationId xmlns:a16="http://schemas.microsoft.com/office/drawing/2014/main" id="{ECBB88E5-9159-A737-5B65-491650A3BC0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00312" y="2431233"/>
            <a:ext cx="914400" cy="914400"/>
          </a:xfrm>
          <a:prstGeom prst="rect">
            <a:avLst/>
          </a:prstGeom>
        </p:spPr>
      </p:pic>
      <p:cxnSp>
        <p:nvCxnSpPr>
          <p:cNvPr id="23" name="Straight Arrow Connector 22">
            <a:extLst>
              <a:ext uri="{FF2B5EF4-FFF2-40B4-BE49-F238E27FC236}">
                <a16:creationId xmlns:a16="http://schemas.microsoft.com/office/drawing/2014/main" id="{48BF1785-8E24-A286-F31D-873C541AC4EA}"/>
              </a:ext>
            </a:extLst>
          </p:cNvPr>
          <p:cNvCxnSpPr>
            <a:cxnSpLocks/>
          </p:cNvCxnSpPr>
          <p:nvPr/>
        </p:nvCxnSpPr>
        <p:spPr>
          <a:xfrm>
            <a:off x="10451367" y="2884043"/>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24" name="Graphic 23" descr="Ear with solid fill">
            <a:extLst>
              <a:ext uri="{FF2B5EF4-FFF2-40B4-BE49-F238E27FC236}">
                <a16:creationId xmlns:a16="http://schemas.microsoft.com/office/drawing/2014/main" id="{B409F680-63DD-1D48-8FEE-256A9CBEE7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43011" y="2460093"/>
            <a:ext cx="914400" cy="914400"/>
          </a:xfrm>
          <a:prstGeom prst="rect">
            <a:avLst/>
          </a:prstGeom>
        </p:spPr>
      </p:pic>
      <p:pic>
        <p:nvPicPr>
          <p:cNvPr id="25" name="Graphic 24" descr="Swipe Gesture with solid fill">
            <a:extLst>
              <a:ext uri="{FF2B5EF4-FFF2-40B4-BE49-F238E27FC236}">
                <a16:creationId xmlns:a16="http://schemas.microsoft.com/office/drawing/2014/main" id="{B11CFC29-3A6E-8B9E-86D1-13AF6FD0B0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2118" y="5226367"/>
            <a:ext cx="914400" cy="914400"/>
          </a:xfrm>
          <a:prstGeom prst="rect">
            <a:avLst/>
          </a:prstGeom>
        </p:spPr>
      </p:pic>
      <p:cxnSp>
        <p:nvCxnSpPr>
          <p:cNvPr id="26" name="Straight Arrow Connector 25">
            <a:extLst>
              <a:ext uri="{FF2B5EF4-FFF2-40B4-BE49-F238E27FC236}">
                <a16:creationId xmlns:a16="http://schemas.microsoft.com/office/drawing/2014/main" id="{0F74F5E5-B62B-A744-BECC-5FAFF1017DA6}"/>
              </a:ext>
            </a:extLst>
          </p:cNvPr>
          <p:cNvCxnSpPr>
            <a:cxnSpLocks/>
          </p:cNvCxnSpPr>
          <p:nvPr/>
        </p:nvCxnSpPr>
        <p:spPr>
          <a:xfrm>
            <a:off x="3485696" y="5716817"/>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4954BFB-2CA3-E9A0-8A5A-2C0CEB4C0176}"/>
              </a:ext>
            </a:extLst>
          </p:cNvPr>
          <p:cNvCxnSpPr>
            <a:cxnSpLocks/>
          </p:cNvCxnSpPr>
          <p:nvPr/>
        </p:nvCxnSpPr>
        <p:spPr>
          <a:xfrm>
            <a:off x="6778861" y="5716817"/>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A433F82-83D2-03B6-297C-09B4DA958640}"/>
              </a:ext>
            </a:extLst>
          </p:cNvPr>
          <p:cNvSpPr txBox="1"/>
          <p:nvPr/>
        </p:nvSpPr>
        <p:spPr>
          <a:xfrm>
            <a:off x="7177024" y="3436517"/>
            <a:ext cx="3560975" cy="1323439"/>
          </a:xfrm>
          <a:prstGeom prst="rect">
            <a:avLst/>
          </a:prstGeom>
          <a:noFill/>
        </p:spPr>
        <p:txBody>
          <a:bodyPr wrap="none" rtlCol="0">
            <a:spAutoFit/>
          </a:bodyPr>
          <a:lstStyle/>
          <a:p>
            <a:pPr algn="ctr"/>
            <a:r>
              <a:rPr lang="en-US" sz="2000" dirty="0"/>
              <a:t>Low LD group: Japanese only</a:t>
            </a:r>
          </a:p>
          <a:p>
            <a:pPr algn="ctr"/>
            <a:r>
              <a:rPr lang="en-US" sz="2000" dirty="0"/>
              <a:t>High LD group: Japanese and </a:t>
            </a:r>
          </a:p>
          <a:p>
            <a:pPr algn="ctr"/>
            <a:r>
              <a:rPr lang="en-US" sz="2000" dirty="0"/>
              <a:t>Modern Standard Arabic (MSA)</a:t>
            </a:r>
          </a:p>
          <a:p>
            <a:pPr algn="ctr"/>
            <a:r>
              <a:rPr lang="en-US" sz="2000" dirty="0"/>
              <a:t>Feedback provided</a:t>
            </a:r>
          </a:p>
        </p:txBody>
      </p:sp>
      <p:cxnSp>
        <p:nvCxnSpPr>
          <p:cNvPr id="35" name="Straight Connector 34">
            <a:extLst>
              <a:ext uri="{FF2B5EF4-FFF2-40B4-BE49-F238E27FC236}">
                <a16:creationId xmlns:a16="http://schemas.microsoft.com/office/drawing/2014/main" id="{6F33AF36-C2C0-3323-0B10-E7B6EB4732BE}"/>
              </a:ext>
            </a:extLst>
          </p:cNvPr>
          <p:cNvCxnSpPr>
            <a:cxnSpLocks/>
          </p:cNvCxnSpPr>
          <p:nvPr/>
        </p:nvCxnSpPr>
        <p:spPr>
          <a:xfrm>
            <a:off x="395731" y="4750618"/>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AD31084-EE9F-CE31-1019-4C4FE55DDD74}"/>
              </a:ext>
            </a:extLst>
          </p:cNvPr>
          <p:cNvCxnSpPr/>
          <p:nvPr/>
        </p:nvCxnSpPr>
        <p:spPr>
          <a:xfrm>
            <a:off x="395731" y="1863585"/>
            <a:ext cx="11337146" cy="0"/>
          </a:xfrm>
          <a:prstGeom prst="line">
            <a:avLst/>
          </a:prstGeom>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713FFD34-AD23-201A-5CDC-1336987A704E}"/>
              </a:ext>
            </a:extLst>
          </p:cNvPr>
          <p:cNvSpPr txBox="1"/>
          <p:nvPr/>
        </p:nvSpPr>
        <p:spPr>
          <a:xfrm>
            <a:off x="4537789" y="3599143"/>
            <a:ext cx="2115900" cy="830997"/>
          </a:xfrm>
          <a:prstGeom prst="rect">
            <a:avLst/>
          </a:prstGeom>
          <a:noFill/>
        </p:spPr>
        <p:txBody>
          <a:bodyPr wrap="none" rtlCol="0">
            <a:spAutoFit/>
          </a:bodyPr>
          <a:lstStyle/>
          <a:p>
            <a:r>
              <a:rPr lang="en-US" sz="2400" dirty="0"/>
              <a:t>Japanese only </a:t>
            </a:r>
          </a:p>
          <a:p>
            <a:r>
              <a:rPr lang="en-US" sz="2400" dirty="0"/>
              <a:t>No feedback</a:t>
            </a:r>
          </a:p>
        </p:txBody>
      </p:sp>
      <p:sp>
        <p:nvSpPr>
          <p:cNvPr id="43" name="TextBox 42">
            <a:extLst>
              <a:ext uri="{FF2B5EF4-FFF2-40B4-BE49-F238E27FC236}">
                <a16:creationId xmlns:a16="http://schemas.microsoft.com/office/drawing/2014/main" id="{FB28EA33-0741-1894-D56E-EBDD19A3B10C}"/>
              </a:ext>
            </a:extLst>
          </p:cNvPr>
          <p:cNvSpPr txBox="1"/>
          <p:nvPr/>
        </p:nvSpPr>
        <p:spPr>
          <a:xfrm>
            <a:off x="1645223" y="6077376"/>
            <a:ext cx="2053383" cy="830997"/>
          </a:xfrm>
          <a:prstGeom prst="rect">
            <a:avLst/>
          </a:prstGeom>
          <a:noFill/>
        </p:spPr>
        <p:txBody>
          <a:bodyPr wrap="none" rtlCol="0">
            <a:spAutoFit/>
          </a:bodyPr>
          <a:lstStyle/>
          <a:p>
            <a:r>
              <a:rPr lang="en-US" sz="2400" dirty="0"/>
              <a:t>Japanese only</a:t>
            </a:r>
          </a:p>
          <a:p>
            <a:r>
              <a:rPr lang="en-US" sz="2400" dirty="0"/>
              <a:t>No feedback</a:t>
            </a:r>
          </a:p>
        </p:txBody>
      </p:sp>
      <p:sp>
        <p:nvSpPr>
          <p:cNvPr id="11" name="TextBox 10">
            <a:extLst>
              <a:ext uri="{FF2B5EF4-FFF2-40B4-BE49-F238E27FC236}">
                <a16:creationId xmlns:a16="http://schemas.microsoft.com/office/drawing/2014/main" id="{4C60A8BA-8992-1962-5C6D-A621B5C5D4DC}"/>
              </a:ext>
            </a:extLst>
          </p:cNvPr>
          <p:cNvSpPr txBox="1"/>
          <p:nvPr/>
        </p:nvSpPr>
        <p:spPr>
          <a:xfrm>
            <a:off x="3974190" y="1995079"/>
            <a:ext cx="3516925" cy="461665"/>
          </a:xfrm>
          <a:prstGeom prst="rect">
            <a:avLst/>
          </a:prstGeom>
          <a:noFill/>
        </p:spPr>
        <p:txBody>
          <a:bodyPr wrap="none" rtlCol="0">
            <a:spAutoFit/>
          </a:bodyPr>
          <a:lstStyle/>
          <a:p>
            <a:r>
              <a:rPr lang="en-US" sz="2400" dirty="0"/>
              <a:t>AX discrimination pretest</a:t>
            </a:r>
          </a:p>
        </p:txBody>
      </p:sp>
      <p:sp>
        <p:nvSpPr>
          <p:cNvPr id="13" name="TextBox 12">
            <a:extLst>
              <a:ext uri="{FF2B5EF4-FFF2-40B4-BE49-F238E27FC236}">
                <a16:creationId xmlns:a16="http://schemas.microsoft.com/office/drawing/2014/main" id="{46B882BD-9786-2BBC-37DF-607483501B46}"/>
              </a:ext>
            </a:extLst>
          </p:cNvPr>
          <p:cNvSpPr txBox="1"/>
          <p:nvPr/>
        </p:nvSpPr>
        <p:spPr>
          <a:xfrm>
            <a:off x="786881" y="4797384"/>
            <a:ext cx="3673250" cy="461665"/>
          </a:xfrm>
          <a:prstGeom prst="rect">
            <a:avLst/>
          </a:prstGeom>
          <a:noFill/>
        </p:spPr>
        <p:txBody>
          <a:bodyPr wrap="none" rtlCol="0">
            <a:spAutoFit/>
          </a:bodyPr>
          <a:lstStyle/>
          <a:p>
            <a:r>
              <a:rPr lang="en-US" sz="2400" dirty="0"/>
              <a:t>AX discrimination posttest</a:t>
            </a:r>
          </a:p>
        </p:txBody>
      </p:sp>
    </p:spTree>
    <p:extLst>
      <p:ext uri="{BB962C8B-B14F-4D97-AF65-F5344CB8AC3E}">
        <p14:creationId xmlns:p14="http://schemas.microsoft.com/office/powerpoint/2010/main" val="1663361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2" grpId="0"/>
      <p:bldP spid="42" grpId="0"/>
      <p:bldP spid="43" grpId="0"/>
      <p:bldP spid="11" grpId="0"/>
      <p:bldP spid="13" grpId="0"/>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graph of a number of numbers&#10;&#10;AI-generated content may be incorrect.">
            <a:extLst>
              <a:ext uri="{FF2B5EF4-FFF2-40B4-BE49-F238E27FC236}">
                <a16:creationId xmlns:a16="http://schemas.microsoft.com/office/drawing/2014/main" id="{A063D723-5EA9-7CA8-389D-BBF9B3C4F792}"/>
              </a:ext>
            </a:extLst>
          </p:cNvPr>
          <p:cNvPicPr>
            <a:picLocks noChangeAspect="1"/>
          </p:cNvPicPr>
          <p:nvPr/>
        </p:nvPicPr>
        <p:blipFill>
          <a:blip r:embed="rId2"/>
          <a:stretch>
            <a:fillRect/>
          </a:stretch>
        </p:blipFill>
        <p:spPr>
          <a:xfrm>
            <a:off x="614888" y="551854"/>
            <a:ext cx="4215019" cy="5754292"/>
          </a:xfrm>
          <a:prstGeom prst="rect">
            <a:avLst/>
          </a:prstGeom>
        </p:spPr>
      </p:pic>
    </p:spTree>
    <p:extLst>
      <p:ext uri="{BB962C8B-B14F-4D97-AF65-F5344CB8AC3E}">
        <p14:creationId xmlns:p14="http://schemas.microsoft.com/office/powerpoint/2010/main" val="27454683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diagram of different colored dots&#10;&#10;AI-generated content may be incorrect.">
            <a:extLst>
              <a:ext uri="{FF2B5EF4-FFF2-40B4-BE49-F238E27FC236}">
                <a16:creationId xmlns:a16="http://schemas.microsoft.com/office/drawing/2014/main" id="{230C7314-D379-9AC2-D781-DAF337BD9285}"/>
              </a:ext>
            </a:extLst>
          </p:cNvPr>
          <p:cNvPicPr>
            <a:picLocks noChangeAspect="1"/>
          </p:cNvPicPr>
          <p:nvPr/>
        </p:nvPicPr>
        <p:blipFill>
          <a:blip r:embed="rId3"/>
          <a:stretch>
            <a:fillRect/>
          </a:stretch>
        </p:blipFill>
        <p:spPr>
          <a:xfrm>
            <a:off x="2606727" y="191510"/>
            <a:ext cx="7772400" cy="6474979"/>
          </a:xfrm>
          <a:prstGeom prst="rect">
            <a:avLst/>
          </a:prstGeom>
        </p:spPr>
      </p:pic>
    </p:spTree>
    <p:extLst>
      <p:ext uri="{BB962C8B-B14F-4D97-AF65-F5344CB8AC3E}">
        <p14:creationId xmlns:p14="http://schemas.microsoft.com/office/powerpoint/2010/main" val="17776724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graph of a variety of graphs&#10;&#10;AI-generated content may be incorrect.">
            <a:extLst>
              <a:ext uri="{FF2B5EF4-FFF2-40B4-BE49-F238E27FC236}">
                <a16:creationId xmlns:a16="http://schemas.microsoft.com/office/drawing/2014/main" id="{EFE01B5A-C690-2C29-B364-6384AAD454C3}"/>
              </a:ext>
            </a:extLst>
          </p:cNvPr>
          <p:cNvPicPr>
            <a:picLocks noChangeAspect="1"/>
          </p:cNvPicPr>
          <p:nvPr/>
        </p:nvPicPr>
        <p:blipFill>
          <a:blip r:embed="rId2"/>
          <a:stretch>
            <a:fillRect/>
          </a:stretch>
        </p:blipFill>
        <p:spPr>
          <a:xfrm>
            <a:off x="385742" y="867508"/>
            <a:ext cx="11420515" cy="4568206"/>
          </a:xfrm>
          <a:prstGeom prst="rect">
            <a:avLst/>
          </a:prstGeom>
        </p:spPr>
      </p:pic>
    </p:spTree>
    <p:extLst>
      <p:ext uri="{BB962C8B-B14F-4D97-AF65-F5344CB8AC3E}">
        <p14:creationId xmlns:p14="http://schemas.microsoft.com/office/powerpoint/2010/main" val="6705335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graph of different lines and dots&#10;&#10;AI-generated content may be incorrect.">
            <a:extLst>
              <a:ext uri="{FF2B5EF4-FFF2-40B4-BE49-F238E27FC236}">
                <a16:creationId xmlns:a16="http://schemas.microsoft.com/office/drawing/2014/main" id="{7630F257-169E-4743-CFD7-8F891F6867DD}"/>
              </a:ext>
            </a:extLst>
          </p:cNvPr>
          <p:cNvPicPr>
            <a:picLocks noChangeAspect="1"/>
          </p:cNvPicPr>
          <p:nvPr/>
        </p:nvPicPr>
        <p:blipFill>
          <a:blip r:embed="rId3"/>
          <a:stretch>
            <a:fillRect/>
          </a:stretch>
        </p:blipFill>
        <p:spPr>
          <a:xfrm>
            <a:off x="1810259" y="749157"/>
            <a:ext cx="8571481" cy="5359685"/>
          </a:xfrm>
          <a:prstGeom prst="rect">
            <a:avLst/>
          </a:prstGeom>
        </p:spPr>
      </p:pic>
    </p:spTree>
    <p:extLst>
      <p:ext uri="{BB962C8B-B14F-4D97-AF65-F5344CB8AC3E}">
        <p14:creationId xmlns:p14="http://schemas.microsoft.com/office/powerpoint/2010/main" val="1618681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screenshot of a computer screen&#10;&#10;AI-generated content may be incorrect.">
            <a:extLst>
              <a:ext uri="{FF2B5EF4-FFF2-40B4-BE49-F238E27FC236}">
                <a16:creationId xmlns:a16="http://schemas.microsoft.com/office/drawing/2014/main" id="{BA08A397-4D68-7581-CA30-8CDB020E9D1F}"/>
              </a:ext>
            </a:extLst>
          </p:cNvPr>
          <p:cNvPicPr>
            <a:picLocks noChangeAspect="1"/>
          </p:cNvPicPr>
          <p:nvPr/>
        </p:nvPicPr>
        <p:blipFill>
          <a:blip r:embed="rId3"/>
          <a:stretch>
            <a:fillRect/>
          </a:stretch>
        </p:blipFill>
        <p:spPr>
          <a:xfrm>
            <a:off x="996462" y="0"/>
            <a:ext cx="10199076" cy="5099538"/>
          </a:xfrm>
          <a:prstGeom prst="rect">
            <a:avLst/>
          </a:prstGeom>
        </p:spPr>
      </p:pic>
    </p:spTree>
    <p:extLst>
      <p:ext uri="{BB962C8B-B14F-4D97-AF65-F5344CB8AC3E}">
        <p14:creationId xmlns:p14="http://schemas.microsoft.com/office/powerpoint/2010/main" val="39123867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screenshot of a computer screen&#10;&#10;AI-generated content may be incorrect.">
            <a:extLst>
              <a:ext uri="{FF2B5EF4-FFF2-40B4-BE49-F238E27FC236}">
                <a16:creationId xmlns:a16="http://schemas.microsoft.com/office/drawing/2014/main" id="{9C895D8A-71D5-1716-B0AB-9A53FD5968E5}"/>
              </a:ext>
            </a:extLst>
          </p:cNvPr>
          <p:cNvPicPr>
            <a:picLocks noChangeAspect="1"/>
          </p:cNvPicPr>
          <p:nvPr/>
        </p:nvPicPr>
        <p:blipFill>
          <a:blip r:embed="rId3"/>
          <a:stretch>
            <a:fillRect/>
          </a:stretch>
        </p:blipFill>
        <p:spPr>
          <a:xfrm>
            <a:off x="816093" y="789046"/>
            <a:ext cx="10559814" cy="5279907"/>
          </a:xfrm>
          <a:prstGeom prst="rect">
            <a:avLst/>
          </a:prstGeom>
        </p:spPr>
      </p:pic>
    </p:spTree>
    <p:extLst>
      <p:ext uri="{BB962C8B-B14F-4D97-AF65-F5344CB8AC3E}">
        <p14:creationId xmlns:p14="http://schemas.microsoft.com/office/powerpoint/2010/main" val="30669549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76A71-1813-EA2D-5714-856CF9F5E050}"/>
              </a:ext>
            </a:extLst>
          </p:cNvPr>
          <p:cNvSpPr>
            <a:spLocks noGrp="1"/>
          </p:cNvSpPr>
          <p:nvPr>
            <p:ph type="title"/>
          </p:nvPr>
        </p:nvSpPr>
        <p:spPr>
          <a:xfrm>
            <a:off x="863065" y="139773"/>
            <a:ext cx="10515600" cy="1325563"/>
          </a:xfrm>
        </p:spPr>
        <p:txBody>
          <a:bodyPr/>
          <a:lstStyle/>
          <a:p>
            <a:r>
              <a:rPr lang="en-US" dirty="0"/>
              <a:t>Study 3 was a longitudinal experiment across several weeks</a:t>
            </a:r>
          </a:p>
        </p:txBody>
      </p:sp>
      <p:pic>
        <p:nvPicPr>
          <p:cNvPr id="9" name="Graphic 8" descr="Swipe Gesture with solid fill">
            <a:extLst>
              <a:ext uri="{FF2B5EF4-FFF2-40B4-BE49-F238E27FC236}">
                <a16:creationId xmlns:a16="http://schemas.microsoft.com/office/drawing/2014/main" id="{22E04D9D-FFFD-6C93-FD05-53D567BE71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9272" y="2031113"/>
            <a:ext cx="914400" cy="914400"/>
          </a:xfrm>
          <a:prstGeom prst="rect">
            <a:avLst/>
          </a:prstGeom>
        </p:spPr>
      </p:pic>
      <p:pic>
        <p:nvPicPr>
          <p:cNvPr id="10" name="Graphic 9" descr="Clipboard with solid fill">
            <a:extLst>
              <a:ext uri="{FF2B5EF4-FFF2-40B4-BE49-F238E27FC236}">
                <a16:creationId xmlns:a16="http://schemas.microsoft.com/office/drawing/2014/main" id="{B5089F72-2F69-8E71-E572-7D56AFE583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09154" y="5752728"/>
            <a:ext cx="914400" cy="914400"/>
          </a:xfrm>
          <a:prstGeom prst="rect">
            <a:avLst/>
          </a:prstGeom>
        </p:spPr>
      </p:pic>
      <p:cxnSp>
        <p:nvCxnSpPr>
          <p:cNvPr id="19" name="Straight Arrow Connector 18">
            <a:extLst>
              <a:ext uri="{FF2B5EF4-FFF2-40B4-BE49-F238E27FC236}">
                <a16:creationId xmlns:a16="http://schemas.microsoft.com/office/drawing/2014/main" id="{6692AF99-E894-9222-5BC0-3D15D1F703AE}"/>
              </a:ext>
            </a:extLst>
          </p:cNvPr>
          <p:cNvCxnSpPr>
            <a:cxnSpLocks/>
          </p:cNvCxnSpPr>
          <p:nvPr/>
        </p:nvCxnSpPr>
        <p:spPr>
          <a:xfrm>
            <a:off x="3286306" y="2563570"/>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7FF5569-53E5-0A0F-DD31-5C98D7359414}"/>
              </a:ext>
            </a:extLst>
          </p:cNvPr>
          <p:cNvSpPr txBox="1"/>
          <p:nvPr/>
        </p:nvSpPr>
        <p:spPr>
          <a:xfrm rot="16200000">
            <a:off x="-123928" y="1967741"/>
            <a:ext cx="1325562" cy="707886"/>
          </a:xfrm>
          <a:prstGeom prst="rect">
            <a:avLst/>
          </a:prstGeom>
          <a:noFill/>
        </p:spPr>
        <p:txBody>
          <a:bodyPr wrap="square" rtlCol="0">
            <a:spAutoFit/>
          </a:bodyPr>
          <a:lstStyle/>
          <a:p>
            <a:pPr algn="ctr"/>
            <a:r>
              <a:rPr lang="en-US" sz="2000" dirty="0"/>
              <a:t>Week 1, </a:t>
            </a:r>
          </a:p>
          <a:p>
            <a:pPr algn="ctr"/>
            <a:r>
              <a:rPr lang="en-US" sz="2000" dirty="0"/>
              <a:t>First Day</a:t>
            </a:r>
          </a:p>
        </p:txBody>
      </p:sp>
      <p:sp>
        <p:nvSpPr>
          <p:cNvPr id="7" name="TextBox 6">
            <a:extLst>
              <a:ext uri="{FF2B5EF4-FFF2-40B4-BE49-F238E27FC236}">
                <a16:creationId xmlns:a16="http://schemas.microsoft.com/office/drawing/2014/main" id="{7A763679-A7E3-BF57-82E9-65B31668F781}"/>
              </a:ext>
            </a:extLst>
          </p:cNvPr>
          <p:cNvSpPr txBox="1"/>
          <p:nvPr/>
        </p:nvSpPr>
        <p:spPr>
          <a:xfrm rot="16200000">
            <a:off x="-77487" y="5412852"/>
            <a:ext cx="1201355" cy="707886"/>
          </a:xfrm>
          <a:prstGeom prst="rect">
            <a:avLst/>
          </a:prstGeom>
          <a:noFill/>
        </p:spPr>
        <p:txBody>
          <a:bodyPr wrap="none" rtlCol="0">
            <a:spAutoFit/>
          </a:bodyPr>
          <a:lstStyle/>
          <a:p>
            <a:pPr algn="ctr"/>
            <a:r>
              <a:rPr lang="en-US" sz="2000" dirty="0"/>
              <a:t>Week 4,</a:t>
            </a:r>
          </a:p>
          <a:p>
            <a:pPr algn="ctr"/>
            <a:r>
              <a:rPr lang="en-US" sz="2000" dirty="0"/>
              <a:t>Final Day</a:t>
            </a:r>
          </a:p>
        </p:txBody>
      </p:sp>
      <p:pic>
        <p:nvPicPr>
          <p:cNvPr id="8" name="Graphic 7" descr="Ear with solid fill">
            <a:extLst>
              <a:ext uri="{FF2B5EF4-FFF2-40B4-BE49-F238E27FC236}">
                <a16:creationId xmlns:a16="http://schemas.microsoft.com/office/drawing/2014/main" id="{8A3AD579-7018-C288-6AF9-AE084107470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28300" y="5766795"/>
            <a:ext cx="914400" cy="914400"/>
          </a:xfrm>
          <a:prstGeom prst="rect">
            <a:avLst/>
          </a:prstGeom>
        </p:spPr>
      </p:pic>
      <p:cxnSp>
        <p:nvCxnSpPr>
          <p:cNvPr id="18" name="Straight Arrow Connector 17">
            <a:extLst>
              <a:ext uri="{FF2B5EF4-FFF2-40B4-BE49-F238E27FC236}">
                <a16:creationId xmlns:a16="http://schemas.microsoft.com/office/drawing/2014/main" id="{3234C9E3-E3CB-D3C5-1CC2-06250C8F89AD}"/>
              </a:ext>
            </a:extLst>
          </p:cNvPr>
          <p:cNvCxnSpPr>
            <a:cxnSpLocks/>
          </p:cNvCxnSpPr>
          <p:nvPr/>
        </p:nvCxnSpPr>
        <p:spPr>
          <a:xfrm>
            <a:off x="6655577" y="2607380"/>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22" name="Graphic 21" descr="Chat with solid fill">
            <a:extLst>
              <a:ext uri="{FF2B5EF4-FFF2-40B4-BE49-F238E27FC236}">
                <a16:creationId xmlns:a16="http://schemas.microsoft.com/office/drawing/2014/main" id="{ECBB88E5-9159-A737-5B65-491650A3BC0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36996" y="3942572"/>
            <a:ext cx="914400" cy="914400"/>
          </a:xfrm>
          <a:prstGeom prst="rect">
            <a:avLst/>
          </a:prstGeom>
        </p:spPr>
      </p:pic>
      <p:cxnSp>
        <p:nvCxnSpPr>
          <p:cNvPr id="23" name="Straight Arrow Connector 22">
            <a:extLst>
              <a:ext uri="{FF2B5EF4-FFF2-40B4-BE49-F238E27FC236}">
                <a16:creationId xmlns:a16="http://schemas.microsoft.com/office/drawing/2014/main" id="{48BF1785-8E24-A286-F31D-873C541AC4EA}"/>
              </a:ext>
            </a:extLst>
          </p:cNvPr>
          <p:cNvCxnSpPr>
            <a:cxnSpLocks/>
          </p:cNvCxnSpPr>
          <p:nvPr/>
        </p:nvCxnSpPr>
        <p:spPr>
          <a:xfrm>
            <a:off x="10153962" y="2594260"/>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24" name="Graphic 23" descr="Ear with solid fill">
            <a:extLst>
              <a:ext uri="{FF2B5EF4-FFF2-40B4-BE49-F238E27FC236}">
                <a16:creationId xmlns:a16="http://schemas.microsoft.com/office/drawing/2014/main" id="{B409F680-63DD-1D48-8FEE-256A9CBEE7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52644" y="5752728"/>
            <a:ext cx="914400" cy="914400"/>
          </a:xfrm>
          <a:prstGeom prst="rect">
            <a:avLst/>
          </a:prstGeom>
        </p:spPr>
      </p:pic>
      <p:pic>
        <p:nvPicPr>
          <p:cNvPr id="25" name="Graphic 24" descr="Swipe Gesture with solid fill">
            <a:extLst>
              <a:ext uri="{FF2B5EF4-FFF2-40B4-BE49-F238E27FC236}">
                <a16:creationId xmlns:a16="http://schemas.microsoft.com/office/drawing/2014/main" id="{B11CFC29-3A6E-8B9E-86D1-13AF6FD0B0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9197" y="5778478"/>
            <a:ext cx="914400" cy="914400"/>
          </a:xfrm>
          <a:prstGeom prst="rect">
            <a:avLst/>
          </a:prstGeom>
        </p:spPr>
      </p:pic>
      <p:cxnSp>
        <p:nvCxnSpPr>
          <p:cNvPr id="26" name="Straight Arrow Connector 25">
            <a:extLst>
              <a:ext uri="{FF2B5EF4-FFF2-40B4-BE49-F238E27FC236}">
                <a16:creationId xmlns:a16="http://schemas.microsoft.com/office/drawing/2014/main" id="{0F74F5E5-B62B-A744-BECC-5FAFF1017DA6}"/>
              </a:ext>
            </a:extLst>
          </p:cNvPr>
          <p:cNvCxnSpPr>
            <a:cxnSpLocks/>
          </p:cNvCxnSpPr>
          <p:nvPr/>
        </p:nvCxnSpPr>
        <p:spPr>
          <a:xfrm>
            <a:off x="2651310" y="6235678"/>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4954BFB-2CA3-E9A0-8A5A-2C0CEB4C0176}"/>
              </a:ext>
            </a:extLst>
          </p:cNvPr>
          <p:cNvCxnSpPr>
            <a:cxnSpLocks/>
          </p:cNvCxnSpPr>
          <p:nvPr/>
        </p:nvCxnSpPr>
        <p:spPr>
          <a:xfrm>
            <a:off x="5614217" y="6235678"/>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A433F82-83D2-03B6-297C-09B4DA958640}"/>
              </a:ext>
            </a:extLst>
          </p:cNvPr>
          <p:cNvSpPr txBox="1"/>
          <p:nvPr/>
        </p:nvSpPr>
        <p:spPr>
          <a:xfrm>
            <a:off x="5707896" y="3623150"/>
            <a:ext cx="3550075" cy="923330"/>
          </a:xfrm>
          <a:prstGeom prst="rect">
            <a:avLst/>
          </a:prstGeom>
          <a:noFill/>
        </p:spPr>
        <p:txBody>
          <a:bodyPr wrap="none" rtlCol="0">
            <a:spAutoFit/>
          </a:bodyPr>
          <a:lstStyle/>
          <a:p>
            <a:pPr algn="ctr"/>
            <a:r>
              <a:rPr lang="en-US" dirty="0"/>
              <a:t>Low LD group: Japanese only</a:t>
            </a:r>
          </a:p>
          <a:p>
            <a:pPr algn="ctr"/>
            <a:r>
              <a:rPr lang="en-US" dirty="0"/>
              <a:t>High LD group: Japanese and MSA</a:t>
            </a:r>
          </a:p>
          <a:p>
            <a:pPr algn="ctr"/>
            <a:r>
              <a:rPr lang="en-US" b="1" dirty="0"/>
              <a:t>*Control group: No training</a:t>
            </a:r>
          </a:p>
        </p:txBody>
      </p:sp>
      <p:sp>
        <p:nvSpPr>
          <p:cNvPr id="3" name="TextBox 2">
            <a:extLst>
              <a:ext uri="{FF2B5EF4-FFF2-40B4-BE49-F238E27FC236}">
                <a16:creationId xmlns:a16="http://schemas.microsoft.com/office/drawing/2014/main" id="{143577DD-67D1-635C-2ED9-6047167341BB}"/>
              </a:ext>
            </a:extLst>
          </p:cNvPr>
          <p:cNvSpPr txBox="1"/>
          <p:nvPr/>
        </p:nvSpPr>
        <p:spPr>
          <a:xfrm rot="16200000">
            <a:off x="-130394" y="3890322"/>
            <a:ext cx="1335302" cy="400110"/>
          </a:xfrm>
          <a:prstGeom prst="rect">
            <a:avLst/>
          </a:prstGeom>
          <a:noFill/>
        </p:spPr>
        <p:txBody>
          <a:bodyPr wrap="none" rtlCol="0">
            <a:spAutoFit/>
          </a:bodyPr>
          <a:lstStyle/>
          <a:p>
            <a:pPr algn="ctr"/>
            <a:r>
              <a:rPr lang="en-US" sz="2000" dirty="0"/>
              <a:t>Weeks 2-4</a:t>
            </a:r>
          </a:p>
        </p:txBody>
      </p:sp>
      <p:sp>
        <p:nvSpPr>
          <p:cNvPr id="13" name="TextBox 12">
            <a:extLst>
              <a:ext uri="{FF2B5EF4-FFF2-40B4-BE49-F238E27FC236}">
                <a16:creationId xmlns:a16="http://schemas.microsoft.com/office/drawing/2014/main" id="{A25E68FD-07F9-92BA-5EF0-7060D8A600A1}"/>
              </a:ext>
            </a:extLst>
          </p:cNvPr>
          <p:cNvSpPr txBox="1"/>
          <p:nvPr/>
        </p:nvSpPr>
        <p:spPr>
          <a:xfrm>
            <a:off x="1773505" y="1440620"/>
            <a:ext cx="1183036" cy="707886"/>
          </a:xfrm>
          <a:prstGeom prst="rect">
            <a:avLst/>
          </a:prstGeom>
          <a:noFill/>
        </p:spPr>
        <p:txBody>
          <a:bodyPr wrap="square" rtlCol="0">
            <a:spAutoFit/>
          </a:bodyPr>
          <a:lstStyle/>
          <a:p>
            <a:pPr algn="ctr"/>
            <a:r>
              <a:rPr lang="en-US" sz="2000" dirty="0"/>
              <a:t>MCPD pre-test</a:t>
            </a:r>
          </a:p>
        </p:txBody>
      </p:sp>
      <p:sp>
        <p:nvSpPr>
          <p:cNvPr id="14" name="TextBox 13">
            <a:extLst>
              <a:ext uri="{FF2B5EF4-FFF2-40B4-BE49-F238E27FC236}">
                <a16:creationId xmlns:a16="http://schemas.microsoft.com/office/drawing/2014/main" id="{D1EEE866-009B-762F-27FC-FAB79AD6BBEA}"/>
              </a:ext>
            </a:extLst>
          </p:cNvPr>
          <p:cNvSpPr txBox="1"/>
          <p:nvPr/>
        </p:nvSpPr>
        <p:spPr>
          <a:xfrm>
            <a:off x="3060768" y="3621857"/>
            <a:ext cx="2333578" cy="923330"/>
          </a:xfrm>
          <a:prstGeom prst="rect">
            <a:avLst/>
          </a:prstGeom>
          <a:noFill/>
        </p:spPr>
        <p:txBody>
          <a:bodyPr wrap="square" rtlCol="0">
            <a:spAutoFit/>
          </a:bodyPr>
          <a:lstStyle/>
          <a:p>
            <a:pPr algn="ctr"/>
            <a:r>
              <a:rPr lang="en-US" dirty="0"/>
              <a:t>2x per week for 3 weeks</a:t>
            </a:r>
          </a:p>
          <a:p>
            <a:pPr algn="ctr"/>
            <a:r>
              <a:rPr lang="en-US" dirty="0"/>
              <a:t>288 trials per session</a:t>
            </a:r>
          </a:p>
        </p:txBody>
      </p:sp>
      <p:cxnSp>
        <p:nvCxnSpPr>
          <p:cNvPr id="15" name="Straight Arrow Connector 14">
            <a:extLst>
              <a:ext uri="{FF2B5EF4-FFF2-40B4-BE49-F238E27FC236}">
                <a16:creationId xmlns:a16="http://schemas.microsoft.com/office/drawing/2014/main" id="{088E8600-4ACB-4CE3-05CC-37448DD9C453}"/>
              </a:ext>
            </a:extLst>
          </p:cNvPr>
          <p:cNvCxnSpPr>
            <a:cxnSpLocks/>
          </p:cNvCxnSpPr>
          <p:nvPr/>
        </p:nvCxnSpPr>
        <p:spPr>
          <a:xfrm>
            <a:off x="8855521" y="6235678"/>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F8B3B19-265B-AAC5-B635-8CC94A04D213}"/>
              </a:ext>
            </a:extLst>
          </p:cNvPr>
          <p:cNvCxnSpPr>
            <a:cxnSpLocks/>
          </p:cNvCxnSpPr>
          <p:nvPr/>
        </p:nvCxnSpPr>
        <p:spPr>
          <a:xfrm>
            <a:off x="10153962" y="4122137"/>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B6BFEC6E-ACF9-C9BC-930E-26BE7F013057}"/>
              </a:ext>
            </a:extLst>
          </p:cNvPr>
          <p:cNvSpPr txBox="1"/>
          <p:nvPr/>
        </p:nvSpPr>
        <p:spPr>
          <a:xfrm>
            <a:off x="6999819" y="5070592"/>
            <a:ext cx="1455338" cy="707886"/>
          </a:xfrm>
          <a:prstGeom prst="rect">
            <a:avLst/>
          </a:prstGeom>
          <a:noFill/>
        </p:spPr>
        <p:txBody>
          <a:bodyPr wrap="square" rtlCol="0">
            <a:spAutoFit/>
          </a:bodyPr>
          <a:lstStyle/>
          <a:p>
            <a:pPr algn="ctr"/>
            <a:r>
              <a:rPr lang="en-US" sz="2000" dirty="0"/>
              <a:t>MCPD post-test</a:t>
            </a:r>
          </a:p>
        </p:txBody>
      </p:sp>
      <p:cxnSp>
        <p:nvCxnSpPr>
          <p:cNvPr id="21" name="Straight Connector 20">
            <a:extLst>
              <a:ext uri="{FF2B5EF4-FFF2-40B4-BE49-F238E27FC236}">
                <a16:creationId xmlns:a16="http://schemas.microsoft.com/office/drawing/2014/main" id="{C1E9C08D-80F0-9A22-6E4D-F5E277388AA3}"/>
              </a:ext>
            </a:extLst>
          </p:cNvPr>
          <p:cNvCxnSpPr/>
          <p:nvPr/>
        </p:nvCxnSpPr>
        <p:spPr>
          <a:xfrm>
            <a:off x="350505" y="1412341"/>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B874B51-3F7C-0A15-44E9-4DC8D9610FDC}"/>
              </a:ext>
            </a:extLst>
          </p:cNvPr>
          <p:cNvCxnSpPr/>
          <p:nvPr/>
        </p:nvCxnSpPr>
        <p:spPr>
          <a:xfrm>
            <a:off x="328214" y="3213115"/>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3990B38-3717-8549-07F4-59CDAE9543DF}"/>
              </a:ext>
            </a:extLst>
          </p:cNvPr>
          <p:cNvCxnSpPr/>
          <p:nvPr/>
        </p:nvCxnSpPr>
        <p:spPr>
          <a:xfrm>
            <a:off x="328270" y="4894037"/>
            <a:ext cx="11337146" cy="0"/>
          </a:xfrm>
          <a:prstGeom prst="line">
            <a:avLst/>
          </a:prstGeom>
        </p:spPr>
        <p:style>
          <a:lnRef idx="2">
            <a:schemeClr val="accent1"/>
          </a:lnRef>
          <a:fillRef idx="0">
            <a:schemeClr val="accent1"/>
          </a:fillRef>
          <a:effectRef idx="1">
            <a:schemeClr val="accent1"/>
          </a:effectRef>
          <a:fontRef idx="minor">
            <a:schemeClr val="tx1"/>
          </a:fontRef>
        </p:style>
      </p:cxnSp>
      <p:pic>
        <p:nvPicPr>
          <p:cNvPr id="5" name="Graphic 4" descr="Ear with solid fill">
            <a:extLst>
              <a:ext uri="{FF2B5EF4-FFF2-40B4-BE49-F238E27FC236}">
                <a16:creationId xmlns:a16="http://schemas.microsoft.com/office/drawing/2014/main" id="{48B60A01-1650-F4DE-A34E-A1E5D73E522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36996" y="2101450"/>
            <a:ext cx="914400" cy="914400"/>
          </a:xfrm>
          <a:prstGeom prst="rect">
            <a:avLst/>
          </a:prstGeom>
        </p:spPr>
      </p:pic>
      <p:pic>
        <p:nvPicPr>
          <p:cNvPr id="33" name="Graphic 32" descr="Ear with solid fill">
            <a:extLst>
              <a:ext uri="{FF2B5EF4-FFF2-40B4-BE49-F238E27FC236}">
                <a16:creationId xmlns:a16="http://schemas.microsoft.com/office/drawing/2014/main" id="{2F769349-C322-15D1-E94D-4586108DA23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94449" y="2096354"/>
            <a:ext cx="914400" cy="914400"/>
          </a:xfrm>
          <a:prstGeom prst="rect">
            <a:avLst/>
          </a:prstGeom>
        </p:spPr>
      </p:pic>
    </p:spTree>
    <p:extLst>
      <p:ext uri="{BB962C8B-B14F-4D97-AF65-F5344CB8AC3E}">
        <p14:creationId xmlns:p14="http://schemas.microsoft.com/office/powerpoint/2010/main" val="288062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3" grpId="0"/>
      <p:bldP spid="14" grpId="0"/>
      <p:bldP spid="20" grpId="0"/>
    </p:bld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graph of different colored lines&#10;&#10;AI-generated content may be incorrect.">
            <a:extLst>
              <a:ext uri="{FF2B5EF4-FFF2-40B4-BE49-F238E27FC236}">
                <a16:creationId xmlns:a16="http://schemas.microsoft.com/office/drawing/2014/main" id="{E9D4466C-1030-A338-6D69-BB0DD40246E6}"/>
              </a:ext>
            </a:extLst>
          </p:cNvPr>
          <p:cNvPicPr>
            <a:picLocks noChangeAspect="1"/>
          </p:cNvPicPr>
          <p:nvPr/>
        </p:nvPicPr>
        <p:blipFill>
          <a:blip r:embed="rId2"/>
          <a:stretch>
            <a:fillRect/>
          </a:stretch>
        </p:blipFill>
        <p:spPr>
          <a:xfrm>
            <a:off x="1863842" y="517689"/>
            <a:ext cx="8464315" cy="6340311"/>
          </a:xfrm>
          <a:prstGeom prst="rect">
            <a:avLst/>
          </a:prstGeom>
        </p:spPr>
      </p:pic>
    </p:spTree>
    <p:extLst>
      <p:ext uri="{BB962C8B-B14F-4D97-AF65-F5344CB8AC3E}">
        <p14:creationId xmlns:p14="http://schemas.microsoft.com/office/powerpoint/2010/main" val="21918218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graph of a graph of a training session&#10;&#10;AI-generated content may be incorrect.">
            <a:extLst>
              <a:ext uri="{FF2B5EF4-FFF2-40B4-BE49-F238E27FC236}">
                <a16:creationId xmlns:a16="http://schemas.microsoft.com/office/drawing/2014/main" id="{4216F04A-DF78-8C5F-52C2-B0153925C425}"/>
              </a:ext>
            </a:extLst>
          </p:cNvPr>
          <p:cNvPicPr>
            <a:picLocks noChangeAspect="1"/>
          </p:cNvPicPr>
          <p:nvPr/>
        </p:nvPicPr>
        <p:blipFill>
          <a:blip r:embed="rId2"/>
          <a:stretch>
            <a:fillRect/>
          </a:stretch>
        </p:blipFill>
        <p:spPr>
          <a:xfrm>
            <a:off x="1781908" y="493133"/>
            <a:ext cx="7033846" cy="5871733"/>
          </a:xfrm>
          <a:prstGeom prst="rect">
            <a:avLst/>
          </a:prstGeom>
        </p:spPr>
      </p:pic>
      <p:pic>
        <p:nvPicPr>
          <p:cNvPr id="5" name="Graphic 4" descr="Chat with solid fill">
            <a:extLst>
              <a:ext uri="{FF2B5EF4-FFF2-40B4-BE49-F238E27FC236}">
                <a16:creationId xmlns:a16="http://schemas.microsoft.com/office/drawing/2014/main" id="{0E48DD1C-5C89-78FE-9280-87A2A84435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1014" y="5907666"/>
            <a:ext cx="914400" cy="914400"/>
          </a:xfrm>
          <a:prstGeom prst="rect">
            <a:avLst/>
          </a:prstGeom>
        </p:spPr>
      </p:pic>
    </p:spTree>
    <p:extLst>
      <p:ext uri="{BB962C8B-B14F-4D97-AF65-F5344CB8AC3E}">
        <p14:creationId xmlns:p14="http://schemas.microsoft.com/office/powerpoint/2010/main" val="36420501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diagram of different shapes&#10;&#10;AI-generated content may be incorrect.">
            <a:extLst>
              <a:ext uri="{FF2B5EF4-FFF2-40B4-BE49-F238E27FC236}">
                <a16:creationId xmlns:a16="http://schemas.microsoft.com/office/drawing/2014/main" id="{3B85E06C-9A02-11F9-71BF-E2577A4CDCA2}"/>
              </a:ext>
            </a:extLst>
          </p:cNvPr>
          <p:cNvPicPr>
            <a:picLocks noChangeAspect="1"/>
          </p:cNvPicPr>
          <p:nvPr/>
        </p:nvPicPr>
        <p:blipFill>
          <a:blip r:embed="rId2"/>
          <a:stretch>
            <a:fillRect/>
          </a:stretch>
        </p:blipFill>
        <p:spPr>
          <a:xfrm>
            <a:off x="1185834" y="353985"/>
            <a:ext cx="9505611" cy="5931738"/>
          </a:xfrm>
          <a:prstGeom prst="rect">
            <a:avLst/>
          </a:prstGeom>
        </p:spPr>
      </p:pic>
    </p:spTree>
    <p:extLst>
      <p:ext uri="{BB962C8B-B14F-4D97-AF65-F5344CB8AC3E}">
        <p14:creationId xmlns:p14="http://schemas.microsoft.com/office/powerpoint/2010/main" val="41207020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graph of different colored lines&#10;&#10;AI-generated content may be incorrect.">
            <a:extLst>
              <a:ext uri="{FF2B5EF4-FFF2-40B4-BE49-F238E27FC236}">
                <a16:creationId xmlns:a16="http://schemas.microsoft.com/office/drawing/2014/main" id="{6E290549-85FA-BBC6-2AD8-7D9DE89CD011}"/>
              </a:ext>
            </a:extLst>
          </p:cNvPr>
          <p:cNvPicPr>
            <a:picLocks noChangeAspect="1"/>
          </p:cNvPicPr>
          <p:nvPr/>
        </p:nvPicPr>
        <p:blipFill>
          <a:blip r:embed="rId2"/>
          <a:stretch>
            <a:fillRect/>
          </a:stretch>
        </p:blipFill>
        <p:spPr>
          <a:xfrm>
            <a:off x="2806009" y="682573"/>
            <a:ext cx="6579981" cy="5492853"/>
          </a:xfrm>
          <a:prstGeom prst="rect">
            <a:avLst/>
          </a:prstGeom>
        </p:spPr>
      </p:pic>
    </p:spTree>
    <p:extLst>
      <p:ext uri="{BB962C8B-B14F-4D97-AF65-F5344CB8AC3E}">
        <p14:creationId xmlns:p14="http://schemas.microsoft.com/office/powerpoint/2010/main" val="116389113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collage of graphs&#10;&#10;AI-generated content may be incorrect.">
            <a:extLst>
              <a:ext uri="{FF2B5EF4-FFF2-40B4-BE49-F238E27FC236}">
                <a16:creationId xmlns:a16="http://schemas.microsoft.com/office/drawing/2014/main" id="{6B303C80-4B46-2BAB-D1DE-738231D71480}"/>
              </a:ext>
            </a:extLst>
          </p:cNvPr>
          <p:cNvPicPr>
            <a:picLocks noChangeAspect="1"/>
          </p:cNvPicPr>
          <p:nvPr/>
        </p:nvPicPr>
        <p:blipFill>
          <a:blip r:embed="rId2"/>
          <a:stretch>
            <a:fillRect/>
          </a:stretch>
        </p:blipFill>
        <p:spPr>
          <a:xfrm>
            <a:off x="1359876" y="749788"/>
            <a:ext cx="9997428" cy="5358423"/>
          </a:xfrm>
          <a:prstGeom prst="rect">
            <a:avLst/>
          </a:prstGeom>
        </p:spPr>
      </p:pic>
    </p:spTree>
    <p:extLst>
      <p:ext uri="{BB962C8B-B14F-4D97-AF65-F5344CB8AC3E}">
        <p14:creationId xmlns:p14="http://schemas.microsoft.com/office/powerpoint/2010/main" val="4187513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A5B81-A934-C92A-68B5-935D2AAF9C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E9D93C-94BE-7B27-5E8B-7BCFB293D8D1}"/>
              </a:ext>
            </a:extLst>
          </p:cNvPr>
          <p:cNvSpPr>
            <a:spLocks noGrp="1"/>
          </p:cNvSpPr>
          <p:nvPr>
            <p:ph idx="1"/>
          </p:nvPr>
        </p:nvSpPr>
        <p:spPr>
          <a:xfrm>
            <a:off x="838200" y="1825624"/>
            <a:ext cx="10515600" cy="5032375"/>
          </a:xfrm>
        </p:spPr>
        <p:txBody>
          <a:bodyPr>
            <a:normAutofit/>
          </a:bodyPr>
          <a:lstStyle/>
          <a:p>
            <a:r>
              <a:rPr lang="en-US" dirty="0"/>
              <a:t>I made Part 2 of the LDQ</a:t>
            </a:r>
          </a:p>
          <a:p>
            <a:pPr lvl="1"/>
            <a:r>
              <a:rPr lang="en-US" dirty="0"/>
              <a:t>it should be validated with objective measures of linguistic diversity</a:t>
            </a:r>
          </a:p>
          <a:p>
            <a:r>
              <a:rPr lang="en-US" dirty="0"/>
              <a:t>I introduced novel manipulation to perceptual training</a:t>
            </a:r>
          </a:p>
          <a:p>
            <a:pPr lvl="1"/>
            <a:r>
              <a:rPr lang="en-US" dirty="0"/>
              <a:t>perhaps much longer study is needed (semester or year-long), perhaps with more languages</a:t>
            </a:r>
          </a:p>
          <a:p>
            <a:r>
              <a:rPr lang="en-US" dirty="0"/>
              <a:t>I created the MCPD task to assess listening ability for specific target L2 phonemic contrasts</a:t>
            </a:r>
          </a:p>
          <a:p>
            <a:pPr lvl="1"/>
            <a:r>
              <a:rPr lang="en-US" dirty="0"/>
              <a:t>could be further validated</a:t>
            </a:r>
          </a:p>
          <a:p>
            <a:r>
              <a:rPr lang="en-US" dirty="0"/>
              <a:t>provided further data of individual differences in categorization measured with the VAS</a:t>
            </a:r>
          </a:p>
          <a:p>
            <a:pPr lvl="1"/>
            <a:r>
              <a:rPr lang="en-US" dirty="0"/>
              <a:t>VAS is valuable, and can be supplemented with more fine-grained neuroimaging measures, like EEG and fMRI</a:t>
            </a:r>
          </a:p>
        </p:txBody>
      </p:sp>
    </p:spTree>
    <p:extLst>
      <p:ext uri="{BB962C8B-B14F-4D97-AF65-F5344CB8AC3E}">
        <p14:creationId xmlns:p14="http://schemas.microsoft.com/office/powerpoint/2010/main" val="21603747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8.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16778</TotalTime>
  <Words>7703</Words>
  <Application>Microsoft Macintosh PowerPoint</Application>
  <PresentationFormat>Widescreen</PresentationFormat>
  <Paragraphs>775</Paragraphs>
  <Slides>94</Slides>
  <Notes>79</Notes>
  <HiddenSlides>38</HiddenSlides>
  <MMClips>17</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94</vt:i4>
      </vt:variant>
    </vt:vector>
  </HeadingPairs>
  <TitlesOfParts>
    <vt:vector size="101" baseType="lpstr">
      <vt:lpstr>Yu Gothic</vt:lpstr>
      <vt:lpstr>Aptos</vt:lpstr>
      <vt:lpstr>Aptos Display</vt:lpstr>
      <vt:lpstr>Arial</vt:lpstr>
      <vt:lpstr>Cambria Math</vt:lpstr>
      <vt:lpstr>Times New Roman</vt:lpstr>
      <vt:lpstr>Office Theme</vt:lpstr>
      <vt:lpstr>Gradient Categorization, Linguistic Diversity, and Second Language Acquisition: Perceptual Learning of L2 Phonemic Contrasts Using a Multilingual Training Paradigm</vt:lpstr>
      <vt:lpstr>Background and Research Question</vt:lpstr>
      <vt:lpstr>Learning new L2 phonemic contrasts is difficult for adults</vt:lpstr>
      <vt:lpstr>Learning new L2 phonemic contrasts is difficult for adults</vt:lpstr>
      <vt:lpstr>PowerPoint Presentation</vt:lpstr>
      <vt:lpstr>Multilingualism and linguistic diversity may make learning L2 contrasts easier</vt:lpstr>
      <vt:lpstr>Exposure to general linguistic diversity has been found to provide an advantage for monolinguals in novel speech perception and learning</vt:lpstr>
      <vt:lpstr>Experience with specific linguistic diversity has been found to provide an advantage to multilinguals in  novel speech perception and learning</vt:lpstr>
      <vt:lpstr>How does linguistic diversity play a role in L2 speech learning?</vt:lpstr>
      <vt:lpstr>Gradient categorization retains the continuous nature of the acoustic features in speech when mapping to perceptual categories</vt:lpstr>
      <vt:lpstr>Gradient categorization retains the continuous nature of the acoustic features in speech when mapping to perceptual categories</vt:lpstr>
      <vt:lpstr>Some individuals perceive speech more categorically, while others perceive speech more gradiently</vt:lpstr>
      <vt:lpstr>Children with more linguistically diverse social networks were found to show gradient categorization response patterns</vt:lpstr>
      <vt:lpstr>Gradient categorization may give the perceptual system the flexibility to remap or create new category boundaries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Study 1</vt:lpstr>
      <vt:lpstr>L1 English mono- and multilingual participants (n = 76) completed the Linguistic Diversity Questionnaire (LDQ) and the Visual Analog Scale (VAS) task </vt:lpstr>
      <vt:lpstr>The LDQ measured experiential LD with quantitative scores of active and passive multilingual language diversity (MLD-A) and (MLD-P) </vt:lpstr>
      <vt:lpstr>The VAS measured categorization responses using L1 and L2 speech continua that varied in equal steps along acoustic dimensions </vt:lpstr>
      <vt:lpstr>PowerPoint Presentation</vt:lpstr>
      <vt:lpstr>Participants varied in categorization measures both within and across L1 and L2 contrast pairs</vt:lpstr>
      <vt:lpstr>PowerPoint Presentation</vt:lpstr>
      <vt:lpstr>Experiential LD was not found to predict L1 or L2 categorization measures</vt:lpstr>
      <vt:lpstr>Experiential LD was not found to predict L1 or L2 categorization measures</vt:lpstr>
      <vt:lpstr>Study 2</vt:lpstr>
      <vt:lpstr>L1 English monolingual participants (n = 80) completed perceptual discrimination training with VAS and perceptual discrimination pre- and posttests </vt:lpstr>
      <vt:lpstr>PowerPoint Presentation</vt:lpstr>
      <vt:lpstr>Listeners received feedback during perceptual training to learn how to tell minimal pairs apart</vt:lpstr>
      <vt:lpstr>Perceptual discrimination training introduced specific LD by training two experimental groups with either one language or two languages</vt:lpstr>
      <vt:lpstr>PowerPoint Presentation</vt:lpstr>
      <vt:lpstr>PowerPoint Presentation</vt:lpstr>
      <vt:lpstr>PowerPoint Presentation</vt:lpstr>
      <vt:lpstr>PowerPoint Presentation</vt:lpstr>
      <vt:lpstr>PowerPoint Presentation</vt:lpstr>
      <vt:lpstr>PowerPoint Presentation</vt:lpstr>
      <vt:lpstr>Study 3</vt:lpstr>
      <vt:lpstr>L2 Japanese classroom learners (n = 18) completed VAS, perceptual discrimination, and L2 listening assessment tasks before and after a period of longitudinal perceptual discrimination training </vt:lpstr>
      <vt:lpstr>The effect of perceptual training on L2 learning was compared between training with different levels of specific LD and receiving classroom instruction alone</vt:lpstr>
      <vt:lpstr>PowerPoint Presentation</vt:lpstr>
      <vt:lpstr>L2 listening assessment accuracy was measured by a multiple-choice partial dictation (MCPD) task using more natural L2 speech recordings</vt:lpstr>
      <vt:lpstr>PowerPoint Presentation</vt:lpstr>
      <vt:lpstr>PowerPoint Presentation</vt:lpstr>
      <vt:lpstr>PowerPoint Presentation</vt:lpstr>
      <vt:lpstr>PowerPoint Presentation</vt:lpstr>
      <vt:lpstr>Summary and Conclusion</vt:lpstr>
      <vt:lpstr>PowerPoint Presentation</vt:lpstr>
      <vt:lpstr>PowerPoint Presentation</vt:lpstr>
      <vt:lpstr>PowerPoint Presentation</vt:lpstr>
      <vt:lpstr>PowerPoint Presentation</vt:lpstr>
      <vt:lpstr>Acknowledgements</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Specific aims</vt:lpstr>
      <vt:lpstr>PowerPoint Presentation</vt:lpstr>
      <vt:lpstr>Study 1</vt:lpstr>
      <vt:lpstr>The LDQ scored two indices of multilingual language diversity (MLD) based on active and passive use of and exposure to linguistic diversity</vt:lpstr>
      <vt:lpstr>Part 2 of the LDQ scored MLD-P based on passive use and exposure to linguistic diversity in 10 contexts</vt:lpstr>
      <vt:lpstr>LDQ-Part 2 calculations</vt:lpstr>
      <vt:lpstr>Most participants were strictly monolingual, but some monolinguals are passively exposed to multiple languages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Study 2 was a two-day experiment that took place at least 24 hours apart</vt:lpstr>
      <vt:lpstr>PowerPoint Presentation</vt:lpstr>
      <vt:lpstr>PowerPoint Presentation</vt:lpstr>
      <vt:lpstr>PowerPoint Presentation</vt:lpstr>
      <vt:lpstr>PowerPoint Presentation</vt:lpstr>
      <vt:lpstr>PowerPoint Presentation</vt:lpstr>
      <vt:lpstr>PowerPoint Presentation</vt:lpstr>
      <vt:lpstr>Study 3 was a longitudinal experiment across several weeks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Chisom Obiamalu Obasih</dc:creator>
  <cp:lastModifiedBy>Chisom Obiamalu Obasih</cp:lastModifiedBy>
  <cp:revision>64</cp:revision>
  <dcterms:created xsi:type="dcterms:W3CDTF">2025-07-23T23:23:21Z</dcterms:created>
  <dcterms:modified xsi:type="dcterms:W3CDTF">2025-11-03T04:29:47Z</dcterms:modified>
</cp:coreProperties>
</file>