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9" r:id="rId1"/>
  </p:sldMasterIdLst>
  <p:notesMasterIdLst>
    <p:notesMasterId r:id="rId62"/>
  </p:notesMasterIdLst>
  <p:sldIdLst>
    <p:sldId id="257" r:id="rId2"/>
    <p:sldId id="477" r:id="rId3"/>
    <p:sldId id="478" r:id="rId4"/>
    <p:sldId id="500" r:id="rId5"/>
    <p:sldId id="503" r:id="rId6"/>
    <p:sldId id="501" r:id="rId7"/>
    <p:sldId id="502" r:id="rId8"/>
    <p:sldId id="499" r:id="rId9"/>
    <p:sldId id="504" r:id="rId10"/>
    <p:sldId id="505" r:id="rId11"/>
    <p:sldId id="506" r:id="rId12"/>
    <p:sldId id="446" r:id="rId13"/>
    <p:sldId id="281" r:id="rId14"/>
    <p:sldId id="290" r:id="rId15"/>
    <p:sldId id="456" r:id="rId16"/>
    <p:sldId id="393" r:id="rId17"/>
    <p:sldId id="479" r:id="rId18"/>
    <p:sldId id="507" r:id="rId19"/>
    <p:sldId id="508" r:id="rId20"/>
    <p:sldId id="509" r:id="rId21"/>
    <p:sldId id="263" r:id="rId22"/>
    <p:sldId id="402" r:id="rId23"/>
    <p:sldId id="484" r:id="rId24"/>
    <p:sldId id="272" r:id="rId25"/>
    <p:sldId id="457" r:id="rId26"/>
    <p:sldId id="480" r:id="rId27"/>
    <p:sldId id="458" r:id="rId28"/>
    <p:sldId id="468" r:id="rId29"/>
    <p:sldId id="481" r:id="rId30"/>
    <p:sldId id="459" r:id="rId31"/>
    <p:sldId id="487" r:id="rId32"/>
    <p:sldId id="488" r:id="rId33"/>
    <p:sldId id="489" r:id="rId34"/>
    <p:sldId id="482" r:id="rId35"/>
    <p:sldId id="460" r:id="rId36"/>
    <p:sldId id="492" r:id="rId37"/>
    <p:sldId id="493" r:id="rId38"/>
    <p:sldId id="491" r:id="rId39"/>
    <p:sldId id="498" r:id="rId40"/>
    <p:sldId id="497" r:id="rId41"/>
    <p:sldId id="490" r:id="rId42"/>
    <p:sldId id="485" r:id="rId43"/>
    <p:sldId id="496" r:id="rId44"/>
    <p:sldId id="453" r:id="rId45"/>
    <p:sldId id="462" r:id="rId46"/>
    <p:sldId id="475" r:id="rId47"/>
    <p:sldId id="464" r:id="rId48"/>
    <p:sldId id="511" r:id="rId49"/>
    <p:sldId id="512" r:id="rId50"/>
    <p:sldId id="513" r:id="rId51"/>
    <p:sldId id="514" r:id="rId52"/>
    <p:sldId id="486" r:id="rId53"/>
    <p:sldId id="469" r:id="rId54"/>
    <p:sldId id="474" r:id="rId55"/>
    <p:sldId id="465" r:id="rId56"/>
    <p:sldId id="471" r:id="rId57"/>
    <p:sldId id="476" r:id="rId58"/>
    <p:sldId id="467" r:id="rId59"/>
    <p:sldId id="473" r:id="rId60"/>
    <p:sldId id="43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647"/>
    <p:restoredTop sz="83142"/>
  </p:normalViewPr>
  <p:slideViewPr>
    <p:cSldViewPr snapToGrid="0">
      <p:cViewPr varScale="1">
        <p:scale>
          <a:sx n="79" d="100"/>
          <a:sy n="79" d="100"/>
        </p:scale>
        <p:origin x="224" y="256"/>
      </p:cViewPr>
      <p:guideLst/>
    </p:cSldViewPr>
  </p:slideViewPr>
  <p:notesTextViewPr>
    <p:cViewPr>
      <p:scale>
        <a:sx n="1" d="1"/>
        <a:sy n="1" d="1"/>
      </p:scale>
      <p:origin x="0" y="-264"/>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A4705-D01E-A842-997C-8EE70DE4AAAC}" type="datetimeFigureOut">
              <a:rPr lang="en-US" smtClean="0"/>
              <a:t>9/26/24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7E7BED-2DE9-8945-A544-0A6176E9AC37}" type="slidenum">
              <a:rPr lang="en-US" smtClean="0"/>
              <a:t>‹#›</a:t>
            </a:fld>
            <a:endParaRPr lang="en-US"/>
          </a:p>
        </p:txBody>
      </p:sp>
    </p:spTree>
    <p:extLst>
      <p:ext uri="{BB962C8B-B14F-4D97-AF65-F5344CB8AC3E}">
        <p14:creationId xmlns:p14="http://schemas.microsoft.com/office/powerpoint/2010/main" val="3473859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minutes</a:t>
            </a:r>
          </a:p>
        </p:txBody>
      </p:sp>
      <p:sp>
        <p:nvSpPr>
          <p:cNvPr id="4" name="Slide Number Placeholder 3"/>
          <p:cNvSpPr>
            <a:spLocks noGrp="1"/>
          </p:cNvSpPr>
          <p:nvPr>
            <p:ph type="sldNum" sz="quarter" idx="5"/>
          </p:nvPr>
        </p:nvSpPr>
        <p:spPr/>
        <p:txBody>
          <a:bodyPr/>
          <a:lstStyle/>
          <a:p>
            <a:fld id="{477E7BED-2DE9-8945-A544-0A6176E9AC37}" type="slidenum">
              <a:rPr lang="en-US" smtClean="0"/>
              <a:t>1</a:t>
            </a:fld>
            <a:endParaRPr lang="en-US"/>
          </a:p>
        </p:txBody>
      </p:sp>
    </p:spTree>
    <p:extLst>
      <p:ext uri="{BB962C8B-B14F-4D97-AF65-F5344CB8AC3E}">
        <p14:creationId xmlns:p14="http://schemas.microsoft.com/office/powerpoint/2010/main" val="3972438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most important things to remind everyone for context, then focus on specific parts for feedback</a:t>
            </a:r>
          </a:p>
        </p:txBody>
      </p:sp>
      <p:sp>
        <p:nvSpPr>
          <p:cNvPr id="4" name="Slide Number Placeholder 3"/>
          <p:cNvSpPr>
            <a:spLocks noGrp="1"/>
          </p:cNvSpPr>
          <p:nvPr>
            <p:ph type="sldNum" sz="quarter" idx="5"/>
          </p:nvPr>
        </p:nvSpPr>
        <p:spPr/>
        <p:txBody>
          <a:bodyPr/>
          <a:lstStyle/>
          <a:p>
            <a:fld id="{477E7BED-2DE9-8945-A544-0A6176E9AC37}" type="slidenum">
              <a:rPr lang="en-US" smtClean="0"/>
              <a:t>2</a:t>
            </a:fld>
            <a:endParaRPr lang="en-US"/>
          </a:p>
        </p:txBody>
      </p:sp>
    </p:spTree>
    <p:extLst>
      <p:ext uri="{BB962C8B-B14F-4D97-AF65-F5344CB8AC3E}">
        <p14:creationId xmlns:p14="http://schemas.microsoft.com/office/powerpoint/2010/main" val="1771068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motivating problem of my dissertation is the observation that learning new speech categories is difficult for adults. This seems to be in part due to their L1 speech categories already being mapped in the perceptual space. In the example here, an English speaker has mapped perceptual categories for the phonemes /b/ and /p/ along the voice onset time acoustic dimension, with a category boundary at around 30 ms</a:t>
            </a:r>
          </a:p>
        </p:txBody>
      </p:sp>
      <p:sp>
        <p:nvSpPr>
          <p:cNvPr id="4" name="Slide Number Placeholder 3"/>
          <p:cNvSpPr>
            <a:spLocks noGrp="1"/>
          </p:cNvSpPr>
          <p:nvPr>
            <p:ph type="sldNum" sz="quarter" idx="5"/>
          </p:nvPr>
        </p:nvSpPr>
        <p:spPr/>
        <p:txBody>
          <a:bodyPr/>
          <a:lstStyle/>
          <a:p>
            <a:fld id="{477E7BED-2DE9-8945-A544-0A6176E9AC37}" type="slidenum">
              <a:rPr lang="en-US" smtClean="0"/>
              <a:t>4</a:t>
            </a:fld>
            <a:endParaRPr lang="en-US"/>
          </a:p>
        </p:txBody>
      </p:sp>
    </p:spTree>
    <p:extLst>
      <p:ext uri="{BB962C8B-B14F-4D97-AF65-F5344CB8AC3E}">
        <p14:creationId xmlns:p14="http://schemas.microsoft.com/office/powerpoint/2010/main" val="2801006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makes it difficult to learn the Spanish /b/ and /p/ phonemes, for which the perceptual boundary is shifted to a different location along the primary acoustic dimension. Learning the L2 Spanish categories would then involve shifting the boundary.</a:t>
            </a:r>
          </a:p>
        </p:txBody>
      </p:sp>
      <p:sp>
        <p:nvSpPr>
          <p:cNvPr id="4" name="Slide Number Placeholder 3"/>
          <p:cNvSpPr>
            <a:spLocks noGrp="1"/>
          </p:cNvSpPr>
          <p:nvPr>
            <p:ph type="sldNum" sz="quarter" idx="5"/>
          </p:nvPr>
        </p:nvSpPr>
        <p:spPr/>
        <p:txBody>
          <a:bodyPr/>
          <a:lstStyle/>
          <a:p>
            <a:fld id="{477E7BED-2DE9-8945-A544-0A6176E9AC37}" type="slidenum">
              <a:rPr lang="en-US" smtClean="0"/>
              <a:t>5</a:t>
            </a:fld>
            <a:endParaRPr lang="en-US"/>
          </a:p>
        </p:txBody>
      </p:sp>
    </p:spTree>
    <p:extLst>
      <p:ext uri="{BB962C8B-B14F-4D97-AF65-F5344CB8AC3E}">
        <p14:creationId xmlns:p14="http://schemas.microsoft.com/office/powerpoint/2010/main" val="828624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difficult learning scenario is when a learner has to create a new L2 speech category by creating a perceptual boundary along the primary acoustic dimension where there previously was no distinction. An L1 English speaker learning Thai has to create a new category that separates the English /b/ phoneme into unaspirated voiced /b/ and unaspirated voiceless /p/, which is separate from aspirated voiceless /p/</a:t>
            </a:r>
          </a:p>
        </p:txBody>
      </p:sp>
      <p:sp>
        <p:nvSpPr>
          <p:cNvPr id="4" name="Slide Number Placeholder 3"/>
          <p:cNvSpPr>
            <a:spLocks noGrp="1"/>
          </p:cNvSpPr>
          <p:nvPr>
            <p:ph type="sldNum" sz="quarter" idx="5"/>
          </p:nvPr>
        </p:nvSpPr>
        <p:spPr/>
        <p:txBody>
          <a:bodyPr/>
          <a:lstStyle/>
          <a:p>
            <a:fld id="{477E7BED-2DE9-8945-A544-0A6176E9AC37}" type="slidenum">
              <a:rPr lang="en-US" smtClean="0"/>
              <a:t>6</a:t>
            </a:fld>
            <a:endParaRPr lang="en-US"/>
          </a:p>
        </p:txBody>
      </p:sp>
    </p:spTree>
    <p:extLst>
      <p:ext uri="{BB962C8B-B14F-4D97-AF65-F5344CB8AC3E}">
        <p14:creationId xmlns:p14="http://schemas.microsoft.com/office/powerpoint/2010/main" val="3296090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another difficult scenario is when a learner has to create a new L2 speech category by integrating a new acoustic cue to carve the perceptual space to learn a new speech sound that may not exist in the L1</a:t>
            </a:r>
          </a:p>
        </p:txBody>
      </p:sp>
      <p:sp>
        <p:nvSpPr>
          <p:cNvPr id="4" name="Slide Number Placeholder 3"/>
          <p:cNvSpPr>
            <a:spLocks noGrp="1"/>
          </p:cNvSpPr>
          <p:nvPr>
            <p:ph type="sldNum" sz="quarter" idx="5"/>
          </p:nvPr>
        </p:nvSpPr>
        <p:spPr/>
        <p:txBody>
          <a:bodyPr/>
          <a:lstStyle/>
          <a:p>
            <a:fld id="{477E7BED-2DE9-8945-A544-0A6176E9AC37}" type="slidenum">
              <a:rPr lang="en-US" smtClean="0"/>
              <a:t>7</a:t>
            </a:fld>
            <a:endParaRPr lang="en-US"/>
          </a:p>
        </p:txBody>
      </p:sp>
    </p:spTree>
    <p:extLst>
      <p:ext uri="{BB962C8B-B14F-4D97-AF65-F5344CB8AC3E}">
        <p14:creationId xmlns:p14="http://schemas.microsoft.com/office/powerpoint/2010/main" val="1683611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difficult learning scenarios that L2 learners inevitably face. This leads to asking broad questions. From a problem perspective, we can broadly ask, how do we make this easier for the perceptual system of adults? And from a theory perspective, we can ask, how do gradient categorization, and later on we’ll add linguistic diversity, play a role in L2 speech category learning? There are a observations that can make these questions more specific.</a:t>
            </a:r>
          </a:p>
        </p:txBody>
      </p:sp>
      <p:sp>
        <p:nvSpPr>
          <p:cNvPr id="4" name="Slide Number Placeholder 3"/>
          <p:cNvSpPr>
            <a:spLocks noGrp="1"/>
          </p:cNvSpPr>
          <p:nvPr>
            <p:ph type="sldNum" sz="quarter" idx="5"/>
          </p:nvPr>
        </p:nvSpPr>
        <p:spPr/>
        <p:txBody>
          <a:bodyPr/>
          <a:lstStyle/>
          <a:p>
            <a:fld id="{477E7BED-2DE9-8945-A544-0A6176E9AC37}" type="slidenum">
              <a:rPr lang="en-US" smtClean="0"/>
              <a:t>8</a:t>
            </a:fld>
            <a:endParaRPr lang="en-US"/>
          </a:p>
        </p:txBody>
      </p:sp>
    </p:spTree>
    <p:extLst>
      <p:ext uri="{BB962C8B-B14F-4D97-AF65-F5344CB8AC3E}">
        <p14:creationId xmlns:p14="http://schemas.microsoft.com/office/powerpoint/2010/main" val="1625567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as a reminder, categorization gradiency can be measured through the visual analog scale task, and gradiency can be operationalized using the measurements of slope and response variability</a:t>
            </a:r>
          </a:p>
        </p:txBody>
      </p:sp>
      <p:sp>
        <p:nvSpPr>
          <p:cNvPr id="4" name="Slide Number Placeholder 3"/>
          <p:cNvSpPr>
            <a:spLocks noGrp="1"/>
          </p:cNvSpPr>
          <p:nvPr>
            <p:ph type="sldNum" sz="quarter" idx="5"/>
          </p:nvPr>
        </p:nvSpPr>
        <p:spPr/>
        <p:txBody>
          <a:bodyPr/>
          <a:lstStyle/>
          <a:p>
            <a:fld id="{477E7BED-2DE9-8945-A544-0A6176E9AC37}" type="slidenum">
              <a:rPr lang="en-US" smtClean="0"/>
              <a:t>9</a:t>
            </a:fld>
            <a:endParaRPr lang="en-US"/>
          </a:p>
        </p:txBody>
      </p:sp>
    </p:spTree>
    <p:extLst>
      <p:ext uri="{BB962C8B-B14F-4D97-AF65-F5344CB8AC3E}">
        <p14:creationId xmlns:p14="http://schemas.microsoft.com/office/powerpoint/2010/main" val="4000625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VAS task, we see that there are individual differences in the degree of categorization gradiency for a given phonemic contrast, with some individuals responding more categorically, others responding more gradiently, and some individuals landing somewhere in-between</a:t>
            </a:r>
          </a:p>
        </p:txBody>
      </p:sp>
      <p:sp>
        <p:nvSpPr>
          <p:cNvPr id="4" name="Slide Number Placeholder 3"/>
          <p:cNvSpPr>
            <a:spLocks noGrp="1"/>
          </p:cNvSpPr>
          <p:nvPr>
            <p:ph type="sldNum" sz="quarter" idx="5"/>
          </p:nvPr>
        </p:nvSpPr>
        <p:spPr/>
        <p:txBody>
          <a:bodyPr/>
          <a:lstStyle/>
          <a:p>
            <a:fld id="{477E7BED-2DE9-8945-A544-0A6176E9AC37}" type="slidenum">
              <a:rPr lang="en-US" smtClean="0"/>
              <a:t>10</a:t>
            </a:fld>
            <a:endParaRPr lang="en-US"/>
          </a:p>
        </p:txBody>
      </p:sp>
    </p:spTree>
    <p:extLst>
      <p:ext uri="{BB962C8B-B14F-4D97-AF65-F5344CB8AC3E}">
        <p14:creationId xmlns:p14="http://schemas.microsoft.com/office/powerpoint/2010/main" val="802800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pertinent observation is that more gradient perception is typically associated with increased secondary cue integration. Although speech can be mostly categorized using the primary acoustic cue, the most optimal speech categorization occurs when integration multiple acoustic cues</a:t>
            </a:r>
          </a:p>
        </p:txBody>
      </p:sp>
      <p:sp>
        <p:nvSpPr>
          <p:cNvPr id="4" name="Slide Number Placeholder 3"/>
          <p:cNvSpPr>
            <a:spLocks noGrp="1"/>
          </p:cNvSpPr>
          <p:nvPr>
            <p:ph type="sldNum" sz="quarter" idx="5"/>
          </p:nvPr>
        </p:nvSpPr>
        <p:spPr/>
        <p:txBody>
          <a:bodyPr/>
          <a:lstStyle/>
          <a:p>
            <a:fld id="{477E7BED-2DE9-8945-A544-0A6176E9AC37}" type="slidenum">
              <a:rPr lang="en-US" smtClean="0"/>
              <a:t>11</a:t>
            </a:fld>
            <a:endParaRPr lang="en-US"/>
          </a:p>
        </p:txBody>
      </p:sp>
    </p:spTree>
    <p:extLst>
      <p:ext uri="{BB962C8B-B14F-4D97-AF65-F5344CB8AC3E}">
        <p14:creationId xmlns:p14="http://schemas.microsoft.com/office/powerpoint/2010/main" val="200684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Yu Gothic" panose="020B0400000000000000" pitchFamily="34" charset="-128"/>
                <a:cs typeface="Times New Roman (Body CS)"/>
              </a:rPr>
              <a:t>This is relevant for L2 speech category learning because L2 perceptual learning involves reorganizing the speech perceptual space, and based on the learning scenarios we discussed before, we can see that integrated multiple cues, sensitivity to acoustic cues, and overall perceptual flexibility are all necessary for successful reorganization </a:t>
            </a:r>
            <a:endParaRPr lang="en-US" dirty="0"/>
          </a:p>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12</a:t>
            </a:fld>
            <a:endParaRPr lang="en-US"/>
          </a:p>
        </p:txBody>
      </p:sp>
    </p:spTree>
    <p:extLst>
      <p:ext uri="{BB962C8B-B14F-4D97-AF65-F5344CB8AC3E}">
        <p14:creationId xmlns:p14="http://schemas.microsoft.com/office/powerpoint/2010/main" val="666751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relevant piece of empirical evidence is the observation that children with larger and more linguistically diverse social networks are more likely to respond gradiently, rather than categorically, or noisily</a:t>
            </a:r>
          </a:p>
        </p:txBody>
      </p:sp>
      <p:sp>
        <p:nvSpPr>
          <p:cNvPr id="4" name="Slide Number Placeholder 3"/>
          <p:cNvSpPr>
            <a:spLocks noGrp="1"/>
          </p:cNvSpPr>
          <p:nvPr>
            <p:ph type="sldNum" sz="quarter" idx="5"/>
          </p:nvPr>
        </p:nvSpPr>
        <p:spPr/>
        <p:txBody>
          <a:bodyPr/>
          <a:lstStyle/>
          <a:p>
            <a:fld id="{477E7BED-2DE9-8945-A544-0A6176E9AC37}" type="slidenum">
              <a:rPr lang="en-US" smtClean="0"/>
              <a:t>13</a:t>
            </a:fld>
            <a:endParaRPr lang="en-US"/>
          </a:p>
        </p:txBody>
      </p:sp>
    </p:spTree>
    <p:extLst>
      <p:ext uri="{BB962C8B-B14F-4D97-AF65-F5344CB8AC3E}">
        <p14:creationId xmlns:p14="http://schemas.microsoft.com/office/powerpoint/2010/main" val="4161025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may be the case that there is a bidirectional relationship between gradient categorization and multilingualism. Being multilingual or being exposed to linguistic diversity may encourage gradient perception such that being familiar with different languages that have different perceptual boundaries enables a person to move around their own perceptual boundary as necessary depending on their language demands, also known as perceptual flexibility. In the other direction, as we discussed, this perceptual flexibility, encouraged through gradient perception, may make it easier to learn novel L2 speech categories, making it easier to become multilingual, to put it broadly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[audio: Thus, we can predict that by being familiar with different languages that have different perceptual boundaries, that enables a person to move around their own perceptual boundary as necessary depending on their language demands. This is called </a:t>
            </a:r>
            <a:r>
              <a:rPr lang="en-US"/>
              <a:t>perceptual flexibility]</a:t>
            </a:r>
            <a:endParaRPr lang="en-US" dirty="0"/>
          </a:p>
        </p:txBody>
      </p:sp>
      <p:sp>
        <p:nvSpPr>
          <p:cNvPr id="4" name="Slide Number Placeholder 3"/>
          <p:cNvSpPr>
            <a:spLocks noGrp="1"/>
          </p:cNvSpPr>
          <p:nvPr>
            <p:ph type="sldNum" sz="quarter" idx="5"/>
          </p:nvPr>
        </p:nvSpPr>
        <p:spPr/>
        <p:txBody>
          <a:bodyPr/>
          <a:lstStyle/>
          <a:p>
            <a:fld id="{A5D6B064-0EEE-374E-BF10-D19F80FA8825}" type="slidenum">
              <a:rPr lang="en-US" smtClean="0"/>
              <a:t>14</a:t>
            </a:fld>
            <a:endParaRPr lang="en-US"/>
          </a:p>
        </p:txBody>
      </p:sp>
    </p:spTree>
    <p:extLst>
      <p:ext uri="{BB962C8B-B14F-4D97-AF65-F5344CB8AC3E}">
        <p14:creationId xmlns:p14="http://schemas.microsoft.com/office/powerpoint/2010/main" val="3052905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it seems to be the case that there is not just a broad, generalized multilingual advantage, but an advantage with having specific language knowledge with languages that share a similar phonemic contrast or primary acoustic cue as the target language. On the left, multilinguals with knowledge of a language that distinguishes between aspirated and </a:t>
            </a:r>
            <a:r>
              <a:rPr lang="en-US" dirty="0" err="1"/>
              <a:t>nonaspirated</a:t>
            </a:r>
            <a:r>
              <a:rPr lang="en-US" dirty="0"/>
              <a:t> consonants did better in discriminating between Korean aspirated and non-aspirated contrast, and these were all listeners equally unfamiliar with Korean. On the right was with regards to perception of Japanese pitch accent, those with knowledge of Mandarin, which has a lexical contrast that primarily uses fundamental frequency like pitch accent did, did better than those without knowledge of Mandarin, and the advantage was additive such that those knowledge of Japanese and Mandarin outperformed monolingual Japanese or Mandarin speakers.</a:t>
            </a:r>
          </a:p>
        </p:txBody>
      </p:sp>
      <p:sp>
        <p:nvSpPr>
          <p:cNvPr id="4" name="Slide Number Placeholder 3"/>
          <p:cNvSpPr>
            <a:spLocks noGrp="1"/>
          </p:cNvSpPr>
          <p:nvPr>
            <p:ph type="sldNum" sz="quarter" idx="5"/>
          </p:nvPr>
        </p:nvSpPr>
        <p:spPr/>
        <p:txBody>
          <a:bodyPr/>
          <a:lstStyle/>
          <a:p>
            <a:fld id="{477E7BED-2DE9-8945-A544-0A6176E9AC37}" type="slidenum">
              <a:rPr lang="en-US" smtClean="0"/>
              <a:t>15</a:t>
            </a:fld>
            <a:endParaRPr lang="en-US"/>
          </a:p>
        </p:txBody>
      </p:sp>
    </p:spTree>
    <p:extLst>
      <p:ext uri="{BB962C8B-B14F-4D97-AF65-F5344CB8AC3E}">
        <p14:creationId xmlns:p14="http://schemas.microsoft.com/office/powerpoint/2010/main" val="812012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targeted exposure to linguistic diversity related to L2 linguistic targets shift the perceptual system towards gradient perception?</a:t>
            </a:r>
          </a:p>
          <a:p>
            <a:r>
              <a:rPr lang="en-US" dirty="0"/>
              <a:t>Does this linguistic diversity perceptual training lead to changes in L2 cue-weighting strategies?</a:t>
            </a:r>
          </a:p>
          <a:p>
            <a:r>
              <a:rPr lang="en-US" dirty="0"/>
              <a:t>Does this linguistic diversity perceptual training result in measurable improvement L2 speech perception as measured through listening assessments?</a:t>
            </a:r>
          </a:p>
          <a:p>
            <a:endParaRPr lang="en-US" dirty="0"/>
          </a:p>
        </p:txBody>
      </p:sp>
      <p:sp>
        <p:nvSpPr>
          <p:cNvPr id="4" name="Slide Number Placeholder 3"/>
          <p:cNvSpPr>
            <a:spLocks noGrp="1"/>
          </p:cNvSpPr>
          <p:nvPr>
            <p:ph type="sldNum" sz="quarter" idx="5"/>
          </p:nvPr>
        </p:nvSpPr>
        <p:spPr/>
        <p:txBody>
          <a:bodyPr/>
          <a:lstStyle/>
          <a:p>
            <a:fld id="{D067DEF4-12E1-704E-99CF-5EE797459BC3}" type="slidenum">
              <a:rPr lang="en-US" smtClean="0"/>
              <a:t>18</a:t>
            </a:fld>
            <a:endParaRPr lang="en-US"/>
          </a:p>
        </p:txBody>
      </p:sp>
    </p:spTree>
    <p:extLst>
      <p:ext uri="{BB962C8B-B14F-4D97-AF65-F5344CB8AC3E}">
        <p14:creationId xmlns:p14="http://schemas.microsoft.com/office/powerpoint/2010/main" val="23059812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targeted exposure to linguistic diversity related to L2 linguistic targets shift the perceptual system towards gradient perception?</a:t>
            </a:r>
          </a:p>
          <a:p>
            <a:r>
              <a:rPr lang="en-US" dirty="0"/>
              <a:t>Does this linguistic diversity perceptual training lead to changes in L2 cue-weighting strategies?</a:t>
            </a:r>
          </a:p>
          <a:p>
            <a:r>
              <a:rPr lang="en-US" dirty="0"/>
              <a:t>Does this linguistic diversity perceptual training result in measurable improvement L2 speech perception as measured through listening assessments?</a:t>
            </a:r>
          </a:p>
          <a:p>
            <a:endParaRPr lang="en-US" dirty="0"/>
          </a:p>
        </p:txBody>
      </p:sp>
      <p:sp>
        <p:nvSpPr>
          <p:cNvPr id="4" name="Slide Number Placeholder 3"/>
          <p:cNvSpPr>
            <a:spLocks noGrp="1"/>
          </p:cNvSpPr>
          <p:nvPr>
            <p:ph type="sldNum" sz="quarter" idx="5"/>
          </p:nvPr>
        </p:nvSpPr>
        <p:spPr/>
        <p:txBody>
          <a:bodyPr/>
          <a:lstStyle/>
          <a:p>
            <a:fld id="{D067DEF4-12E1-704E-99CF-5EE797459BC3}" type="slidenum">
              <a:rPr lang="en-US" smtClean="0"/>
              <a:t>19</a:t>
            </a:fld>
            <a:endParaRPr lang="en-US"/>
          </a:p>
        </p:txBody>
      </p:sp>
    </p:spTree>
    <p:extLst>
      <p:ext uri="{BB962C8B-B14F-4D97-AF65-F5344CB8AC3E}">
        <p14:creationId xmlns:p14="http://schemas.microsoft.com/office/powerpoint/2010/main" val="3059003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targeted exposure to linguistic diversity related to L2 linguistic targets shift the perceptual system towards gradient perception?</a:t>
            </a:r>
          </a:p>
          <a:p>
            <a:r>
              <a:rPr lang="en-US" dirty="0"/>
              <a:t>Does this linguistic diversity perceptual training lead to changes in L2 cue-weighting strategies?</a:t>
            </a:r>
          </a:p>
          <a:p>
            <a:r>
              <a:rPr lang="en-US" dirty="0"/>
              <a:t>Does this linguistic diversity perceptual training result in measurable improvement L2 speech perception as measured through listening assessments?</a:t>
            </a:r>
          </a:p>
          <a:p>
            <a:endParaRPr lang="en-US" dirty="0"/>
          </a:p>
        </p:txBody>
      </p:sp>
      <p:sp>
        <p:nvSpPr>
          <p:cNvPr id="4" name="Slide Number Placeholder 3"/>
          <p:cNvSpPr>
            <a:spLocks noGrp="1"/>
          </p:cNvSpPr>
          <p:nvPr>
            <p:ph type="sldNum" sz="quarter" idx="5"/>
          </p:nvPr>
        </p:nvSpPr>
        <p:spPr/>
        <p:txBody>
          <a:bodyPr/>
          <a:lstStyle/>
          <a:p>
            <a:fld id="{D067DEF4-12E1-704E-99CF-5EE797459BC3}" type="slidenum">
              <a:rPr lang="en-US" smtClean="0"/>
              <a:t>20</a:t>
            </a:fld>
            <a:endParaRPr lang="en-US"/>
          </a:p>
        </p:txBody>
      </p:sp>
    </p:spTree>
    <p:extLst>
      <p:ext uri="{BB962C8B-B14F-4D97-AF65-F5344CB8AC3E}">
        <p14:creationId xmlns:p14="http://schemas.microsoft.com/office/powerpoint/2010/main" val="10654980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2784867-2D19-3741-9479-3544DEF083EE}" type="slidenum">
              <a:rPr lang="en-US" smtClean="0"/>
              <a:t>22</a:t>
            </a:fld>
            <a:endParaRPr lang="en-US"/>
          </a:p>
        </p:txBody>
      </p:sp>
    </p:spTree>
    <p:extLst>
      <p:ext uri="{BB962C8B-B14F-4D97-AF65-F5344CB8AC3E}">
        <p14:creationId xmlns:p14="http://schemas.microsoft.com/office/powerpoint/2010/main" val="1813509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description of the methodology including the data collection tools, methods of analyses to be employed</a:t>
            </a:r>
          </a:p>
          <a:p>
            <a:endParaRPr lang="en-US" dirty="0"/>
          </a:p>
        </p:txBody>
      </p:sp>
      <p:sp>
        <p:nvSpPr>
          <p:cNvPr id="4" name="Slide Number Placeholder 3"/>
          <p:cNvSpPr>
            <a:spLocks noGrp="1"/>
          </p:cNvSpPr>
          <p:nvPr>
            <p:ph type="sldNum" sz="quarter" idx="5"/>
          </p:nvPr>
        </p:nvSpPr>
        <p:spPr/>
        <p:txBody>
          <a:bodyPr/>
          <a:lstStyle/>
          <a:p>
            <a:fld id="{D067DEF4-12E1-704E-99CF-5EE797459BC3}" type="slidenum">
              <a:rPr lang="en-US" smtClean="0"/>
              <a:t>24</a:t>
            </a:fld>
            <a:endParaRPr lang="en-US"/>
          </a:p>
        </p:txBody>
      </p:sp>
    </p:spTree>
    <p:extLst>
      <p:ext uri="{BB962C8B-B14F-4D97-AF65-F5344CB8AC3E}">
        <p14:creationId xmlns:p14="http://schemas.microsoft.com/office/powerpoint/2010/main" val="3764044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all of these are assertation evidence titles, even all these methodology slides</a:t>
            </a:r>
          </a:p>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27</a:t>
            </a:fld>
            <a:endParaRPr lang="en-US"/>
          </a:p>
        </p:txBody>
      </p:sp>
    </p:spTree>
    <p:extLst>
      <p:ext uri="{BB962C8B-B14F-4D97-AF65-F5344CB8AC3E}">
        <p14:creationId xmlns:p14="http://schemas.microsoft.com/office/powerpoint/2010/main" val="6573843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28</a:t>
            </a:fld>
            <a:endParaRPr lang="en-US"/>
          </a:p>
        </p:txBody>
      </p:sp>
    </p:spTree>
    <p:extLst>
      <p:ext uri="{BB962C8B-B14F-4D97-AF65-F5344CB8AC3E}">
        <p14:creationId xmlns:p14="http://schemas.microsoft.com/office/powerpoint/2010/main" val="4213826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31</a:t>
            </a:fld>
            <a:endParaRPr lang="en-US"/>
          </a:p>
        </p:txBody>
      </p:sp>
    </p:spTree>
    <p:extLst>
      <p:ext uri="{BB962C8B-B14F-4D97-AF65-F5344CB8AC3E}">
        <p14:creationId xmlns:p14="http://schemas.microsoft.com/office/powerpoint/2010/main" val="715033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33</a:t>
            </a:fld>
            <a:endParaRPr lang="en-US"/>
          </a:p>
        </p:txBody>
      </p:sp>
    </p:spTree>
    <p:extLst>
      <p:ext uri="{BB962C8B-B14F-4D97-AF65-F5344CB8AC3E}">
        <p14:creationId xmlns:p14="http://schemas.microsoft.com/office/powerpoint/2010/main" val="35688804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36</a:t>
            </a:fld>
            <a:endParaRPr lang="en-US"/>
          </a:p>
        </p:txBody>
      </p:sp>
    </p:spTree>
    <p:extLst>
      <p:ext uri="{BB962C8B-B14F-4D97-AF65-F5344CB8AC3E}">
        <p14:creationId xmlns:p14="http://schemas.microsoft.com/office/powerpoint/2010/main" val="19995922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37</a:t>
            </a:fld>
            <a:endParaRPr lang="en-US"/>
          </a:p>
        </p:txBody>
      </p:sp>
    </p:spTree>
    <p:extLst>
      <p:ext uri="{BB962C8B-B14F-4D97-AF65-F5344CB8AC3E}">
        <p14:creationId xmlns:p14="http://schemas.microsoft.com/office/powerpoint/2010/main" val="30533099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38</a:t>
            </a:fld>
            <a:endParaRPr lang="en-US"/>
          </a:p>
        </p:txBody>
      </p:sp>
    </p:spTree>
    <p:extLst>
      <p:ext uri="{BB962C8B-B14F-4D97-AF65-F5344CB8AC3E}">
        <p14:creationId xmlns:p14="http://schemas.microsoft.com/office/powerpoint/2010/main" val="30269833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all of these are assertation evidence titles, even all these methodology slides</a:t>
            </a:r>
          </a:p>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42</a:t>
            </a:fld>
            <a:endParaRPr lang="en-US"/>
          </a:p>
        </p:txBody>
      </p:sp>
    </p:spTree>
    <p:extLst>
      <p:ext uri="{BB962C8B-B14F-4D97-AF65-F5344CB8AC3E}">
        <p14:creationId xmlns:p14="http://schemas.microsoft.com/office/powerpoint/2010/main" val="609339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43</a:t>
            </a:fld>
            <a:endParaRPr lang="en-US"/>
          </a:p>
        </p:txBody>
      </p:sp>
    </p:spTree>
    <p:extLst>
      <p:ext uri="{BB962C8B-B14F-4D97-AF65-F5344CB8AC3E}">
        <p14:creationId xmlns:p14="http://schemas.microsoft.com/office/powerpoint/2010/main" val="40285960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Japanese VAS</a:t>
            </a:r>
          </a:p>
        </p:txBody>
      </p:sp>
      <p:sp>
        <p:nvSpPr>
          <p:cNvPr id="4" name="Slide Number Placeholder 3"/>
          <p:cNvSpPr>
            <a:spLocks noGrp="1"/>
          </p:cNvSpPr>
          <p:nvPr>
            <p:ph type="sldNum" sz="quarter" idx="5"/>
          </p:nvPr>
        </p:nvSpPr>
        <p:spPr/>
        <p:txBody>
          <a:bodyPr/>
          <a:lstStyle/>
          <a:p>
            <a:fld id="{8B1D326A-7124-D34B-B1E9-4422F4940B90}" type="slidenum">
              <a:rPr lang="en-US" smtClean="0"/>
              <a:t>44</a:t>
            </a:fld>
            <a:endParaRPr lang="en-US"/>
          </a:p>
        </p:txBody>
      </p:sp>
    </p:spTree>
    <p:extLst>
      <p:ext uri="{BB962C8B-B14F-4D97-AF65-F5344CB8AC3E}">
        <p14:creationId xmlns:p14="http://schemas.microsoft.com/office/powerpoint/2010/main" val="9732210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VAS</a:t>
            </a:r>
          </a:p>
        </p:txBody>
      </p:sp>
      <p:sp>
        <p:nvSpPr>
          <p:cNvPr id="4" name="Slide Number Placeholder 3"/>
          <p:cNvSpPr>
            <a:spLocks noGrp="1"/>
          </p:cNvSpPr>
          <p:nvPr>
            <p:ph type="sldNum" sz="quarter" idx="5"/>
          </p:nvPr>
        </p:nvSpPr>
        <p:spPr/>
        <p:txBody>
          <a:bodyPr/>
          <a:lstStyle/>
          <a:p>
            <a:fld id="{8B1D326A-7124-D34B-B1E9-4422F4940B90}" type="slidenum">
              <a:rPr lang="en-US" smtClean="0"/>
              <a:t>45</a:t>
            </a:fld>
            <a:endParaRPr lang="en-US"/>
          </a:p>
        </p:txBody>
      </p:sp>
    </p:spTree>
    <p:extLst>
      <p:ext uri="{BB962C8B-B14F-4D97-AF65-F5344CB8AC3E}">
        <p14:creationId xmlns:p14="http://schemas.microsoft.com/office/powerpoint/2010/main" val="34307455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48</a:t>
            </a:fld>
            <a:endParaRPr lang="en-US"/>
          </a:p>
        </p:txBody>
      </p:sp>
    </p:spTree>
    <p:extLst>
      <p:ext uri="{BB962C8B-B14F-4D97-AF65-F5344CB8AC3E}">
        <p14:creationId xmlns:p14="http://schemas.microsoft.com/office/powerpoint/2010/main" val="17721080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49</a:t>
            </a:fld>
            <a:endParaRPr lang="en-US"/>
          </a:p>
        </p:txBody>
      </p:sp>
    </p:spTree>
    <p:extLst>
      <p:ext uri="{BB962C8B-B14F-4D97-AF65-F5344CB8AC3E}">
        <p14:creationId xmlns:p14="http://schemas.microsoft.com/office/powerpoint/2010/main" val="16971299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E7BED-2DE9-8945-A544-0A6176E9AC37}" type="slidenum">
              <a:rPr lang="en-US" smtClean="0"/>
              <a:t>50</a:t>
            </a:fld>
            <a:endParaRPr lang="en-US"/>
          </a:p>
        </p:txBody>
      </p:sp>
    </p:spTree>
    <p:extLst>
      <p:ext uri="{BB962C8B-B14F-4D97-AF65-F5344CB8AC3E}">
        <p14:creationId xmlns:p14="http://schemas.microsoft.com/office/powerpoint/2010/main" val="12202404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D326A-7124-D34B-B1E9-4422F4940B90}" type="slidenum">
              <a:rPr lang="en-US" smtClean="0"/>
              <a:t>55</a:t>
            </a:fld>
            <a:endParaRPr lang="en-US"/>
          </a:p>
        </p:txBody>
      </p:sp>
    </p:spTree>
    <p:extLst>
      <p:ext uri="{BB962C8B-B14F-4D97-AF65-F5344CB8AC3E}">
        <p14:creationId xmlns:p14="http://schemas.microsoft.com/office/powerpoint/2010/main" val="725263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59F86-10F7-06BF-EA69-2907E0A6A2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DA2679-9025-EEC8-6D5E-BFE7E6C073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F67EC3-6813-F13D-11A7-B83F9547908C}"/>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5" name="Footer Placeholder 4">
            <a:extLst>
              <a:ext uri="{FF2B5EF4-FFF2-40B4-BE49-F238E27FC236}">
                <a16:creationId xmlns:a16="http://schemas.microsoft.com/office/drawing/2014/main" id="{AE35C43D-F763-3F63-4C35-47BCCC7E9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25A0E9-2B57-80F2-5701-F8B07890F1D1}"/>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162606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D6BC5-7EB0-327B-FE33-2F488EAC38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CE1301-60D6-566F-71A9-313DF823A3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3B7C39-9513-4A28-9D01-D6903B3B42DC}"/>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5" name="Footer Placeholder 4">
            <a:extLst>
              <a:ext uri="{FF2B5EF4-FFF2-40B4-BE49-F238E27FC236}">
                <a16:creationId xmlns:a16="http://schemas.microsoft.com/office/drawing/2014/main" id="{A2087C16-0415-0F19-9481-24E1B8AF0E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DF5B70-4DBA-B49C-80A3-83440CFFA132}"/>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1158645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58664-E7C7-8486-8C88-A73C1D9281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D28886-8693-6B7A-7171-B3396B8ADA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8C41BE-C520-A7CE-15EC-44D672ED5D7A}"/>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5" name="Footer Placeholder 4">
            <a:extLst>
              <a:ext uri="{FF2B5EF4-FFF2-40B4-BE49-F238E27FC236}">
                <a16:creationId xmlns:a16="http://schemas.microsoft.com/office/drawing/2014/main" id="{61BC37B8-FE68-B410-179C-165F5543C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263231-6C54-71D8-C3ED-E72F8E58E6BB}"/>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2692859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513D8-D106-36A2-B982-DC03A1FA81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F3D3CA-33C0-A5D7-2972-40EFBD1809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ABE493-B2C0-B771-1332-6B05B96D80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4C6189-3A1B-A6E1-4723-CE69AC8060A2}"/>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6" name="Footer Placeholder 5">
            <a:extLst>
              <a:ext uri="{FF2B5EF4-FFF2-40B4-BE49-F238E27FC236}">
                <a16:creationId xmlns:a16="http://schemas.microsoft.com/office/drawing/2014/main" id="{BC03A05C-F55C-C3F2-8F64-A184C96148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9B3BA0-F516-76CA-B65A-6D2C2C19223A}"/>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2282123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29F9E-43A6-431E-9FBA-9353DA90A8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CCB2D1-8820-2C38-DC4C-EFA409BC68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54F3E5-DCED-24BA-D1CB-61F7F97C24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6DC7F3-41A4-8170-F10F-0C722B8D99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9EB62B-AA22-4BBB-448C-38A45BB3AF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846B58-039B-1CF9-223F-7C2D17865AAA}"/>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8" name="Footer Placeholder 7">
            <a:extLst>
              <a:ext uri="{FF2B5EF4-FFF2-40B4-BE49-F238E27FC236}">
                <a16:creationId xmlns:a16="http://schemas.microsoft.com/office/drawing/2014/main" id="{6C9F94F1-7564-8C1D-F5FF-7CC9A0CC86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ABA04D-1B7D-C66B-29E8-F7CD02E4B9AC}"/>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3057239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B8E8A-A11E-24B1-032C-8FDA63D8BE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383C8C-E2A9-D522-4568-9ED9A8D97344}"/>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4" name="Footer Placeholder 3">
            <a:extLst>
              <a:ext uri="{FF2B5EF4-FFF2-40B4-BE49-F238E27FC236}">
                <a16:creationId xmlns:a16="http://schemas.microsoft.com/office/drawing/2014/main" id="{990C5B4D-CD61-B757-6B83-9FFAB5A328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7A5F37-F423-A46B-3415-F1E5F1A99361}"/>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364224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5C86E8-F546-1048-AB96-BED524EAA9E0}"/>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3" name="Footer Placeholder 2">
            <a:extLst>
              <a:ext uri="{FF2B5EF4-FFF2-40B4-BE49-F238E27FC236}">
                <a16:creationId xmlns:a16="http://schemas.microsoft.com/office/drawing/2014/main" id="{33F6307E-FA06-B8D2-AF9A-E218B02364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CE4ADA-FB5D-7C28-ACF7-E3AC2A89CA36}"/>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420067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E2871-92D5-15BE-1179-432CAD7357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26869C-C0BB-051B-0145-829EE4F103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BC2AAA-8940-BBC2-F58E-AB55D1A5C5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C623CC-B181-B619-DC2F-5097BABC657F}"/>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6" name="Footer Placeholder 5">
            <a:extLst>
              <a:ext uri="{FF2B5EF4-FFF2-40B4-BE49-F238E27FC236}">
                <a16:creationId xmlns:a16="http://schemas.microsoft.com/office/drawing/2014/main" id="{39350D3F-8835-D5B0-0119-36E072BAB6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6D96FD-A2A0-9371-773E-EA46142E3C96}"/>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1785920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D8250-F7BD-64C8-456F-202C3C58DE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0460BA-2620-3FBA-BB33-AAFCDEC47C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BF5559-CC6D-06F5-474C-0024FF965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B63778-1498-56F5-6AEA-B80949C41AF4}"/>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6" name="Footer Placeholder 5">
            <a:extLst>
              <a:ext uri="{FF2B5EF4-FFF2-40B4-BE49-F238E27FC236}">
                <a16:creationId xmlns:a16="http://schemas.microsoft.com/office/drawing/2014/main" id="{B068CB45-3D81-F0B0-033A-D6B3498216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20ACA9-03D0-0D2B-9E9A-952946B3FF5A}"/>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223799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381DB-2044-0EE0-A215-4EB9F14FF9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6A3A0A-99A7-C99B-9ADD-7BE0135BFA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E6CD35-9F3A-DB68-C0A5-56637E3BE5C6}"/>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5" name="Footer Placeholder 4">
            <a:extLst>
              <a:ext uri="{FF2B5EF4-FFF2-40B4-BE49-F238E27FC236}">
                <a16:creationId xmlns:a16="http://schemas.microsoft.com/office/drawing/2014/main" id="{E0ED0A01-2162-BCBE-4B01-CA6098B35C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A8B129-74DF-51D1-2673-B53A80AE04A5}"/>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3927017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482E5C-F8DC-463B-BF89-B3022E9DD3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5DF095A-EB77-153B-76DA-D60ADE92BA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C59D4E-453A-52D1-EEC9-D7F04642A699}"/>
              </a:ext>
            </a:extLst>
          </p:cNvPr>
          <p:cNvSpPr>
            <a:spLocks noGrp="1"/>
          </p:cNvSpPr>
          <p:nvPr>
            <p:ph type="dt" sz="half" idx="10"/>
          </p:nvPr>
        </p:nvSpPr>
        <p:spPr/>
        <p:txBody>
          <a:bodyPr/>
          <a:lstStyle/>
          <a:p>
            <a:fld id="{E50E194A-2680-D740-B099-A27155BFFC09}" type="datetimeFigureOut">
              <a:rPr lang="en-US" smtClean="0"/>
              <a:t>9/26/24</a:t>
            </a:fld>
            <a:endParaRPr lang="en-US"/>
          </a:p>
        </p:txBody>
      </p:sp>
      <p:sp>
        <p:nvSpPr>
          <p:cNvPr id="5" name="Footer Placeholder 4">
            <a:extLst>
              <a:ext uri="{FF2B5EF4-FFF2-40B4-BE49-F238E27FC236}">
                <a16:creationId xmlns:a16="http://schemas.microsoft.com/office/drawing/2014/main" id="{C7D7B6A0-BD4E-23AD-3602-4AD3ECA9FA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309BB2-C77B-69B9-5682-E948653C0451}"/>
              </a:ext>
            </a:extLst>
          </p:cNvPr>
          <p:cNvSpPr>
            <a:spLocks noGrp="1"/>
          </p:cNvSpPr>
          <p:nvPr>
            <p:ph type="sldNum" sz="quarter" idx="12"/>
          </p:nvPr>
        </p:nvSpPr>
        <p:spPr/>
        <p:txBody>
          <a:bodyPr/>
          <a:lstStyle/>
          <a:p>
            <a:fld id="{5B325910-6555-CE43-B444-05C91D5459A4}" type="slidenum">
              <a:rPr lang="en-US" smtClean="0"/>
              <a:t>‹#›</a:t>
            </a:fld>
            <a:endParaRPr lang="en-US"/>
          </a:p>
        </p:txBody>
      </p:sp>
    </p:spTree>
    <p:extLst>
      <p:ext uri="{BB962C8B-B14F-4D97-AF65-F5344CB8AC3E}">
        <p14:creationId xmlns:p14="http://schemas.microsoft.com/office/powerpoint/2010/main" val="1260947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0889E9-2103-CF19-4250-9DD7E27C38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C8267D-F744-DC58-657A-F223B92548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789679-8B70-7096-FF1B-8F66C831A9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0E194A-2680-D740-B099-A27155BFFC09}" type="datetimeFigureOut">
              <a:rPr lang="en-US" smtClean="0"/>
              <a:t>9/26/24</a:t>
            </a:fld>
            <a:endParaRPr lang="en-US"/>
          </a:p>
        </p:txBody>
      </p:sp>
      <p:sp>
        <p:nvSpPr>
          <p:cNvPr id="5" name="Footer Placeholder 4">
            <a:extLst>
              <a:ext uri="{FF2B5EF4-FFF2-40B4-BE49-F238E27FC236}">
                <a16:creationId xmlns:a16="http://schemas.microsoft.com/office/drawing/2014/main" id="{3EAE4496-04F1-6711-E48C-15645A2368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94A4DA8-5B11-F003-670E-788DB0BEC9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325910-6555-CE43-B444-05C91D5459A4}" type="slidenum">
              <a:rPr lang="en-US" smtClean="0"/>
              <a:t>‹#›</a:t>
            </a:fld>
            <a:endParaRPr lang="en-US"/>
          </a:p>
        </p:txBody>
      </p:sp>
    </p:spTree>
    <p:extLst>
      <p:ext uri="{BB962C8B-B14F-4D97-AF65-F5344CB8AC3E}">
        <p14:creationId xmlns:p14="http://schemas.microsoft.com/office/powerpoint/2010/main" val="2620617609"/>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3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s/_rels/slide3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7.png"/><Relationship Id="rId7"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6.svg"/><Relationship Id="rId4" Type="http://schemas.openxmlformats.org/officeDocument/2006/relationships/image" Target="../media/image18.svg"/><Relationship Id="rId9"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37.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25.xml"/><Relationship Id="rId16" Type="http://schemas.openxmlformats.org/officeDocument/2006/relationships/image" Target="../media/image28.svg"/><Relationship Id="rId1" Type="http://schemas.openxmlformats.org/officeDocument/2006/relationships/slideLayout" Target="../slideLayouts/slideLayout2.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 Id="rId14" Type="http://schemas.openxmlformats.org/officeDocument/2006/relationships/image" Target="../media/image26.svg"/></Relationships>
</file>

<file path=ppt/slides/_rels/slide3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7.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0.svg"/><Relationship Id="rId11" Type="http://schemas.openxmlformats.org/officeDocument/2006/relationships/image" Target="../media/image27.png"/><Relationship Id="rId5" Type="http://schemas.openxmlformats.org/officeDocument/2006/relationships/image" Target="../media/image19.png"/><Relationship Id="rId10" Type="http://schemas.openxmlformats.org/officeDocument/2006/relationships/image" Target="../media/image26.svg"/><Relationship Id="rId4" Type="http://schemas.openxmlformats.org/officeDocument/2006/relationships/image" Target="../media/image18.svg"/><Relationship Id="rId9"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4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image" Target="../media/image35.emf"/><Relationship Id="rId7" Type="http://schemas.openxmlformats.org/officeDocument/2006/relationships/image" Target="../media/image39.sv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emf"/><Relationship Id="rId4" Type="http://schemas.openxmlformats.org/officeDocument/2006/relationships/image" Target="../media/image36.emf"/><Relationship Id="rId9" Type="http://schemas.openxmlformats.org/officeDocument/2006/relationships/image" Target="../media/image41.emf"/></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5B33B-FA97-ECF1-58FB-81A710D6E149}"/>
              </a:ext>
            </a:extLst>
          </p:cNvPr>
          <p:cNvSpPr>
            <a:spLocks noGrp="1"/>
          </p:cNvSpPr>
          <p:nvPr>
            <p:ph type="title"/>
          </p:nvPr>
        </p:nvSpPr>
        <p:spPr>
          <a:xfrm>
            <a:off x="570593" y="1121910"/>
            <a:ext cx="10515600" cy="2852737"/>
          </a:xfrm>
        </p:spPr>
        <p:txBody>
          <a:bodyPr anchor="b">
            <a:normAutofit/>
          </a:bodyPr>
          <a:lstStyle/>
          <a:p>
            <a:pPr algn="ctr"/>
            <a:r>
              <a:rPr lang="en-US" sz="3800" b="1" dirty="0"/>
              <a:t>Gradient categorization, linguistic diversity, and second language acquisition: </a:t>
            </a:r>
            <a:br>
              <a:rPr lang="en-US" sz="3800" dirty="0"/>
            </a:br>
            <a:r>
              <a:rPr lang="en-US" sz="3800" dirty="0"/>
              <a:t>Evidence from the use of multilingual training items in the perceptual learning of L2 phonemic contrasts</a:t>
            </a:r>
            <a:br>
              <a:rPr lang="en-US" sz="3800" dirty="0"/>
            </a:br>
            <a:endParaRPr lang="en-US" sz="3800" dirty="0"/>
          </a:p>
        </p:txBody>
      </p:sp>
      <p:sp>
        <p:nvSpPr>
          <p:cNvPr id="3" name="Subtitle 2">
            <a:extLst>
              <a:ext uri="{FF2B5EF4-FFF2-40B4-BE49-F238E27FC236}">
                <a16:creationId xmlns:a16="http://schemas.microsoft.com/office/drawing/2014/main" id="{21D0D02F-962E-86D7-7EEF-7F8D444D4DFB}"/>
              </a:ext>
            </a:extLst>
          </p:cNvPr>
          <p:cNvSpPr>
            <a:spLocks noGrp="1"/>
          </p:cNvSpPr>
          <p:nvPr>
            <p:ph type="body" idx="1"/>
          </p:nvPr>
        </p:nvSpPr>
        <p:spPr>
          <a:xfrm>
            <a:off x="838200" y="4985996"/>
            <a:ext cx="10515600" cy="1500187"/>
          </a:xfrm>
        </p:spPr>
        <p:txBody>
          <a:bodyPr>
            <a:normAutofit/>
          </a:bodyPr>
          <a:lstStyle/>
          <a:p>
            <a:r>
              <a:rPr lang="en-US" dirty="0">
                <a:solidFill>
                  <a:schemeClr val="tx1"/>
                </a:solidFill>
              </a:rPr>
              <a:t>Chisom Obasih</a:t>
            </a:r>
          </a:p>
          <a:p>
            <a:r>
              <a:rPr lang="en-US" dirty="0">
                <a:solidFill>
                  <a:schemeClr val="tx1"/>
                </a:solidFill>
              </a:rPr>
              <a:t>Dissertation Proposal Defense</a:t>
            </a:r>
          </a:p>
          <a:p>
            <a:r>
              <a:rPr lang="en-US" dirty="0">
                <a:solidFill>
                  <a:schemeClr val="tx1"/>
                </a:solidFill>
              </a:rPr>
              <a:t>September 23, 2024</a:t>
            </a:r>
          </a:p>
        </p:txBody>
      </p:sp>
    </p:spTree>
    <p:extLst>
      <p:ext uri="{BB962C8B-B14F-4D97-AF65-F5344CB8AC3E}">
        <p14:creationId xmlns:p14="http://schemas.microsoft.com/office/powerpoint/2010/main" val="1018061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52B2E-ECD7-811D-CB0A-34EA70FFA5ED}"/>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BEDD120B-51C4-28C6-6D35-4696EA1CC4D1}"/>
              </a:ext>
            </a:extLst>
          </p:cNvPr>
          <p:cNvSpPr>
            <a:spLocks noGrp="1"/>
          </p:cNvSpPr>
          <p:nvPr>
            <p:ph idx="1"/>
          </p:nvPr>
        </p:nvSpPr>
        <p:spPr/>
        <p:txBody>
          <a:bodyPr/>
          <a:lstStyle/>
          <a:p>
            <a:pPr marL="514350" indent="-514350">
              <a:buAutoNum type="arabicPeriod"/>
            </a:pPr>
            <a:r>
              <a:rPr lang="en-US" dirty="0"/>
              <a:t>Quick literature review and motivation</a:t>
            </a:r>
          </a:p>
          <a:p>
            <a:pPr marL="514350" indent="-514350">
              <a:buAutoNum type="arabicPeriod"/>
            </a:pPr>
            <a:r>
              <a:rPr lang="en-US" dirty="0"/>
              <a:t>Research questions</a:t>
            </a:r>
          </a:p>
          <a:p>
            <a:pPr marL="514350" indent="-514350">
              <a:buAutoNum type="arabicPeriod"/>
            </a:pPr>
            <a:r>
              <a:rPr lang="en-US" dirty="0"/>
              <a:t>Linguistic targets</a:t>
            </a:r>
          </a:p>
          <a:p>
            <a:pPr marL="514350" indent="-514350">
              <a:buAutoNum type="arabicPeriod"/>
            </a:pPr>
            <a:r>
              <a:rPr lang="en-US" dirty="0"/>
              <a:t>Experiment 1</a:t>
            </a:r>
          </a:p>
          <a:p>
            <a:pPr marL="514350" indent="-514350">
              <a:buAutoNum type="arabicPeriod"/>
            </a:pPr>
            <a:r>
              <a:rPr lang="en-US" dirty="0"/>
              <a:t>Experiment 2</a:t>
            </a:r>
          </a:p>
          <a:p>
            <a:pPr marL="514350" indent="-514350">
              <a:buAutoNum type="arabicPeriod"/>
            </a:pPr>
            <a:r>
              <a:rPr lang="en-US" dirty="0"/>
              <a:t>Experiment 3</a:t>
            </a:r>
          </a:p>
          <a:p>
            <a:pPr marL="514350" indent="-514350">
              <a:buAutoNum type="arabicPeriod"/>
            </a:pPr>
            <a:r>
              <a:rPr lang="en-US" dirty="0"/>
              <a:t>Request for feedback</a:t>
            </a:r>
          </a:p>
          <a:p>
            <a:pPr marL="514350" indent="-514350">
              <a:buAutoNum type="arabicPeriod"/>
            </a:pPr>
            <a:endParaRPr lang="en-US" dirty="0"/>
          </a:p>
        </p:txBody>
      </p:sp>
    </p:spTree>
    <p:extLst>
      <p:ext uri="{BB962C8B-B14F-4D97-AF65-F5344CB8AC3E}">
        <p14:creationId xmlns:p14="http://schemas.microsoft.com/office/powerpoint/2010/main" val="2930787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92961-B90D-1321-6201-DE3A37A075DE}"/>
              </a:ext>
            </a:extLst>
          </p:cNvPr>
          <p:cNvSpPr>
            <a:spLocks noGrp="1"/>
          </p:cNvSpPr>
          <p:nvPr>
            <p:ph type="title"/>
          </p:nvPr>
        </p:nvSpPr>
        <p:spPr/>
        <p:txBody>
          <a:bodyPr/>
          <a:lstStyle/>
          <a:p>
            <a:r>
              <a:rPr lang="en-US" dirty="0"/>
              <a:t>Quick literature review and motivation</a:t>
            </a:r>
          </a:p>
        </p:txBody>
      </p:sp>
      <p:sp>
        <p:nvSpPr>
          <p:cNvPr id="3" name="Text Placeholder 2">
            <a:extLst>
              <a:ext uri="{FF2B5EF4-FFF2-40B4-BE49-F238E27FC236}">
                <a16:creationId xmlns:a16="http://schemas.microsoft.com/office/drawing/2014/main" id="{BCECD670-0FE4-97B2-0A6D-59AF44F9DBA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86219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0A51A-F2C5-C075-C0B9-DA7CF464D2C1}"/>
              </a:ext>
            </a:extLst>
          </p:cNvPr>
          <p:cNvSpPr>
            <a:spLocks noGrp="1"/>
          </p:cNvSpPr>
          <p:nvPr>
            <p:ph type="title"/>
          </p:nvPr>
        </p:nvSpPr>
        <p:spPr>
          <a:xfrm>
            <a:off x="838200" y="927832"/>
            <a:ext cx="10515600" cy="1325563"/>
          </a:xfrm>
        </p:spPr>
        <p:txBody>
          <a:bodyPr>
            <a:normAutofit fontScale="90000"/>
          </a:bodyPr>
          <a:lstStyle/>
          <a:p>
            <a:r>
              <a:rPr lang="en-US" dirty="0"/>
              <a:t>Learning new speech categories is difficult for adult learners, who face interference from their already-mapped L1 speech categories</a:t>
            </a:r>
            <a:br>
              <a:rPr lang="en-US" dirty="0"/>
            </a:br>
            <a:endParaRPr lang="en-US" dirty="0"/>
          </a:p>
        </p:txBody>
      </p:sp>
      <p:pic>
        <p:nvPicPr>
          <p:cNvPr id="6" name="Picture 2">
            <a:extLst>
              <a:ext uri="{FF2B5EF4-FFF2-40B4-BE49-F238E27FC236}">
                <a16:creationId xmlns:a16="http://schemas.microsoft.com/office/drawing/2014/main" id="{A0C54A20-2422-3B54-4C0F-9FA3C14D65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838200" y="3310025"/>
            <a:ext cx="10289661" cy="27185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82A118-754C-F68F-1BA6-B1F74A5D18C3}"/>
              </a:ext>
            </a:extLst>
          </p:cNvPr>
          <p:cNvSpPr txBox="1"/>
          <p:nvPr/>
        </p:nvSpPr>
        <p:spPr>
          <a:xfrm>
            <a:off x="9197788" y="6096000"/>
            <a:ext cx="2829621" cy="369332"/>
          </a:xfrm>
          <a:prstGeom prst="rect">
            <a:avLst/>
          </a:prstGeom>
          <a:noFill/>
        </p:spPr>
        <p:txBody>
          <a:bodyPr wrap="none" rtlCol="0">
            <a:spAutoFit/>
          </a:bodyPr>
          <a:lstStyle/>
          <a:p>
            <a:r>
              <a:rPr lang="en-US" dirty="0"/>
              <a:t>Nagle &amp; </a:t>
            </a:r>
            <a:r>
              <a:rPr lang="en-US" dirty="0" err="1"/>
              <a:t>Baese</a:t>
            </a:r>
            <a:r>
              <a:rPr lang="en-US" dirty="0"/>
              <a:t>-Berk (2022)</a:t>
            </a:r>
          </a:p>
        </p:txBody>
      </p:sp>
      <p:sp>
        <p:nvSpPr>
          <p:cNvPr id="8" name="Rectangle 7">
            <a:extLst>
              <a:ext uri="{FF2B5EF4-FFF2-40B4-BE49-F238E27FC236}">
                <a16:creationId xmlns:a16="http://schemas.microsoft.com/office/drawing/2014/main" id="{38CBD297-4C69-D97D-D121-D2FB7BE225EF}"/>
              </a:ext>
            </a:extLst>
          </p:cNvPr>
          <p:cNvSpPr/>
          <p:nvPr/>
        </p:nvSpPr>
        <p:spPr>
          <a:xfrm>
            <a:off x="8507895" y="3242555"/>
            <a:ext cx="2619965" cy="1647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B3A8FC7-B1C8-A008-2E4B-146C9F76E150}"/>
              </a:ext>
            </a:extLst>
          </p:cNvPr>
          <p:cNvSpPr/>
          <p:nvPr/>
        </p:nvSpPr>
        <p:spPr>
          <a:xfrm>
            <a:off x="838199" y="3021780"/>
            <a:ext cx="7669696" cy="1729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831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0A51A-F2C5-C075-C0B9-DA7CF464D2C1}"/>
              </a:ext>
            </a:extLst>
          </p:cNvPr>
          <p:cNvSpPr>
            <a:spLocks noGrp="1"/>
          </p:cNvSpPr>
          <p:nvPr>
            <p:ph type="title"/>
          </p:nvPr>
        </p:nvSpPr>
        <p:spPr>
          <a:xfrm>
            <a:off x="838200" y="927832"/>
            <a:ext cx="10515600" cy="1325563"/>
          </a:xfrm>
        </p:spPr>
        <p:txBody>
          <a:bodyPr>
            <a:normAutofit fontScale="90000"/>
          </a:bodyPr>
          <a:lstStyle/>
          <a:p>
            <a:r>
              <a:rPr lang="en-US" dirty="0"/>
              <a:t>Learning new speech categories is difficult for adult learners, who face interference from their already-mapped L1 speech categories</a:t>
            </a:r>
            <a:br>
              <a:rPr lang="en-US" dirty="0"/>
            </a:br>
            <a:endParaRPr lang="en-US" dirty="0"/>
          </a:p>
        </p:txBody>
      </p:sp>
      <p:pic>
        <p:nvPicPr>
          <p:cNvPr id="6" name="Picture 2">
            <a:extLst>
              <a:ext uri="{FF2B5EF4-FFF2-40B4-BE49-F238E27FC236}">
                <a16:creationId xmlns:a16="http://schemas.microsoft.com/office/drawing/2014/main" id="{A0C54A20-2422-3B54-4C0F-9FA3C14D65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838200" y="3310025"/>
            <a:ext cx="10289661" cy="27185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82A118-754C-F68F-1BA6-B1F74A5D18C3}"/>
              </a:ext>
            </a:extLst>
          </p:cNvPr>
          <p:cNvSpPr txBox="1"/>
          <p:nvPr/>
        </p:nvSpPr>
        <p:spPr>
          <a:xfrm>
            <a:off x="9197788" y="6096000"/>
            <a:ext cx="2829621" cy="369332"/>
          </a:xfrm>
          <a:prstGeom prst="rect">
            <a:avLst/>
          </a:prstGeom>
          <a:noFill/>
        </p:spPr>
        <p:txBody>
          <a:bodyPr wrap="none" rtlCol="0">
            <a:spAutoFit/>
          </a:bodyPr>
          <a:lstStyle/>
          <a:p>
            <a:r>
              <a:rPr lang="en-US" dirty="0"/>
              <a:t>Nagle &amp; </a:t>
            </a:r>
            <a:r>
              <a:rPr lang="en-US" dirty="0" err="1"/>
              <a:t>Baese</a:t>
            </a:r>
            <a:r>
              <a:rPr lang="en-US" dirty="0"/>
              <a:t>-Berk (2022)</a:t>
            </a:r>
          </a:p>
        </p:txBody>
      </p:sp>
      <p:sp>
        <p:nvSpPr>
          <p:cNvPr id="8" name="Rectangle 7">
            <a:extLst>
              <a:ext uri="{FF2B5EF4-FFF2-40B4-BE49-F238E27FC236}">
                <a16:creationId xmlns:a16="http://schemas.microsoft.com/office/drawing/2014/main" id="{38CBD297-4C69-D97D-D121-D2FB7BE225EF}"/>
              </a:ext>
            </a:extLst>
          </p:cNvPr>
          <p:cNvSpPr/>
          <p:nvPr/>
        </p:nvSpPr>
        <p:spPr>
          <a:xfrm>
            <a:off x="8507895" y="3242555"/>
            <a:ext cx="2619965" cy="1647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B3A8FC7-B1C8-A008-2E4B-146C9F76E150}"/>
              </a:ext>
            </a:extLst>
          </p:cNvPr>
          <p:cNvSpPr/>
          <p:nvPr/>
        </p:nvSpPr>
        <p:spPr>
          <a:xfrm>
            <a:off x="4287077" y="3021780"/>
            <a:ext cx="4220817" cy="1729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2340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0A51A-F2C5-C075-C0B9-DA7CF464D2C1}"/>
              </a:ext>
            </a:extLst>
          </p:cNvPr>
          <p:cNvSpPr>
            <a:spLocks noGrp="1"/>
          </p:cNvSpPr>
          <p:nvPr>
            <p:ph type="title"/>
          </p:nvPr>
        </p:nvSpPr>
        <p:spPr>
          <a:xfrm>
            <a:off x="838200" y="927832"/>
            <a:ext cx="10515600" cy="1325563"/>
          </a:xfrm>
        </p:spPr>
        <p:txBody>
          <a:bodyPr>
            <a:normAutofit fontScale="90000"/>
          </a:bodyPr>
          <a:lstStyle/>
          <a:p>
            <a:r>
              <a:rPr lang="en-US" dirty="0"/>
              <a:t>Learning new speech categories is difficult for adult learners, who face interference from their already-mapped L1 speech categories</a:t>
            </a:r>
            <a:br>
              <a:rPr lang="en-US" dirty="0"/>
            </a:br>
            <a:endParaRPr lang="en-US" dirty="0"/>
          </a:p>
        </p:txBody>
      </p:sp>
      <p:pic>
        <p:nvPicPr>
          <p:cNvPr id="6" name="Picture 2">
            <a:extLst>
              <a:ext uri="{FF2B5EF4-FFF2-40B4-BE49-F238E27FC236}">
                <a16:creationId xmlns:a16="http://schemas.microsoft.com/office/drawing/2014/main" id="{A0C54A20-2422-3B54-4C0F-9FA3C14D65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838200" y="3310025"/>
            <a:ext cx="10289661" cy="27185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82A118-754C-F68F-1BA6-B1F74A5D18C3}"/>
              </a:ext>
            </a:extLst>
          </p:cNvPr>
          <p:cNvSpPr txBox="1"/>
          <p:nvPr/>
        </p:nvSpPr>
        <p:spPr>
          <a:xfrm>
            <a:off x="9197788" y="6096000"/>
            <a:ext cx="2829621" cy="369332"/>
          </a:xfrm>
          <a:prstGeom prst="rect">
            <a:avLst/>
          </a:prstGeom>
          <a:noFill/>
        </p:spPr>
        <p:txBody>
          <a:bodyPr wrap="none" rtlCol="0">
            <a:spAutoFit/>
          </a:bodyPr>
          <a:lstStyle/>
          <a:p>
            <a:r>
              <a:rPr lang="en-US" dirty="0"/>
              <a:t>Nagle &amp; </a:t>
            </a:r>
            <a:r>
              <a:rPr lang="en-US" dirty="0" err="1"/>
              <a:t>Baese</a:t>
            </a:r>
            <a:r>
              <a:rPr lang="en-US" dirty="0"/>
              <a:t>-Berk (2022)</a:t>
            </a:r>
          </a:p>
        </p:txBody>
      </p:sp>
      <p:sp>
        <p:nvSpPr>
          <p:cNvPr id="8" name="Rectangle 7">
            <a:extLst>
              <a:ext uri="{FF2B5EF4-FFF2-40B4-BE49-F238E27FC236}">
                <a16:creationId xmlns:a16="http://schemas.microsoft.com/office/drawing/2014/main" id="{38CBD297-4C69-D97D-D121-D2FB7BE225EF}"/>
              </a:ext>
            </a:extLst>
          </p:cNvPr>
          <p:cNvSpPr/>
          <p:nvPr/>
        </p:nvSpPr>
        <p:spPr>
          <a:xfrm>
            <a:off x="8507895" y="3242555"/>
            <a:ext cx="2619965" cy="16474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B3A8FC7-B1C8-A008-2E4B-146C9F76E150}"/>
              </a:ext>
            </a:extLst>
          </p:cNvPr>
          <p:cNvSpPr/>
          <p:nvPr/>
        </p:nvSpPr>
        <p:spPr>
          <a:xfrm>
            <a:off x="7692888" y="3021780"/>
            <a:ext cx="854762" cy="1729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2470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0A51A-F2C5-C075-C0B9-DA7CF464D2C1}"/>
              </a:ext>
            </a:extLst>
          </p:cNvPr>
          <p:cNvSpPr>
            <a:spLocks noGrp="1"/>
          </p:cNvSpPr>
          <p:nvPr>
            <p:ph type="title"/>
          </p:nvPr>
        </p:nvSpPr>
        <p:spPr>
          <a:xfrm>
            <a:off x="838200" y="927832"/>
            <a:ext cx="10515600" cy="1325563"/>
          </a:xfrm>
        </p:spPr>
        <p:txBody>
          <a:bodyPr>
            <a:normAutofit fontScale="90000"/>
          </a:bodyPr>
          <a:lstStyle/>
          <a:p>
            <a:r>
              <a:rPr lang="en-US" dirty="0"/>
              <a:t>Learning new speech categories is difficult for adult learners, who face interference from their already-mapped L1 speech categories</a:t>
            </a:r>
            <a:br>
              <a:rPr lang="en-US" dirty="0"/>
            </a:br>
            <a:endParaRPr lang="en-US" dirty="0"/>
          </a:p>
        </p:txBody>
      </p:sp>
      <p:pic>
        <p:nvPicPr>
          <p:cNvPr id="6" name="Picture 2">
            <a:extLst>
              <a:ext uri="{FF2B5EF4-FFF2-40B4-BE49-F238E27FC236}">
                <a16:creationId xmlns:a16="http://schemas.microsoft.com/office/drawing/2014/main" id="{A0C54A20-2422-3B54-4C0F-9FA3C14D65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838200" y="3310025"/>
            <a:ext cx="10289661" cy="27185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82A118-754C-F68F-1BA6-B1F74A5D18C3}"/>
              </a:ext>
            </a:extLst>
          </p:cNvPr>
          <p:cNvSpPr txBox="1"/>
          <p:nvPr/>
        </p:nvSpPr>
        <p:spPr>
          <a:xfrm>
            <a:off x="9197788" y="6096000"/>
            <a:ext cx="2829621" cy="369332"/>
          </a:xfrm>
          <a:prstGeom prst="rect">
            <a:avLst/>
          </a:prstGeom>
          <a:noFill/>
        </p:spPr>
        <p:txBody>
          <a:bodyPr wrap="none" rtlCol="0">
            <a:spAutoFit/>
          </a:bodyPr>
          <a:lstStyle/>
          <a:p>
            <a:r>
              <a:rPr lang="en-US" dirty="0"/>
              <a:t>Nagle &amp; </a:t>
            </a:r>
            <a:r>
              <a:rPr lang="en-US" dirty="0" err="1"/>
              <a:t>Baese</a:t>
            </a:r>
            <a:r>
              <a:rPr lang="en-US" dirty="0"/>
              <a:t>-Berk (2022)</a:t>
            </a:r>
          </a:p>
        </p:txBody>
      </p:sp>
    </p:spTree>
    <p:extLst>
      <p:ext uri="{BB962C8B-B14F-4D97-AF65-F5344CB8AC3E}">
        <p14:creationId xmlns:p14="http://schemas.microsoft.com/office/powerpoint/2010/main" val="21135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0A51A-F2C5-C075-C0B9-DA7CF464D2C1}"/>
              </a:ext>
            </a:extLst>
          </p:cNvPr>
          <p:cNvSpPr>
            <a:spLocks noGrp="1"/>
          </p:cNvSpPr>
          <p:nvPr>
            <p:ph type="title"/>
          </p:nvPr>
        </p:nvSpPr>
        <p:spPr>
          <a:xfrm>
            <a:off x="838200" y="927832"/>
            <a:ext cx="10515600" cy="1325563"/>
          </a:xfrm>
        </p:spPr>
        <p:txBody>
          <a:bodyPr>
            <a:normAutofit fontScale="90000"/>
          </a:bodyPr>
          <a:lstStyle/>
          <a:p>
            <a:r>
              <a:rPr lang="en-US" dirty="0"/>
              <a:t>Learning new speech categories is difficult for adult learners, who face interference from their already-mapped L1 speech categories</a:t>
            </a:r>
            <a:br>
              <a:rPr lang="en-US" dirty="0"/>
            </a:br>
            <a:endParaRPr lang="en-US" dirty="0"/>
          </a:p>
        </p:txBody>
      </p:sp>
      <p:sp>
        <p:nvSpPr>
          <p:cNvPr id="3" name="Content Placeholder 2">
            <a:extLst>
              <a:ext uri="{FF2B5EF4-FFF2-40B4-BE49-F238E27FC236}">
                <a16:creationId xmlns:a16="http://schemas.microsoft.com/office/drawing/2014/main" id="{3A967A40-EC7C-BAD2-A697-865431BA9F96}"/>
              </a:ext>
            </a:extLst>
          </p:cNvPr>
          <p:cNvSpPr>
            <a:spLocks noGrp="1"/>
          </p:cNvSpPr>
          <p:nvPr>
            <p:ph idx="1"/>
          </p:nvPr>
        </p:nvSpPr>
        <p:spPr>
          <a:xfrm>
            <a:off x="838200" y="3052689"/>
            <a:ext cx="10515600" cy="3124274"/>
          </a:xfrm>
        </p:spPr>
        <p:txBody>
          <a:bodyPr>
            <a:normAutofit/>
          </a:bodyPr>
          <a:lstStyle/>
          <a:p>
            <a:pPr marL="0" indent="0">
              <a:buNone/>
            </a:pPr>
            <a:r>
              <a:rPr lang="en-US" b="1" dirty="0"/>
              <a:t>Problem-focused: </a:t>
            </a:r>
            <a:r>
              <a:rPr lang="en-US" dirty="0"/>
              <a:t>How do we make L2 speech category learning easier for </a:t>
            </a:r>
            <a:r>
              <a:rPr lang="en-US" i="1" dirty="0"/>
              <a:t>(the auditory perceptual system of) </a:t>
            </a:r>
            <a:r>
              <a:rPr lang="en-US" dirty="0"/>
              <a:t>adults?</a:t>
            </a:r>
          </a:p>
          <a:p>
            <a:pPr marL="0" indent="0">
              <a:buNone/>
            </a:pPr>
            <a:endParaRPr lang="en-US" dirty="0"/>
          </a:p>
          <a:p>
            <a:pPr marL="0" indent="0">
              <a:buNone/>
            </a:pPr>
            <a:r>
              <a:rPr lang="en-US" b="1" dirty="0"/>
              <a:t>Theory-focused: </a:t>
            </a:r>
            <a:r>
              <a:rPr lang="en-US" dirty="0"/>
              <a:t>What is the role of gradient categorization (and linguistic diversity) in L2 speech category learning?</a:t>
            </a:r>
          </a:p>
        </p:txBody>
      </p:sp>
    </p:spTree>
    <p:extLst>
      <p:ext uri="{BB962C8B-B14F-4D97-AF65-F5344CB8AC3E}">
        <p14:creationId xmlns:p14="http://schemas.microsoft.com/office/powerpoint/2010/main" val="2102413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CC1E3-866E-87FD-F523-6F86D3B8B013}"/>
              </a:ext>
            </a:extLst>
          </p:cNvPr>
          <p:cNvSpPr>
            <a:spLocks noGrp="1"/>
          </p:cNvSpPr>
          <p:nvPr>
            <p:ph type="title"/>
          </p:nvPr>
        </p:nvSpPr>
        <p:spPr/>
        <p:txBody>
          <a:bodyPr>
            <a:normAutofit fontScale="90000"/>
          </a:bodyPr>
          <a:lstStyle/>
          <a:p>
            <a:r>
              <a:rPr lang="en-US" dirty="0"/>
              <a:t>Degree of categorization gradiency can be measured from visual analog scale (VAS) slope and response variability</a:t>
            </a:r>
          </a:p>
        </p:txBody>
      </p:sp>
      <p:pic>
        <p:nvPicPr>
          <p:cNvPr id="5" name="Picture 4">
            <a:extLst>
              <a:ext uri="{FF2B5EF4-FFF2-40B4-BE49-F238E27FC236}">
                <a16:creationId xmlns:a16="http://schemas.microsoft.com/office/drawing/2014/main" id="{A06DDD05-2FCF-11D6-39BD-7DFE56E639A1}"/>
              </a:ext>
            </a:extLst>
          </p:cNvPr>
          <p:cNvPicPr>
            <a:picLocks noChangeAspect="1"/>
          </p:cNvPicPr>
          <p:nvPr/>
        </p:nvPicPr>
        <p:blipFill>
          <a:blip r:embed="rId3"/>
          <a:stretch>
            <a:fillRect/>
          </a:stretch>
        </p:blipFill>
        <p:spPr>
          <a:xfrm>
            <a:off x="838200" y="2985531"/>
            <a:ext cx="11079999" cy="2492513"/>
          </a:xfrm>
          <a:prstGeom prst="rect">
            <a:avLst/>
          </a:prstGeom>
        </p:spPr>
      </p:pic>
      <p:sp>
        <p:nvSpPr>
          <p:cNvPr id="7" name="TextBox 6">
            <a:extLst>
              <a:ext uri="{FF2B5EF4-FFF2-40B4-BE49-F238E27FC236}">
                <a16:creationId xmlns:a16="http://schemas.microsoft.com/office/drawing/2014/main" id="{5DD7581A-B33F-2C7E-C2BB-170D3D1FB16B}"/>
              </a:ext>
            </a:extLst>
          </p:cNvPr>
          <p:cNvSpPr txBox="1"/>
          <p:nvPr/>
        </p:nvSpPr>
        <p:spPr>
          <a:xfrm>
            <a:off x="9304208" y="6308209"/>
            <a:ext cx="2613991" cy="369332"/>
          </a:xfrm>
          <a:prstGeom prst="rect">
            <a:avLst/>
          </a:prstGeom>
          <a:noFill/>
        </p:spPr>
        <p:txBody>
          <a:bodyPr wrap="square">
            <a:spAutoFit/>
          </a:bodyPr>
          <a:lstStyle/>
          <a:p>
            <a:r>
              <a:rPr lang="en-US" dirty="0"/>
              <a:t>(</a:t>
            </a:r>
            <a:r>
              <a:rPr lang="en-US" dirty="0" err="1"/>
              <a:t>Apfelbaum</a:t>
            </a:r>
            <a:r>
              <a:rPr lang="en-US" dirty="0"/>
              <a:t> et al., 2022)</a:t>
            </a:r>
          </a:p>
        </p:txBody>
      </p:sp>
    </p:spTree>
    <p:extLst>
      <p:ext uri="{BB962C8B-B14F-4D97-AF65-F5344CB8AC3E}">
        <p14:creationId xmlns:p14="http://schemas.microsoft.com/office/powerpoint/2010/main" val="963199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56BAC-A107-D4A5-1B3E-A980BF23C73D}"/>
              </a:ext>
            </a:extLst>
          </p:cNvPr>
          <p:cNvSpPr>
            <a:spLocks noGrp="1"/>
          </p:cNvSpPr>
          <p:nvPr>
            <p:ph type="title"/>
          </p:nvPr>
        </p:nvSpPr>
        <p:spPr/>
        <p:txBody>
          <a:bodyPr>
            <a:normAutofit/>
          </a:bodyPr>
          <a:lstStyle/>
          <a:p>
            <a:r>
              <a:rPr lang="en-US" dirty="0"/>
              <a:t>Some individuals respond more categorically, while others respond more gradiently</a:t>
            </a:r>
          </a:p>
        </p:txBody>
      </p:sp>
      <p:pic>
        <p:nvPicPr>
          <p:cNvPr id="5" name="Content Placeholder 4" descr="A graph with numbers and lines&#10;&#10;Description automatically generated">
            <a:extLst>
              <a:ext uri="{FF2B5EF4-FFF2-40B4-BE49-F238E27FC236}">
                <a16:creationId xmlns:a16="http://schemas.microsoft.com/office/drawing/2014/main" id="{1316B0D6-18DF-A7F8-C976-D475D97B3700}"/>
              </a:ext>
            </a:extLst>
          </p:cNvPr>
          <p:cNvPicPr>
            <a:picLocks noGrp="1" noChangeAspect="1"/>
          </p:cNvPicPr>
          <p:nvPr>
            <p:ph idx="1"/>
          </p:nvPr>
        </p:nvPicPr>
        <p:blipFill>
          <a:blip r:embed="rId3"/>
          <a:stretch>
            <a:fillRect/>
          </a:stretch>
        </p:blipFill>
        <p:spPr>
          <a:xfrm>
            <a:off x="1243549" y="3103962"/>
            <a:ext cx="9704902" cy="2897222"/>
          </a:xfrm>
        </p:spPr>
      </p:pic>
      <p:sp>
        <p:nvSpPr>
          <p:cNvPr id="7" name="TextBox 6">
            <a:extLst>
              <a:ext uri="{FF2B5EF4-FFF2-40B4-BE49-F238E27FC236}">
                <a16:creationId xmlns:a16="http://schemas.microsoft.com/office/drawing/2014/main" id="{F607C4BB-625F-293E-89DD-98DF82BDC887}"/>
              </a:ext>
            </a:extLst>
          </p:cNvPr>
          <p:cNvSpPr txBox="1"/>
          <p:nvPr/>
        </p:nvSpPr>
        <p:spPr>
          <a:xfrm>
            <a:off x="9988550" y="6308209"/>
            <a:ext cx="2295939" cy="369332"/>
          </a:xfrm>
          <a:prstGeom prst="rect">
            <a:avLst/>
          </a:prstGeom>
          <a:noFill/>
        </p:spPr>
        <p:txBody>
          <a:bodyPr wrap="square">
            <a:spAutoFit/>
          </a:bodyPr>
          <a:lstStyle/>
          <a:p>
            <a:r>
              <a:rPr lang="en-US" dirty="0"/>
              <a:t>(Kim et al., 2020)</a:t>
            </a:r>
          </a:p>
        </p:txBody>
      </p:sp>
      <p:sp>
        <p:nvSpPr>
          <p:cNvPr id="8" name="TextBox 7">
            <a:extLst>
              <a:ext uri="{FF2B5EF4-FFF2-40B4-BE49-F238E27FC236}">
                <a16:creationId xmlns:a16="http://schemas.microsoft.com/office/drawing/2014/main" id="{7B762C89-6B70-D634-6675-CCBE94FFE009}"/>
              </a:ext>
            </a:extLst>
          </p:cNvPr>
          <p:cNvSpPr txBox="1"/>
          <p:nvPr/>
        </p:nvSpPr>
        <p:spPr>
          <a:xfrm>
            <a:off x="8690639" y="2427605"/>
            <a:ext cx="1550040" cy="369332"/>
          </a:xfrm>
          <a:prstGeom prst="rect">
            <a:avLst/>
          </a:prstGeom>
          <a:noFill/>
        </p:spPr>
        <p:txBody>
          <a:bodyPr wrap="none" rtlCol="0">
            <a:spAutoFit/>
          </a:bodyPr>
          <a:lstStyle/>
          <a:p>
            <a:r>
              <a:rPr lang="en-US" dirty="0"/>
              <a:t>More gradient</a:t>
            </a:r>
          </a:p>
        </p:txBody>
      </p:sp>
      <p:sp>
        <p:nvSpPr>
          <p:cNvPr id="9" name="TextBox 8">
            <a:extLst>
              <a:ext uri="{FF2B5EF4-FFF2-40B4-BE49-F238E27FC236}">
                <a16:creationId xmlns:a16="http://schemas.microsoft.com/office/drawing/2014/main" id="{8FEE24E6-9D6B-66AD-E7D1-2517C0482D60}"/>
              </a:ext>
            </a:extLst>
          </p:cNvPr>
          <p:cNvSpPr txBox="1"/>
          <p:nvPr/>
        </p:nvSpPr>
        <p:spPr>
          <a:xfrm>
            <a:off x="2247981" y="2427605"/>
            <a:ext cx="1845890" cy="369332"/>
          </a:xfrm>
          <a:prstGeom prst="rect">
            <a:avLst/>
          </a:prstGeom>
          <a:noFill/>
        </p:spPr>
        <p:txBody>
          <a:bodyPr wrap="none" rtlCol="0">
            <a:spAutoFit/>
          </a:bodyPr>
          <a:lstStyle/>
          <a:p>
            <a:r>
              <a:rPr lang="en-US" dirty="0"/>
              <a:t>More categorical</a:t>
            </a:r>
          </a:p>
        </p:txBody>
      </p:sp>
      <p:cxnSp>
        <p:nvCxnSpPr>
          <p:cNvPr id="11" name="Straight Arrow Connector 10">
            <a:extLst>
              <a:ext uri="{FF2B5EF4-FFF2-40B4-BE49-F238E27FC236}">
                <a16:creationId xmlns:a16="http://schemas.microsoft.com/office/drawing/2014/main" id="{A42CA7A2-F0C3-4A28-5B1C-C0797B202247}"/>
              </a:ext>
            </a:extLst>
          </p:cNvPr>
          <p:cNvCxnSpPr/>
          <p:nvPr/>
        </p:nvCxnSpPr>
        <p:spPr>
          <a:xfrm>
            <a:off x="4373217" y="2612271"/>
            <a:ext cx="4154557"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7264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graph showing the slope of a log&#10;&#10;Description automatically generated">
            <a:extLst>
              <a:ext uri="{FF2B5EF4-FFF2-40B4-BE49-F238E27FC236}">
                <a16:creationId xmlns:a16="http://schemas.microsoft.com/office/drawing/2014/main" id="{7D58D3EB-083F-C5C6-3DF7-A220529D7EBA}"/>
              </a:ext>
            </a:extLst>
          </p:cNvPr>
          <p:cNvPicPr>
            <a:picLocks noGrp="1" noChangeAspect="1"/>
          </p:cNvPicPr>
          <p:nvPr>
            <p:ph idx="1"/>
          </p:nvPr>
        </p:nvPicPr>
        <p:blipFill>
          <a:blip r:embed="rId3"/>
          <a:stretch>
            <a:fillRect/>
          </a:stretch>
        </p:blipFill>
        <p:spPr>
          <a:xfrm>
            <a:off x="3058735" y="2035900"/>
            <a:ext cx="6540563" cy="4125879"/>
          </a:xfrm>
        </p:spPr>
      </p:pic>
      <p:sp>
        <p:nvSpPr>
          <p:cNvPr id="4" name="Title 1">
            <a:extLst>
              <a:ext uri="{FF2B5EF4-FFF2-40B4-BE49-F238E27FC236}">
                <a16:creationId xmlns:a16="http://schemas.microsoft.com/office/drawing/2014/main" id="{09C7823C-CF27-42A4-F95D-999F1B5A44AF}"/>
              </a:ext>
            </a:extLst>
          </p:cNvPr>
          <p:cNvSpPr>
            <a:spLocks noGrp="1"/>
          </p:cNvSpPr>
          <p:nvPr>
            <p:ph type="title"/>
          </p:nvPr>
        </p:nvSpPr>
        <p:spPr>
          <a:xfrm>
            <a:off x="652117" y="563907"/>
            <a:ext cx="11353800" cy="1325563"/>
          </a:xfrm>
        </p:spPr>
        <p:txBody>
          <a:bodyPr>
            <a:normAutofit fontScale="90000"/>
          </a:bodyPr>
          <a:lstStyle/>
          <a:p>
            <a:r>
              <a:rPr lang="en-US" dirty="0"/>
              <a:t>More gradient categorization is typically associated with increased secondary cue integration in L1 speech perception</a:t>
            </a:r>
          </a:p>
        </p:txBody>
      </p:sp>
      <p:sp>
        <p:nvSpPr>
          <p:cNvPr id="8" name="TextBox 7">
            <a:extLst>
              <a:ext uri="{FF2B5EF4-FFF2-40B4-BE49-F238E27FC236}">
                <a16:creationId xmlns:a16="http://schemas.microsoft.com/office/drawing/2014/main" id="{AC2379B6-68DA-AD06-EA41-6B6F7A9191B5}"/>
              </a:ext>
            </a:extLst>
          </p:cNvPr>
          <p:cNvSpPr txBox="1"/>
          <p:nvPr/>
        </p:nvSpPr>
        <p:spPr>
          <a:xfrm>
            <a:off x="8787848" y="6308209"/>
            <a:ext cx="3404152" cy="369332"/>
          </a:xfrm>
          <a:prstGeom prst="rect">
            <a:avLst/>
          </a:prstGeom>
          <a:noFill/>
        </p:spPr>
        <p:txBody>
          <a:bodyPr wrap="square">
            <a:spAutoFit/>
          </a:bodyPr>
          <a:lstStyle/>
          <a:p>
            <a:r>
              <a:rPr lang="en-US" dirty="0"/>
              <a:t>(</a:t>
            </a:r>
            <a:r>
              <a:rPr lang="en-US" dirty="0" err="1"/>
              <a:t>Kapnoula</a:t>
            </a:r>
            <a:r>
              <a:rPr lang="en-US" dirty="0"/>
              <a:t> &amp; McMurray, 2021)</a:t>
            </a:r>
          </a:p>
        </p:txBody>
      </p:sp>
    </p:spTree>
    <p:extLst>
      <p:ext uri="{BB962C8B-B14F-4D97-AF65-F5344CB8AC3E}">
        <p14:creationId xmlns:p14="http://schemas.microsoft.com/office/powerpoint/2010/main" val="3172223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26ADE-8F76-0EE0-4EDC-08ED4A48C73A}"/>
              </a:ext>
            </a:extLst>
          </p:cNvPr>
          <p:cNvSpPr>
            <a:spLocks noGrp="1"/>
          </p:cNvSpPr>
          <p:nvPr>
            <p:ph type="title"/>
          </p:nvPr>
        </p:nvSpPr>
        <p:spPr/>
        <p:txBody>
          <a:bodyPr>
            <a:normAutofit fontScale="90000"/>
          </a:bodyPr>
          <a:lstStyle/>
          <a:p>
            <a:r>
              <a:rPr lang="en-US" dirty="0"/>
              <a:t>Multiple cue integration, cue sensitivity, and perceptual flexibility is advantageous for learning novel L2 speech categories</a:t>
            </a:r>
          </a:p>
        </p:txBody>
      </p:sp>
      <p:pic>
        <p:nvPicPr>
          <p:cNvPr id="1026" name="Picture 2">
            <a:extLst>
              <a:ext uri="{FF2B5EF4-FFF2-40B4-BE49-F238E27FC236}">
                <a16:creationId xmlns:a16="http://schemas.microsoft.com/office/drawing/2014/main" id="{62EF058E-E62D-350E-3989-AD784D1DFE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310078"/>
            <a:ext cx="10289661" cy="271845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05F18E9-C707-38DE-9FA5-33E20F97C5F9}"/>
              </a:ext>
            </a:extLst>
          </p:cNvPr>
          <p:cNvSpPr txBox="1"/>
          <p:nvPr/>
        </p:nvSpPr>
        <p:spPr>
          <a:xfrm>
            <a:off x="9197788" y="6096000"/>
            <a:ext cx="2829621" cy="369332"/>
          </a:xfrm>
          <a:prstGeom prst="rect">
            <a:avLst/>
          </a:prstGeom>
          <a:noFill/>
        </p:spPr>
        <p:txBody>
          <a:bodyPr wrap="none" rtlCol="0">
            <a:spAutoFit/>
          </a:bodyPr>
          <a:lstStyle/>
          <a:p>
            <a:r>
              <a:rPr lang="en-US" dirty="0"/>
              <a:t>Nagle &amp; </a:t>
            </a:r>
            <a:r>
              <a:rPr lang="en-US" dirty="0" err="1"/>
              <a:t>Baese</a:t>
            </a:r>
            <a:r>
              <a:rPr lang="en-US" dirty="0"/>
              <a:t>-Berk (2022)</a:t>
            </a:r>
          </a:p>
        </p:txBody>
      </p:sp>
    </p:spTree>
    <p:extLst>
      <p:ext uri="{BB962C8B-B14F-4D97-AF65-F5344CB8AC3E}">
        <p14:creationId xmlns:p14="http://schemas.microsoft.com/office/powerpoint/2010/main" val="924200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842C2-12E7-0CC5-D897-863498F731D4}"/>
              </a:ext>
            </a:extLst>
          </p:cNvPr>
          <p:cNvSpPr>
            <a:spLocks noGrp="1"/>
          </p:cNvSpPr>
          <p:nvPr>
            <p:ph type="title"/>
          </p:nvPr>
        </p:nvSpPr>
        <p:spPr>
          <a:xfrm>
            <a:off x="838200" y="365125"/>
            <a:ext cx="10737590" cy="1325563"/>
          </a:xfrm>
        </p:spPr>
        <p:txBody>
          <a:bodyPr>
            <a:noAutofit/>
          </a:bodyPr>
          <a:lstStyle/>
          <a:p>
            <a:r>
              <a:rPr lang="en-US" sz="3600" dirty="0"/>
              <a:t>Children with more linguistically diverse and larger social networks are more likely to show gradient categorization</a:t>
            </a:r>
          </a:p>
        </p:txBody>
      </p:sp>
      <p:pic>
        <p:nvPicPr>
          <p:cNvPr id="9" name="Picture 8" descr="A graph with numbers and lines&#10;&#10;Description automatically generated">
            <a:extLst>
              <a:ext uri="{FF2B5EF4-FFF2-40B4-BE49-F238E27FC236}">
                <a16:creationId xmlns:a16="http://schemas.microsoft.com/office/drawing/2014/main" id="{77C78B33-7066-D693-02C8-97AF555A686F}"/>
              </a:ext>
            </a:extLst>
          </p:cNvPr>
          <p:cNvPicPr>
            <a:picLocks noChangeAspect="1"/>
          </p:cNvPicPr>
          <p:nvPr/>
        </p:nvPicPr>
        <p:blipFill>
          <a:blip r:embed="rId3"/>
          <a:stretch>
            <a:fillRect/>
          </a:stretch>
        </p:blipFill>
        <p:spPr>
          <a:xfrm>
            <a:off x="2134529" y="1690688"/>
            <a:ext cx="7503892" cy="2546775"/>
          </a:xfrm>
          <a:prstGeom prst="rect">
            <a:avLst/>
          </a:prstGeom>
        </p:spPr>
      </p:pic>
      <p:pic>
        <p:nvPicPr>
          <p:cNvPr id="15" name="Picture 14" descr="A diagram of a variety of network&#10;&#10;Description automatically generated with medium confidence">
            <a:extLst>
              <a:ext uri="{FF2B5EF4-FFF2-40B4-BE49-F238E27FC236}">
                <a16:creationId xmlns:a16="http://schemas.microsoft.com/office/drawing/2014/main" id="{63C3DBF4-DB29-8B59-A255-C7D97E672275}"/>
              </a:ext>
            </a:extLst>
          </p:cNvPr>
          <p:cNvPicPr>
            <a:picLocks noChangeAspect="1"/>
          </p:cNvPicPr>
          <p:nvPr/>
        </p:nvPicPr>
        <p:blipFill>
          <a:blip r:embed="rId4"/>
          <a:stretch>
            <a:fillRect/>
          </a:stretch>
        </p:blipFill>
        <p:spPr>
          <a:xfrm>
            <a:off x="4157648" y="4296401"/>
            <a:ext cx="4493839" cy="2561599"/>
          </a:xfrm>
          <a:prstGeom prst="rect">
            <a:avLst/>
          </a:prstGeom>
        </p:spPr>
      </p:pic>
      <p:sp>
        <p:nvSpPr>
          <p:cNvPr id="17" name="TextBox 16">
            <a:extLst>
              <a:ext uri="{FF2B5EF4-FFF2-40B4-BE49-F238E27FC236}">
                <a16:creationId xmlns:a16="http://schemas.microsoft.com/office/drawing/2014/main" id="{B44B9DBD-B65A-910C-12A2-703CF15A530E}"/>
              </a:ext>
            </a:extLst>
          </p:cNvPr>
          <p:cNvSpPr txBox="1"/>
          <p:nvPr/>
        </p:nvSpPr>
        <p:spPr>
          <a:xfrm>
            <a:off x="306659" y="6308209"/>
            <a:ext cx="2302726" cy="369332"/>
          </a:xfrm>
          <a:prstGeom prst="rect">
            <a:avLst/>
          </a:prstGeom>
          <a:noFill/>
        </p:spPr>
        <p:txBody>
          <a:bodyPr wrap="square">
            <a:spAutoFit/>
          </a:bodyPr>
          <a:lstStyle/>
          <a:p>
            <a:r>
              <a:rPr lang="en-US" dirty="0"/>
              <a:t>(</a:t>
            </a:r>
            <a:r>
              <a:rPr lang="en-US" dirty="0" err="1"/>
              <a:t>Kutlu</a:t>
            </a:r>
            <a:r>
              <a:rPr lang="en-US" dirty="0"/>
              <a:t> et al., 2024)</a:t>
            </a:r>
          </a:p>
        </p:txBody>
      </p:sp>
      <p:sp>
        <p:nvSpPr>
          <p:cNvPr id="18" name="Rectangle 17">
            <a:extLst>
              <a:ext uri="{FF2B5EF4-FFF2-40B4-BE49-F238E27FC236}">
                <a16:creationId xmlns:a16="http://schemas.microsoft.com/office/drawing/2014/main" id="{B033F893-34A2-AFF5-A8A9-E57B0DFC6675}"/>
              </a:ext>
            </a:extLst>
          </p:cNvPr>
          <p:cNvSpPr/>
          <p:nvPr/>
        </p:nvSpPr>
        <p:spPr>
          <a:xfrm>
            <a:off x="3043003" y="1690688"/>
            <a:ext cx="1409076" cy="228053"/>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71E55DB-8200-6647-4BE1-FEA4C706D8D8}"/>
              </a:ext>
            </a:extLst>
          </p:cNvPr>
          <p:cNvSpPr/>
          <p:nvPr/>
        </p:nvSpPr>
        <p:spPr>
          <a:xfrm>
            <a:off x="5360553" y="1696072"/>
            <a:ext cx="1409076" cy="22805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0A6C28A-58BA-AE0F-161D-6AB2C1993F54}"/>
              </a:ext>
            </a:extLst>
          </p:cNvPr>
          <p:cNvSpPr/>
          <p:nvPr/>
        </p:nvSpPr>
        <p:spPr>
          <a:xfrm>
            <a:off x="7668485" y="1690688"/>
            <a:ext cx="1409076" cy="228053"/>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2349170-052B-1D1C-A355-E0F250C028A1}"/>
              </a:ext>
            </a:extLst>
          </p:cNvPr>
          <p:cNvSpPr/>
          <p:nvPr/>
        </p:nvSpPr>
        <p:spPr>
          <a:xfrm>
            <a:off x="5803649" y="5618406"/>
            <a:ext cx="424471" cy="174047"/>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ADEEF5B-BA53-1D86-EF18-91ED9CFDD717}"/>
              </a:ext>
            </a:extLst>
          </p:cNvPr>
          <p:cNvSpPr/>
          <p:nvPr/>
        </p:nvSpPr>
        <p:spPr>
          <a:xfrm>
            <a:off x="8035958" y="5627145"/>
            <a:ext cx="424471" cy="174047"/>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517C88B-80A0-5E2B-CC6F-34106BE664DF}"/>
              </a:ext>
            </a:extLst>
          </p:cNvPr>
          <p:cNvSpPr/>
          <p:nvPr/>
        </p:nvSpPr>
        <p:spPr>
          <a:xfrm>
            <a:off x="5018296" y="4582517"/>
            <a:ext cx="406265" cy="154375"/>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333F099-2028-C460-19BA-918A937BAE39}"/>
              </a:ext>
            </a:extLst>
          </p:cNvPr>
          <p:cNvSpPr/>
          <p:nvPr/>
        </p:nvSpPr>
        <p:spPr>
          <a:xfrm>
            <a:off x="7262220" y="4583890"/>
            <a:ext cx="406265" cy="154375"/>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53287A4-8B9C-5275-9B2A-3C5EC7AF88F8}"/>
              </a:ext>
            </a:extLst>
          </p:cNvPr>
          <p:cNvSpPr/>
          <p:nvPr/>
        </p:nvSpPr>
        <p:spPr>
          <a:xfrm>
            <a:off x="4365479" y="5609262"/>
            <a:ext cx="349449" cy="174047"/>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5DAF69E-7EB1-04F6-BBBC-1FE552D1DAD7}"/>
              </a:ext>
            </a:extLst>
          </p:cNvPr>
          <p:cNvSpPr/>
          <p:nvPr/>
        </p:nvSpPr>
        <p:spPr>
          <a:xfrm>
            <a:off x="6594904" y="5627145"/>
            <a:ext cx="349449" cy="174047"/>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707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B728A6-315A-D4B0-22F2-39050695B8AA}"/>
              </a:ext>
            </a:extLst>
          </p:cNvPr>
          <p:cNvSpPr>
            <a:spLocks noGrp="1"/>
          </p:cNvSpPr>
          <p:nvPr>
            <p:ph idx="1"/>
          </p:nvPr>
        </p:nvSpPr>
        <p:spPr/>
        <p:txBody>
          <a:bodyPr/>
          <a:lstStyle/>
          <a:p>
            <a:pPr marL="0" indent="0">
              <a:buNone/>
            </a:pPr>
            <a:endParaRPr lang="en-US" dirty="0"/>
          </a:p>
        </p:txBody>
      </p:sp>
      <p:pic>
        <p:nvPicPr>
          <p:cNvPr id="4" name="Picture 3">
            <a:extLst>
              <a:ext uri="{FF2B5EF4-FFF2-40B4-BE49-F238E27FC236}">
                <a16:creationId xmlns:a16="http://schemas.microsoft.com/office/drawing/2014/main" id="{279FE8F1-8141-6B22-9EBC-F636F846AEDA}"/>
              </a:ext>
            </a:extLst>
          </p:cNvPr>
          <p:cNvPicPr>
            <a:picLocks noChangeAspect="1"/>
          </p:cNvPicPr>
          <p:nvPr/>
        </p:nvPicPr>
        <p:blipFill>
          <a:blip r:embed="rId4"/>
          <a:stretch>
            <a:fillRect/>
          </a:stretch>
        </p:blipFill>
        <p:spPr>
          <a:xfrm>
            <a:off x="2051047" y="3293867"/>
            <a:ext cx="3187700" cy="2743200"/>
          </a:xfrm>
          <a:prstGeom prst="rect">
            <a:avLst/>
          </a:prstGeom>
        </p:spPr>
      </p:pic>
      <p:pic>
        <p:nvPicPr>
          <p:cNvPr id="5" name="Picture 4" descr="A diagram of a bar with numbers and a triangle&#10;&#10;Description automatically generated with medium confidence">
            <a:extLst>
              <a:ext uri="{FF2B5EF4-FFF2-40B4-BE49-F238E27FC236}">
                <a16:creationId xmlns:a16="http://schemas.microsoft.com/office/drawing/2014/main" id="{CF2C7493-E66E-6BA2-B920-ED631E0F98D7}"/>
              </a:ext>
            </a:extLst>
          </p:cNvPr>
          <p:cNvPicPr>
            <a:picLocks noChangeAspect="1"/>
          </p:cNvPicPr>
          <p:nvPr/>
        </p:nvPicPr>
        <p:blipFill rotWithShape="1">
          <a:blip r:embed="rId5"/>
          <a:srcRect l="62683" t="2229" r="6348" b="-2229"/>
          <a:stretch/>
        </p:blipFill>
        <p:spPr>
          <a:xfrm>
            <a:off x="9268691" y="4484132"/>
            <a:ext cx="2737043" cy="1552935"/>
          </a:xfrm>
          <a:prstGeom prst="rect">
            <a:avLst/>
          </a:prstGeom>
        </p:spPr>
      </p:pic>
      <p:sp>
        <p:nvSpPr>
          <p:cNvPr id="8" name="Up Arrow 7">
            <a:extLst>
              <a:ext uri="{FF2B5EF4-FFF2-40B4-BE49-F238E27FC236}">
                <a16:creationId xmlns:a16="http://schemas.microsoft.com/office/drawing/2014/main" id="{7B9330BC-3E4D-5C29-E0B7-9CC10AB1BD46}"/>
              </a:ext>
            </a:extLst>
          </p:cNvPr>
          <p:cNvSpPr/>
          <p:nvPr/>
        </p:nvSpPr>
        <p:spPr>
          <a:xfrm>
            <a:off x="10471122" y="6026666"/>
            <a:ext cx="304800" cy="578304"/>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77D0BFC-D0CF-9144-C4DE-6237FE81462E}"/>
              </a:ext>
            </a:extLst>
          </p:cNvPr>
          <p:cNvSpPr txBox="1"/>
          <p:nvPr/>
        </p:nvSpPr>
        <p:spPr>
          <a:xfrm>
            <a:off x="6451593" y="6137387"/>
            <a:ext cx="3088089" cy="369332"/>
          </a:xfrm>
          <a:prstGeom prst="rect">
            <a:avLst/>
          </a:prstGeom>
          <a:noFill/>
        </p:spPr>
        <p:txBody>
          <a:bodyPr wrap="none" rtlCol="0">
            <a:spAutoFit/>
          </a:bodyPr>
          <a:lstStyle/>
          <a:p>
            <a:r>
              <a:rPr lang="en-US" dirty="0"/>
              <a:t>(</a:t>
            </a:r>
            <a:r>
              <a:rPr lang="en-US" dirty="0" err="1"/>
              <a:t>Kapnoula</a:t>
            </a:r>
            <a:r>
              <a:rPr lang="en-US" dirty="0"/>
              <a:t> &amp; McMurray, 2021)</a:t>
            </a:r>
          </a:p>
        </p:txBody>
      </p:sp>
      <p:sp>
        <p:nvSpPr>
          <p:cNvPr id="10" name="TextBox 9">
            <a:extLst>
              <a:ext uri="{FF2B5EF4-FFF2-40B4-BE49-F238E27FC236}">
                <a16:creationId xmlns:a16="http://schemas.microsoft.com/office/drawing/2014/main" id="{B06719B0-0F5A-F23D-3590-8897282F4456}"/>
              </a:ext>
            </a:extLst>
          </p:cNvPr>
          <p:cNvSpPr txBox="1"/>
          <p:nvPr/>
        </p:nvSpPr>
        <p:spPr>
          <a:xfrm>
            <a:off x="2051047" y="6123543"/>
            <a:ext cx="2755883" cy="369332"/>
          </a:xfrm>
          <a:prstGeom prst="rect">
            <a:avLst/>
          </a:prstGeom>
          <a:noFill/>
        </p:spPr>
        <p:txBody>
          <a:bodyPr wrap="none" rtlCol="0">
            <a:spAutoFit/>
          </a:bodyPr>
          <a:lstStyle/>
          <a:p>
            <a:r>
              <a:rPr lang="en-US" dirty="0"/>
              <a:t>(Nagle &amp; </a:t>
            </a:r>
            <a:r>
              <a:rPr lang="en-US" dirty="0" err="1"/>
              <a:t>Baese</a:t>
            </a:r>
            <a:r>
              <a:rPr lang="en-US" dirty="0"/>
              <a:t>-Berk, 2022)</a:t>
            </a:r>
            <a:endParaRPr lang="en-US" b="1" dirty="0"/>
          </a:p>
        </p:txBody>
      </p:sp>
      <p:grpSp>
        <p:nvGrpSpPr>
          <p:cNvPr id="11" name="Group 10">
            <a:extLst>
              <a:ext uri="{FF2B5EF4-FFF2-40B4-BE49-F238E27FC236}">
                <a16:creationId xmlns:a16="http://schemas.microsoft.com/office/drawing/2014/main" id="{5924F01F-799D-F6DE-A6A3-CB3EFA628188}"/>
              </a:ext>
            </a:extLst>
          </p:cNvPr>
          <p:cNvGrpSpPr/>
          <p:nvPr/>
        </p:nvGrpSpPr>
        <p:grpSpPr>
          <a:xfrm>
            <a:off x="2051047" y="4760557"/>
            <a:ext cx="3187700" cy="1276510"/>
            <a:chOff x="2051047" y="4760557"/>
            <a:chExt cx="3187700" cy="1276510"/>
          </a:xfrm>
        </p:grpSpPr>
        <p:pic>
          <p:nvPicPr>
            <p:cNvPr id="12" name="Picture 11">
              <a:extLst>
                <a:ext uri="{FF2B5EF4-FFF2-40B4-BE49-F238E27FC236}">
                  <a16:creationId xmlns:a16="http://schemas.microsoft.com/office/drawing/2014/main" id="{3C4C34D7-05BC-7A87-4431-FCEACC093258}"/>
                </a:ext>
              </a:extLst>
            </p:cNvPr>
            <p:cNvPicPr>
              <a:picLocks noChangeAspect="1"/>
            </p:cNvPicPr>
            <p:nvPr/>
          </p:nvPicPr>
          <p:blipFill rotWithShape="1">
            <a:blip r:embed="rId4"/>
            <a:srcRect t="53466"/>
            <a:stretch/>
          </p:blipFill>
          <p:spPr>
            <a:xfrm>
              <a:off x="2051047" y="4760557"/>
              <a:ext cx="3187700" cy="1276510"/>
            </a:xfrm>
            <a:prstGeom prst="rect">
              <a:avLst/>
            </a:prstGeom>
          </p:spPr>
        </p:pic>
        <p:sp>
          <p:nvSpPr>
            <p:cNvPr id="13" name="TextBox 12">
              <a:extLst>
                <a:ext uri="{FF2B5EF4-FFF2-40B4-BE49-F238E27FC236}">
                  <a16:creationId xmlns:a16="http://schemas.microsoft.com/office/drawing/2014/main" id="{C334C49F-3B0C-E4D6-AD12-D2BAD3EABE18}"/>
                </a:ext>
              </a:extLst>
            </p:cNvPr>
            <p:cNvSpPr txBox="1"/>
            <p:nvPr/>
          </p:nvSpPr>
          <p:spPr>
            <a:xfrm>
              <a:off x="4047066" y="5520267"/>
              <a:ext cx="558801" cy="287364"/>
            </a:xfrm>
            <a:prstGeom prst="rect">
              <a:avLst/>
            </a:prstGeom>
            <a:solidFill>
              <a:schemeClr val="bg1"/>
            </a:solidFill>
          </p:spPr>
          <p:txBody>
            <a:bodyPr wrap="square" rtlCol="0">
              <a:spAutoFit/>
            </a:bodyPr>
            <a:lstStyle/>
            <a:p>
              <a:r>
                <a:rPr lang="en-US" sz="1200" dirty="0"/>
                <a:t>25 ms</a:t>
              </a:r>
            </a:p>
          </p:txBody>
        </p:sp>
      </p:grpSp>
      <p:sp>
        <p:nvSpPr>
          <p:cNvPr id="16" name="Title 15">
            <a:extLst>
              <a:ext uri="{FF2B5EF4-FFF2-40B4-BE49-F238E27FC236}">
                <a16:creationId xmlns:a16="http://schemas.microsoft.com/office/drawing/2014/main" id="{72C4D0D0-EFC7-4EBF-A816-653740AAB212}"/>
              </a:ext>
            </a:extLst>
          </p:cNvPr>
          <p:cNvSpPr>
            <a:spLocks noGrp="1"/>
          </p:cNvSpPr>
          <p:nvPr>
            <p:ph type="title"/>
          </p:nvPr>
        </p:nvSpPr>
        <p:spPr>
          <a:xfrm>
            <a:off x="838200" y="603770"/>
            <a:ext cx="10515600" cy="1325563"/>
          </a:xfrm>
        </p:spPr>
        <p:txBody>
          <a:bodyPr>
            <a:normAutofit fontScale="90000"/>
          </a:bodyPr>
          <a:lstStyle/>
          <a:p>
            <a:r>
              <a:rPr lang="en-US" dirty="0"/>
              <a:t>There may be a bidirectional relationship between gradient categorization and </a:t>
            </a:r>
            <a:r>
              <a:rPr lang="en-US" dirty="0" err="1"/>
              <a:t>mutlilingualism</a:t>
            </a:r>
            <a:r>
              <a:rPr lang="en-US" dirty="0"/>
              <a:t>, connected through perceptual flexibility</a:t>
            </a:r>
            <a:br>
              <a:rPr lang="en-US" dirty="0"/>
            </a:br>
            <a:endParaRPr lang="en-US" dirty="0"/>
          </a:p>
        </p:txBody>
      </p:sp>
    </p:spTree>
    <p:custDataLst>
      <p:tags r:id="rId1"/>
    </p:custDataLst>
    <p:extLst>
      <p:ext uri="{BB962C8B-B14F-4D97-AF65-F5344CB8AC3E}">
        <p14:creationId xmlns:p14="http://schemas.microsoft.com/office/powerpoint/2010/main" val="3015539754"/>
      </p:ext>
    </p:extLst>
  </p:cSld>
  <p:clrMapOvr>
    <a:masterClrMapping/>
  </p:clrMapOvr>
  <mc:AlternateContent xmlns:mc="http://schemas.openxmlformats.org/markup-compatibility/2006" xmlns:p14="http://schemas.microsoft.com/office/powerpoint/2010/main">
    <mc:Choice Requires="p14">
      <p:transition spd="slow" p14:dur="2000" advTm="15998"/>
    </mc:Choice>
    <mc:Fallback xmlns="">
      <p:transition spd="slow" advTm="159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92 -0.00092 L -0.05989 -0.00092 " pathEditMode="relative" rAng="0" ptsTypes="AA">
                                      <p:cBhvr>
                                        <p:cTn id="6" dur="2000" fill="hold"/>
                                        <p:tgtEl>
                                          <p:spTgt spid="8"/>
                                        </p:tgtEl>
                                        <p:attrNameLst>
                                          <p:attrName>ppt_x</p:attrName>
                                          <p:attrName>ppt_y</p:attrName>
                                        </p:attrNameLst>
                                      </p:cBhvr>
                                      <p:rCtr x="-3047" y="0"/>
                                    </p:animMotion>
                                  </p:childTnLst>
                                </p:cTn>
                              </p:par>
                            </p:childTnLst>
                          </p:cTn>
                        </p:par>
                        <p:par>
                          <p:cTn id="7" fill="hold">
                            <p:stCondLst>
                              <p:cond delay="2000"/>
                            </p:stCondLst>
                            <p:childTnLst>
                              <p:par>
                                <p:cTn id="8" presetID="0" presetClass="path" presetSubtype="0" accel="50000" decel="50000" fill="hold" grpId="1" nodeType="afterEffect">
                                  <p:stCondLst>
                                    <p:cond delay="0"/>
                                  </p:stCondLst>
                                  <p:childTnLst>
                                    <p:animMotion origin="layout" path="M -0.05989 -0.00092 L 0.0599 -0.00046 " pathEditMode="relative" rAng="0" ptsTypes="AA">
                                      <p:cBhvr>
                                        <p:cTn id="9" dur="2000" fill="hold"/>
                                        <p:tgtEl>
                                          <p:spTgt spid="8"/>
                                        </p:tgtEl>
                                        <p:attrNameLst>
                                          <p:attrName>ppt_x</p:attrName>
                                          <p:attrName>ppt_y</p:attrName>
                                        </p:attrNameLst>
                                      </p:cBhvr>
                                      <p:rCtr x="5990" y="23"/>
                                    </p:animMotion>
                                  </p:childTnLst>
                                </p:cTn>
                              </p:par>
                            </p:childTnLst>
                          </p:cTn>
                        </p:par>
                        <p:par>
                          <p:cTn id="10" fill="hold">
                            <p:stCondLst>
                              <p:cond delay="4000"/>
                            </p:stCondLst>
                            <p:childTnLst>
                              <p:par>
                                <p:cTn id="11" presetID="0" presetClass="path" presetSubtype="0" accel="50000" decel="50000" fill="hold" grpId="2" nodeType="afterEffect">
                                  <p:stCondLst>
                                    <p:cond delay="0"/>
                                  </p:stCondLst>
                                  <p:childTnLst>
                                    <p:animMotion origin="layout" path="M 0.0599 -0.00046 L -4.16667E-6 -3.33333E-6 " pathEditMode="relative" rAng="0" ptsTypes="AA">
                                      <p:cBhvr>
                                        <p:cTn id="12" dur="2000" fill="hold"/>
                                        <p:tgtEl>
                                          <p:spTgt spid="8"/>
                                        </p:tgtEl>
                                        <p:attrNameLst>
                                          <p:attrName>ppt_x</p:attrName>
                                          <p:attrName>ppt_y</p:attrName>
                                        </p:attrNameLst>
                                      </p:cBhvr>
                                      <p:rCtr x="-2995"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72D9C-BDFB-BC01-DF8A-790C59039F26}"/>
              </a:ext>
            </a:extLst>
          </p:cNvPr>
          <p:cNvSpPr>
            <a:spLocks noGrp="1"/>
          </p:cNvSpPr>
          <p:nvPr>
            <p:ph type="title"/>
          </p:nvPr>
        </p:nvSpPr>
        <p:spPr/>
        <p:txBody>
          <a:bodyPr>
            <a:noAutofit/>
          </a:bodyPr>
          <a:lstStyle/>
          <a:p>
            <a:r>
              <a:rPr lang="en-US" sz="3200" dirty="0"/>
              <a:t>There is a perceptual advantage from having experience with languages that have a similar phonemic contrast as the target novel contrast or use a similar primary acoustic cue</a:t>
            </a:r>
          </a:p>
        </p:txBody>
      </p:sp>
      <p:pic>
        <p:nvPicPr>
          <p:cNvPr id="6" name="Content Placeholder 5" descr="A graph of different groups of objects&#10;&#10;Description automatically generated with medium confidence">
            <a:extLst>
              <a:ext uri="{FF2B5EF4-FFF2-40B4-BE49-F238E27FC236}">
                <a16:creationId xmlns:a16="http://schemas.microsoft.com/office/drawing/2014/main" id="{5657B129-9E8C-B2DC-2D25-518D6C8343E4}"/>
              </a:ext>
            </a:extLst>
          </p:cNvPr>
          <p:cNvPicPr>
            <a:picLocks noGrp="1" noChangeAspect="1"/>
          </p:cNvPicPr>
          <p:nvPr>
            <p:ph idx="1"/>
          </p:nvPr>
        </p:nvPicPr>
        <p:blipFill>
          <a:blip r:embed="rId3"/>
          <a:stretch>
            <a:fillRect/>
          </a:stretch>
        </p:blipFill>
        <p:spPr>
          <a:xfrm>
            <a:off x="7851912" y="2266295"/>
            <a:ext cx="4340087" cy="4041913"/>
          </a:xfrm>
        </p:spPr>
      </p:pic>
      <p:sp>
        <p:nvSpPr>
          <p:cNvPr id="4" name="TextBox 3">
            <a:extLst>
              <a:ext uri="{FF2B5EF4-FFF2-40B4-BE49-F238E27FC236}">
                <a16:creationId xmlns:a16="http://schemas.microsoft.com/office/drawing/2014/main" id="{A3D38800-A121-F17A-469B-90867B93810D}"/>
              </a:ext>
            </a:extLst>
          </p:cNvPr>
          <p:cNvSpPr txBox="1"/>
          <p:nvPr/>
        </p:nvSpPr>
        <p:spPr>
          <a:xfrm>
            <a:off x="339213" y="6169709"/>
            <a:ext cx="2180212" cy="369332"/>
          </a:xfrm>
          <a:prstGeom prst="rect">
            <a:avLst/>
          </a:prstGeom>
          <a:noFill/>
        </p:spPr>
        <p:txBody>
          <a:bodyPr wrap="none" rtlCol="0">
            <a:spAutoFit/>
          </a:bodyPr>
          <a:lstStyle/>
          <a:p>
            <a:r>
              <a:rPr lang="en-US" dirty="0"/>
              <a:t>(</a:t>
            </a:r>
            <a:r>
              <a:rPr lang="en-US" dirty="0" err="1"/>
              <a:t>Patihis</a:t>
            </a:r>
            <a:r>
              <a:rPr lang="en-US" dirty="0"/>
              <a:t> et al., 2015) </a:t>
            </a:r>
          </a:p>
        </p:txBody>
      </p:sp>
      <p:sp>
        <p:nvSpPr>
          <p:cNvPr id="8" name="TextBox 7">
            <a:extLst>
              <a:ext uri="{FF2B5EF4-FFF2-40B4-BE49-F238E27FC236}">
                <a16:creationId xmlns:a16="http://schemas.microsoft.com/office/drawing/2014/main" id="{699CDA7B-566D-978E-2B8C-345C938DF43C}"/>
              </a:ext>
            </a:extLst>
          </p:cNvPr>
          <p:cNvSpPr txBox="1"/>
          <p:nvPr/>
        </p:nvSpPr>
        <p:spPr>
          <a:xfrm>
            <a:off x="9298430" y="6308209"/>
            <a:ext cx="2554357" cy="369332"/>
          </a:xfrm>
          <a:prstGeom prst="rect">
            <a:avLst/>
          </a:prstGeom>
          <a:noFill/>
        </p:spPr>
        <p:txBody>
          <a:bodyPr wrap="square">
            <a:spAutoFit/>
          </a:bodyPr>
          <a:lstStyle/>
          <a:p>
            <a:r>
              <a:rPr lang="en-US" dirty="0"/>
              <a:t>(Wiener &amp; Goss, 2019) </a:t>
            </a:r>
          </a:p>
        </p:txBody>
      </p:sp>
      <p:pic>
        <p:nvPicPr>
          <p:cNvPr id="10" name="Picture 9" descr="A graph of different languages&#10;&#10;Description automatically generated">
            <a:extLst>
              <a:ext uri="{FF2B5EF4-FFF2-40B4-BE49-F238E27FC236}">
                <a16:creationId xmlns:a16="http://schemas.microsoft.com/office/drawing/2014/main" id="{37D1D2B7-FA3F-8355-B80F-C28B00C9EBB6}"/>
              </a:ext>
            </a:extLst>
          </p:cNvPr>
          <p:cNvPicPr>
            <a:picLocks noChangeAspect="1"/>
          </p:cNvPicPr>
          <p:nvPr/>
        </p:nvPicPr>
        <p:blipFill>
          <a:blip r:embed="rId4"/>
          <a:stretch>
            <a:fillRect/>
          </a:stretch>
        </p:blipFill>
        <p:spPr>
          <a:xfrm>
            <a:off x="339213" y="2538690"/>
            <a:ext cx="6045200" cy="3187700"/>
          </a:xfrm>
          <a:prstGeom prst="rect">
            <a:avLst/>
          </a:prstGeom>
        </p:spPr>
      </p:pic>
      <p:sp>
        <p:nvSpPr>
          <p:cNvPr id="11" name="TextBox 10">
            <a:extLst>
              <a:ext uri="{FF2B5EF4-FFF2-40B4-BE49-F238E27FC236}">
                <a16:creationId xmlns:a16="http://schemas.microsoft.com/office/drawing/2014/main" id="{545E3A94-2BEE-C265-DB5B-7DA81E272B94}"/>
              </a:ext>
            </a:extLst>
          </p:cNvPr>
          <p:cNvSpPr txBox="1"/>
          <p:nvPr/>
        </p:nvSpPr>
        <p:spPr>
          <a:xfrm>
            <a:off x="8941216" y="1896962"/>
            <a:ext cx="2412584" cy="369332"/>
          </a:xfrm>
          <a:prstGeom prst="rect">
            <a:avLst/>
          </a:prstGeom>
          <a:noFill/>
        </p:spPr>
        <p:txBody>
          <a:bodyPr wrap="none" rtlCol="0">
            <a:spAutoFit/>
          </a:bodyPr>
          <a:lstStyle/>
          <a:p>
            <a:r>
              <a:rPr lang="en-US" dirty="0"/>
              <a:t>Japanese pitch accent</a:t>
            </a:r>
          </a:p>
        </p:txBody>
      </p:sp>
    </p:spTree>
    <p:extLst>
      <p:ext uri="{BB962C8B-B14F-4D97-AF65-F5344CB8AC3E}">
        <p14:creationId xmlns:p14="http://schemas.microsoft.com/office/powerpoint/2010/main" val="2820076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EABCD-E42B-3FFF-AE29-D3025C8590D4}"/>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9528C18-4221-F5C2-6AA8-DA764F7B64FB}"/>
              </a:ext>
            </a:extLst>
          </p:cNvPr>
          <p:cNvSpPr>
            <a:spLocks noGrp="1"/>
          </p:cNvSpPr>
          <p:nvPr>
            <p:ph idx="1"/>
          </p:nvPr>
        </p:nvSpPr>
        <p:spPr>
          <a:xfrm>
            <a:off x="338329" y="1825624"/>
            <a:ext cx="5562600" cy="4780789"/>
          </a:xfrm>
        </p:spPr>
        <p:txBody>
          <a:bodyPr>
            <a:normAutofit fontScale="92500" lnSpcReduction="20000"/>
          </a:bodyPr>
          <a:lstStyle/>
          <a:p>
            <a:pPr marL="0" indent="0">
              <a:buNone/>
            </a:pPr>
            <a:r>
              <a:rPr lang="en-US" dirty="0">
                <a:solidFill>
                  <a:schemeClr val="accent6"/>
                </a:solidFill>
              </a:rPr>
              <a:t>Gradient perception </a:t>
            </a:r>
            <a:r>
              <a:rPr lang="en-US" dirty="0"/>
              <a:t>is associated with </a:t>
            </a:r>
            <a:r>
              <a:rPr lang="en-US" dirty="0">
                <a:solidFill>
                  <a:schemeClr val="accent2"/>
                </a:solidFill>
              </a:rPr>
              <a:t>perceptual flexibility</a:t>
            </a:r>
          </a:p>
          <a:p>
            <a:pPr marL="0" indent="0">
              <a:buNone/>
            </a:pPr>
            <a:endParaRPr lang="en-US" dirty="0">
              <a:solidFill>
                <a:schemeClr val="accent2"/>
              </a:solidFill>
            </a:endParaRPr>
          </a:p>
          <a:p>
            <a:pPr marL="0" indent="0">
              <a:buNone/>
            </a:pPr>
            <a:r>
              <a:rPr lang="en-US" dirty="0">
                <a:solidFill>
                  <a:schemeClr val="accent2"/>
                </a:solidFill>
              </a:rPr>
              <a:t>Perceptual flexibility</a:t>
            </a:r>
            <a:r>
              <a:rPr lang="en-US" i="1" dirty="0">
                <a:solidFill>
                  <a:schemeClr val="accent2"/>
                </a:solidFill>
              </a:rPr>
              <a:t> </a:t>
            </a:r>
            <a:r>
              <a:rPr lang="en-US" dirty="0"/>
              <a:t>is advantageous for </a:t>
            </a:r>
            <a:r>
              <a:rPr lang="en-US" dirty="0">
                <a:solidFill>
                  <a:schemeClr val="accent1"/>
                </a:solidFill>
              </a:rPr>
              <a:t>L2 speech category learning</a:t>
            </a:r>
          </a:p>
          <a:p>
            <a:pPr marL="0" indent="0">
              <a:buNone/>
            </a:pPr>
            <a:endParaRPr lang="en-US" dirty="0"/>
          </a:p>
          <a:p>
            <a:pPr marL="0" indent="0">
              <a:buNone/>
            </a:pPr>
            <a:r>
              <a:rPr lang="en-US" dirty="0">
                <a:solidFill>
                  <a:schemeClr val="accent6"/>
                </a:solidFill>
              </a:rPr>
              <a:t>Gradient perception </a:t>
            </a:r>
            <a:r>
              <a:rPr lang="en-US" dirty="0"/>
              <a:t>is correlated with having a </a:t>
            </a:r>
            <a:r>
              <a:rPr lang="en-US" dirty="0">
                <a:solidFill>
                  <a:schemeClr val="accent5"/>
                </a:solidFill>
              </a:rPr>
              <a:t>linguistically diverse social network</a:t>
            </a:r>
          </a:p>
          <a:p>
            <a:pPr marL="0" indent="0">
              <a:buNone/>
            </a:pPr>
            <a:endParaRPr lang="en-US" dirty="0">
              <a:solidFill>
                <a:schemeClr val="accent5"/>
              </a:solidFill>
            </a:endParaRPr>
          </a:p>
          <a:p>
            <a:pPr marL="0" indent="0">
              <a:buNone/>
            </a:pPr>
            <a:r>
              <a:rPr lang="en-US" dirty="0">
                <a:solidFill>
                  <a:schemeClr val="accent5"/>
                </a:solidFill>
              </a:rPr>
              <a:t>Specific language experience</a:t>
            </a:r>
            <a:r>
              <a:rPr lang="en-US" i="1" dirty="0">
                <a:solidFill>
                  <a:schemeClr val="accent5"/>
                </a:solidFill>
              </a:rPr>
              <a:t> </a:t>
            </a:r>
            <a:r>
              <a:rPr lang="en-US" dirty="0"/>
              <a:t>is perceptually advantageous for </a:t>
            </a:r>
            <a:r>
              <a:rPr lang="en-US" dirty="0">
                <a:solidFill>
                  <a:schemeClr val="accent1"/>
                </a:solidFill>
              </a:rPr>
              <a:t>learning target novel phonemic contrasts</a:t>
            </a:r>
          </a:p>
        </p:txBody>
      </p:sp>
      <p:sp>
        <p:nvSpPr>
          <p:cNvPr id="3" name="Content Placeholder 4">
            <a:extLst>
              <a:ext uri="{FF2B5EF4-FFF2-40B4-BE49-F238E27FC236}">
                <a16:creationId xmlns:a16="http://schemas.microsoft.com/office/drawing/2014/main" id="{59A21DAA-9DC7-442B-40E4-F3241A5AD64E}"/>
              </a:ext>
            </a:extLst>
          </p:cNvPr>
          <p:cNvSpPr txBox="1">
            <a:spLocks/>
          </p:cNvSpPr>
          <p:nvPr/>
        </p:nvSpPr>
        <p:spPr>
          <a:xfrm>
            <a:off x="6400800" y="1825625"/>
            <a:ext cx="5562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cxnSp>
        <p:nvCxnSpPr>
          <p:cNvPr id="6" name="Straight Arrow Connector 5">
            <a:extLst>
              <a:ext uri="{FF2B5EF4-FFF2-40B4-BE49-F238E27FC236}">
                <a16:creationId xmlns:a16="http://schemas.microsoft.com/office/drawing/2014/main" id="{E2AF5F79-2A6B-2123-EA3B-882F8B4A3178}"/>
              </a:ext>
            </a:extLst>
          </p:cNvPr>
          <p:cNvCxnSpPr/>
          <p:nvPr/>
        </p:nvCxnSpPr>
        <p:spPr>
          <a:xfrm>
            <a:off x="6096000" y="2322576"/>
            <a:ext cx="1530096" cy="841248"/>
          </a:xfrm>
          <a:prstGeom prst="straightConnector1">
            <a:avLst/>
          </a:prstGeom>
          <a:ln w="5715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DF42B21-B445-2D05-13C0-752FB35DF575}"/>
              </a:ext>
            </a:extLst>
          </p:cNvPr>
          <p:cNvCxnSpPr>
            <a:cxnSpLocks/>
          </p:cNvCxnSpPr>
          <p:nvPr/>
        </p:nvCxnSpPr>
        <p:spPr>
          <a:xfrm>
            <a:off x="5791201" y="3660775"/>
            <a:ext cx="1834895" cy="0"/>
          </a:xfrm>
          <a:prstGeom prst="straightConnector1">
            <a:avLst/>
          </a:prstGeom>
          <a:ln w="5715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685F1529-108B-4254-B6CC-4547C8C5C4BF}"/>
              </a:ext>
            </a:extLst>
          </p:cNvPr>
          <p:cNvCxnSpPr>
            <a:cxnSpLocks/>
          </p:cNvCxnSpPr>
          <p:nvPr/>
        </p:nvCxnSpPr>
        <p:spPr>
          <a:xfrm flipV="1">
            <a:off x="6096000" y="4157727"/>
            <a:ext cx="1530096" cy="841247"/>
          </a:xfrm>
          <a:prstGeom prst="straightConnector1">
            <a:avLst/>
          </a:prstGeom>
          <a:ln w="5715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BA8190AB-E644-76B7-70BA-4601A5D241DF}"/>
              </a:ext>
            </a:extLst>
          </p:cNvPr>
          <p:cNvSpPr txBox="1"/>
          <p:nvPr/>
        </p:nvSpPr>
        <p:spPr>
          <a:xfrm>
            <a:off x="8235695" y="2465730"/>
            <a:ext cx="3617976" cy="2677656"/>
          </a:xfrm>
          <a:prstGeom prst="rect">
            <a:avLst/>
          </a:prstGeom>
          <a:noFill/>
        </p:spPr>
        <p:txBody>
          <a:bodyPr wrap="square" rtlCol="0">
            <a:spAutoFit/>
          </a:bodyPr>
          <a:lstStyle/>
          <a:p>
            <a:pPr algn="ctr"/>
            <a:r>
              <a:rPr lang="en-US" sz="2400" dirty="0"/>
              <a:t>Expose learners to “linguistic diversity” to push them towards the gradient perception and perceptual flexibility needed for efficient L2 speech category learning</a:t>
            </a:r>
          </a:p>
        </p:txBody>
      </p:sp>
      <p:sp>
        <p:nvSpPr>
          <p:cNvPr id="4" name="Title 1">
            <a:extLst>
              <a:ext uri="{FF2B5EF4-FFF2-40B4-BE49-F238E27FC236}">
                <a16:creationId xmlns:a16="http://schemas.microsoft.com/office/drawing/2014/main" id="{710D3F76-7FF0-0EF6-5CBA-89675B97884C}"/>
              </a:ext>
            </a:extLst>
          </p:cNvPr>
          <p:cNvSpPr>
            <a:spLocks noGrp="1"/>
          </p:cNvSpPr>
          <p:nvPr>
            <p:ph type="title"/>
          </p:nvPr>
        </p:nvSpPr>
        <p:spPr>
          <a:xfrm>
            <a:off x="338138" y="250825"/>
            <a:ext cx="10515600" cy="1325563"/>
          </a:xfrm>
        </p:spPr>
        <p:txBody>
          <a:bodyPr>
            <a:normAutofit fontScale="90000"/>
          </a:bodyPr>
          <a:lstStyle/>
          <a:p>
            <a:pPr marL="0" indent="0">
              <a:buNone/>
            </a:pPr>
            <a:r>
              <a:rPr lang="en-US" dirty="0"/>
              <a:t>What are the roles of gradient categorization and linguistic diversity in L2 speech category learning? </a:t>
            </a:r>
          </a:p>
        </p:txBody>
      </p:sp>
    </p:spTree>
    <p:extLst>
      <p:ext uri="{BB962C8B-B14F-4D97-AF65-F5344CB8AC3E}">
        <p14:creationId xmlns:p14="http://schemas.microsoft.com/office/powerpoint/2010/main" val="458740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28D18-CE42-C940-FDD3-3A6705A63A48}"/>
              </a:ext>
            </a:extLst>
          </p:cNvPr>
          <p:cNvSpPr>
            <a:spLocks noGrp="1"/>
          </p:cNvSpPr>
          <p:nvPr>
            <p:ph type="title"/>
          </p:nvPr>
        </p:nvSpPr>
        <p:spPr/>
        <p:txBody>
          <a:bodyPr/>
          <a:lstStyle/>
          <a:p>
            <a:r>
              <a:rPr lang="en-US" dirty="0"/>
              <a:t>Research questions</a:t>
            </a:r>
          </a:p>
        </p:txBody>
      </p:sp>
      <p:sp>
        <p:nvSpPr>
          <p:cNvPr id="3" name="Text Placeholder 2">
            <a:extLst>
              <a:ext uri="{FF2B5EF4-FFF2-40B4-BE49-F238E27FC236}">
                <a16:creationId xmlns:a16="http://schemas.microsoft.com/office/drawing/2014/main" id="{1813CA51-F0E6-03D1-BD35-F640BF6C50C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84722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D060D-A542-839E-B12E-A99FCF66C95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C5A8AE0-3CE4-C09F-B03A-0123A09CFF86}"/>
              </a:ext>
            </a:extLst>
          </p:cNvPr>
          <p:cNvSpPr>
            <a:spLocks noGrp="1"/>
          </p:cNvSpPr>
          <p:nvPr>
            <p:ph idx="1"/>
          </p:nvPr>
        </p:nvSpPr>
        <p:spPr/>
        <p:txBody>
          <a:bodyPr>
            <a:normAutofit/>
          </a:bodyPr>
          <a:lstStyle/>
          <a:p>
            <a:pPr marL="0" indent="0">
              <a:buNone/>
            </a:pPr>
            <a:r>
              <a:rPr lang="en-US" dirty="0"/>
              <a:t>RQ1: Is increased experience with linguistic diversity (hereafter, </a:t>
            </a:r>
            <a:r>
              <a:rPr lang="en-US" b="1" dirty="0"/>
              <a:t>experiential linguistic diversity</a:t>
            </a:r>
            <a:r>
              <a:rPr lang="en-US" dirty="0"/>
              <a:t>) from one’s language history, usage, and exposure predictive of higher degrees of </a:t>
            </a:r>
            <a:r>
              <a:rPr lang="en-US" b="1" dirty="0"/>
              <a:t>gradient categorization of L2 speech </a:t>
            </a:r>
            <a:r>
              <a:rPr lang="en-US" dirty="0"/>
              <a:t>as it is with L1 speech? If so, do higher degrees of L2 gradient categorization predict the </a:t>
            </a:r>
            <a:r>
              <a:rPr lang="en-US" b="1" dirty="0"/>
              <a:t>degree of usage of the secondary acoustic cue in the perception of L2 phonemic contrasts</a:t>
            </a:r>
            <a:r>
              <a:rPr lang="en-US" dirty="0"/>
              <a:t>, as we see with L1 gradiency and secondary cue use? </a:t>
            </a:r>
          </a:p>
          <a:p>
            <a:pPr marL="0" indent="0">
              <a:buNone/>
            </a:pPr>
            <a:endParaRPr lang="en-US" dirty="0"/>
          </a:p>
          <a:p>
            <a:pPr marL="0" indent="0">
              <a:buNone/>
            </a:pPr>
            <a:r>
              <a:rPr lang="en-US" dirty="0"/>
              <a:t>RQ1: Experiential linguistic diversity (LD) and L1/L2 speech categorization gradiency and secondary cue use</a:t>
            </a:r>
          </a:p>
          <a:p>
            <a:pPr marL="0" indent="0">
              <a:buNone/>
            </a:pPr>
            <a:endParaRPr lang="en-US" dirty="0"/>
          </a:p>
        </p:txBody>
      </p:sp>
    </p:spTree>
    <p:extLst>
      <p:ext uri="{BB962C8B-B14F-4D97-AF65-F5344CB8AC3E}">
        <p14:creationId xmlns:p14="http://schemas.microsoft.com/office/powerpoint/2010/main" val="361444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5A8AE0-3CE4-C09F-B03A-0123A09CFF86}"/>
              </a:ext>
            </a:extLst>
          </p:cNvPr>
          <p:cNvSpPr>
            <a:spLocks noGrp="1"/>
          </p:cNvSpPr>
          <p:nvPr>
            <p:ph idx="1"/>
          </p:nvPr>
        </p:nvSpPr>
        <p:spPr/>
        <p:txBody>
          <a:bodyPr>
            <a:normAutofit/>
          </a:bodyPr>
          <a:lstStyle/>
          <a:p>
            <a:pPr marL="0" indent="0">
              <a:buNone/>
            </a:pPr>
            <a:r>
              <a:rPr lang="en-US" dirty="0"/>
              <a:t>RQ2: Can we </a:t>
            </a:r>
            <a:r>
              <a:rPr lang="en-US" b="1" dirty="0"/>
              <a:t>promote gradient categorization </a:t>
            </a:r>
            <a:r>
              <a:rPr lang="en-US" dirty="0"/>
              <a:t>in listeners through </a:t>
            </a:r>
            <a:r>
              <a:rPr lang="en-US" b="1" dirty="0"/>
              <a:t>specific exposure to linguistic diversity </a:t>
            </a:r>
            <a:r>
              <a:rPr lang="en-US" dirty="0"/>
              <a:t>via perceptual training? If so, does gradient categorization increase </a:t>
            </a:r>
            <a:r>
              <a:rPr lang="en-US" b="1" dirty="0"/>
              <a:t>perceptual sensitivity to discriminate </a:t>
            </a:r>
            <a:r>
              <a:rPr lang="en-US" dirty="0"/>
              <a:t>between target language phonemic contrasts?</a:t>
            </a:r>
          </a:p>
          <a:p>
            <a:pPr marL="0" indent="0">
              <a:buNone/>
            </a:pPr>
            <a:endParaRPr lang="en-US" dirty="0"/>
          </a:p>
          <a:p>
            <a:pPr marL="0" indent="0">
              <a:buNone/>
            </a:pPr>
            <a:r>
              <a:rPr lang="en-US" dirty="0"/>
              <a:t>RQ2: Specific LD and L1/L2 speech categorization gradiency, L2 discrimination sensitivity</a:t>
            </a:r>
          </a:p>
          <a:p>
            <a:pPr marL="0" indent="0">
              <a:buNone/>
            </a:pPr>
            <a:endParaRPr lang="en-US" dirty="0"/>
          </a:p>
        </p:txBody>
      </p:sp>
      <p:sp>
        <p:nvSpPr>
          <p:cNvPr id="5" name="Title 4">
            <a:extLst>
              <a:ext uri="{FF2B5EF4-FFF2-40B4-BE49-F238E27FC236}">
                <a16:creationId xmlns:a16="http://schemas.microsoft.com/office/drawing/2014/main" id="{05DD286E-8BBA-9F55-D199-4D8DA9A56C2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82436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5A8AE0-3CE4-C09F-B03A-0123A09CFF86}"/>
              </a:ext>
            </a:extLst>
          </p:cNvPr>
          <p:cNvSpPr>
            <a:spLocks noGrp="1"/>
          </p:cNvSpPr>
          <p:nvPr>
            <p:ph idx="1"/>
          </p:nvPr>
        </p:nvSpPr>
        <p:spPr/>
        <p:txBody>
          <a:bodyPr>
            <a:normAutofit/>
          </a:bodyPr>
          <a:lstStyle/>
          <a:p>
            <a:pPr marL="0" indent="0">
              <a:buNone/>
            </a:pPr>
            <a:r>
              <a:rPr lang="en-US" dirty="0"/>
              <a:t>RQ3: </a:t>
            </a:r>
            <a:r>
              <a:rPr lang="en-US" dirty="0">
                <a:effectLst/>
                <a:ea typeface="Yu Gothic" panose="020B0400000000000000" pitchFamily="34" charset="-128"/>
                <a:cs typeface="Times New Roman (Body CS)"/>
              </a:rPr>
              <a:t>Does </a:t>
            </a:r>
            <a:r>
              <a:rPr lang="en-US" b="1" dirty="0">
                <a:effectLst/>
                <a:ea typeface="Yu Gothic" panose="020B0400000000000000" pitchFamily="34" charset="-128"/>
                <a:cs typeface="Times New Roman (Body CS)"/>
              </a:rPr>
              <a:t>specific exposure to linguistic diversity </a:t>
            </a:r>
            <a:r>
              <a:rPr lang="en-US" dirty="0">
                <a:effectLst/>
                <a:ea typeface="Yu Gothic" panose="020B0400000000000000" pitchFamily="34" charset="-128"/>
                <a:cs typeface="Times New Roman (Body CS)"/>
              </a:rPr>
              <a:t>through perceptual training lead to improvements in </a:t>
            </a:r>
            <a:r>
              <a:rPr lang="en-US" b="1" dirty="0">
                <a:effectLst/>
                <a:ea typeface="Yu Gothic" panose="020B0400000000000000" pitchFamily="34" charset="-128"/>
                <a:cs typeface="Times New Roman (Body CS)"/>
              </a:rPr>
              <a:t>L2 speech perception and listening</a:t>
            </a:r>
            <a:r>
              <a:rPr lang="en-US" dirty="0">
                <a:effectLst/>
                <a:ea typeface="Yu Gothic" panose="020B0400000000000000" pitchFamily="34" charset="-128"/>
                <a:cs typeface="Times New Roman (Body CS)"/>
              </a:rPr>
              <a:t>?</a:t>
            </a:r>
            <a:r>
              <a:rPr lang="en-US" dirty="0">
                <a:effectLst/>
              </a:rPr>
              <a:t> </a:t>
            </a:r>
          </a:p>
          <a:p>
            <a:pPr marL="0" indent="0">
              <a:buNone/>
            </a:pPr>
            <a:endParaRPr lang="en-US" dirty="0"/>
          </a:p>
          <a:p>
            <a:pPr marL="0" indent="0">
              <a:buNone/>
            </a:pPr>
            <a:r>
              <a:rPr lang="en-US" dirty="0"/>
              <a:t>RQ3: Specific LD and L2 speech perception and listening</a:t>
            </a:r>
          </a:p>
          <a:p>
            <a:pPr marL="0" indent="0">
              <a:buNone/>
            </a:pPr>
            <a:endParaRPr lang="en-US" dirty="0"/>
          </a:p>
        </p:txBody>
      </p:sp>
      <p:sp>
        <p:nvSpPr>
          <p:cNvPr id="5" name="Title 4">
            <a:extLst>
              <a:ext uri="{FF2B5EF4-FFF2-40B4-BE49-F238E27FC236}">
                <a16:creationId xmlns:a16="http://schemas.microsoft.com/office/drawing/2014/main" id="{72DB2BC5-A152-04A3-87B5-40A95069362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580087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0E3E1-4142-B453-4643-B2302AFF18FD}"/>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solidFill>
                  <a:schemeClr val="tx1"/>
                </a:solidFill>
                <a:latin typeface="+mj-lt"/>
                <a:ea typeface="+mj-ea"/>
                <a:cs typeface="+mj-cs"/>
              </a:rPr>
              <a:t>Linguistic targets</a:t>
            </a:r>
          </a:p>
        </p:txBody>
      </p:sp>
      <p:sp>
        <p:nvSpPr>
          <p:cNvPr id="4" name="Text Placeholder 3">
            <a:extLst>
              <a:ext uri="{FF2B5EF4-FFF2-40B4-BE49-F238E27FC236}">
                <a16:creationId xmlns:a16="http://schemas.microsoft.com/office/drawing/2014/main" id="{189F0EDB-E7AA-1B3C-BFDA-D7DACA289930}"/>
              </a:ext>
            </a:extLst>
          </p:cNvPr>
          <p:cNvSpPr>
            <a:spLocks noGrp="1"/>
          </p:cNvSpPr>
          <p:nvPr>
            <p:ph type="body" idx="1"/>
          </p:nvPr>
        </p:nvSpPr>
        <p:spPr>
          <a:xfrm>
            <a:off x="838199" y="4983276"/>
            <a:ext cx="10512552" cy="1126680"/>
          </a:xfrm>
        </p:spPr>
        <p:txBody>
          <a:bodyPr vert="horz" lIns="91440" tIns="45720" rIns="91440" bIns="45720" rtlCol="0">
            <a:normAutofit/>
          </a:bodyPr>
          <a:lstStyle/>
          <a:p>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4098911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8CB10-E6BC-726F-1574-EC2D827102BD}"/>
              </a:ext>
            </a:extLst>
          </p:cNvPr>
          <p:cNvSpPr>
            <a:spLocks noGrp="1"/>
          </p:cNvSpPr>
          <p:nvPr>
            <p:ph type="title"/>
          </p:nvPr>
        </p:nvSpPr>
        <p:spPr/>
        <p:txBody>
          <a:bodyPr>
            <a:normAutofit fontScale="90000"/>
          </a:bodyPr>
          <a:lstStyle/>
          <a:p>
            <a:r>
              <a:rPr lang="en-US" dirty="0"/>
              <a:t>To answer these research questions, I target L1 English listeners and train them to perceive L2 Japanese length contrasts</a:t>
            </a:r>
          </a:p>
        </p:txBody>
      </p:sp>
      <p:sp>
        <p:nvSpPr>
          <p:cNvPr id="4" name="Text Placeholder 3">
            <a:extLst>
              <a:ext uri="{FF2B5EF4-FFF2-40B4-BE49-F238E27FC236}">
                <a16:creationId xmlns:a16="http://schemas.microsoft.com/office/drawing/2014/main" id="{613B3CB3-2B3A-DBC3-4A20-90772DA9F6AA}"/>
              </a:ext>
            </a:extLst>
          </p:cNvPr>
          <p:cNvSpPr>
            <a:spLocks noGrp="1"/>
          </p:cNvSpPr>
          <p:nvPr>
            <p:ph type="body" idx="1"/>
          </p:nvPr>
        </p:nvSpPr>
        <p:spPr/>
        <p:txBody>
          <a:bodyPr/>
          <a:lstStyle/>
          <a:p>
            <a:r>
              <a:rPr lang="en-US" dirty="0"/>
              <a:t>L1 English -&gt; L2 Japanese</a:t>
            </a:r>
          </a:p>
        </p:txBody>
      </p:sp>
      <p:sp>
        <p:nvSpPr>
          <p:cNvPr id="5" name="Content Placeholder 4">
            <a:extLst>
              <a:ext uri="{FF2B5EF4-FFF2-40B4-BE49-F238E27FC236}">
                <a16:creationId xmlns:a16="http://schemas.microsoft.com/office/drawing/2014/main" id="{4B662053-DC40-F12E-0890-D60385377536}"/>
              </a:ext>
            </a:extLst>
          </p:cNvPr>
          <p:cNvSpPr>
            <a:spLocks noGrp="1"/>
          </p:cNvSpPr>
          <p:nvPr>
            <p:ph sz="half" idx="2"/>
          </p:nvPr>
        </p:nvSpPr>
        <p:spPr/>
        <p:txBody>
          <a:bodyPr/>
          <a:lstStyle/>
          <a:p>
            <a:r>
              <a:rPr lang="en-US" dirty="0"/>
              <a:t>Adults 18-40</a:t>
            </a:r>
          </a:p>
          <a:p>
            <a:r>
              <a:rPr lang="en-US" dirty="0"/>
              <a:t>Naïve listeners (online) and L2 learners (classroom)</a:t>
            </a:r>
          </a:p>
        </p:txBody>
      </p:sp>
      <p:sp>
        <p:nvSpPr>
          <p:cNvPr id="3" name="Text Placeholder 3">
            <a:extLst>
              <a:ext uri="{FF2B5EF4-FFF2-40B4-BE49-F238E27FC236}">
                <a16:creationId xmlns:a16="http://schemas.microsoft.com/office/drawing/2014/main" id="{7A32211E-F292-B298-2ABA-4E93B42EA6C2}"/>
              </a:ext>
            </a:extLst>
          </p:cNvPr>
          <p:cNvSpPr txBox="1">
            <a:spLocks/>
          </p:cNvSpPr>
          <p:nvPr/>
        </p:nvSpPr>
        <p:spPr>
          <a:xfrm>
            <a:off x="5997575" y="1690688"/>
            <a:ext cx="5157787"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Length contrasts</a:t>
            </a:r>
          </a:p>
        </p:txBody>
      </p:sp>
      <p:sp>
        <p:nvSpPr>
          <p:cNvPr id="6" name="Content Placeholder 4">
            <a:extLst>
              <a:ext uri="{FF2B5EF4-FFF2-40B4-BE49-F238E27FC236}">
                <a16:creationId xmlns:a16="http://schemas.microsoft.com/office/drawing/2014/main" id="{E1F3935C-C74D-D818-038E-A4C5BF3D2F0E}"/>
              </a:ext>
            </a:extLst>
          </p:cNvPr>
          <p:cNvSpPr txBox="1">
            <a:spLocks/>
          </p:cNvSpPr>
          <p:nvPr/>
        </p:nvSpPr>
        <p:spPr>
          <a:xfrm>
            <a:off x="5997575" y="2514600"/>
            <a:ext cx="5730599" cy="36845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Singleton vs. geminate consonants</a:t>
            </a:r>
          </a:p>
          <a:p>
            <a:r>
              <a:rPr lang="en-US" dirty="0"/>
              <a:t>Long vs. short vowels</a:t>
            </a:r>
          </a:p>
          <a:p>
            <a:r>
              <a:rPr lang="en-US" b="1" dirty="0"/>
              <a:t>Contrastive acoustic cue: </a:t>
            </a:r>
            <a:r>
              <a:rPr lang="en-US" dirty="0"/>
              <a:t>duration</a:t>
            </a:r>
          </a:p>
          <a:p>
            <a:r>
              <a:rPr lang="en-US" dirty="0"/>
              <a:t>Specific linguistic diversity: perceptual training with </a:t>
            </a:r>
            <a:r>
              <a:rPr lang="en-US" b="1" dirty="0"/>
              <a:t>Modern Standard Arabic*</a:t>
            </a:r>
          </a:p>
        </p:txBody>
      </p:sp>
    </p:spTree>
    <p:extLst>
      <p:ext uri="{BB962C8B-B14F-4D97-AF65-F5344CB8AC3E}">
        <p14:creationId xmlns:p14="http://schemas.microsoft.com/office/powerpoint/2010/main" val="2936616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FA35E00F-DC00-EDE2-3800-B543F8781B08}"/>
              </a:ext>
            </a:extLst>
          </p:cNvPr>
          <p:cNvGraphicFramePr>
            <a:graphicFrameLocks noGrp="1"/>
          </p:cNvGraphicFramePr>
          <p:nvPr>
            <p:ph idx="1"/>
            <p:extLst>
              <p:ext uri="{D42A27DB-BD31-4B8C-83A1-F6EECF244321}">
                <p14:modId xmlns:p14="http://schemas.microsoft.com/office/powerpoint/2010/main" val="2356742635"/>
              </p:ext>
            </p:extLst>
          </p:nvPr>
        </p:nvGraphicFramePr>
        <p:xfrm>
          <a:off x="838201" y="2600876"/>
          <a:ext cx="10515597" cy="2091984"/>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824017103"/>
                    </a:ext>
                  </a:extLst>
                </a:gridCol>
                <a:gridCol w="3505199">
                  <a:extLst>
                    <a:ext uri="{9D8B030D-6E8A-4147-A177-3AD203B41FA5}">
                      <a16:colId xmlns:a16="http://schemas.microsoft.com/office/drawing/2014/main" val="4259815162"/>
                    </a:ext>
                  </a:extLst>
                </a:gridCol>
                <a:gridCol w="3505199">
                  <a:extLst>
                    <a:ext uri="{9D8B030D-6E8A-4147-A177-3AD203B41FA5}">
                      <a16:colId xmlns:a16="http://schemas.microsoft.com/office/drawing/2014/main" val="3111132912"/>
                    </a:ext>
                  </a:extLst>
                </a:gridCol>
              </a:tblGrid>
              <a:tr h="451632">
                <a:tc>
                  <a:txBody>
                    <a:bodyPr/>
                    <a:lstStyle/>
                    <a:p>
                      <a:endParaRPr lang="en-US" dirty="0"/>
                    </a:p>
                  </a:txBody>
                  <a:tcPr/>
                </a:tc>
                <a:tc>
                  <a:txBody>
                    <a:bodyPr/>
                    <a:lstStyle/>
                    <a:p>
                      <a:r>
                        <a:rPr lang="en-US" dirty="0"/>
                        <a:t>Japanese</a:t>
                      </a:r>
                    </a:p>
                  </a:txBody>
                  <a:tcPr/>
                </a:tc>
                <a:tc>
                  <a:txBody>
                    <a:bodyPr/>
                    <a:lstStyle/>
                    <a:p>
                      <a:r>
                        <a:rPr lang="en-US" dirty="0"/>
                        <a:t>Modern Standard Arabic (MSA)</a:t>
                      </a:r>
                    </a:p>
                  </a:txBody>
                  <a:tcPr/>
                </a:tc>
                <a:extLst>
                  <a:ext uri="{0D108BD9-81ED-4DB2-BD59-A6C34878D82A}">
                    <a16:rowId xmlns:a16="http://schemas.microsoft.com/office/drawing/2014/main" val="2174979220"/>
                  </a:ext>
                </a:extLst>
              </a:tr>
              <a:tr h="451632">
                <a:tc>
                  <a:txBody>
                    <a:bodyPr/>
                    <a:lstStyle/>
                    <a:p>
                      <a:r>
                        <a:rPr lang="en-US" dirty="0"/>
                        <a:t>Vowel contrast</a:t>
                      </a:r>
                    </a:p>
                  </a:txBody>
                  <a:tcPr/>
                </a:tc>
                <a:tc>
                  <a:txBody>
                    <a:bodyPr/>
                    <a:lstStyle/>
                    <a:p>
                      <a:r>
                        <a:rPr lang="en-US" dirty="0"/>
                        <a:t>all five vowels: /a, </a:t>
                      </a:r>
                      <a:r>
                        <a:rPr lang="en-US" dirty="0" err="1"/>
                        <a:t>i</a:t>
                      </a:r>
                      <a:r>
                        <a:rPr lang="en-US" dirty="0"/>
                        <a:t>, u, e, o/</a:t>
                      </a:r>
                    </a:p>
                  </a:txBody>
                  <a:tcPr/>
                </a:tc>
                <a:tc>
                  <a:txBody>
                    <a:bodyPr/>
                    <a:lstStyle/>
                    <a:p>
                      <a:r>
                        <a:rPr lang="en-US" dirty="0"/>
                        <a:t>all three vowels /a, </a:t>
                      </a:r>
                      <a:r>
                        <a:rPr lang="en-US" dirty="0" err="1"/>
                        <a:t>i</a:t>
                      </a:r>
                      <a:r>
                        <a:rPr lang="en-US" dirty="0"/>
                        <a:t>, u/</a:t>
                      </a:r>
                    </a:p>
                  </a:txBody>
                  <a:tcPr/>
                </a:tc>
                <a:extLst>
                  <a:ext uri="{0D108BD9-81ED-4DB2-BD59-A6C34878D82A}">
                    <a16:rowId xmlns:a16="http://schemas.microsoft.com/office/drawing/2014/main" val="1599113818"/>
                  </a:ext>
                </a:extLst>
              </a:tr>
              <a:tr h="451632">
                <a:tc>
                  <a:txBody>
                    <a:bodyPr/>
                    <a:lstStyle/>
                    <a:p>
                      <a:r>
                        <a:rPr lang="en-US" dirty="0"/>
                        <a:t>Consonant contrast</a:t>
                      </a:r>
                    </a:p>
                  </a:txBody>
                  <a:tcPr/>
                </a:tc>
                <a:tc>
                  <a:txBody>
                    <a:bodyPr/>
                    <a:lstStyle/>
                    <a:p>
                      <a:r>
                        <a:rPr lang="en-US" dirty="0"/>
                        <a:t>mostly for voiceless stop consonants, fricatives, affricates  and nasals, rarely for voiced consonants (except nasals)</a:t>
                      </a:r>
                    </a:p>
                  </a:txBody>
                  <a:tcPr/>
                </a:tc>
                <a:tc>
                  <a:txBody>
                    <a:bodyPr/>
                    <a:lstStyle/>
                    <a:p>
                      <a:r>
                        <a:rPr lang="en-US" dirty="0"/>
                        <a:t>all consonants</a:t>
                      </a:r>
                    </a:p>
                  </a:txBody>
                  <a:tcPr/>
                </a:tc>
                <a:extLst>
                  <a:ext uri="{0D108BD9-81ED-4DB2-BD59-A6C34878D82A}">
                    <a16:rowId xmlns:a16="http://schemas.microsoft.com/office/drawing/2014/main" val="393879731"/>
                  </a:ext>
                </a:extLst>
              </a:tr>
            </a:tbl>
          </a:graphicData>
        </a:graphic>
      </p:graphicFrame>
      <p:sp>
        <p:nvSpPr>
          <p:cNvPr id="9" name="Title 1">
            <a:extLst>
              <a:ext uri="{FF2B5EF4-FFF2-40B4-BE49-F238E27FC236}">
                <a16:creationId xmlns:a16="http://schemas.microsoft.com/office/drawing/2014/main" id="{B2DD66AE-253F-FE9B-0E37-0BAB7175A49F}"/>
              </a:ext>
            </a:extLst>
          </p:cNvPr>
          <p:cNvSpPr>
            <a:spLocks noGrp="1"/>
          </p:cNvSpPr>
          <p:nvPr>
            <p:ph type="title"/>
          </p:nvPr>
        </p:nvSpPr>
        <p:spPr>
          <a:xfrm>
            <a:off x="839788" y="365125"/>
            <a:ext cx="10515600" cy="1325563"/>
          </a:xfrm>
        </p:spPr>
        <p:txBody>
          <a:bodyPr>
            <a:normAutofit fontScale="90000"/>
          </a:bodyPr>
          <a:lstStyle/>
          <a:p>
            <a:r>
              <a:rPr lang="en-US" dirty="0"/>
              <a:t>Minimal pairs from both languages will be used for training with segments that are shared between languages</a:t>
            </a:r>
          </a:p>
        </p:txBody>
      </p:sp>
      <p:sp>
        <p:nvSpPr>
          <p:cNvPr id="10" name="TextBox 9">
            <a:extLst>
              <a:ext uri="{FF2B5EF4-FFF2-40B4-BE49-F238E27FC236}">
                <a16:creationId xmlns:a16="http://schemas.microsoft.com/office/drawing/2014/main" id="{E387EDB4-ED64-C69D-21F2-825770F53D10}"/>
              </a:ext>
            </a:extLst>
          </p:cNvPr>
          <p:cNvSpPr txBox="1"/>
          <p:nvPr/>
        </p:nvSpPr>
        <p:spPr>
          <a:xfrm>
            <a:off x="0" y="5307496"/>
            <a:ext cx="12330363" cy="1384995"/>
          </a:xfrm>
          <a:prstGeom prst="rect">
            <a:avLst/>
          </a:prstGeom>
          <a:noFill/>
        </p:spPr>
        <p:txBody>
          <a:bodyPr wrap="none" rtlCol="0">
            <a:spAutoFit/>
          </a:bodyPr>
          <a:lstStyle/>
          <a:p>
            <a:pPr algn="ctr"/>
            <a:r>
              <a:rPr lang="en-US" sz="2800" dirty="0"/>
              <a:t>Chosen segments:</a:t>
            </a:r>
          </a:p>
          <a:p>
            <a:pPr algn="ctr"/>
            <a:r>
              <a:rPr lang="en-US" sz="2800" dirty="0"/>
              <a:t>Vowels: /a, aa, </a:t>
            </a:r>
            <a:r>
              <a:rPr lang="en-US" sz="2800" dirty="0" err="1"/>
              <a:t>i</a:t>
            </a:r>
            <a:r>
              <a:rPr lang="en-US" sz="2800" dirty="0"/>
              <a:t>, ii, u, </a:t>
            </a:r>
            <a:r>
              <a:rPr lang="en-US" sz="2800" dirty="0" err="1"/>
              <a:t>uu</a:t>
            </a:r>
            <a:r>
              <a:rPr lang="en-US" sz="2800" dirty="0"/>
              <a:t>/</a:t>
            </a:r>
          </a:p>
          <a:p>
            <a:pPr algn="ctr"/>
            <a:r>
              <a:rPr lang="en-US" sz="2800" dirty="0"/>
              <a:t>Consonants: /t, </a:t>
            </a:r>
            <a:r>
              <a:rPr lang="en-US" sz="2800" dirty="0" err="1"/>
              <a:t>tt</a:t>
            </a:r>
            <a:r>
              <a:rPr lang="en-US" sz="2800" dirty="0"/>
              <a:t>, k, kk, s, ss, </a:t>
            </a:r>
            <a:r>
              <a:rPr lang="en-US" sz="2800" dirty="0" err="1"/>
              <a:t>ɕ</a:t>
            </a:r>
            <a:r>
              <a:rPr lang="en-US" sz="2800" dirty="0"/>
              <a:t>, </a:t>
            </a:r>
            <a:r>
              <a:rPr lang="en-US" sz="2800" dirty="0" err="1"/>
              <a:t>ɕɕ</a:t>
            </a:r>
            <a:r>
              <a:rPr lang="en-US" sz="2800" dirty="0"/>
              <a:t>/ (latter is treated as equivalent to /</a:t>
            </a:r>
            <a:r>
              <a:rPr lang="en-US" sz="2800" dirty="0" err="1"/>
              <a:t>ʃ</a:t>
            </a:r>
            <a:r>
              <a:rPr lang="en-US" sz="2800" dirty="0"/>
              <a:t>/ in MSA)</a:t>
            </a:r>
          </a:p>
        </p:txBody>
      </p:sp>
    </p:spTree>
    <p:extLst>
      <p:ext uri="{BB962C8B-B14F-4D97-AF65-F5344CB8AC3E}">
        <p14:creationId xmlns:p14="http://schemas.microsoft.com/office/powerpoint/2010/main" val="1221239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81DE-8ABA-845F-5333-D561A8E3551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dirty="0">
                <a:solidFill>
                  <a:schemeClr val="tx1"/>
                </a:solidFill>
                <a:latin typeface="+mj-lt"/>
                <a:ea typeface="+mj-ea"/>
                <a:cs typeface="+mj-cs"/>
              </a:rPr>
              <a:t>Proposed methodology</a:t>
            </a:r>
          </a:p>
        </p:txBody>
      </p:sp>
      <p:sp>
        <p:nvSpPr>
          <p:cNvPr id="5" name="Text Placeholder 4">
            <a:extLst>
              <a:ext uri="{FF2B5EF4-FFF2-40B4-BE49-F238E27FC236}">
                <a16:creationId xmlns:a16="http://schemas.microsoft.com/office/drawing/2014/main" id="{002F8E39-156F-8304-9794-DE8202A6920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85726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08874-8CE2-A02F-36F7-D69C3E1D8141}"/>
              </a:ext>
            </a:extLst>
          </p:cNvPr>
          <p:cNvSpPr>
            <a:spLocks noGrp="1"/>
          </p:cNvSpPr>
          <p:nvPr>
            <p:ph type="title"/>
          </p:nvPr>
        </p:nvSpPr>
        <p:spPr/>
        <p:txBody>
          <a:bodyPr/>
          <a:lstStyle/>
          <a:p>
            <a:r>
              <a:rPr lang="en-US" dirty="0"/>
              <a:t>(I know this is a block of text </a:t>
            </a:r>
            <a:r>
              <a:rPr lang="en-US" dirty="0" err="1"/>
              <a:t>rn</a:t>
            </a:r>
            <a:r>
              <a:rPr lang="en-US" dirty="0"/>
              <a:t>)</a:t>
            </a:r>
          </a:p>
        </p:txBody>
      </p:sp>
      <p:sp>
        <p:nvSpPr>
          <p:cNvPr id="3" name="Content Placeholder 2">
            <a:extLst>
              <a:ext uri="{FF2B5EF4-FFF2-40B4-BE49-F238E27FC236}">
                <a16:creationId xmlns:a16="http://schemas.microsoft.com/office/drawing/2014/main" id="{5C09634A-7394-9CBA-1432-CE6350D2524D}"/>
              </a:ext>
            </a:extLst>
          </p:cNvPr>
          <p:cNvSpPr>
            <a:spLocks noGrp="1"/>
          </p:cNvSpPr>
          <p:nvPr>
            <p:ph idx="1"/>
          </p:nvPr>
        </p:nvSpPr>
        <p:spPr>
          <a:xfrm>
            <a:off x="838200" y="1825625"/>
            <a:ext cx="10515600" cy="4855394"/>
          </a:xfrm>
        </p:spPr>
        <p:txBody>
          <a:bodyPr>
            <a:normAutofit fontScale="92500" lnSpcReduction="10000"/>
          </a:bodyPr>
          <a:lstStyle/>
          <a:p>
            <a:pPr marL="0" indent="0">
              <a:buNone/>
            </a:pPr>
            <a:r>
              <a:rPr lang="en-US" dirty="0"/>
              <a:t>Experiment 1: Aim 1 is to determine whether experiential linguistic diversity from listeners’ language history, usage, and exposure predicts (1) degree of gradient categorization of L1 and L2 speech and (2) perceptual flexibility and acoustic cue integration. </a:t>
            </a:r>
          </a:p>
          <a:p>
            <a:pPr marL="0" indent="0">
              <a:buNone/>
            </a:pPr>
            <a:r>
              <a:rPr lang="en-US" dirty="0"/>
              <a:t>Experiment 2: Aim 2 is to investigate the effects of short-term, specific exposure to linguistic diversity through perceptual training on (1) gradient categorization of L1 and L2 speech and (2) L2 phoneme discrimination. Here, specific linguistic diversity is operationalized as the number of languages used in the perceptual discrimination training task. </a:t>
            </a:r>
          </a:p>
          <a:p>
            <a:pPr marL="0" indent="0">
              <a:buNone/>
            </a:pPr>
            <a:r>
              <a:rPr lang="en-US" dirty="0"/>
              <a:t>Experiment 3: Aim 3 is to investigate the effects of long-term, specific exposure to linguistic diversity through perceptual training, in conjunction with foreign language classroom instruction, on the (1) gradient categorization of L1 and L2 speech, (2) L2 phoneme discrimination, and (3) L2 speech perception and listening. </a:t>
            </a:r>
          </a:p>
        </p:txBody>
      </p:sp>
    </p:spTree>
    <p:extLst>
      <p:ext uri="{BB962C8B-B14F-4D97-AF65-F5344CB8AC3E}">
        <p14:creationId xmlns:p14="http://schemas.microsoft.com/office/powerpoint/2010/main" val="3252247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209CE-53CD-CB53-A825-CB5694A5F5FB}"/>
              </a:ext>
            </a:extLst>
          </p:cNvPr>
          <p:cNvSpPr>
            <a:spLocks noGrp="1"/>
          </p:cNvSpPr>
          <p:nvPr>
            <p:ph type="title"/>
          </p:nvPr>
        </p:nvSpPr>
        <p:spPr/>
        <p:txBody>
          <a:bodyPr/>
          <a:lstStyle/>
          <a:p>
            <a:r>
              <a:rPr lang="en-US" dirty="0"/>
              <a:t>Experiment 1</a:t>
            </a:r>
          </a:p>
        </p:txBody>
      </p:sp>
      <p:sp>
        <p:nvSpPr>
          <p:cNvPr id="3" name="Text Placeholder 2">
            <a:extLst>
              <a:ext uri="{FF2B5EF4-FFF2-40B4-BE49-F238E27FC236}">
                <a16:creationId xmlns:a16="http://schemas.microsoft.com/office/drawing/2014/main" id="{F23AEE9B-EB99-B506-641B-50FAEAA68DB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09837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40EC-7E31-AAEE-C3A5-FB9C5AAFF88D}"/>
              </a:ext>
            </a:extLst>
          </p:cNvPr>
          <p:cNvSpPr>
            <a:spLocks noGrp="1"/>
          </p:cNvSpPr>
          <p:nvPr>
            <p:ph type="title"/>
          </p:nvPr>
        </p:nvSpPr>
        <p:spPr>
          <a:xfrm>
            <a:off x="701341" y="346827"/>
            <a:ext cx="10515600" cy="1325563"/>
          </a:xfrm>
        </p:spPr>
        <p:txBody>
          <a:bodyPr>
            <a:noAutofit/>
          </a:bodyPr>
          <a:lstStyle/>
          <a:p>
            <a:r>
              <a:rPr lang="en-US" sz="3600" dirty="0"/>
              <a:t>The goal of Experiment 1 is to explore the relationship between experiential linguistic diversity and categorization gradiency of L1 and L2 speech</a:t>
            </a:r>
          </a:p>
        </p:txBody>
      </p:sp>
      <p:pic>
        <p:nvPicPr>
          <p:cNvPr id="7" name="Graphic 6" descr="Group with solid fill">
            <a:extLst>
              <a:ext uri="{FF2B5EF4-FFF2-40B4-BE49-F238E27FC236}">
                <a16:creationId xmlns:a16="http://schemas.microsoft.com/office/drawing/2014/main" id="{1868BB89-CD99-6304-6F19-9960661080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5427" y="1833424"/>
            <a:ext cx="914400" cy="914400"/>
          </a:xfrm>
          <a:prstGeom prst="rect">
            <a:avLst/>
          </a:prstGeom>
        </p:spPr>
      </p:pic>
      <p:sp>
        <p:nvSpPr>
          <p:cNvPr id="8" name="TextBox 7">
            <a:extLst>
              <a:ext uri="{FF2B5EF4-FFF2-40B4-BE49-F238E27FC236}">
                <a16:creationId xmlns:a16="http://schemas.microsoft.com/office/drawing/2014/main" id="{8230B991-B381-A58F-F253-9A7ECE0E5159}"/>
              </a:ext>
            </a:extLst>
          </p:cNvPr>
          <p:cNvSpPr txBox="1"/>
          <p:nvPr/>
        </p:nvSpPr>
        <p:spPr>
          <a:xfrm>
            <a:off x="2939825" y="2045240"/>
            <a:ext cx="7067448" cy="830997"/>
          </a:xfrm>
          <a:prstGeom prst="rect">
            <a:avLst/>
          </a:prstGeom>
          <a:noFill/>
        </p:spPr>
        <p:txBody>
          <a:bodyPr wrap="none" rtlCol="0">
            <a:spAutoFit/>
          </a:bodyPr>
          <a:lstStyle/>
          <a:p>
            <a:r>
              <a:rPr lang="en-US" sz="2400" dirty="0"/>
              <a:t>L1 English mono- or multilinguals, online population</a:t>
            </a:r>
          </a:p>
          <a:p>
            <a:r>
              <a:rPr lang="en-US" sz="2400" dirty="0"/>
              <a:t>Goal: 100 participants</a:t>
            </a:r>
          </a:p>
        </p:txBody>
      </p:sp>
      <p:pic>
        <p:nvPicPr>
          <p:cNvPr id="12" name="Graphic 11" descr="Headphones with solid fill">
            <a:extLst>
              <a:ext uri="{FF2B5EF4-FFF2-40B4-BE49-F238E27FC236}">
                <a16:creationId xmlns:a16="http://schemas.microsoft.com/office/drawing/2014/main" id="{76288F93-B979-22D0-401B-2895575216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0441" y="3087310"/>
            <a:ext cx="914400" cy="914400"/>
          </a:xfrm>
          <a:prstGeom prst="rect">
            <a:avLst/>
          </a:prstGeom>
        </p:spPr>
      </p:pic>
      <p:pic>
        <p:nvPicPr>
          <p:cNvPr id="20" name="Graphic 19" descr="Browser window with solid fill">
            <a:extLst>
              <a:ext uri="{FF2B5EF4-FFF2-40B4-BE49-F238E27FC236}">
                <a16:creationId xmlns:a16="http://schemas.microsoft.com/office/drawing/2014/main" id="{617CEDD3-3DB9-AE14-A7E2-09030C37CA3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3793" y="4377076"/>
            <a:ext cx="914400" cy="914400"/>
          </a:xfrm>
          <a:prstGeom prst="rect">
            <a:avLst/>
          </a:prstGeom>
        </p:spPr>
      </p:pic>
      <p:pic>
        <p:nvPicPr>
          <p:cNvPr id="22" name="Graphic 21" descr="Swipe Gesture with solid fill">
            <a:extLst>
              <a:ext uri="{FF2B5EF4-FFF2-40B4-BE49-F238E27FC236}">
                <a16:creationId xmlns:a16="http://schemas.microsoft.com/office/drawing/2014/main" id="{9E8F0085-E039-1A03-0A0D-44934196237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939825" y="4377076"/>
            <a:ext cx="914400" cy="914400"/>
          </a:xfrm>
          <a:prstGeom prst="rect">
            <a:avLst/>
          </a:prstGeom>
        </p:spPr>
      </p:pic>
      <p:pic>
        <p:nvPicPr>
          <p:cNvPr id="28" name="Graphic 27" descr="Clipboard with solid fill">
            <a:extLst>
              <a:ext uri="{FF2B5EF4-FFF2-40B4-BE49-F238E27FC236}">
                <a16:creationId xmlns:a16="http://schemas.microsoft.com/office/drawing/2014/main" id="{0D3C0EB1-551F-CA10-5C09-283A10DF519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26852" y="4377281"/>
            <a:ext cx="914400" cy="914400"/>
          </a:xfrm>
          <a:prstGeom prst="rect">
            <a:avLst/>
          </a:prstGeom>
        </p:spPr>
      </p:pic>
      <p:pic>
        <p:nvPicPr>
          <p:cNvPr id="30" name="Graphic 29" descr="Scatterplot with solid fill">
            <a:extLst>
              <a:ext uri="{FF2B5EF4-FFF2-40B4-BE49-F238E27FC236}">
                <a16:creationId xmlns:a16="http://schemas.microsoft.com/office/drawing/2014/main" id="{78A7252F-1920-28F5-DF57-EBAE22FD05A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0441" y="5591365"/>
            <a:ext cx="914400" cy="914400"/>
          </a:xfrm>
          <a:prstGeom prst="rect">
            <a:avLst/>
          </a:prstGeom>
        </p:spPr>
      </p:pic>
      <p:sp>
        <p:nvSpPr>
          <p:cNvPr id="34" name="TextBox 33">
            <a:extLst>
              <a:ext uri="{FF2B5EF4-FFF2-40B4-BE49-F238E27FC236}">
                <a16:creationId xmlns:a16="http://schemas.microsoft.com/office/drawing/2014/main" id="{024FC375-84A5-F215-CCE1-2CD1335CF3AA}"/>
              </a:ext>
            </a:extLst>
          </p:cNvPr>
          <p:cNvSpPr txBox="1"/>
          <p:nvPr/>
        </p:nvSpPr>
        <p:spPr>
          <a:xfrm>
            <a:off x="701341" y="2630110"/>
            <a:ext cx="1383071" cy="369332"/>
          </a:xfrm>
          <a:prstGeom prst="rect">
            <a:avLst/>
          </a:prstGeom>
          <a:noFill/>
        </p:spPr>
        <p:txBody>
          <a:bodyPr wrap="none" rtlCol="0">
            <a:spAutoFit/>
          </a:bodyPr>
          <a:lstStyle/>
          <a:p>
            <a:r>
              <a:rPr lang="en-US" dirty="0"/>
              <a:t>Participants</a:t>
            </a:r>
          </a:p>
        </p:txBody>
      </p:sp>
      <p:sp>
        <p:nvSpPr>
          <p:cNvPr id="35" name="TextBox 34">
            <a:extLst>
              <a:ext uri="{FF2B5EF4-FFF2-40B4-BE49-F238E27FC236}">
                <a16:creationId xmlns:a16="http://schemas.microsoft.com/office/drawing/2014/main" id="{39CEF151-0EF6-0D85-D503-09C3F905C5C0}"/>
              </a:ext>
            </a:extLst>
          </p:cNvPr>
          <p:cNvSpPr txBox="1"/>
          <p:nvPr/>
        </p:nvSpPr>
        <p:spPr>
          <a:xfrm>
            <a:off x="1043584" y="5152095"/>
            <a:ext cx="734817" cy="369332"/>
          </a:xfrm>
          <a:prstGeom prst="rect">
            <a:avLst/>
          </a:prstGeom>
          <a:noFill/>
        </p:spPr>
        <p:txBody>
          <a:bodyPr wrap="none" rtlCol="0">
            <a:spAutoFit/>
          </a:bodyPr>
          <a:lstStyle/>
          <a:p>
            <a:r>
              <a:rPr lang="en-US" dirty="0"/>
              <a:t>Tasks</a:t>
            </a:r>
          </a:p>
        </p:txBody>
      </p:sp>
      <p:sp>
        <p:nvSpPr>
          <p:cNvPr id="36" name="TextBox 35">
            <a:extLst>
              <a:ext uri="{FF2B5EF4-FFF2-40B4-BE49-F238E27FC236}">
                <a16:creationId xmlns:a16="http://schemas.microsoft.com/office/drawing/2014/main" id="{34327CAC-4FC9-5137-8EA6-83C4F377CBD3}"/>
              </a:ext>
            </a:extLst>
          </p:cNvPr>
          <p:cNvSpPr txBox="1"/>
          <p:nvPr/>
        </p:nvSpPr>
        <p:spPr>
          <a:xfrm>
            <a:off x="953793" y="3991672"/>
            <a:ext cx="883575" cy="369332"/>
          </a:xfrm>
          <a:prstGeom prst="rect">
            <a:avLst/>
          </a:prstGeom>
          <a:noFill/>
        </p:spPr>
        <p:txBody>
          <a:bodyPr wrap="none" rtlCol="0">
            <a:spAutoFit/>
          </a:bodyPr>
          <a:lstStyle/>
          <a:p>
            <a:r>
              <a:rPr lang="en-US" dirty="0"/>
              <a:t>Stimuli</a:t>
            </a:r>
          </a:p>
        </p:txBody>
      </p:sp>
      <p:sp>
        <p:nvSpPr>
          <p:cNvPr id="37" name="TextBox 36">
            <a:extLst>
              <a:ext uri="{FF2B5EF4-FFF2-40B4-BE49-F238E27FC236}">
                <a16:creationId xmlns:a16="http://schemas.microsoft.com/office/drawing/2014/main" id="{A0412DF4-DA6F-B93F-1F9F-AA1C008BE1E5}"/>
              </a:ext>
            </a:extLst>
          </p:cNvPr>
          <p:cNvSpPr txBox="1"/>
          <p:nvPr/>
        </p:nvSpPr>
        <p:spPr>
          <a:xfrm>
            <a:off x="877942" y="6432268"/>
            <a:ext cx="1079398" cy="369332"/>
          </a:xfrm>
          <a:prstGeom prst="rect">
            <a:avLst/>
          </a:prstGeom>
          <a:noFill/>
        </p:spPr>
        <p:txBody>
          <a:bodyPr wrap="none" rtlCol="0">
            <a:spAutoFit/>
          </a:bodyPr>
          <a:lstStyle/>
          <a:p>
            <a:r>
              <a:rPr lang="en-US" dirty="0"/>
              <a:t>Analyses</a:t>
            </a:r>
          </a:p>
        </p:txBody>
      </p:sp>
      <p:sp>
        <p:nvSpPr>
          <p:cNvPr id="38" name="TextBox 37">
            <a:extLst>
              <a:ext uri="{FF2B5EF4-FFF2-40B4-BE49-F238E27FC236}">
                <a16:creationId xmlns:a16="http://schemas.microsoft.com/office/drawing/2014/main" id="{CB2D8CC4-B2F2-BF5C-278D-2FC9740DBD5A}"/>
              </a:ext>
            </a:extLst>
          </p:cNvPr>
          <p:cNvSpPr txBox="1"/>
          <p:nvPr/>
        </p:nvSpPr>
        <p:spPr>
          <a:xfrm>
            <a:off x="3854225" y="4606206"/>
            <a:ext cx="2040302" cy="461665"/>
          </a:xfrm>
          <a:prstGeom prst="rect">
            <a:avLst/>
          </a:prstGeom>
          <a:noFill/>
        </p:spPr>
        <p:txBody>
          <a:bodyPr wrap="none" rtlCol="0">
            <a:spAutoFit/>
          </a:bodyPr>
          <a:lstStyle/>
          <a:p>
            <a:r>
              <a:rPr lang="en-US" sz="2400" dirty="0"/>
              <a:t>L1 and L2 VAS</a:t>
            </a:r>
          </a:p>
        </p:txBody>
      </p:sp>
      <p:sp>
        <p:nvSpPr>
          <p:cNvPr id="39" name="TextBox 38">
            <a:extLst>
              <a:ext uri="{FF2B5EF4-FFF2-40B4-BE49-F238E27FC236}">
                <a16:creationId xmlns:a16="http://schemas.microsoft.com/office/drawing/2014/main" id="{834358D0-705F-ECFC-CAC2-62F64E984994}"/>
              </a:ext>
            </a:extLst>
          </p:cNvPr>
          <p:cNvSpPr txBox="1"/>
          <p:nvPr/>
        </p:nvSpPr>
        <p:spPr>
          <a:xfrm>
            <a:off x="6841252" y="4430082"/>
            <a:ext cx="3056365" cy="830997"/>
          </a:xfrm>
          <a:prstGeom prst="rect">
            <a:avLst/>
          </a:prstGeom>
          <a:noFill/>
        </p:spPr>
        <p:txBody>
          <a:bodyPr wrap="square" rtlCol="0">
            <a:spAutoFit/>
          </a:bodyPr>
          <a:lstStyle/>
          <a:p>
            <a:r>
              <a:rPr lang="en-US" sz="2400" dirty="0"/>
              <a:t>Linguistic diversity questionnaire (LD-Q)</a:t>
            </a:r>
          </a:p>
        </p:txBody>
      </p:sp>
      <p:sp>
        <p:nvSpPr>
          <p:cNvPr id="40" name="TextBox 39">
            <a:extLst>
              <a:ext uri="{FF2B5EF4-FFF2-40B4-BE49-F238E27FC236}">
                <a16:creationId xmlns:a16="http://schemas.microsoft.com/office/drawing/2014/main" id="{72C1FF01-6D60-7A74-0DAC-AA6F6DE80012}"/>
              </a:ext>
            </a:extLst>
          </p:cNvPr>
          <p:cNvSpPr txBox="1"/>
          <p:nvPr/>
        </p:nvSpPr>
        <p:spPr>
          <a:xfrm>
            <a:off x="2944552" y="3230789"/>
            <a:ext cx="8363893" cy="830997"/>
          </a:xfrm>
          <a:prstGeom prst="rect">
            <a:avLst/>
          </a:prstGeom>
          <a:noFill/>
        </p:spPr>
        <p:txBody>
          <a:bodyPr wrap="none" rtlCol="0">
            <a:spAutoFit/>
          </a:bodyPr>
          <a:lstStyle/>
          <a:p>
            <a:r>
              <a:rPr lang="en-US" sz="2400" dirty="0"/>
              <a:t>Visual analog scale (VAS) 2-dimensional continua (7x5 steps) </a:t>
            </a:r>
          </a:p>
          <a:p>
            <a:r>
              <a:rPr lang="en-US" sz="2400" dirty="0"/>
              <a:t>for L1 English and L2 Japanese contrasts</a:t>
            </a:r>
          </a:p>
        </p:txBody>
      </p:sp>
      <p:sp>
        <p:nvSpPr>
          <p:cNvPr id="42" name="TextBox 41">
            <a:extLst>
              <a:ext uri="{FF2B5EF4-FFF2-40B4-BE49-F238E27FC236}">
                <a16:creationId xmlns:a16="http://schemas.microsoft.com/office/drawing/2014/main" id="{186185C6-D02E-2A94-364F-9E7DF3B34D93}"/>
              </a:ext>
            </a:extLst>
          </p:cNvPr>
          <p:cNvSpPr txBox="1"/>
          <p:nvPr/>
        </p:nvSpPr>
        <p:spPr>
          <a:xfrm>
            <a:off x="2939825" y="5601271"/>
            <a:ext cx="8459695" cy="1200329"/>
          </a:xfrm>
          <a:prstGeom prst="rect">
            <a:avLst/>
          </a:prstGeom>
          <a:noFill/>
        </p:spPr>
        <p:txBody>
          <a:bodyPr wrap="square" rtlCol="0">
            <a:spAutoFit/>
          </a:bodyPr>
          <a:lstStyle/>
          <a:p>
            <a:r>
              <a:rPr lang="en-US" sz="2400" dirty="0"/>
              <a:t>Regression analysis between gradiency profiles predicted by latent profile analysis (LPA) and linguistic diversity measured through language entropy</a:t>
            </a:r>
          </a:p>
        </p:txBody>
      </p:sp>
      <p:cxnSp>
        <p:nvCxnSpPr>
          <p:cNvPr id="43" name="Straight Connector 42">
            <a:extLst>
              <a:ext uri="{FF2B5EF4-FFF2-40B4-BE49-F238E27FC236}">
                <a16:creationId xmlns:a16="http://schemas.microsoft.com/office/drawing/2014/main" id="{E337A2C6-A57E-B17E-C13D-DB90944D4F7F}"/>
              </a:ext>
            </a:extLst>
          </p:cNvPr>
          <p:cNvCxnSpPr/>
          <p:nvPr/>
        </p:nvCxnSpPr>
        <p:spPr>
          <a:xfrm>
            <a:off x="336096" y="1863585"/>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DB4D9308-E32C-45B9-1243-FBF4CC4ACFC6}"/>
              </a:ext>
            </a:extLst>
          </p:cNvPr>
          <p:cNvCxnSpPr/>
          <p:nvPr/>
        </p:nvCxnSpPr>
        <p:spPr>
          <a:xfrm>
            <a:off x="336096" y="3091615"/>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8E14BD49-4550-3CC1-23AC-F49BEE68A6B4}"/>
              </a:ext>
            </a:extLst>
          </p:cNvPr>
          <p:cNvCxnSpPr/>
          <p:nvPr/>
        </p:nvCxnSpPr>
        <p:spPr>
          <a:xfrm>
            <a:off x="322077" y="4377076"/>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68B7909-3EAD-A8ED-12ED-11A402FFB9E0}"/>
              </a:ext>
            </a:extLst>
          </p:cNvPr>
          <p:cNvCxnSpPr/>
          <p:nvPr/>
        </p:nvCxnSpPr>
        <p:spPr>
          <a:xfrm>
            <a:off x="327087" y="5601271"/>
            <a:ext cx="1133714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78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8" grpId="0"/>
      <p:bldP spid="39" grpId="0"/>
      <p:bldP spid="40" grpId="0"/>
      <p:bldP spid="4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76A71-1813-EA2D-5714-856CF9F5E050}"/>
              </a:ext>
            </a:extLst>
          </p:cNvPr>
          <p:cNvSpPr>
            <a:spLocks noGrp="1"/>
          </p:cNvSpPr>
          <p:nvPr>
            <p:ph type="title"/>
          </p:nvPr>
        </p:nvSpPr>
        <p:spPr/>
        <p:txBody>
          <a:bodyPr/>
          <a:lstStyle/>
          <a:p>
            <a:r>
              <a:rPr lang="en-US" dirty="0"/>
              <a:t>Experiment 1 is a one-day experiment expected to take ~1 hr</a:t>
            </a:r>
          </a:p>
        </p:txBody>
      </p:sp>
      <p:pic>
        <p:nvPicPr>
          <p:cNvPr id="9" name="Graphic 8" descr="Swipe Gesture with solid fill">
            <a:extLst>
              <a:ext uri="{FF2B5EF4-FFF2-40B4-BE49-F238E27FC236}">
                <a16:creationId xmlns:a16="http://schemas.microsoft.com/office/drawing/2014/main" id="{22E04D9D-FFFD-6C93-FD05-53D567BE71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28921" y="2735535"/>
            <a:ext cx="914400" cy="914400"/>
          </a:xfrm>
          <a:prstGeom prst="rect">
            <a:avLst/>
          </a:prstGeom>
        </p:spPr>
      </p:pic>
      <p:pic>
        <p:nvPicPr>
          <p:cNvPr id="10" name="Graphic 9" descr="Clipboard with solid fill">
            <a:extLst>
              <a:ext uri="{FF2B5EF4-FFF2-40B4-BE49-F238E27FC236}">
                <a16:creationId xmlns:a16="http://schemas.microsoft.com/office/drawing/2014/main" id="{B5089F72-2F69-8E71-E572-7D56AFE583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81221" y="2720978"/>
            <a:ext cx="914400" cy="914400"/>
          </a:xfrm>
          <a:prstGeom prst="rect">
            <a:avLst/>
          </a:prstGeom>
        </p:spPr>
      </p:pic>
      <p:sp>
        <p:nvSpPr>
          <p:cNvPr id="11" name="TextBox 10">
            <a:extLst>
              <a:ext uri="{FF2B5EF4-FFF2-40B4-BE49-F238E27FC236}">
                <a16:creationId xmlns:a16="http://schemas.microsoft.com/office/drawing/2014/main" id="{A49F6EA5-9B31-3C33-9CD1-8BD59B13C277}"/>
              </a:ext>
            </a:extLst>
          </p:cNvPr>
          <p:cNvSpPr txBox="1"/>
          <p:nvPr/>
        </p:nvSpPr>
        <p:spPr>
          <a:xfrm>
            <a:off x="1210671" y="2155359"/>
            <a:ext cx="2350900" cy="523220"/>
          </a:xfrm>
          <a:prstGeom prst="rect">
            <a:avLst/>
          </a:prstGeom>
          <a:noFill/>
        </p:spPr>
        <p:txBody>
          <a:bodyPr wrap="none" rtlCol="0">
            <a:spAutoFit/>
          </a:bodyPr>
          <a:lstStyle/>
          <a:p>
            <a:r>
              <a:rPr lang="en-US" sz="2800" dirty="0"/>
              <a:t>L1 and L2 VAS</a:t>
            </a:r>
          </a:p>
        </p:txBody>
      </p:sp>
      <p:sp>
        <p:nvSpPr>
          <p:cNvPr id="12" name="TextBox 11">
            <a:extLst>
              <a:ext uri="{FF2B5EF4-FFF2-40B4-BE49-F238E27FC236}">
                <a16:creationId xmlns:a16="http://schemas.microsoft.com/office/drawing/2014/main" id="{E01F63C0-9102-FB3C-B116-35B9EFA372E8}"/>
              </a:ext>
            </a:extLst>
          </p:cNvPr>
          <p:cNvSpPr txBox="1"/>
          <p:nvPr/>
        </p:nvSpPr>
        <p:spPr>
          <a:xfrm>
            <a:off x="8640528" y="2144557"/>
            <a:ext cx="995785" cy="523220"/>
          </a:xfrm>
          <a:prstGeom prst="rect">
            <a:avLst/>
          </a:prstGeom>
          <a:noFill/>
        </p:spPr>
        <p:txBody>
          <a:bodyPr wrap="none" rtlCol="0">
            <a:spAutoFit/>
          </a:bodyPr>
          <a:lstStyle/>
          <a:p>
            <a:r>
              <a:rPr lang="en-US" sz="2800" dirty="0"/>
              <a:t>LD-Q</a:t>
            </a:r>
          </a:p>
        </p:txBody>
      </p:sp>
      <p:sp>
        <p:nvSpPr>
          <p:cNvPr id="13" name="TextBox 12">
            <a:extLst>
              <a:ext uri="{FF2B5EF4-FFF2-40B4-BE49-F238E27FC236}">
                <a16:creationId xmlns:a16="http://schemas.microsoft.com/office/drawing/2014/main" id="{76D4C97E-9A25-BC9C-9A1F-D1BE50793843}"/>
              </a:ext>
            </a:extLst>
          </p:cNvPr>
          <p:cNvSpPr txBox="1"/>
          <p:nvPr/>
        </p:nvSpPr>
        <p:spPr>
          <a:xfrm>
            <a:off x="683866" y="3962067"/>
            <a:ext cx="3404510" cy="2585323"/>
          </a:xfrm>
          <a:prstGeom prst="rect">
            <a:avLst/>
          </a:prstGeom>
          <a:noFill/>
        </p:spPr>
        <p:txBody>
          <a:bodyPr wrap="square" rtlCol="0">
            <a:spAutoFit/>
          </a:bodyPr>
          <a:lstStyle/>
          <a:p>
            <a:pPr algn="ctr"/>
            <a:r>
              <a:rPr lang="en-US" dirty="0"/>
              <a:t>L1 English continua: </a:t>
            </a:r>
          </a:p>
          <a:p>
            <a:pPr algn="ctr"/>
            <a:r>
              <a:rPr lang="en-US" b="1" dirty="0"/>
              <a:t>/d/ vs. /t/ </a:t>
            </a:r>
            <a:r>
              <a:rPr lang="en-US" dirty="0"/>
              <a:t>(</a:t>
            </a:r>
            <a:r>
              <a:rPr lang="en-US" i="1" dirty="0"/>
              <a:t>indent </a:t>
            </a:r>
            <a:r>
              <a:rPr lang="en-US" dirty="0"/>
              <a:t>vs. </a:t>
            </a:r>
            <a:r>
              <a:rPr lang="en-US" i="1" dirty="0"/>
              <a:t>intent</a:t>
            </a:r>
            <a:r>
              <a:rPr lang="en-US" dirty="0"/>
              <a:t>), </a:t>
            </a:r>
          </a:p>
          <a:p>
            <a:pPr algn="ctr"/>
            <a:r>
              <a:rPr lang="en-US" b="1" dirty="0"/>
              <a:t>/</a:t>
            </a:r>
            <a:r>
              <a:rPr lang="en-US" b="1" dirty="0" err="1"/>
              <a:t>i</a:t>
            </a:r>
            <a:r>
              <a:rPr lang="en-US" b="1" dirty="0"/>
              <a:t>/ vs. /</a:t>
            </a:r>
            <a:r>
              <a:rPr lang="en-US" b="1" dirty="0" err="1"/>
              <a:t>ɪ</a:t>
            </a:r>
            <a:r>
              <a:rPr lang="en-US" b="1" dirty="0"/>
              <a:t>/ </a:t>
            </a:r>
            <a:r>
              <a:rPr lang="en-US" dirty="0"/>
              <a:t>(</a:t>
            </a:r>
            <a:r>
              <a:rPr lang="en-US" i="1" dirty="0"/>
              <a:t>reason</a:t>
            </a:r>
            <a:r>
              <a:rPr lang="en-US" dirty="0"/>
              <a:t> vs. </a:t>
            </a:r>
            <a:r>
              <a:rPr lang="en-US" i="1" dirty="0"/>
              <a:t>risen</a:t>
            </a:r>
            <a:r>
              <a:rPr lang="en-US" dirty="0"/>
              <a:t>)</a:t>
            </a:r>
          </a:p>
          <a:p>
            <a:pPr algn="ctr"/>
            <a:endParaRPr lang="en-US" dirty="0"/>
          </a:p>
          <a:p>
            <a:pPr algn="ctr"/>
            <a:r>
              <a:rPr lang="en-US" dirty="0"/>
              <a:t>L2 Japanese continua: </a:t>
            </a:r>
          </a:p>
          <a:p>
            <a:pPr algn="ctr"/>
            <a:r>
              <a:rPr lang="en-US" b="1" dirty="0"/>
              <a:t>/t/ vs. /</a:t>
            </a:r>
            <a:r>
              <a:rPr lang="en-US" b="1" dirty="0" err="1"/>
              <a:t>tt</a:t>
            </a:r>
            <a:r>
              <a:rPr lang="en-US" b="1" dirty="0"/>
              <a:t>/ </a:t>
            </a:r>
            <a:r>
              <a:rPr lang="en-US" dirty="0"/>
              <a:t>(</a:t>
            </a:r>
            <a:r>
              <a:rPr lang="en-US" i="1" dirty="0"/>
              <a:t>kata</a:t>
            </a:r>
            <a:r>
              <a:rPr lang="en-US" dirty="0"/>
              <a:t> vs. </a:t>
            </a:r>
            <a:r>
              <a:rPr lang="en-US" i="1" dirty="0" err="1"/>
              <a:t>katta</a:t>
            </a:r>
            <a:r>
              <a:rPr lang="en-US" dirty="0"/>
              <a:t>)*, </a:t>
            </a:r>
          </a:p>
          <a:p>
            <a:pPr algn="ctr"/>
            <a:r>
              <a:rPr lang="en-US" b="1" dirty="0"/>
              <a:t>/o/ vs. /</a:t>
            </a:r>
            <a:r>
              <a:rPr lang="en-US" b="1" dirty="0" err="1"/>
              <a:t>oo</a:t>
            </a:r>
            <a:r>
              <a:rPr lang="en-US" b="1" dirty="0"/>
              <a:t>/ </a:t>
            </a:r>
            <a:r>
              <a:rPr lang="en-US" dirty="0"/>
              <a:t>(</a:t>
            </a:r>
            <a:r>
              <a:rPr lang="en-US" i="1" dirty="0" err="1"/>
              <a:t>toru</a:t>
            </a:r>
            <a:r>
              <a:rPr lang="en-US" dirty="0"/>
              <a:t> vs. </a:t>
            </a:r>
            <a:r>
              <a:rPr lang="en-US" i="1" dirty="0" err="1"/>
              <a:t>tooru</a:t>
            </a:r>
            <a:r>
              <a:rPr lang="en-US" dirty="0"/>
              <a:t>)</a:t>
            </a:r>
          </a:p>
          <a:p>
            <a:pPr algn="ctr"/>
            <a:endParaRPr lang="en-US" dirty="0"/>
          </a:p>
          <a:p>
            <a:pPr algn="ctr"/>
            <a:r>
              <a:rPr lang="en-US" dirty="0"/>
              <a:t>420 total trials</a:t>
            </a:r>
          </a:p>
        </p:txBody>
      </p:sp>
      <p:cxnSp>
        <p:nvCxnSpPr>
          <p:cNvPr id="19" name="Straight Arrow Connector 18">
            <a:extLst>
              <a:ext uri="{FF2B5EF4-FFF2-40B4-BE49-F238E27FC236}">
                <a16:creationId xmlns:a16="http://schemas.microsoft.com/office/drawing/2014/main" id="{6692AF99-E894-9222-5BC0-3D15D1F703AE}"/>
              </a:ext>
            </a:extLst>
          </p:cNvPr>
          <p:cNvCxnSpPr>
            <a:cxnSpLocks/>
          </p:cNvCxnSpPr>
          <p:nvPr/>
        </p:nvCxnSpPr>
        <p:spPr>
          <a:xfrm>
            <a:off x="4533900" y="3143250"/>
            <a:ext cx="2584064"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A642537-27BF-F417-3DD9-9145C9E7C961}"/>
              </a:ext>
            </a:extLst>
          </p:cNvPr>
          <p:cNvSpPr txBox="1"/>
          <p:nvPr/>
        </p:nvSpPr>
        <p:spPr>
          <a:xfrm>
            <a:off x="6768705" y="3907552"/>
            <a:ext cx="4739429" cy="2585323"/>
          </a:xfrm>
          <a:prstGeom prst="rect">
            <a:avLst/>
          </a:prstGeom>
          <a:noFill/>
        </p:spPr>
        <p:txBody>
          <a:bodyPr wrap="square" rtlCol="0">
            <a:spAutoFit/>
          </a:bodyPr>
          <a:lstStyle/>
          <a:p>
            <a:pPr algn="ctr"/>
            <a:r>
              <a:rPr lang="en-US" dirty="0"/>
              <a:t>Part 1: Questions from LHQ3 to measure </a:t>
            </a:r>
            <a:r>
              <a:rPr lang="en-US" i="1" dirty="0"/>
              <a:t>active use and exposure</a:t>
            </a:r>
            <a:r>
              <a:rPr lang="en-US" dirty="0"/>
              <a:t> for known languages:</a:t>
            </a:r>
          </a:p>
          <a:p>
            <a:pPr algn="ctr"/>
            <a:r>
              <a:rPr lang="en-US" b="1" dirty="0"/>
              <a:t>Active Multilingual Language Diversity (MLD-A)</a:t>
            </a:r>
          </a:p>
          <a:p>
            <a:pPr algn="ctr"/>
            <a:endParaRPr lang="en-US" b="1" dirty="0"/>
          </a:p>
          <a:p>
            <a:pPr algn="ctr"/>
            <a:r>
              <a:rPr lang="en-US" dirty="0"/>
              <a:t>Part 2</a:t>
            </a:r>
            <a:r>
              <a:rPr lang="en-US" i="1" dirty="0"/>
              <a:t>: Passive use and exposure </a:t>
            </a:r>
            <a:r>
              <a:rPr lang="en-US" dirty="0"/>
              <a:t>for both known and unknown languages</a:t>
            </a:r>
          </a:p>
          <a:p>
            <a:pPr algn="ctr"/>
            <a:r>
              <a:rPr lang="en-US" b="1" dirty="0"/>
              <a:t>Passive Multilingual Language Diversity (MLD-P)</a:t>
            </a:r>
          </a:p>
        </p:txBody>
      </p:sp>
      <p:cxnSp>
        <p:nvCxnSpPr>
          <p:cNvPr id="22" name="Straight Connector 21">
            <a:extLst>
              <a:ext uri="{FF2B5EF4-FFF2-40B4-BE49-F238E27FC236}">
                <a16:creationId xmlns:a16="http://schemas.microsoft.com/office/drawing/2014/main" id="{2422758B-6612-F999-C6C8-B7183B9D44E2}"/>
              </a:ext>
            </a:extLst>
          </p:cNvPr>
          <p:cNvCxnSpPr/>
          <p:nvPr/>
        </p:nvCxnSpPr>
        <p:spPr>
          <a:xfrm>
            <a:off x="487061" y="1837795"/>
            <a:ext cx="1133714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883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209CE-53CD-CB53-A825-CB5694A5F5FB}"/>
              </a:ext>
            </a:extLst>
          </p:cNvPr>
          <p:cNvSpPr>
            <a:spLocks noGrp="1"/>
          </p:cNvSpPr>
          <p:nvPr>
            <p:ph type="title"/>
          </p:nvPr>
        </p:nvSpPr>
        <p:spPr/>
        <p:txBody>
          <a:bodyPr/>
          <a:lstStyle/>
          <a:p>
            <a:r>
              <a:rPr lang="en-US" dirty="0"/>
              <a:t>Experiment 2</a:t>
            </a:r>
          </a:p>
        </p:txBody>
      </p:sp>
      <p:sp>
        <p:nvSpPr>
          <p:cNvPr id="3" name="Text Placeholder 2">
            <a:extLst>
              <a:ext uri="{FF2B5EF4-FFF2-40B4-BE49-F238E27FC236}">
                <a16:creationId xmlns:a16="http://schemas.microsoft.com/office/drawing/2014/main" id="{F23AEE9B-EB99-B506-641B-50FAEAA68DB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37403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7C134-EAA3-0720-1FAC-CFF96B71A95E}"/>
              </a:ext>
            </a:extLst>
          </p:cNvPr>
          <p:cNvSpPr>
            <a:spLocks noGrp="1"/>
          </p:cNvSpPr>
          <p:nvPr>
            <p:ph type="title"/>
          </p:nvPr>
        </p:nvSpPr>
        <p:spPr/>
        <p:txBody>
          <a:bodyPr/>
          <a:lstStyle/>
          <a:p>
            <a:r>
              <a:rPr lang="en-US" dirty="0"/>
              <a:t>Experiment 2</a:t>
            </a:r>
          </a:p>
        </p:txBody>
      </p:sp>
      <p:sp>
        <p:nvSpPr>
          <p:cNvPr id="3" name="Content Placeholder 2">
            <a:extLst>
              <a:ext uri="{FF2B5EF4-FFF2-40B4-BE49-F238E27FC236}">
                <a16:creationId xmlns:a16="http://schemas.microsoft.com/office/drawing/2014/main" id="{F40B3716-F6C3-B5C2-8A9A-6CB023E58644}"/>
              </a:ext>
            </a:extLst>
          </p:cNvPr>
          <p:cNvSpPr>
            <a:spLocks noGrp="1"/>
          </p:cNvSpPr>
          <p:nvPr>
            <p:ph idx="1"/>
          </p:nvPr>
        </p:nvSpPr>
        <p:spPr/>
        <p:txBody>
          <a:bodyPr>
            <a:normAutofit lnSpcReduction="10000"/>
          </a:bodyPr>
          <a:lstStyle/>
          <a:p>
            <a:r>
              <a:rPr lang="en-US" dirty="0"/>
              <a:t>Purpose: train listeners with linguistic diversity perceptual training and assess categorization gradiency and L2 discrimination sensitivity</a:t>
            </a:r>
          </a:p>
          <a:p>
            <a:r>
              <a:rPr lang="en-US" dirty="0"/>
              <a:t>Participants: L1 English monolinguals, naïve to Japanese</a:t>
            </a:r>
          </a:p>
          <a:p>
            <a:r>
              <a:rPr lang="en-US" dirty="0"/>
              <a:t>Stimuli: VAS stimuli, discrimination minimal pairs</a:t>
            </a:r>
          </a:p>
          <a:p>
            <a:r>
              <a:rPr lang="en-US" dirty="0"/>
              <a:t>Procedure: VAS pre/post, discrimination pre/post test, 30 minute discrimination training with feedback, two experimental groups of low/high linguistic diversity, linguistic diversity questionnaire</a:t>
            </a:r>
          </a:p>
          <a:p>
            <a:r>
              <a:rPr lang="en-US" dirty="0"/>
              <a:t>Data analysis: LTA for change in categorization, d-prime for discrimination, regression analysis</a:t>
            </a:r>
          </a:p>
        </p:txBody>
      </p:sp>
    </p:spTree>
    <p:extLst>
      <p:ext uri="{BB962C8B-B14F-4D97-AF65-F5344CB8AC3E}">
        <p14:creationId xmlns:p14="http://schemas.microsoft.com/office/powerpoint/2010/main" val="2678656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7C134-EAA3-0720-1FAC-CFF96B71A95E}"/>
              </a:ext>
            </a:extLst>
          </p:cNvPr>
          <p:cNvSpPr>
            <a:spLocks noGrp="1"/>
          </p:cNvSpPr>
          <p:nvPr>
            <p:ph type="title"/>
          </p:nvPr>
        </p:nvSpPr>
        <p:spPr/>
        <p:txBody>
          <a:bodyPr>
            <a:noAutofit/>
          </a:bodyPr>
          <a:lstStyle/>
          <a:p>
            <a:r>
              <a:rPr lang="en-US" sz="2800" dirty="0"/>
              <a:t>The goal of Experiment 2 is to train naïve listeners to learn Japanese length contrasts using a linguistic diversity perceptual training task and measure changes in categorization and L2 perception</a:t>
            </a:r>
          </a:p>
        </p:txBody>
      </p:sp>
      <p:pic>
        <p:nvPicPr>
          <p:cNvPr id="7" name="Graphic 6" descr="Group with solid fill">
            <a:extLst>
              <a:ext uri="{FF2B5EF4-FFF2-40B4-BE49-F238E27FC236}">
                <a16:creationId xmlns:a16="http://schemas.microsoft.com/office/drawing/2014/main" id="{3B57F734-A05D-996F-BAAD-42E7FFFC74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5427" y="1989731"/>
            <a:ext cx="914400" cy="914400"/>
          </a:xfrm>
          <a:prstGeom prst="rect">
            <a:avLst/>
          </a:prstGeom>
        </p:spPr>
      </p:pic>
      <p:sp>
        <p:nvSpPr>
          <p:cNvPr id="8" name="TextBox 7">
            <a:extLst>
              <a:ext uri="{FF2B5EF4-FFF2-40B4-BE49-F238E27FC236}">
                <a16:creationId xmlns:a16="http://schemas.microsoft.com/office/drawing/2014/main" id="{EFF73544-B898-89C6-2C39-9005860FC172}"/>
              </a:ext>
            </a:extLst>
          </p:cNvPr>
          <p:cNvSpPr txBox="1"/>
          <p:nvPr/>
        </p:nvSpPr>
        <p:spPr>
          <a:xfrm>
            <a:off x="2939825" y="2201547"/>
            <a:ext cx="7473008" cy="830997"/>
          </a:xfrm>
          <a:prstGeom prst="rect">
            <a:avLst/>
          </a:prstGeom>
          <a:noFill/>
        </p:spPr>
        <p:txBody>
          <a:bodyPr wrap="none" rtlCol="0">
            <a:spAutoFit/>
          </a:bodyPr>
          <a:lstStyle/>
          <a:p>
            <a:r>
              <a:rPr lang="en-US" sz="2400" dirty="0"/>
              <a:t>L1 English (functional) monolinguals, online population</a:t>
            </a:r>
          </a:p>
          <a:p>
            <a:r>
              <a:rPr lang="en-US" sz="2400" dirty="0"/>
              <a:t>Goal: 100 participants (50 per experimental group)</a:t>
            </a:r>
          </a:p>
        </p:txBody>
      </p:sp>
      <p:pic>
        <p:nvPicPr>
          <p:cNvPr id="9" name="Graphic 8" descr="Headphones with solid fill">
            <a:extLst>
              <a:ext uri="{FF2B5EF4-FFF2-40B4-BE49-F238E27FC236}">
                <a16:creationId xmlns:a16="http://schemas.microsoft.com/office/drawing/2014/main" id="{03377DAB-F268-26FB-7CEE-30153C23094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2075" y="3673719"/>
            <a:ext cx="914400" cy="914400"/>
          </a:xfrm>
          <a:prstGeom prst="rect">
            <a:avLst/>
          </a:prstGeom>
        </p:spPr>
      </p:pic>
      <p:sp>
        <p:nvSpPr>
          <p:cNvPr id="14" name="TextBox 13">
            <a:extLst>
              <a:ext uri="{FF2B5EF4-FFF2-40B4-BE49-F238E27FC236}">
                <a16:creationId xmlns:a16="http://schemas.microsoft.com/office/drawing/2014/main" id="{F1B23754-E6E7-4A52-E573-F6D7A9C56922}"/>
              </a:ext>
            </a:extLst>
          </p:cNvPr>
          <p:cNvSpPr txBox="1"/>
          <p:nvPr/>
        </p:nvSpPr>
        <p:spPr>
          <a:xfrm>
            <a:off x="701341" y="2786417"/>
            <a:ext cx="1383071" cy="369332"/>
          </a:xfrm>
          <a:prstGeom prst="rect">
            <a:avLst/>
          </a:prstGeom>
          <a:noFill/>
        </p:spPr>
        <p:txBody>
          <a:bodyPr wrap="none" rtlCol="0">
            <a:spAutoFit/>
          </a:bodyPr>
          <a:lstStyle/>
          <a:p>
            <a:r>
              <a:rPr lang="en-US" dirty="0"/>
              <a:t>Participants</a:t>
            </a:r>
          </a:p>
        </p:txBody>
      </p:sp>
      <p:sp>
        <p:nvSpPr>
          <p:cNvPr id="16" name="TextBox 15">
            <a:extLst>
              <a:ext uri="{FF2B5EF4-FFF2-40B4-BE49-F238E27FC236}">
                <a16:creationId xmlns:a16="http://schemas.microsoft.com/office/drawing/2014/main" id="{2A11EC80-3744-BCB6-87DA-53820417AB42}"/>
              </a:ext>
            </a:extLst>
          </p:cNvPr>
          <p:cNvSpPr txBox="1"/>
          <p:nvPr/>
        </p:nvSpPr>
        <p:spPr>
          <a:xfrm>
            <a:off x="955427" y="4578081"/>
            <a:ext cx="883575" cy="369332"/>
          </a:xfrm>
          <a:prstGeom prst="rect">
            <a:avLst/>
          </a:prstGeom>
          <a:noFill/>
        </p:spPr>
        <p:txBody>
          <a:bodyPr wrap="none" rtlCol="0">
            <a:spAutoFit/>
          </a:bodyPr>
          <a:lstStyle/>
          <a:p>
            <a:r>
              <a:rPr lang="en-US" dirty="0"/>
              <a:t>Stimuli</a:t>
            </a:r>
          </a:p>
        </p:txBody>
      </p:sp>
      <p:sp>
        <p:nvSpPr>
          <p:cNvPr id="20" name="TextBox 19">
            <a:extLst>
              <a:ext uri="{FF2B5EF4-FFF2-40B4-BE49-F238E27FC236}">
                <a16:creationId xmlns:a16="http://schemas.microsoft.com/office/drawing/2014/main" id="{1FFC3536-DAFD-4251-8B91-FC2AFD4EFE1E}"/>
              </a:ext>
            </a:extLst>
          </p:cNvPr>
          <p:cNvSpPr txBox="1"/>
          <p:nvPr/>
        </p:nvSpPr>
        <p:spPr>
          <a:xfrm>
            <a:off x="2939825" y="3448878"/>
            <a:ext cx="8793052" cy="3477875"/>
          </a:xfrm>
          <a:prstGeom prst="rect">
            <a:avLst/>
          </a:prstGeom>
          <a:noFill/>
        </p:spPr>
        <p:txBody>
          <a:bodyPr wrap="square" rtlCol="0">
            <a:spAutoFit/>
          </a:bodyPr>
          <a:lstStyle/>
          <a:p>
            <a:r>
              <a:rPr lang="en-US" sz="2000" dirty="0"/>
              <a:t>L1 and L2 1-dimensional VAS continua (7 steps)</a:t>
            </a:r>
          </a:p>
          <a:p>
            <a:endParaRPr lang="en-US" sz="2000" dirty="0"/>
          </a:p>
          <a:p>
            <a:r>
              <a:rPr lang="en-US" sz="2000" dirty="0"/>
              <a:t>Discrimination training minimal pairs: Japanese and Arabic, spoken by 2* speakers for each language, 18 pairs for each language (36 words)</a:t>
            </a:r>
          </a:p>
          <a:p>
            <a:r>
              <a:rPr lang="en-US" sz="2000" dirty="0"/>
              <a:t>Vowels: /a, aa, </a:t>
            </a:r>
            <a:r>
              <a:rPr lang="en-US" sz="2000" dirty="0" err="1"/>
              <a:t>i</a:t>
            </a:r>
            <a:r>
              <a:rPr lang="en-US" sz="2000" dirty="0"/>
              <a:t>, ii, u, </a:t>
            </a:r>
            <a:r>
              <a:rPr lang="en-US" sz="2000" dirty="0" err="1"/>
              <a:t>uu</a:t>
            </a:r>
            <a:r>
              <a:rPr lang="en-US" sz="2000" dirty="0"/>
              <a:t>/ - 6 pairs</a:t>
            </a:r>
          </a:p>
          <a:p>
            <a:r>
              <a:rPr lang="en-US" sz="2000" dirty="0"/>
              <a:t>Consonants: /t, </a:t>
            </a:r>
            <a:r>
              <a:rPr lang="en-US" sz="2000" dirty="0" err="1"/>
              <a:t>tt</a:t>
            </a:r>
            <a:r>
              <a:rPr lang="en-US" sz="2000" dirty="0"/>
              <a:t>, k, kk, s, ss, </a:t>
            </a:r>
            <a:r>
              <a:rPr lang="en-US" sz="2000" dirty="0" err="1"/>
              <a:t>sh</a:t>
            </a:r>
            <a:r>
              <a:rPr lang="en-US" sz="2000" dirty="0"/>
              <a:t>, ssh/ - 12 pairs</a:t>
            </a:r>
          </a:p>
          <a:p>
            <a:endParaRPr lang="en-US" sz="2000" dirty="0"/>
          </a:p>
          <a:p>
            <a:r>
              <a:rPr lang="en-US" sz="2000" dirty="0"/>
              <a:t>Discrimination testing minimal pairs: Japanese only, spoken by the same 2 speakers, 27 additional minimal pairs (54 words)</a:t>
            </a:r>
          </a:p>
          <a:p>
            <a:r>
              <a:rPr lang="en-US" sz="2000" dirty="0"/>
              <a:t>Vowels: /a, aa, </a:t>
            </a:r>
            <a:r>
              <a:rPr lang="en-US" sz="2000" dirty="0" err="1"/>
              <a:t>i</a:t>
            </a:r>
            <a:r>
              <a:rPr lang="en-US" sz="2000" dirty="0"/>
              <a:t>, ii, u, </a:t>
            </a:r>
            <a:r>
              <a:rPr lang="en-US" sz="2000" dirty="0" err="1"/>
              <a:t>uu</a:t>
            </a:r>
            <a:r>
              <a:rPr lang="en-US" sz="2000" dirty="0"/>
              <a:t>, o, </a:t>
            </a:r>
            <a:r>
              <a:rPr lang="en-US" sz="2000" dirty="0" err="1"/>
              <a:t>oo</a:t>
            </a:r>
            <a:r>
              <a:rPr lang="en-US" sz="2000" dirty="0"/>
              <a:t>, e, </a:t>
            </a:r>
            <a:r>
              <a:rPr lang="en-US" sz="2000" dirty="0" err="1"/>
              <a:t>ee</a:t>
            </a:r>
            <a:r>
              <a:rPr lang="en-US" sz="2000" dirty="0"/>
              <a:t>/ - 15 pairs</a:t>
            </a:r>
          </a:p>
          <a:p>
            <a:r>
              <a:rPr lang="en-US" sz="2000" dirty="0"/>
              <a:t>Consonants: /t, </a:t>
            </a:r>
            <a:r>
              <a:rPr lang="en-US" sz="2000" dirty="0" err="1"/>
              <a:t>tt</a:t>
            </a:r>
            <a:r>
              <a:rPr lang="en-US" sz="2000" dirty="0"/>
              <a:t>, k, kk, s, ss, </a:t>
            </a:r>
            <a:r>
              <a:rPr lang="en-US" sz="2000" dirty="0" err="1"/>
              <a:t>ɕ</a:t>
            </a:r>
            <a:r>
              <a:rPr lang="en-US" sz="2000" dirty="0"/>
              <a:t>, </a:t>
            </a:r>
            <a:r>
              <a:rPr lang="en-US" sz="2000" dirty="0" err="1"/>
              <a:t>ɕɕ</a:t>
            </a:r>
            <a:r>
              <a:rPr lang="en-US" sz="2000" dirty="0"/>
              <a:t>, </a:t>
            </a:r>
            <a:r>
              <a:rPr lang="en-US" sz="2000" dirty="0" err="1"/>
              <a:t>tɕ</a:t>
            </a:r>
            <a:r>
              <a:rPr lang="en-US" sz="2000" dirty="0"/>
              <a:t>, </a:t>
            </a:r>
            <a:r>
              <a:rPr lang="en-US" sz="2000" dirty="0" err="1"/>
              <a:t>ttɕ</a:t>
            </a:r>
            <a:r>
              <a:rPr lang="en-US" sz="2000" dirty="0"/>
              <a:t>, n, </a:t>
            </a:r>
            <a:r>
              <a:rPr lang="en-US" sz="2000" dirty="0" err="1"/>
              <a:t>nn</a:t>
            </a:r>
            <a:r>
              <a:rPr lang="en-US" sz="2000" dirty="0"/>
              <a:t>/  - 12 pairs</a:t>
            </a:r>
          </a:p>
        </p:txBody>
      </p:sp>
      <p:cxnSp>
        <p:nvCxnSpPr>
          <p:cNvPr id="42" name="Straight Connector 41">
            <a:extLst>
              <a:ext uri="{FF2B5EF4-FFF2-40B4-BE49-F238E27FC236}">
                <a16:creationId xmlns:a16="http://schemas.microsoft.com/office/drawing/2014/main" id="{4F72F777-0BBC-9308-23B8-FB9B3BB6BC29}"/>
              </a:ext>
            </a:extLst>
          </p:cNvPr>
          <p:cNvCxnSpPr/>
          <p:nvPr/>
        </p:nvCxnSpPr>
        <p:spPr>
          <a:xfrm>
            <a:off x="395731" y="1863585"/>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7453A6B0-0133-4A13-C220-E65D6A791048}"/>
              </a:ext>
            </a:extLst>
          </p:cNvPr>
          <p:cNvCxnSpPr/>
          <p:nvPr/>
        </p:nvCxnSpPr>
        <p:spPr>
          <a:xfrm>
            <a:off x="397127" y="3409122"/>
            <a:ext cx="1133714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3503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7C134-EAA3-0720-1FAC-CFF96B71A95E}"/>
              </a:ext>
            </a:extLst>
          </p:cNvPr>
          <p:cNvSpPr>
            <a:spLocks noGrp="1"/>
          </p:cNvSpPr>
          <p:nvPr>
            <p:ph type="title"/>
          </p:nvPr>
        </p:nvSpPr>
        <p:spPr/>
        <p:txBody>
          <a:bodyPr>
            <a:noAutofit/>
          </a:bodyPr>
          <a:lstStyle/>
          <a:p>
            <a:r>
              <a:rPr lang="en-US" sz="2800" dirty="0"/>
              <a:t>The goal of Experiment 2 is to train naïve listeners to learn Japanese length contrasts using a linguistic diversity perceptual training task and measure changes in categorization gradiency and L2 perception</a:t>
            </a:r>
          </a:p>
        </p:txBody>
      </p:sp>
      <p:pic>
        <p:nvPicPr>
          <p:cNvPr id="10" name="Graphic 9" descr="Browser window with solid fill">
            <a:extLst>
              <a:ext uri="{FF2B5EF4-FFF2-40B4-BE49-F238E27FC236}">
                <a16:creationId xmlns:a16="http://schemas.microsoft.com/office/drawing/2014/main" id="{4699E539-579C-5019-5B13-BD14FB121A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0441" y="2395119"/>
            <a:ext cx="914400" cy="914400"/>
          </a:xfrm>
          <a:prstGeom prst="rect">
            <a:avLst/>
          </a:prstGeom>
        </p:spPr>
      </p:pic>
      <p:pic>
        <p:nvPicPr>
          <p:cNvPr id="11" name="Graphic 10" descr="Swipe Gesture with solid fill">
            <a:extLst>
              <a:ext uri="{FF2B5EF4-FFF2-40B4-BE49-F238E27FC236}">
                <a16:creationId xmlns:a16="http://schemas.microsoft.com/office/drawing/2014/main" id="{CF333374-6007-42F5-0021-7435CFD127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85656" y="2417451"/>
            <a:ext cx="914400" cy="914400"/>
          </a:xfrm>
          <a:prstGeom prst="rect">
            <a:avLst/>
          </a:prstGeom>
        </p:spPr>
      </p:pic>
      <p:pic>
        <p:nvPicPr>
          <p:cNvPr id="12" name="Graphic 11" descr="Clipboard with solid fill">
            <a:extLst>
              <a:ext uri="{FF2B5EF4-FFF2-40B4-BE49-F238E27FC236}">
                <a16:creationId xmlns:a16="http://schemas.microsoft.com/office/drawing/2014/main" id="{89E24687-CF3D-E7BE-C277-D5273FE3D4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90181" y="2417048"/>
            <a:ext cx="914400" cy="914400"/>
          </a:xfrm>
          <a:prstGeom prst="rect">
            <a:avLst/>
          </a:prstGeom>
        </p:spPr>
      </p:pic>
      <p:pic>
        <p:nvPicPr>
          <p:cNvPr id="13" name="Graphic 12" descr="Scatterplot with solid fill">
            <a:extLst>
              <a:ext uri="{FF2B5EF4-FFF2-40B4-BE49-F238E27FC236}">
                <a16:creationId xmlns:a16="http://schemas.microsoft.com/office/drawing/2014/main" id="{AB881B79-0A9E-DF73-F5C3-8921AFA464E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0441" y="5591365"/>
            <a:ext cx="914400" cy="914400"/>
          </a:xfrm>
          <a:prstGeom prst="rect">
            <a:avLst/>
          </a:prstGeom>
        </p:spPr>
      </p:pic>
      <p:sp>
        <p:nvSpPr>
          <p:cNvPr id="15" name="TextBox 14">
            <a:extLst>
              <a:ext uri="{FF2B5EF4-FFF2-40B4-BE49-F238E27FC236}">
                <a16:creationId xmlns:a16="http://schemas.microsoft.com/office/drawing/2014/main" id="{9ACCB141-2724-468A-66E3-65B5AC74E217}"/>
              </a:ext>
            </a:extLst>
          </p:cNvPr>
          <p:cNvSpPr txBox="1"/>
          <p:nvPr/>
        </p:nvSpPr>
        <p:spPr>
          <a:xfrm>
            <a:off x="1050232" y="3170138"/>
            <a:ext cx="734817" cy="369332"/>
          </a:xfrm>
          <a:prstGeom prst="rect">
            <a:avLst/>
          </a:prstGeom>
          <a:noFill/>
        </p:spPr>
        <p:txBody>
          <a:bodyPr wrap="none" rtlCol="0">
            <a:spAutoFit/>
          </a:bodyPr>
          <a:lstStyle/>
          <a:p>
            <a:r>
              <a:rPr lang="en-US" dirty="0"/>
              <a:t>Tasks</a:t>
            </a:r>
          </a:p>
        </p:txBody>
      </p:sp>
      <p:sp>
        <p:nvSpPr>
          <p:cNvPr id="17" name="TextBox 16">
            <a:extLst>
              <a:ext uri="{FF2B5EF4-FFF2-40B4-BE49-F238E27FC236}">
                <a16:creationId xmlns:a16="http://schemas.microsoft.com/office/drawing/2014/main" id="{742DDDBF-F40F-D9CB-44F4-BCA41201BC40}"/>
              </a:ext>
            </a:extLst>
          </p:cNvPr>
          <p:cNvSpPr txBox="1"/>
          <p:nvPr/>
        </p:nvSpPr>
        <p:spPr>
          <a:xfrm>
            <a:off x="877942" y="6432268"/>
            <a:ext cx="1079398" cy="369332"/>
          </a:xfrm>
          <a:prstGeom prst="rect">
            <a:avLst/>
          </a:prstGeom>
          <a:noFill/>
        </p:spPr>
        <p:txBody>
          <a:bodyPr wrap="none" rtlCol="0">
            <a:spAutoFit/>
          </a:bodyPr>
          <a:lstStyle/>
          <a:p>
            <a:r>
              <a:rPr lang="en-US" dirty="0"/>
              <a:t>Analyses</a:t>
            </a:r>
          </a:p>
        </p:txBody>
      </p:sp>
      <p:sp>
        <p:nvSpPr>
          <p:cNvPr id="18" name="TextBox 17">
            <a:extLst>
              <a:ext uri="{FF2B5EF4-FFF2-40B4-BE49-F238E27FC236}">
                <a16:creationId xmlns:a16="http://schemas.microsoft.com/office/drawing/2014/main" id="{1F852D81-A032-D316-F392-016FCD34577A}"/>
              </a:ext>
            </a:extLst>
          </p:cNvPr>
          <p:cNvSpPr txBox="1"/>
          <p:nvPr/>
        </p:nvSpPr>
        <p:spPr>
          <a:xfrm>
            <a:off x="3400056" y="2646581"/>
            <a:ext cx="2040302" cy="461665"/>
          </a:xfrm>
          <a:prstGeom prst="rect">
            <a:avLst/>
          </a:prstGeom>
          <a:noFill/>
        </p:spPr>
        <p:txBody>
          <a:bodyPr wrap="none" rtlCol="0">
            <a:spAutoFit/>
          </a:bodyPr>
          <a:lstStyle/>
          <a:p>
            <a:r>
              <a:rPr lang="en-US" sz="2400" dirty="0"/>
              <a:t>L1 and L2 VAS</a:t>
            </a:r>
          </a:p>
        </p:txBody>
      </p:sp>
      <p:sp>
        <p:nvSpPr>
          <p:cNvPr id="19" name="TextBox 18">
            <a:extLst>
              <a:ext uri="{FF2B5EF4-FFF2-40B4-BE49-F238E27FC236}">
                <a16:creationId xmlns:a16="http://schemas.microsoft.com/office/drawing/2014/main" id="{B94B8525-454B-2093-F7D3-9A18F95F7176}"/>
              </a:ext>
            </a:extLst>
          </p:cNvPr>
          <p:cNvSpPr txBox="1"/>
          <p:nvPr/>
        </p:nvSpPr>
        <p:spPr>
          <a:xfrm>
            <a:off x="8704581" y="2646581"/>
            <a:ext cx="1125902" cy="461665"/>
          </a:xfrm>
          <a:prstGeom prst="rect">
            <a:avLst/>
          </a:prstGeom>
          <a:noFill/>
        </p:spPr>
        <p:txBody>
          <a:bodyPr wrap="square" rtlCol="0">
            <a:spAutoFit/>
          </a:bodyPr>
          <a:lstStyle/>
          <a:p>
            <a:r>
              <a:rPr lang="en-US" sz="2400" dirty="0"/>
              <a:t>LD-Q</a:t>
            </a:r>
          </a:p>
        </p:txBody>
      </p:sp>
      <p:sp>
        <p:nvSpPr>
          <p:cNvPr id="21" name="TextBox 20">
            <a:extLst>
              <a:ext uri="{FF2B5EF4-FFF2-40B4-BE49-F238E27FC236}">
                <a16:creationId xmlns:a16="http://schemas.microsoft.com/office/drawing/2014/main" id="{FD5A18A1-7667-69F7-9FE7-3E308B19C1A9}"/>
              </a:ext>
            </a:extLst>
          </p:cNvPr>
          <p:cNvSpPr txBox="1"/>
          <p:nvPr/>
        </p:nvSpPr>
        <p:spPr>
          <a:xfrm>
            <a:off x="2485656" y="5591365"/>
            <a:ext cx="8459695" cy="1200329"/>
          </a:xfrm>
          <a:prstGeom prst="rect">
            <a:avLst/>
          </a:prstGeom>
          <a:noFill/>
        </p:spPr>
        <p:txBody>
          <a:bodyPr wrap="square" rtlCol="0">
            <a:spAutoFit/>
          </a:bodyPr>
          <a:lstStyle/>
          <a:p>
            <a:r>
              <a:rPr lang="en-US" sz="2400" dirty="0"/>
              <a:t>Regression analyses: Latent transition analysis (LTA) to track changes in categorization gradiency and d-prime/RT to measure perceptual discrimination sensitivity</a:t>
            </a:r>
          </a:p>
        </p:txBody>
      </p:sp>
      <p:sp>
        <p:nvSpPr>
          <p:cNvPr id="4" name="TextBox 3">
            <a:extLst>
              <a:ext uri="{FF2B5EF4-FFF2-40B4-BE49-F238E27FC236}">
                <a16:creationId xmlns:a16="http://schemas.microsoft.com/office/drawing/2014/main" id="{DDCD119E-BA8E-72C8-F3A8-E1EDC1A381E9}"/>
              </a:ext>
            </a:extLst>
          </p:cNvPr>
          <p:cNvSpPr txBox="1"/>
          <p:nvPr/>
        </p:nvSpPr>
        <p:spPr>
          <a:xfrm>
            <a:off x="3400057" y="4099833"/>
            <a:ext cx="4209160" cy="830997"/>
          </a:xfrm>
          <a:prstGeom prst="rect">
            <a:avLst/>
          </a:prstGeom>
          <a:noFill/>
        </p:spPr>
        <p:txBody>
          <a:bodyPr wrap="square" rtlCol="0">
            <a:spAutoFit/>
          </a:bodyPr>
          <a:lstStyle/>
          <a:p>
            <a:r>
              <a:rPr lang="en-US" sz="2400" dirty="0"/>
              <a:t>Linguistic diversity perceptual discrimination training</a:t>
            </a:r>
          </a:p>
        </p:txBody>
      </p:sp>
      <p:pic>
        <p:nvPicPr>
          <p:cNvPr id="27" name="Graphic 26" descr="Ear with solid fill">
            <a:extLst>
              <a:ext uri="{FF2B5EF4-FFF2-40B4-BE49-F238E27FC236}">
                <a16:creationId xmlns:a16="http://schemas.microsoft.com/office/drawing/2014/main" id="{4162A09A-6C2B-BA8C-A3F8-D8AB3B4D969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790182" y="4026179"/>
            <a:ext cx="914400" cy="914400"/>
          </a:xfrm>
          <a:prstGeom prst="rect">
            <a:avLst/>
          </a:prstGeom>
        </p:spPr>
      </p:pic>
      <p:sp>
        <p:nvSpPr>
          <p:cNvPr id="33" name="TextBox 32">
            <a:extLst>
              <a:ext uri="{FF2B5EF4-FFF2-40B4-BE49-F238E27FC236}">
                <a16:creationId xmlns:a16="http://schemas.microsoft.com/office/drawing/2014/main" id="{A237359D-447E-A173-D0AD-847216AECFF9}"/>
              </a:ext>
            </a:extLst>
          </p:cNvPr>
          <p:cNvSpPr txBox="1"/>
          <p:nvPr/>
        </p:nvSpPr>
        <p:spPr>
          <a:xfrm>
            <a:off x="8704581" y="4099832"/>
            <a:ext cx="3056365" cy="830997"/>
          </a:xfrm>
          <a:prstGeom prst="rect">
            <a:avLst/>
          </a:prstGeom>
          <a:noFill/>
        </p:spPr>
        <p:txBody>
          <a:bodyPr wrap="square" rtlCol="0">
            <a:spAutoFit/>
          </a:bodyPr>
          <a:lstStyle/>
          <a:p>
            <a:r>
              <a:rPr lang="en-US" sz="2400" dirty="0"/>
              <a:t>Perceptual discrimination testing</a:t>
            </a:r>
          </a:p>
        </p:txBody>
      </p:sp>
      <p:pic>
        <p:nvPicPr>
          <p:cNvPr id="37" name="Graphic 36" descr="Chat with solid fill">
            <a:extLst>
              <a:ext uri="{FF2B5EF4-FFF2-40B4-BE49-F238E27FC236}">
                <a16:creationId xmlns:a16="http://schemas.microsoft.com/office/drawing/2014/main" id="{15BEC665-5BDF-41D9-E073-B2B65E715ED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485657" y="4058130"/>
            <a:ext cx="914400" cy="914400"/>
          </a:xfrm>
          <a:prstGeom prst="rect">
            <a:avLst/>
          </a:prstGeom>
        </p:spPr>
      </p:pic>
    </p:spTree>
    <p:extLst>
      <p:ext uri="{BB962C8B-B14F-4D97-AF65-F5344CB8AC3E}">
        <p14:creationId xmlns:p14="http://schemas.microsoft.com/office/powerpoint/2010/main" val="192435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1" grpId="0"/>
      <p:bldP spid="4" grpId="0"/>
      <p:bldP spid="3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76A71-1813-EA2D-5714-856CF9F5E050}"/>
              </a:ext>
            </a:extLst>
          </p:cNvPr>
          <p:cNvSpPr>
            <a:spLocks noGrp="1"/>
          </p:cNvSpPr>
          <p:nvPr>
            <p:ph type="title"/>
          </p:nvPr>
        </p:nvSpPr>
        <p:spPr/>
        <p:txBody>
          <a:bodyPr/>
          <a:lstStyle/>
          <a:p>
            <a:r>
              <a:rPr lang="en-US" dirty="0"/>
              <a:t>Experiment 2 is a two-day experiment expected to take ~2 hr total</a:t>
            </a:r>
          </a:p>
        </p:txBody>
      </p:sp>
      <p:pic>
        <p:nvPicPr>
          <p:cNvPr id="9" name="Graphic 8" descr="Swipe Gesture with solid fill">
            <a:extLst>
              <a:ext uri="{FF2B5EF4-FFF2-40B4-BE49-F238E27FC236}">
                <a16:creationId xmlns:a16="http://schemas.microsoft.com/office/drawing/2014/main" id="{22E04D9D-FFFD-6C93-FD05-53D567BE71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99912" y="3000060"/>
            <a:ext cx="914400" cy="914400"/>
          </a:xfrm>
          <a:prstGeom prst="rect">
            <a:avLst/>
          </a:prstGeom>
        </p:spPr>
      </p:pic>
      <p:pic>
        <p:nvPicPr>
          <p:cNvPr id="10" name="Graphic 9" descr="Clipboard with solid fill">
            <a:extLst>
              <a:ext uri="{FF2B5EF4-FFF2-40B4-BE49-F238E27FC236}">
                <a16:creationId xmlns:a16="http://schemas.microsoft.com/office/drawing/2014/main" id="{B5089F72-2F69-8E71-E572-7D56AFE583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78272" y="5543229"/>
            <a:ext cx="914400" cy="914400"/>
          </a:xfrm>
          <a:prstGeom prst="rect">
            <a:avLst/>
          </a:prstGeom>
        </p:spPr>
      </p:pic>
      <p:sp>
        <p:nvSpPr>
          <p:cNvPr id="12" name="TextBox 11">
            <a:extLst>
              <a:ext uri="{FF2B5EF4-FFF2-40B4-BE49-F238E27FC236}">
                <a16:creationId xmlns:a16="http://schemas.microsoft.com/office/drawing/2014/main" id="{E01F63C0-9102-FB3C-B116-35B9EFA372E8}"/>
              </a:ext>
            </a:extLst>
          </p:cNvPr>
          <p:cNvSpPr txBox="1"/>
          <p:nvPr/>
        </p:nvSpPr>
        <p:spPr>
          <a:xfrm>
            <a:off x="8837579" y="4993212"/>
            <a:ext cx="995785" cy="523220"/>
          </a:xfrm>
          <a:prstGeom prst="rect">
            <a:avLst/>
          </a:prstGeom>
          <a:noFill/>
        </p:spPr>
        <p:txBody>
          <a:bodyPr wrap="none" rtlCol="0">
            <a:spAutoFit/>
          </a:bodyPr>
          <a:lstStyle/>
          <a:p>
            <a:r>
              <a:rPr lang="en-US" sz="2800" dirty="0"/>
              <a:t>LD-Q</a:t>
            </a:r>
          </a:p>
        </p:txBody>
      </p:sp>
      <p:cxnSp>
        <p:nvCxnSpPr>
          <p:cNvPr id="19" name="Straight Arrow Connector 18">
            <a:extLst>
              <a:ext uri="{FF2B5EF4-FFF2-40B4-BE49-F238E27FC236}">
                <a16:creationId xmlns:a16="http://schemas.microsoft.com/office/drawing/2014/main" id="{6692AF99-E894-9222-5BC0-3D15D1F703AE}"/>
              </a:ext>
            </a:extLst>
          </p:cNvPr>
          <p:cNvCxnSpPr>
            <a:cxnSpLocks/>
          </p:cNvCxnSpPr>
          <p:nvPr/>
        </p:nvCxnSpPr>
        <p:spPr>
          <a:xfrm>
            <a:off x="3432923" y="3296102"/>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AA1621BB-6626-45DF-78C5-15944DF9847B}"/>
              </a:ext>
            </a:extLst>
          </p:cNvPr>
          <p:cNvSpPr txBox="1"/>
          <p:nvPr/>
        </p:nvSpPr>
        <p:spPr>
          <a:xfrm>
            <a:off x="1526199" y="2050171"/>
            <a:ext cx="2042610" cy="954107"/>
          </a:xfrm>
          <a:prstGeom prst="rect">
            <a:avLst/>
          </a:prstGeom>
          <a:noFill/>
        </p:spPr>
        <p:txBody>
          <a:bodyPr wrap="none" rtlCol="0">
            <a:spAutoFit/>
          </a:bodyPr>
          <a:lstStyle/>
          <a:p>
            <a:pPr algn="ctr"/>
            <a:r>
              <a:rPr lang="en-US" sz="2800" dirty="0"/>
              <a:t>Pre-training </a:t>
            </a:r>
          </a:p>
          <a:p>
            <a:pPr algn="ctr"/>
            <a:r>
              <a:rPr lang="en-US" sz="2800" dirty="0"/>
              <a:t>VAS</a:t>
            </a:r>
          </a:p>
        </p:txBody>
      </p:sp>
      <p:sp>
        <p:nvSpPr>
          <p:cNvPr id="6" name="TextBox 5">
            <a:extLst>
              <a:ext uri="{FF2B5EF4-FFF2-40B4-BE49-F238E27FC236}">
                <a16:creationId xmlns:a16="http://schemas.microsoft.com/office/drawing/2014/main" id="{67FF5569-53E5-0A0F-DD31-5C98D7359414}"/>
              </a:ext>
            </a:extLst>
          </p:cNvPr>
          <p:cNvSpPr txBox="1"/>
          <p:nvPr/>
        </p:nvSpPr>
        <p:spPr>
          <a:xfrm rot="16200000">
            <a:off x="-190126" y="2842418"/>
            <a:ext cx="1049646" cy="523220"/>
          </a:xfrm>
          <a:prstGeom prst="rect">
            <a:avLst/>
          </a:prstGeom>
          <a:noFill/>
        </p:spPr>
        <p:txBody>
          <a:bodyPr wrap="none" rtlCol="0">
            <a:spAutoFit/>
          </a:bodyPr>
          <a:lstStyle/>
          <a:p>
            <a:r>
              <a:rPr lang="en-US" sz="2800" dirty="0"/>
              <a:t>Day 1</a:t>
            </a:r>
          </a:p>
        </p:txBody>
      </p:sp>
      <p:sp>
        <p:nvSpPr>
          <p:cNvPr id="7" name="TextBox 6">
            <a:extLst>
              <a:ext uri="{FF2B5EF4-FFF2-40B4-BE49-F238E27FC236}">
                <a16:creationId xmlns:a16="http://schemas.microsoft.com/office/drawing/2014/main" id="{7A763679-A7E3-BF57-82E9-65B31668F781}"/>
              </a:ext>
            </a:extLst>
          </p:cNvPr>
          <p:cNvSpPr txBox="1"/>
          <p:nvPr/>
        </p:nvSpPr>
        <p:spPr>
          <a:xfrm rot="16200000">
            <a:off x="-179710" y="5370869"/>
            <a:ext cx="1049646" cy="523220"/>
          </a:xfrm>
          <a:prstGeom prst="rect">
            <a:avLst/>
          </a:prstGeom>
          <a:noFill/>
        </p:spPr>
        <p:txBody>
          <a:bodyPr wrap="none" rtlCol="0">
            <a:spAutoFit/>
          </a:bodyPr>
          <a:lstStyle/>
          <a:p>
            <a:r>
              <a:rPr lang="en-US" sz="2800" dirty="0"/>
              <a:t>Day 2</a:t>
            </a:r>
          </a:p>
        </p:txBody>
      </p:sp>
      <p:pic>
        <p:nvPicPr>
          <p:cNvPr id="8" name="Graphic 7" descr="Ear with solid fill">
            <a:extLst>
              <a:ext uri="{FF2B5EF4-FFF2-40B4-BE49-F238E27FC236}">
                <a16:creationId xmlns:a16="http://schemas.microsoft.com/office/drawing/2014/main" id="{8A3AD579-7018-C288-6AF9-AE084107470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97157" y="5473077"/>
            <a:ext cx="914400" cy="914400"/>
          </a:xfrm>
          <a:prstGeom prst="rect">
            <a:avLst/>
          </a:prstGeom>
        </p:spPr>
      </p:pic>
      <p:cxnSp>
        <p:nvCxnSpPr>
          <p:cNvPr id="18" name="Straight Arrow Connector 17">
            <a:extLst>
              <a:ext uri="{FF2B5EF4-FFF2-40B4-BE49-F238E27FC236}">
                <a16:creationId xmlns:a16="http://schemas.microsoft.com/office/drawing/2014/main" id="{3234C9E3-E3CB-D3C5-1CC2-06250C8F89AD}"/>
              </a:ext>
            </a:extLst>
          </p:cNvPr>
          <p:cNvCxnSpPr>
            <a:cxnSpLocks/>
          </p:cNvCxnSpPr>
          <p:nvPr/>
        </p:nvCxnSpPr>
        <p:spPr>
          <a:xfrm>
            <a:off x="6726088" y="3296102"/>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22" name="Graphic 21" descr="Chat with solid fill">
            <a:extLst>
              <a:ext uri="{FF2B5EF4-FFF2-40B4-BE49-F238E27FC236}">
                <a16:creationId xmlns:a16="http://schemas.microsoft.com/office/drawing/2014/main" id="{ECBB88E5-9159-A737-5B65-491650A3BC0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90782" y="2883977"/>
            <a:ext cx="914400" cy="914400"/>
          </a:xfrm>
          <a:prstGeom prst="rect">
            <a:avLst/>
          </a:prstGeom>
        </p:spPr>
      </p:pic>
      <p:cxnSp>
        <p:nvCxnSpPr>
          <p:cNvPr id="23" name="Straight Arrow Connector 22">
            <a:extLst>
              <a:ext uri="{FF2B5EF4-FFF2-40B4-BE49-F238E27FC236}">
                <a16:creationId xmlns:a16="http://schemas.microsoft.com/office/drawing/2014/main" id="{48BF1785-8E24-A286-F31D-873C541AC4EA}"/>
              </a:ext>
            </a:extLst>
          </p:cNvPr>
          <p:cNvCxnSpPr>
            <a:cxnSpLocks/>
          </p:cNvCxnSpPr>
          <p:nvPr/>
        </p:nvCxnSpPr>
        <p:spPr>
          <a:xfrm>
            <a:off x="10541837" y="3336787"/>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24" name="Graphic 23" descr="Ear with solid fill">
            <a:extLst>
              <a:ext uri="{FF2B5EF4-FFF2-40B4-BE49-F238E27FC236}">
                <a16:creationId xmlns:a16="http://schemas.microsoft.com/office/drawing/2014/main" id="{B409F680-63DD-1D48-8FEE-256A9CBEE7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33481" y="2879587"/>
            <a:ext cx="914400" cy="914400"/>
          </a:xfrm>
          <a:prstGeom prst="rect">
            <a:avLst/>
          </a:prstGeom>
        </p:spPr>
      </p:pic>
      <p:pic>
        <p:nvPicPr>
          <p:cNvPr id="25" name="Graphic 24" descr="Swipe Gesture with solid fill">
            <a:extLst>
              <a:ext uri="{FF2B5EF4-FFF2-40B4-BE49-F238E27FC236}">
                <a16:creationId xmlns:a16="http://schemas.microsoft.com/office/drawing/2014/main" id="{B11CFC29-3A6E-8B9E-86D1-13AF6FD0B0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4560" y="5543797"/>
            <a:ext cx="914400" cy="914400"/>
          </a:xfrm>
          <a:prstGeom prst="rect">
            <a:avLst/>
          </a:prstGeom>
        </p:spPr>
      </p:pic>
      <p:cxnSp>
        <p:nvCxnSpPr>
          <p:cNvPr id="26" name="Straight Arrow Connector 25">
            <a:extLst>
              <a:ext uri="{FF2B5EF4-FFF2-40B4-BE49-F238E27FC236}">
                <a16:creationId xmlns:a16="http://schemas.microsoft.com/office/drawing/2014/main" id="{0F74F5E5-B62B-A744-BECC-5FAFF1017DA6}"/>
              </a:ext>
            </a:extLst>
          </p:cNvPr>
          <p:cNvCxnSpPr>
            <a:cxnSpLocks/>
          </p:cNvCxnSpPr>
          <p:nvPr/>
        </p:nvCxnSpPr>
        <p:spPr>
          <a:xfrm>
            <a:off x="3468138" y="6000997"/>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4954BFB-2CA3-E9A0-8A5A-2C0CEB4C0176}"/>
              </a:ext>
            </a:extLst>
          </p:cNvPr>
          <p:cNvCxnSpPr>
            <a:cxnSpLocks/>
          </p:cNvCxnSpPr>
          <p:nvPr/>
        </p:nvCxnSpPr>
        <p:spPr>
          <a:xfrm>
            <a:off x="6761303" y="6000997"/>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EECD6746-5392-7C9F-3CF2-1E7031DB9D01}"/>
              </a:ext>
            </a:extLst>
          </p:cNvPr>
          <p:cNvSpPr txBox="1"/>
          <p:nvPr/>
        </p:nvSpPr>
        <p:spPr>
          <a:xfrm>
            <a:off x="4425180" y="2029517"/>
            <a:ext cx="2549000" cy="954107"/>
          </a:xfrm>
          <a:prstGeom prst="rect">
            <a:avLst/>
          </a:prstGeom>
          <a:noFill/>
        </p:spPr>
        <p:txBody>
          <a:bodyPr wrap="square" rtlCol="0">
            <a:spAutoFit/>
          </a:bodyPr>
          <a:lstStyle/>
          <a:p>
            <a:pPr algn="ctr"/>
            <a:r>
              <a:rPr lang="en-US" sz="2800" dirty="0"/>
              <a:t>Discrimination pre-test</a:t>
            </a:r>
          </a:p>
        </p:txBody>
      </p:sp>
      <p:sp>
        <p:nvSpPr>
          <p:cNvPr id="29" name="TextBox 28">
            <a:extLst>
              <a:ext uri="{FF2B5EF4-FFF2-40B4-BE49-F238E27FC236}">
                <a16:creationId xmlns:a16="http://schemas.microsoft.com/office/drawing/2014/main" id="{0B30B0D8-B25D-3EAC-6B82-A5D689AFE701}"/>
              </a:ext>
            </a:extLst>
          </p:cNvPr>
          <p:cNvSpPr txBox="1"/>
          <p:nvPr/>
        </p:nvSpPr>
        <p:spPr>
          <a:xfrm>
            <a:off x="1371268" y="4630603"/>
            <a:ext cx="2566178" cy="954107"/>
          </a:xfrm>
          <a:prstGeom prst="rect">
            <a:avLst/>
          </a:prstGeom>
          <a:noFill/>
        </p:spPr>
        <p:txBody>
          <a:bodyPr wrap="square" rtlCol="0">
            <a:spAutoFit/>
          </a:bodyPr>
          <a:lstStyle/>
          <a:p>
            <a:pPr algn="ctr"/>
            <a:r>
              <a:rPr lang="en-US" sz="2800" dirty="0"/>
              <a:t>Discrimination post-test</a:t>
            </a:r>
          </a:p>
        </p:txBody>
      </p:sp>
      <p:sp>
        <p:nvSpPr>
          <p:cNvPr id="30" name="TextBox 29">
            <a:extLst>
              <a:ext uri="{FF2B5EF4-FFF2-40B4-BE49-F238E27FC236}">
                <a16:creationId xmlns:a16="http://schemas.microsoft.com/office/drawing/2014/main" id="{CFBDC6EC-3D6D-7FB9-0928-D11C9D83982D}"/>
              </a:ext>
            </a:extLst>
          </p:cNvPr>
          <p:cNvSpPr txBox="1"/>
          <p:nvPr/>
        </p:nvSpPr>
        <p:spPr>
          <a:xfrm>
            <a:off x="4538251" y="4632430"/>
            <a:ext cx="2247018" cy="954107"/>
          </a:xfrm>
          <a:prstGeom prst="rect">
            <a:avLst/>
          </a:prstGeom>
          <a:noFill/>
        </p:spPr>
        <p:txBody>
          <a:bodyPr wrap="square" rtlCol="0">
            <a:spAutoFit/>
          </a:bodyPr>
          <a:lstStyle/>
          <a:p>
            <a:pPr algn="ctr"/>
            <a:r>
              <a:rPr lang="en-US" sz="2800" dirty="0"/>
              <a:t>Post-training VAS</a:t>
            </a:r>
          </a:p>
        </p:txBody>
      </p:sp>
      <p:sp>
        <p:nvSpPr>
          <p:cNvPr id="31" name="TextBox 30">
            <a:extLst>
              <a:ext uri="{FF2B5EF4-FFF2-40B4-BE49-F238E27FC236}">
                <a16:creationId xmlns:a16="http://schemas.microsoft.com/office/drawing/2014/main" id="{FD992896-9929-0A31-2BF0-63FC74D5BF38}"/>
              </a:ext>
            </a:extLst>
          </p:cNvPr>
          <p:cNvSpPr txBox="1"/>
          <p:nvPr/>
        </p:nvSpPr>
        <p:spPr>
          <a:xfrm>
            <a:off x="7753560" y="2003467"/>
            <a:ext cx="2549000" cy="954107"/>
          </a:xfrm>
          <a:prstGeom prst="rect">
            <a:avLst/>
          </a:prstGeom>
          <a:noFill/>
        </p:spPr>
        <p:txBody>
          <a:bodyPr wrap="square" rtlCol="0">
            <a:spAutoFit/>
          </a:bodyPr>
          <a:lstStyle/>
          <a:p>
            <a:pPr algn="ctr"/>
            <a:r>
              <a:rPr lang="en-US" sz="2800" dirty="0"/>
              <a:t>Discrimination training</a:t>
            </a:r>
          </a:p>
        </p:txBody>
      </p:sp>
      <p:sp>
        <p:nvSpPr>
          <p:cNvPr id="32" name="TextBox 31">
            <a:extLst>
              <a:ext uri="{FF2B5EF4-FFF2-40B4-BE49-F238E27FC236}">
                <a16:creationId xmlns:a16="http://schemas.microsoft.com/office/drawing/2014/main" id="{8A433F82-83D2-03B6-297C-09B4DA958640}"/>
              </a:ext>
            </a:extLst>
          </p:cNvPr>
          <p:cNvSpPr txBox="1"/>
          <p:nvPr/>
        </p:nvSpPr>
        <p:spPr>
          <a:xfrm>
            <a:off x="7185797" y="3716987"/>
            <a:ext cx="3737433" cy="923330"/>
          </a:xfrm>
          <a:prstGeom prst="rect">
            <a:avLst/>
          </a:prstGeom>
          <a:noFill/>
        </p:spPr>
        <p:txBody>
          <a:bodyPr wrap="none" rtlCol="0">
            <a:spAutoFit/>
          </a:bodyPr>
          <a:lstStyle/>
          <a:p>
            <a:pPr algn="ctr"/>
            <a:r>
              <a:rPr lang="en-US" dirty="0"/>
              <a:t>Low LD group: Japanese only</a:t>
            </a:r>
          </a:p>
          <a:p>
            <a:pPr algn="ctr"/>
            <a:r>
              <a:rPr lang="en-US" dirty="0"/>
              <a:t>High LD group: Japanese and Arabic</a:t>
            </a:r>
          </a:p>
          <a:p>
            <a:pPr algn="ctr"/>
            <a:r>
              <a:rPr lang="en-US" dirty="0"/>
              <a:t>288 total trials</a:t>
            </a:r>
          </a:p>
        </p:txBody>
      </p:sp>
      <p:cxnSp>
        <p:nvCxnSpPr>
          <p:cNvPr id="35" name="Straight Connector 34">
            <a:extLst>
              <a:ext uri="{FF2B5EF4-FFF2-40B4-BE49-F238E27FC236}">
                <a16:creationId xmlns:a16="http://schemas.microsoft.com/office/drawing/2014/main" id="{6F33AF36-C2C0-3323-0B10-E7B6EB4732BE}"/>
              </a:ext>
            </a:extLst>
          </p:cNvPr>
          <p:cNvCxnSpPr>
            <a:cxnSpLocks/>
          </p:cNvCxnSpPr>
          <p:nvPr/>
        </p:nvCxnSpPr>
        <p:spPr>
          <a:xfrm>
            <a:off x="395731" y="4623200"/>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AD31084-EE9F-CE31-1019-4C4FE55DDD74}"/>
              </a:ext>
            </a:extLst>
          </p:cNvPr>
          <p:cNvCxnSpPr/>
          <p:nvPr/>
        </p:nvCxnSpPr>
        <p:spPr>
          <a:xfrm>
            <a:off x="395731" y="1863585"/>
            <a:ext cx="11337146" cy="0"/>
          </a:xfrm>
          <a:prstGeom prst="line">
            <a:avLst/>
          </a:prstGeom>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A855E324-2038-07AE-62D9-779BDE7A7AD6}"/>
              </a:ext>
            </a:extLst>
          </p:cNvPr>
          <p:cNvSpPr txBox="1"/>
          <p:nvPr/>
        </p:nvSpPr>
        <p:spPr>
          <a:xfrm>
            <a:off x="1743662" y="4017297"/>
            <a:ext cx="1607684" cy="369332"/>
          </a:xfrm>
          <a:prstGeom prst="rect">
            <a:avLst/>
          </a:prstGeom>
          <a:noFill/>
        </p:spPr>
        <p:txBody>
          <a:bodyPr wrap="none" rtlCol="0">
            <a:spAutoFit/>
          </a:bodyPr>
          <a:lstStyle/>
          <a:p>
            <a:r>
              <a:rPr lang="en-US" dirty="0"/>
              <a:t>112 total trials</a:t>
            </a:r>
          </a:p>
        </p:txBody>
      </p:sp>
      <p:sp>
        <p:nvSpPr>
          <p:cNvPr id="41" name="TextBox 40">
            <a:extLst>
              <a:ext uri="{FF2B5EF4-FFF2-40B4-BE49-F238E27FC236}">
                <a16:creationId xmlns:a16="http://schemas.microsoft.com/office/drawing/2014/main" id="{1608BDA2-DE94-A998-E2F5-C966292D37DE}"/>
              </a:ext>
            </a:extLst>
          </p:cNvPr>
          <p:cNvSpPr txBox="1"/>
          <p:nvPr/>
        </p:nvSpPr>
        <p:spPr>
          <a:xfrm>
            <a:off x="4886839" y="6387477"/>
            <a:ext cx="1607684" cy="369332"/>
          </a:xfrm>
          <a:prstGeom prst="rect">
            <a:avLst/>
          </a:prstGeom>
          <a:noFill/>
        </p:spPr>
        <p:txBody>
          <a:bodyPr wrap="none" rtlCol="0">
            <a:spAutoFit/>
          </a:bodyPr>
          <a:lstStyle/>
          <a:p>
            <a:r>
              <a:rPr lang="en-US" dirty="0"/>
              <a:t>112 total trials</a:t>
            </a:r>
          </a:p>
        </p:txBody>
      </p:sp>
      <p:sp>
        <p:nvSpPr>
          <p:cNvPr id="42" name="TextBox 41">
            <a:extLst>
              <a:ext uri="{FF2B5EF4-FFF2-40B4-BE49-F238E27FC236}">
                <a16:creationId xmlns:a16="http://schemas.microsoft.com/office/drawing/2014/main" id="{713FFD34-AD23-201A-5CDC-1336987A704E}"/>
              </a:ext>
            </a:extLst>
          </p:cNvPr>
          <p:cNvSpPr txBox="1"/>
          <p:nvPr/>
        </p:nvSpPr>
        <p:spPr>
          <a:xfrm>
            <a:off x="4886839" y="4058730"/>
            <a:ext cx="1607684" cy="369332"/>
          </a:xfrm>
          <a:prstGeom prst="rect">
            <a:avLst/>
          </a:prstGeom>
          <a:noFill/>
        </p:spPr>
        <p:txBody>
          <a:bodyPr wrap="none" rtlCol="0">
            <a:spAutoFit/>
          </a:bodyPr>
          <a:lstStyle/>
          <a:p>
            <a:r>
              <a:rPr lang="en-US" dirty="0"/>
              <a:t>108 total trials</a:t>
            </a:r>
          </a:p>
        </p:txBody>
      </p:sp>
      <p:sp>
        <p:nvSpPr>
          <p:cNvPr id="43" name="TextBox 42">
            <a:extLst>
              <a:ext uri="{FF2B5EF4-FFF2-40B4-BE49-F238E27FC236}">
                <a16:creationId xmlns:a16="http://schemas.microsoft.com/office/drawing/2014/main" id="{FB28EA33-0741-1894-D56E-EBDD19A3B10C}"/>
              </a:ext>
            </a:extLst>
          </p:cNvPr>
          <p:cNvSpPr txBox="1"/>
          <p:nvPr/>
        </p:nvSpPr>
        <p:spPr>
          <a:xfrm>
            <a:off x="1753270" y="6387477"/>
            <a:ext cx="1607684" cy="369332"/>
          </a:xfrm>
          <a:prstGeom prst="rect">
            <a:avLst/>
          </a:prstGeom>
          <a:noFill/>
        </p:spPr>
        <p:txBody>
          <a:bodyPr wrap="none" rtlCol="0">
            <a:spAutoFit/>
          </a:bodyPr>
          <a:lstStyle/>
          <a:p>
            <a:r>
              <a:rPr lang="en-US" dirty="0"/>
              <a:t>108 total trials</a:t>
            </a:r>
          </a:p>
        </p:txBody>
      </p:sp>
    </p:spTree>
    <p:extLst>
      <p:ext uri="{BB962C8B-B14F-4D97-AF65-F5344CB8AC3E}">
        <p14:creationId xmlns:p14="http://schemas.microsoft.com/office/powerpoint/2010/main" val="166336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p:bldP spid="28" grpId="0"/>
      <p:bldP spid="29" grpId="0"/>
      <p:bldP spid="30" grpId="0"/>
      <p:bldP spid="31" grpId="0"/>
      <p:bldP spid="32" grpId="0"/>
      <p:bldP spid="40" grpId="0"/>
      <p:bldP spid="41" grpId="0"/>
      <p:bldP spid="42" grpId="0"/>
      <p:bldP spid="4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209CE-53CD-CB53-A825-CB5694A5F5FB}"/>
              </a:ext>
            </a:extLst>
          </p:cNvPr>
          <p:cNvSpPr>
            <a:spLocks noGrp="1"/>
          </p:cNvSpPr>
          <p:nvPr>
            <p:ph type="title"/>
          </p:nvPr>
        </p:nvSpPr>
        <p:spPr/>
        <p:txBody>
          <a:bodyPr/>
          <a:lstStyle/>
          <a:p>
            <a:r>
              <a:rPr lang="en-US" dirty="0"/>
              <a:t>Experiment 3</a:t>
            </a:r>
          </a:p>
        </p:txBody>
      </p:sp>
      <p:sp>
        <p:nvSpPr>
          <p:cNvPr id="3" name="Text Placeholder 2">
            <a:extLst>
              <a:ext uri="{FF2B5EF4-FFF2-40B4-BE49-F238E27FC236}">
                <a16:creationId xmlns:a16="http://schemas.microsoft.com/office/drawing/2014/main" id="{F23AEE9B-EB99-B506-641B-50FAEAA68DB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202243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04D3-BDA8-7386-5FDB-6A898B20FBC9}"/>
              </a:ext>
            </a:extLst>
          </p:cNvPr>
          <p:cNvSpPr>
            <a:spLocks noGrp="1"/>
          </p:cNvSpPr>
          <p:nvPr>
            <p:ph type="title"/>
          </p:nvPr>
        </p:nvSpPr>
        <p:spPr/>
        <p:txBody>
          <a:bodyPr/>
          <a:lstStyle/>
          <a:p>
            <a:r>
              <a:rPr lang="en-US" dirty="0"/>
              <a:t>Experiment 3</a:t>
            </a:r>
          </a:p>
        </p:txBody>
      </p:sp>
      <p:sp>
        <p:nvSpPr>
          <p:cNvPr id="3" name="Content Placeholder 2">
            <a:extLst>
              <a:ext uri="{FF2B5EF4-FFF2-40B4-BE49-F238E27FC236}">
                <a16:creationId xmlns:a16="http://schemas.microsoft.com/office/drawing/2014/main" id="{46E029C3-948A-C0CF-29CF-83C60B8241AE}"/>
              </a:ext>
            </a:extLst>
          </p:cNvPr>
          <p:cNvSpPr>
            <a:spLocks noGrp="1"/>
          </p:cNvSpPr>
          <p:nvPr>
            <p:ph idx="1"/>
          </p:nvPr>
        </p:nvSpPr>
        <p:spPr/>
        <p:txBody>
          <a:bodyPr>
            <a:normAutofit lnSpcReduction="10000"/>
          </a:bodyPr>
          <a:lstStyle/>
          <a:p>
            <a:r>
              <a:rPr lang="en-US" dirty="0"/>
              <a:t>Purpose: linguistic diversity perceptual training in addition to L2 Japanese classroom instruction</a:t>
            </a:r>
          </a:p>
          <a:p>
            <a:r>
              <a:rPr lang="en-US" dirty="0"/>
              <a:t>Participants: L2 Japanese classroom students</a:t>
            </a:r>
          </a:p>
          <a:p>
            <a:r>
              <a:rPr lang="en-US" dirty="0"/>
              <a:t>Stimuli: same as experiment 2</a:t>
            </a:r>
          </a:p>
          <a:p>
            <a:r>
              <a:rPr lang="en-US" dirty="0"/>
              <a:t>Procedure: mostly same as experiment 2, except 30 minute perceptual training sessions will repeat across 2-3 weeks, and will include control group of just classroom students, additionally dictation listening assessment pre/post test</a:t>
            </a:r>
          </a:p>
          <a:p>
            <a:r>
              <a:rPr lang="en-US" dirty="0"/>
              <a:t>Data analysis: accuracy for dictation listening assessment, then same as in Experiment 2</a:t>
            </a:r>
          </a:p>
        </p:txBody>
      </p:sp>
    </p:spTree>
    <p:extLst>
      <p:ext uri="{BB962C8B-B14F-4D97-AF65-F5344CB8AC3E}">
        <p14:creationId xmlns:p14="http://schemas.microsoft.com/office/powerpoint/2010/main" val="935366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7C134-EAA3-0720-1FAC-CFF96B71A95E}"/>
              </a:ext>
            </a:extLst>
          </p:cNvPr>
          <p:cNvSpPr>
            <a:spLocks noGrp="1"/>
          </p:cNvSpPr>
          <p:nvPr>
            <p:ph type="title"/>
          </p:nvPr>
        </p:nvSpPr>
        <p:spPr/>
        <p:txBody>
          <a:bodyPr>
            <a:noAutofit/>
          </a:bodyPr>
          <a:lstStyle/>
          <a:p>
            <a:r>
              <a:rPr lang="en-US" sz="2800" dirty="0"/>
              <a:t>The goal of Experiment 3 is to supplement L2 Japanese classroom instruction with linguistic diversity perceptual training and measure changes in categorization gradiency, L2 perception, and L2 listening</a:t>
            </a:r>
          </a:p>
        </p:txBody>
      </p:sp>
      <p:pic>
        <p:nvPicPr>
          <p:cNvPr id="7" name="Graphic 6" descr="Group with solid fill">
            <a:extLst>
              <a:ext uri="{FF2B5EF4-FFF2-40B4-BE49-F238E27FC236}">
                <a16:creationId xmlns:a16="http://schemas.microsoft.com/office/drawing/2014/main" id="{3B57F734-A05D-996F-BAAD-42E7FFFC74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5427" y="1833424"/>
            <a:ext cx="914400" cy="914400"/>
          </a:xfrm>
          <a:prstGeom prst="rect">
            <a:avLst/>
          </a:prstGeom>
        </p:spPr>
      </p:pic>
      <p:sp>
        <p:nvSpPr>
          <p:cNvPr id="8" name="TextBox 7">
            <a:extLst>
              <a:ext uri="{FF2B5EF4-FFF2-40B4-BE49-F238E27FC236}">
                <a16:creationId xmlns:a16="http://schemas.microsoft.com/office/drawing/2014/main" id="{EFF73544-B898-89C6-2C39-9005860FC172}"/>
              </a:ext>
            </a:extLst>
          </p:cNvPr>
          <p:cNvSpPr txBox="1"/>
          <p:nvPr/>
        </p:nvSpPr>
        <p:spPr>
          <a:xfrm>
            <a:off x="2939825" y="2045240"/>
            <a:ext cx="6827382" cy="830997"/>
          </a:xfrm>
          <a:prstGeom prst="rect">
            <a:avLst/>
          </a:prstGeom>
          <a:noFill/>
        </p:spPr>
        <p:txBody>
          <a:bodyPr wrap="none" rtlCol="0">
            <a:spAutoFit/>
          </a:bodyPr>
          <a:lstStyle/>
          <a:p>
            <a:r>
              <a:rPr lang="en-US" sz="2400" dirty="0"/>
              <a:t>L2 Japanese students, recruited from classrooms</a:t>
            </a:r>
          </a:p>
          <a:p>
            <a:r>
              <a:rPr lang="en-US" sz="2400" dirty="0"/>
              <a:t>Goal: 60 students*</a:t>
            </a:r>
          </a:p>
        </p:txBody>
      </p:sp>
      <p:pic>
        <p:nvPicPr>
          <p:cNvPr id="9" name="Graphic 8" descr="Headphones with solid fill">
            <a:extLst>
              <a:ext uri="{FF2B5EF4-FFF2-40B4-BE49-F238E27FC236}">
                <a16:creationId xmlns:a16="http://schemas.microsoft.com/office/drawing/2014/main" id="{03377DAB-F268-26FB-7CEE-30153C23094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2075" y="3673719"/>
            <a:ext cx="914400" cy="914400"/>
          </a:xfrm>
          <a:prstGeom prst="rect">
            <a:avLst/>
          </a:prstGeom>
        </p:spPr>
      </p:pic>
      <p:sp>
        <p:nvSpPr>
          <p:cNvPr id="14" name="TextBox 13">
            <a:extLst>
              <a:ext uri="{FF2B5EF4-FFF2-40B4-BE49-F238E27FC236}">
                <a16:creationId xmlns:a16="http://schemas.microsoft.com/office/drawing/2014/main" id="{F1B23754-E6E7-4A52-E573-F6D7A9C56922}"/>
              </a:ext>
            </a:extLst>
          </p:cNvPr>
          <p:cNvSpPr txBox="1"/>
          <p:nvPr/>
        </p:nvSpPr>
        <p:spPr>
          <a:xfrm>
            <a:off x="701341" y="2630110"/>
            <a:ext cx="1383071" cy="369332"/>
          </a:xfrm>
          <a:prstGeom prst="rect">
            <a:avLst/>
          </a:prstGeom>
          <a:noFill/>
        </p:spPr>
        <p:txBody>
          <a:bodyPr wrap="none" rtlCol="0">
            <a:spAutoFit/>
          </a:bodyPr>
          <a:lstStyle/>
          <a:p>
            <a:r>
              <a:rPr lang="en-US" dirty="0"/>
              <a:t>Participants</a:t>
            </a:r>
          </a:p>
        </p:txBody>
      </p:sp>
      <p:sp>
        <p:nvSpPr>
          <p:cNvPr id="16" name="TextBox 15">
            <a:extLst>
              <a:ext uri="{FF2B5EF4-FFF2-40B4-BE49-F238E27FC236}">
                <a16:creationId xmlns:a16="http://schemas.microsoft.com/office/drawing/2014/main" id="{2A11EC80-3744-BCB6-87DA-53820417AB42}"/>
              </a:ext>
            </a:extLst>
          </p:cNvPr>
          <p:cNvSpPr txBox="1"/>
          <p:nvPr/>
        </p:nvSpPr>
        <p:spPr>
          <a:xfrm>
            <a:off x="955427" y="4578081"/>
            <a:ext cx="883575" cy="369332"/>
          </a:xfrm>
          <a:prstGeom prst="rect">
            <a:avLst/>
          </a:prstGeom>
          <a:noFill/>
        </p:spPr>
        <p:txBody>
          <a:bodyPr wrap="none" rtlCol="0">
            <a:spAutoFit/>
          </a:bodyPr>
          <a:lstStyle/>
          <a:p>
            <a:r>
              <a:rPr lang="en-US" dirty="0"/>
              <a:t>Stimuli</a:t>
            </a:r>
          </a:p>
        </p:txBody>
      </p:sp>
      <p:sp>
        <p:nvSpPr>
          <p:cNvPr id="20" name="TextBox 19">
            <a:extLst>
              <a:ext uri="{FF2B5EF4-FFF2-40B4-BE49-F238E27FC236}">
                <a16:creationId xmlns:a16="http://schemas.microsoft.com/office/drawing/2014/main" id="{1FFC3536-DAFD-4251-8B91-FC2AFD4EFE1E}"/>
              </a:ext>
            </a:extLst>
          </p:cNvPr>
          <p:cNvSpPr txBox="1"/>
          <p:nvPr/>
        </p:nvSpPr>
        <p:spPr>
          <a:xfrm>
            <a:off x="2939825" y="3576174"/>
            <a:ext cx="7723486" cy="3046988"/>
          </a:xfrm>
          <a:prstGeom prst="rect">
            <a:avLst/>
          </a:prstGeom>
          <a:noFill/>
        </p:spPr>
        <p:txBody>
          <a:bodyPr wrap="square" rtlCol="0">
            <a:spAutoFit/>
          </a:bodyPr>
          <a:lstStyle/>
          <a:p>
            <a:r>
              <a:rPr lang="en-US" sz="2400" dirty="0"/>
              <a:t>L1 and L2 1-dimensional VAS continua (7 steps)</a:t>
            </a:r>
          </a:p>
          <a:p>
            <a:endParaRPr lang="en-US" sz="2400" dirty="0"/>
          </a:p>
          <a:p>
            <a:r>
              <a:rPr lang="en-US" sz="2400" dirty="0"/>
              <a:t>Japanese and Arabic vowel and consonant length minimal pairs</a:t>
            </a:r>
          </a:p>
          <a:p>
            <a:endParaRPr lang="en-US" sz="2400" dirty="0"/>
          </a:p>
          <a:p>
            <a:r>
              <a:rPr lang="en-US" sz="2400" dirty="0"/>
              <a:t>Partial dictation assessment sentences – 20 sentences with one blank word (target) – 10 words from training, 10 words from testing, spoken by 1 female speaker</a:t>
            </a:r>
          </a:p>
        </p:txBody>
      </p:sp>
      <p:cxnSp>
        <p:nvCxnSpPr>
          <p:cNvPr id="4" name="Straight Connector 3">
            <a:extLst>
              <a:ext uri="{FF2B5EF4-FFF2-40B4-BE49-F238E27FC236}">
                <a16:creationId xmlns:a16="http://schemas.microsoft.com/office/drawing/2014/main" id="{6C9D7596-C4D9-810A-E7D6-B74F0BCDD922}"/>
              </a:ext>
            </a:extLst>
          </p:cNvPr>
          <p:cNvCxnSpPr/>
          <p:nvPr/>
        </p:nvCxnSpPr>
        <p:spPr>
          <a:xfrm>
            <a:off x="475245" y="1863585"/>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3FF469A5-75A7-4799-115A-004EDD9EE0F5}"/>
              </a:ext>
            </a:extLst>
          </p:cNvPr>
          <p:cNvCxnSpPr/>
          <p:nvPr/>
        </p:nvCxnSpPr>
        <p:spPr>
          <a:xfrm>
            <a:off x="475245" y="3429000"/>
            <a:ext cx="1133714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223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0"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Browser window with solid fill">
            <a:extLst>
              <a:ext uri="{FF2B5EF4-FFF2-40B4-BE49-F238E27FC236}">
                <a16:creationId xmlns:a16="http://schemas.microsoft.com/office/drawing/2014/main" id="{4699E539-579C-5019-5B13-BD14FB121A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942" y="1943131"/>
            <a:ext cx="914400" cy="914400"/>
          </a:xfrm>
          <a:prstGeom prst="rect">
            <a:avLst/>
          </a:prstGeom>
        </p:spPr>
      </p:pic>
      <p:pic>
        <p:nvPicPr>
          <p:cNvPr id="11" name="Graphic 10" descr="Swipe Gesture with solid fill">
            <a:extLst>
              <a:ext uri="{FF2B5EF4-FFF2-40B4-BE49-F238E27FC236}">
                <a16:creationId xmlns:a16="http://schemas.microsoft.com/office/drawing/2014/main" id="{CF333374-6007-42F5-0021-7435CFD127E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03157" y="1892165"/>
            <a:ext cx="914400" cy="914400"/>
          </a:xfrm>
          <a:prstGeom prst="rect">
            <a:avLst/>
          </a:prstGeom>
        </p:spPr>
      </p:pic>
      <p:pic>
        <p:nvPicPr>
          <p:cNvPr id="12" name="Graphic 11" descr="Clipboard with solid fill">
            <a:extLst>
              <a:ext uri="{FF2B5EF4-FFF2-40B4-BE49-F238E27FC236}">
                <a16:creationId xmlns:a16="http://schemas.microsoft.com/office/drawing/2014/main" id="{89E24687-CF3D-E7BE-C277-D5273FE3D4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07682" y="1891762"/>
            <a:ext cx="914400" cy="914400"/>
          </a:xfrm>
          <a:prstGeom prst="rect">
            <a:avLst/>
          </a:prstGeom>
        </p:spPr>
      </p:pic>
      <p:pic>
        <p:nvPicPr>
          <p:cNvPr id="13" name="Graphic 12" descr="Scatterplot with solid fill">
            <a:extLst>
              <a:ext uri="{FF2B5EF4-FFF2-40B4-BE49-F238E27FC236}">
                <a16:creationId xmlns:a16="http://schemas.microsoft.com/office/drawing/2014/main" id="{AB881B79-0A9E-DF73-F5C3-8921AFA464E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0441" y="5591365"/>
            <a:ext cx="914400" cy="914400"/>
          </a:xfrm>
          <a:prstGeom prst="rect">
            <a:avLst/>
          </a:prstGeom>
        </p:spPr>
      </p:pic>
      <p:sp>
        <p:nvSpPr>
          <p:cNvPr id="15" name="TextBox 14">
            <a:extLst>
              <a:ext uri="{FF2B5EF4-FFF2-40B4-BE49-F238E27FC236}">
                <a16:creationId xmlns:a16="http://schemas.microsoft.com/office/drawing/2014/main" id="{9ACCB141-2724-468A-66E3-65B5AC74E217}"/>
              </a:ext>
            </a:extLst>
          </p:cNvPr>
          <p:cNvSpPr txBox="1"/>
          <p:nvPr/>
        </p:nvSpPr>
        <p:spPr>
          <a:xfrm>
            <a:off x="967733" y="2718150"/>
            <a:ext cx="734817" cy="369332"/>
          </a:xfrm>
          <a:prstGeom prst="rect">
            <a:avLst/>
          </a:prstGeom>
          <a:noFill/>
        </p:spPr>
        <p:txBody>
          <a:bodyPr wrap="none" rtlCol="0">
            <a:spAutoFit/>
          </a:bodyPr>
          <a:lstStyle/>
          <a:p>
            <a:r>
              <a:rPr lang="en-US" dirty="0"/>
              <a:t>Tasks</a:t>
            </a:r>
          </a:p>
        </p:txBody>
      </p:sp>
      <p:sp>
        <p:nvSpPr>
          <p:cNvPr id="17" name="TextBox 16">
            <a:extLst>
              <a:ext uri="{FF2B5EF4-FFF2-40B4-BE49-F238E27FC236}">
                <a16:creationId xmlns:a16="http://schemas.microsoft.com/office/drawing/2014/main" id="{742DDDBF-F40F-D9CB-44F4-BCA41201BC40}"/>
              </a:ext>
            </a:extLst>
          </p:cNvPr>
          <p:cNvSpPr txBox="1"/>
          <p:nvPr/>
        </p:nvSpPr>
        <p:spPr>
          <a:xfrm>
            <a:off x="877942" y="6432268"/>
            <a:ext cx="1079398" cy="369332"/>
          </a:xfrm>
          <a:prstGeom prst="rect">
            <a:avLst/>
          </a:prstGeom>
          <a:noFill/>
        </p:spPr>
        <p:txBody>
          <a:bodyPr wrap="none" rtlCol="0">
            <a:spAutoFit/>
          </a:bodyPr>
          <a:lstStyle/>
          <a:p>
            <a:r>
              <a:rPr lang="en-US" dirty="0"/>
              <a:t>Analyses</a:t>
            </a:r>
          </a:p>
        </p:txBody>
      </p:sp>
      <p:sp>
        <p:nvSpPr>
          <p:cNvPr id="18" name="TextBox 17">
            <a:extLst>
              <a:ext uri="{FF2B5EF4-FFF2-40B4-BE49-F238E27FC236}">
                <a16:creationId xmlns:a16="http://schemas.microsoft.com/office/drawing/2014/main" id="{1F852D81-A032-D316-F392-016FCD34577A}"/>
              </a:ext>
            </a:extLst>
          </p:cNvPr>
          <p:cNvSpPr txBox="1"/>
          <p:nvPr/>
        </p:nvSpPr>
        <p:spPr>
          <a:xfrm>
            <a:off x="3317557" y="2121295"/>
            <a:ext cx="2040302" cy="461665"/>
          </a:xfrm>
          <a:prstGeom prst="rect">
            <a:avLst/>
          </a:prstGeom>
          <a:noFill/>
        </p:spPr>
        <p:txBody>
          <a:bodyPr wrap="none" rtlCol="0">
            <a:spAutoFit/>
          </a:bodyPr>
          <a:lstStyle/>
          <a:p>
            <a:r>
              <a:rPr lang="en-US" sz="2400" dirty="0"/>
              <a:t>L1 and L2 VAS</a:t>
            </a:r>
          </a:p>
        </p:txBody>
      </p:sp>
      <p:sp>
        <p:nvSpPr>
          <p:cNvPr id="19" name="TextBox 18">
            <a:extLst>
              <a:ext uri="{FF2B5EF4-FFF2-40B4-BE49-F238E27FC236}">
                <a16:creationId xmlns:a16="http://schemas.microsoft.com/office/drawing/2014/main" id="{B94B8525-454B-2093-F7D3-9A18F95F7176}"/>
              </a:ext>
            </a:extLst>
          </p:cNvPr>
          <p:cNvSpPr txBox="1"/>
          <p:nvPr/>
        </p:nvSpPr>
        <p:spPr>
          <a:xfrm>
            <a:off x="8622082" y="2121295"/>
            <a:ext cx="1125902" cy="461665"/>
          </a:xfrm>
          <a:prstGeom prst="rect">
            <a:avLst/>
          </a:prstGeom>
          <a:noFill/>
        </p:spPr>
        <p:txBody>
          <a:bodyPr wrap="square" rtlCol="0">
            <a:spAutoFit/>
          </a:bodyPr>
          <a:lstStyle/>
          <a:p>
            <a:r>
              <a:rPr lang="en-US" sz="2400" dirty="0"/>
              <a:t>LD-Q</a:t>
            </a:r>
          </a:p>
        </p:txBody>
      </p:sp>
      <p:sp>
        <p:nvSpPr>
          <p:cNvPr id="21" name="TextBox 20">
            <a:extLst>
              <a:ext uri="{FF2B5EF4-FFF2-40B4-BE49-F238E27FC236}">
                <a16:creationId xmlns:a16="http://schemas.microsoft.com/office/drawing/2014/main" id="{FD5A18A1-7667-69F7-9FE7-3E308B19C1A9}"/>
              </a:ext>
            </a:extLst>
          </p:cNvPr>
          <p:cNvSpPr txBox="1"/>
          <p:nvPr/>
        </p:nvSpPr>
        <p:spPr>
          <a:xfrm>
            <a:off x="2403157" y="5623356"/>
            <a:ext cx="8459695" cy="1200329"/>
          </a:xfrm>
          <a:prstGeom prst="rect">
            <a:avLst/>
          </a:prstGeom>
          <a:noFill/>
        </p:spPr>
        <p:txBody>
          <a:bodyPr wrap="square" rtlCol="0">
            <a:spAutoFit/>
          </a:bodyPr>
          <a:lstStyle/>
          <a:p>
            <a:r>
              <a:rPr lang="en-US" sz="2400" dirty="0"/>
              <a:t>Regression analyses: LTA for changes in  categorization gradiency, d-prime/RT for discrimination sensitivity, accuracy for MCPD listening assessment</a:t>
            </a:r>
          </a:p>
        </p:txBody>
      </p:sp>
      <p:sp>
        <p:nvSpPr>
          <p:cNvPr id="4" name="TextBox 3">
            <a:extLst>
              <a:ext uri="{FF2B5EF4-FFF2-40B4-BE49-F238E27FC236}">
                <a16:creationId xmlns:a16="http://schemas.microsoft.com/office/drawing/2014/main" id="{DDCD119E-BA8E-72C8-F3A8-E1EDC1A381E9}"/>
              </a:ext>
            </a:extLst>
          </p:cNvPr>
          <p:cNvSpPr txBox="1"/>
          <p:nvPr/>
        </p:nvSpPr>
        <p:spPr>
          <a:xfrm>
            <a:off x="3317557" y="3293955"/>
            <a:ext cx="4209160" cy="461665"/>
          </a:xfrm>
          <a:prstGeom prst="rect">
            <a:avLst/>
          </a:prstGeom>
          <a:noFill/>
        </p:spPr>
        <p:txBody>
          <a:bodyPr wrap="square" rtlCol="0">
            <a:spAutoFit/>
          </a:bodyPr>
          <a:lstStyle/>
          <a:p>
            <a:r>
              <a:rPr lang="en-US" sz="2400" dirty="0"/>
              <a:t>Discrimination training</a:t>
            </a:r>
          </a:p>
        </p:txBody>
      </p:sp>
      <p:pic>
        <p:nvPicPr>
          <p:cNvPr id="27" name="Graphic 26" descr="Ear with solid fill">
            <a:extLst>
              <a:ext uri="{FF2B5EF4-FFF2-40B4-BE49-F238E27FC236}">
                <a16:creationId xmlns:a16="http://schemas.microsoft.com/office/drawing/2014/main" id="{4162A09A-6C2B-BA8C-A3F8-D8AB3B4D969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07682" y="3022604"/>
            <a:ext cx="914400" cy="914400"/>
          </a:xfrm>
          <a:prstGeom prst="rect">
            <a:avLst/>
          </a:prstGeom>
        </p:spPr>
      </p:pic>
      <p:sp>
        <p:nvSpPr>
          <p:cNvPr id="33" name="TextBox 32">
            <a:extLst>
              <a:ext uri="{FF2B5EF4-FFF2-40B4-BE49-F238E27FC236}">
                <a16:creationId xmlns:a16="http://schemas.microsoft.com/office/drawing/2014/main" id="{A237359D-447E-A173-D0AD-847216AECFF9}"/>
              </a:ext>
            </a:extLst>
          </p:cNvPr>
          <p:cNvSpPr txBox="1"/>
          <p:nvPr/>
        </p:nvSpPr>
        <p:spPr>
          <a:xfrm>
            <a:off x="8622082" y="3291158"/>
            <a:ext cx="3294760" cy="461665"/>
          </a:xfrm>
          <a:prstGeom prst="rect">
            <a:avLst/>
          </a:prstGeom>
          <a:noFill/>
        </p:spPr>
        <p:txBody>
          <a:bodyPr wrap="square" rtlCol="0">
            <a:spAutoFit/>
          </a:bodyPr>
          <a:lstStyle/>
          <a:p>
            <a:r>
              <a:rPr lang="en-US" sz="2400" dirty="0"/>
              <a:t>Discrimination testing</a:t>
            </a:r>
          </a:p>
        </p:txBody>
      </p:sp>
      <p:pic>
        <p:nvPicPr>
          <p:cNvPr id="37" name="Graphic 36" descr="Chat with solid fill">
            <a:extLst>
              <a:ext uri="{FF2B5EF4-FFF2-40B4-BE49-F238E27FC236}">
                <a16:creationId xmlns:a16="http://schemas.microsoft.com/office/drawing/2014/main" id="{15BEC665-5BDF-41D9-E073-B2B65E715ED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403157" y="3081041"/>
            <a:ext cx="914400" cy="914400"/>
          </a:xfrm>
          <a:prstGeom prst="rect">
            <a:avLst/>
          </a:prstGeom>
        </p:spPr>
      </p:pic>
      <p:sp>
        <p:nvSpPr>
          <p:cNvPr id="7" name="Title 1">
            <a:extLst>
              <a:ext uri="{FF2B5EF4-FFF2-40B4-BE49-F238E27FC236}">
                <a16:creationId xmlns:a16="http://schemas.microsoft.com/office/drawing/2014/main" id="{8D075A37-A4CE-1038-667D-833DBFBF8D2E}"/>
              </a:ext>
            </a:extLst>
          </p:cNvPr>
          <p:cNvSpPr>
            <a:spLocks noGrp="1"/>
          </p:cNvSpPr>
          <p:nvPr>
            <p:ph type="title"/>
          </p:nvPr>
        </p:nvSpPr>
        <p:spPr/>
        <p:txBody>
          <a:bodyPr>
            <a:noAutofit/>
          </a:bodyPr>
          <a:lstStyle/>
          <a:p>
            <a:r>
              <a:rPr lang="en-US" sz="2800" dirty="0"/>
              <a:t>The goal of Experiment 3 is to supplement L2 Japanese classroom instruction with linguistic diversity perceptual training and measure changes in categorization gradiency, L2 perception, and L2 listening</a:t>
            </a:r>
          </a:p>
        </p:txBody>
      </p:sp>
      <p:pic>
        <p:nvPicPr>
          <p:cNvPr id="9" name="Graphic 8" descr="Clipboard Mixed with solid fill">
            <a:extLst>
              <a:ext uri="{FF2B5EF4-FFF2-40B4-BE49-F238E27FC236}">
                <a16:creationId xmlns:a16="http://schemas.microsoft.com/office/drawing/2014/main" id="{67B86395-6B5B-F85B-12C8-4BB6634AFA9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403157" y="4216623"/>
            <a:ext cx="914400" cy="914400"/>
          </a:xfrm>
          <a:prstGeom prst="rect">
            <a:avLst/>
          </a:prstGeom>
        </p:spPr>
      </p:pic>
      <p:sp>
        <p:nvSpPr>
          <p:cNvPr id="14" name="TextBox 13">
            <a:extLst>
              <a:ext uri="{FF2B5EF4-FFF2-40B4-BE49-F238E27FC236}">
                <a16:creationId xmlns:a16="http://schemas.microsoft.com/office/drawing/2014/main" id="{B9051335-F872-FDE5-C458-06034BD73D23}"/>
              </a:ext>
            </a:extLst>
          </p:cNvPr>
          <p:cNvSpPr txBox="1"/>
          <p:nvPr/>
        </p:nvSpPr>
        <p:spPr>
          <a:xfrm>
            <a:off x="3317557" y="4070203"/>
            <a:ext cx="4037400" cy="1200329"/>
          </a:xfrm>
          <a:prstGeom prst="rect">
            <a:avLst/>
          </a:prstGeom>
          <a:noFill/>
        </p:spPr>
        <p:txBody>
          <a:bodyPr wrap="square" rtlCol="0">
            <a:spAutoFit/>
          </a:bodyPr>
          <a:lstStyle/>
          <a:p>
            <a:r>
              <a:rPr lang="en-US" sz="2400" dirty="0"/>
              <a:t>Multiple-choice partial dictation (MCPD) listening assessment</a:t>
            </a:r>
          </a:p>
        </p:txBody>
      </p:sp>
      <p:cxnSp>
        <p:nvCxnSpPr>
          <p:cNvPr id="16" name="Straight Connector 15">
            <a:extLst>
              <a:ext uri="{FF2B5EF4-FFF2-40B4-BE49-F238E27FC236}">
                <a16:creationId xmlns:a16="http://schemas.microsoft.com/office/drawing/2014/main" id="{58944A47-9EE0-020D-12FD-04F77E949428}"/>
              </a:ext>
            </a:extLst>
          </p:cNvPr>
          <p:cNvCxnSpPr/>
          <p:nvPr/>
        </p:nvCxnSpPr>
        <p:spPr>
          <a:xfrm>
            <a:off x="475245" y="1863585"/>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E1A50A27-61FF-8838-353F-B3E67817E1BC}"/>
              </a:ext>
            </a:extLst>
          </p:cNvPr>
          <p:cNvCxnSpPr/>
          <p:nvPr/>
        </p:nvCxnSpPr>
        <p:spPr>
          <a:xfrm>
            <a:off x="475245" y="5500253"/>
            <a:ext cx="1133714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116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76A71-1813-EA2D-5714-856CF9F5E050}"/>
              </a:ext>
            </a:extLst>
          </p:cNvPr>
          <p:cNvSpPr>
            <a:spLocks noGrp="1"/>
          </p:cNvSpPr>
          <p:nvPr>
            <p:ph type="title"/>
          </p:nvPr>
        </p:nvSpPr>
        <p:spPr>
          <a:xfrm>
            <a:off x="863065" y="139773"/>
            <a:ext cx="10515600" cy="1325563"/>
          </a:xfrm>
        </p:spPr>
        <p:txBody>
          <a:bodyPr/>
          <a:lstStyle/>
          <a:p>
            <a:r>
              <a:rPr lang="en-US" dirty="0"/>
              <a:t>Experiment 3 is a longitudinal experiment across 4 weeks</a:t>
            </a:r>
          </a:p>
        </p:txBody>
      </p:sp>
      <p:pic>
        <p:nvPicPr>
          <p:cNvPr id="9" name="Graphic 8" descr="Swipe Gesture with solid fill">
            <a:extLst>
              <a:ext uri="{FF2B5EF4-FFF2-40B4-BE49-F238E27FC236}">
                <a16:creationId xmlns:a16="http://schemas.microsoft.com/office/drawing/2014/main" id="{22E04D9D-FFFD-6C93-FD05-53D567BE71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9272" y="2031113"/>
            <a:ext cx="914400" cy="914400"/>
          </a:xfrm>
          <a:prstGeom prst="rect">
            <a:avLst/>
          </a:prstGeom>
        </p:spPr>
      </p:pic>
      <p:pic>
        <p:nvPicPr>
          <p:cNvPr id="10" name="Graphic 9" descr="Clipboard with solid fill">
            <a:extLst>
              <a:ext uri="{FF2B5EF4-FFF2-40B4-BE49-F238E27FC236}">
                <a16:creationId xmlns:a16="http://schemas.microsoft.com/office/drawing/2014/main" id="{B5089F72-2F69-8E71-E572-7D56AFE583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09154" y="5752728"/>
            <a:ext cx="914400" cy="914400"/>
          </a:xfrm>
          <a:prstGeom prst="rect">
            <a:avLst/>
          </a:prstGeom>
        </p:spPr>
      </p:pic>
      <p:sp>
        <p:nvSpPr>
          <p:cNvPr id="12" name="TextBox 11">
            <a:extLst>
              <a:ext uri="{FF2B5EF4-FFF2-40B4-BE49-F238E27FC236}">
                <a16:creationId xmlns:a16="http://schemas.microsoft.com/office/drawing/2014/main" id="{E01F63C0-9102-FB3C-B116-35B9EFA372E8}"/>
              </a:ext>
            </a:extLst>
          </p:cNvPr>
          <p:cNvSpPr txBox="1"/>
          <p:nvPr/>
        </p:nvSpPr>
        <p:spPr>
          <a:xfrm>
            <a:off x="10388808" y="5255947"/>
            <a:ext cx="763351" cy="400110"/>
          </a:xfrm>
          <a:prstGeom prst="rect">
            <a:avLst/>
          </a:prstGeom>
          <a:noFill/>
        </p:spPr>
        <p:txBody>
          <a:bodyPr wrap="none" rtlCol="0">
            <a:spAutoFit/>
          </a:bodyPr>
          <a:lstStyle/>
          <a:p>
            <a:pPr algn="ctr"/>
            <a:r>
              <a:rPr lang="en-US" sz="2000" dirty="0"/>
              <a:t>LD-Q</a:t>
            </a:r>
          </a:p>
        </p:txBody>
      </p:sp>
      <p:cxnSp>
        <p:nvCxnSpPr>
          <p:cNvPr id="19" name="Straight Arrow Connector 18">
            <a:extLst>
              <a:ext uri="{FF2B5EF4-FFF2-40B4-BE49-F238E27FC236}">
                <a16:creationId xmlns:a16="http://schemas.microsoft.com/office/drawing/2014/main" id="{6692AF99-E894-9222-5BC0-3D15D1F703AE}"/>
              </a:ext>
            </a:extLst>
          </p:cNvPr>
          <p:cNvCxnSpPr>
            <a:cxnSpLocks/>
          </p:cNvCxnSpPr>
          <p:nvPr/>
        </p:nvCxnSpPr>
        <p:spPr>
          <a:xfrm>
            <a:off x="3286306" y="2563570"/>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AA1621BB-6626-45DF-78C5-15944DF9847B}"/>
              </a:ext>
            </a:extLst>
          </p:cNvPr>
          <p:cNvSpPr txBox="1"/>
          <p:nvPr/>
        </p:nvSpPr>
        <p:spPr>
          <a:xfrm>
            <a:off x="4837667" y="1440620"/>
            <a:ext cx="1557610" cy="707886"/>
          </a:xfrm>
          <a:prstGeom prst="rect">
            <a:avLst/>
          </a:prstGeom>
          <a:noFill/>
        </p:spPr>
        <p:txBody>
          <a:bodyPr wrap="square" rtlCol="0">
            <a:spAutoFit/>
          </a:bodyPr>
          <a:lstStyle/>
          <a:p>
            <a:pPr algn="ctr"/>
            <a:r>
              <a:rPr lang="en-US" sz="2000" dirty="0"/>
              <a:t>Pre-training VAS</a:t>
            </a:r>
          </a:p>
        </p:txBody>
      </p:sp>
      <p:sp>
        <p:nvSpPr>
          <p:cNvPr id="6" name="TextBox 5">
            <a:extLst>
              <a:ext uri="{FF2B5EF4-FFF2-40B4-BE49-F238E27FC236}">
                <a16:creationId xmlns:a16="http://schemas.microsoft.com/office/drawing/2014/main" id="{67FF5569-53E5-0A0F-DD31-5C98D7359414}"/>
              </a:ext>
            </a:extLst>
          </p:cNvPr>
          <p:cNvSpPr txBox="1"/>
          <p:nvPr/>
        </p:nvSpPr>
        <p:spPr>
          <a:xfrm rot="16200000">
            <a:off x="-123928" y="1967741"/>
            <a:ext cx="1325562" cy="707886"/>
          </a:xfrm>
          <a:prstGeom prst="rect">
            <a:avLst/>
          </a:prstGeom>
          <a:noFill/>
        </p:spPr>
        <p:txBody>
          <a:bodyPr wrap="square" rtlCol="0">
            <a:spAutoFit/>
          </a:bodyPr>
          <a:lstStyle/>
          <a:p>
            <a:pPr algn="ctr"/>
            <a:r>
              <a:rPr lang="en-US" sz="2000" dirty="0"/>
              <a:t>Week 1, </a:t>
            </a:r>
          </a:p>
          <a:p>
            <a:pPr algn="ctr"/>
            <a:r>
              <a:rPr lang="en-US" sz="2000" dirty="0"/>
              <a:t>First Day</a:t>
            </a:r>
          </a:p>
        </p:txBody>
      </p:sp>
      <p:sp>
        <p:nvSpPr>
          <p:cNvPr id="7" name="TextBox 6">
            <a:extLst>
              <a:ext uri="{FF2B5EF4-FFF2-40B4-BE49-F238E27FC236}">
                <a16:creationId xmlns:a16="http://schemas.microsoft.com/office/drawing/2014/main" id="{7A763679-A7E3-BF57-82E9-65B31668F781}"/>
              </a:ext>
            </a:extLst>
          </p:cNvPr>
          <p:cNvSpPr txBox="1"/>
          <p:nvPr/>
        </p:nvSpPr>
        <p:spPr>
          <a:xfrm rot="16200000">
            <a:off x="-77487" y="5412852"/>
            <a:ext cx="1201355" cy="707886"/>
          </a:xfrm>
          <a:prstGeom prst="rect">
            <a:avLst/>
          </a:prstGeom>
          <a:noFill/>
        </p:spPr>
        <p:txBody>
          <a:bodyPr wrap="none" rtlCol="0">
            <a:spAutoFit/>
          </a:bodyPr>
          <a:lstStyle/>
          <a:p>
            <a:pPr algn="ctr"/>
            <a:r>
              <a:rPr lang="en-US" sz="2000" dirty="0"/>
              <a:t>Week 4,</a:t>
            </a:r>
          </a:p>
          <a:p>
            <a:pPr algn="ctr"/>
            <a:r>
              <a:rPr lang="en-US" sz="2000" dirty="0"/>
              <a:t>Final Day</a:t>
            </a:r>
          </a:p>
        </p:txBody>
      </p:sp>
      <p:pic>
        <p:nvPicPr>
          <p:cNvPr id="8" name="Graphic 7" descr="Ear with solid fill">
            <a:extLst>
              <a:ext uri="{FF2B5EF4-FFF2-40B4-BE49-F238E27FC236}">
                <a16:creationId xmlns:a16="http://schemas.microsoft.com/office/drawing/2014/main" id="{8A3AD579-7018-C288-6AF9-AE084107470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28300" y="5766795"/>
            <a:ext cx="914400" cy="914400"/>
          </a:xfrm>
          <a:prstGeom prst="rect">
            <a:avLst/>
          </a:prstGeom>
        </p:spPr>
      </p:pic>
      <p:cxnSp>
        <p:nvCxnSpPr>
          <p:cNvPr id="18" name="Straight Arrow Connector 17">
            <a:extLst>
              <a:ext uri="{FF2B5EF4-FFF2-40B4-BE49-F238E27FC236}">
                <a16:creationId xmlns:a16="http://schemas.microsoft.com/office/drawing/2014/main" id="{3234C9E3-E3CB-D3C5-1CC2-06250C8F89AD}"/>
              </a:ext>
            </a:extLst>
          </p:cNvPr>
          <p:cNvCxnSpPr>
            <a:cxnSpLocks/>
          </p:cNvCxnSpPr>
          <p:nvPr/>
        </p:nvCxnSpPr>
        <p:spPr>
          <a:xfrm>
            <a:off x="6655577" y="2607380"/>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22" name="Graphic 21" descr="Chat with solid fill">
            <a:extLst>
              <a:ext uri="{FF2B5EF4-FFF2-40B4-BE49-F238E27FC236}">
                <a16:creationId xmlns:a16="http://schemas.microsoft.com/office/drawing/2014/main" id="{ECBB88E5-9159-A737-5B65-491650A3BC0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36996" y="3942572"/>
            <a:ext cx="914400" cy="914400"/>
          </a:xfrm>
          <a:prstGeom prst="rect">
            <a:avLst/>
          </a:prstGeom>
        </p:spPr>
      </p:pic>
      <p:cxnSp>
        <p:nvCxnSpPr>
          <p:cNvPr id="23" name="Straight Arrow Connector 22">
            <a:extLst>
              <a:ext uri="{FF2B5EF4-FFF2-40B4-BE49-F238E27FC236}">
                <a16:creationId xmlns:a16="http://schemas.microsoft.com/office/drawing/2014/main" id="{48BF1785-8E24-A286-F31D-873C541AC4EA}"/>
              </a:ext>
            </a:extLst>
          </p:cNvPr>
          <p:cNvCxnSpPr>
            <a:cxnSpLocks/>
          </p:cNvCxnSpPr>
          <p:nvPr/>
        </p:nvCxnSpPr>
        <p:spPr>
          <a:xfrm>
            <a:off x="10153962" y="2594260"/>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24" name="Graphic 23" descr="Ear with solid fill">
            <a:extLst>
              <a:ext uri="{FF2B5EF4-FFF2-40B4-BE49-F238E27FC236}">
                <a16:creationId xmlns:a16="http://schemas.microsoft.com/office/drawing/2014/main" id="{B409F680-63DD-1D48-8FEE-256A9CBEE7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06424" y="2084480"/>
            <a:ext cx="914400" cy="914400"/>
          </a:xfrm>
          <a:prstGeom prst="rect">
            <a:avLst/>
          </a:prstGeom>
        </p:spPr>
      </p:pic>
      <p:pic>
        <p:nvPicPr>
          <p:cNvPr id="25" name="Graphic 24" descr="Swipe Gesture with solid fill">
            <a:extLst>
              <a:ext uri="{FF2B5EF4-FFF2-40B4-BE49-F238E27FC236}">
                <a16:creationId xmlns:a16="http://schemas.microsoft.com/office/drawing/2014/main" id="{B11CFC29-3A6E-8B9E-86D1-13AF6FD0B0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9197" y="5778478"/>
            <a:ext cx="914400" cy="914400"/>
          </a:xfrm>
          <a:prstGeom prst="rect">
            <a:avLst/>
          </a:prstGeom>
        </p:spPr>
      </p:pic>
      <p:cxnSp>
        <p:nvCxnSpPr>
          <p:cNvPr id="26" name="Straight Arrow Connector 25">
            <a:extLst>
              <a:ext uri="{FF2B5EF4-FFF2-40B4-BE49-F238E27FC236}">
                <a16:creationId xmlns:a16="http://schemas.microsoft.com/office/drawing/2014/main" id="{0F74F5E5-B62B-A744-BECC-5FAFF1017DA6}"/>
              </a:ext>
            </a:extLst>
          </p:cNvPr>
          <p:cNvCxnSpPr>
            <a:cxnSpLocks/>
          </p:cNvCxnSpPr>
          <p:nvPr/>
        </p:nvCxnSpPr>
        <p:spPr>
          <a:xfrm>
            <a:off x="2651310" y="6235678"/>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A4954BFB-2CA3-E9A0-8A5A-2C0CEB4C0176}"/>
              </a:ext>
            </a:extLst>
          </p:cNvPr>
          <p:cNvCxnSpPr>
            <a:cxnSpLocks/>
          </p:cNvCxnSpPr>
          <p:nvPr/>
        </p:nvCxnSpPr>
        <p:spPr>
          <a:xfrm>
            <a:off x="5614217" y="6235678"/>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EECD6746-5392-7C9F-3CF2-1E7031DB9D01}"/>
              </a:ext>
            </a:extLst>
          </p:cNvPr>
          <p:cNvSpPr txBox="1"/>
          <p:nvPr/>
        </p:nvSpPr>
        <p:spPr>
          <a:xfrm>
            <a:off x="8087780" y="1458458"/>
            <a:ext cx="1951688" cy="707886"/>
          </a:xfrm>
          <a:prstGeom prst="rect">
            <a:avLst/>
          </a:prstGeom>
          <a:noFill/>
        </p:spPr>
        <p:txBody>
          <a:bodyPr wrap="square" rtlCol="0">
            <a:spAutoFit/>
          </a:bodyPr>
          <a:lstStyle/>
          <a:p>
            <a:pPr algn="ctr"/>
            <a:r>
              <a:rPr lang="en-US" sz="2000" dirty="0"/>
              <a:t>Discrimination pre-test</a:t>
            </a:r>
          </a:p>
        </p:txBody>
      </p:sp>
      <p:sp>
        <p:nvSpPr>
          <p:cNvPr id="29" name="TextBox 28">
            <a:extLst>
              <a:ext uri="{FF2B5EF4-FFF2-40B4-BE49-F238E27FC236}">
                <a16:creationId xmlns:a16="http://schemas.microsoft.com/office/drawing/2014/main" id="{0B30B0D8-B25D-3EAC-6B82-A5D689AFE701}"/>
              </a:ext>
            </a:extLst>
          </p:cNvPr>
          <p:cNvSpPr txBox="1"/>
          <p:nvPr/>
        </p:nvSpPr>
        <p:spPr>
          <a:xfrm>
            <a:off x="1024757" y="5070592"/>
            <a:ext cx="1929529" cy="707886"/>
          </a:xfrm>
          <a:prstGeom prst="rect">
            <a:avLst/>
          </a:prstGeom>
          <a:noFill/>
        </p:spPr>
        <p:txBody>
          <a:bodyPr wrap="square" rtlCol="0">
            <a:spAutoFit/>
          </a:bodyPr>
          <a:lstStyle/>
          <a:p>
            <a:pPr algn="ctr"/>
            <a:r>
              <a:rPr lang="en-US" sz="2000" dirty="0"/>
              <a:t>Discrimination post-test</a:t>
            </a:r>
          </a:p>
        </p:txBody>
      </p:sp>
      <p:sp>
        <p:nvSpPr>
          <p:cNvPr id="30" name="TextBox 29">
            <a:extLst>
              <a:ext uri="{FF2B5EF4-FFF2-40B4-BE49-F238E27FC236}">
                <a16:creationId xmlns:a16="http://schemas.microsoft.com/office/drawing/2014/main" id="{CFBDC6EC-3D6D-7FB9-0928-D11C9D83982D}"/>
              </a:ext>
            </a:extLst>
          </p:cNvPr>
          <p:cNvSpPr txBox="1"/>
          <p:nvPr/>
        </p:nvSpPr>
        <p:spPr>
          <a:xfrm>
            <a:off x="3643567" y="5070592"/>
            <a:ext cx="1805661" cy="707886"/>
          </a:xfrm>
          <a:prstGeom prst="rect">
            <a:avLst/>
          </a:prstGeom>
          <a:noFill/>
        </p:spPr>
        <p:txBody>
          <a:bodyPr wrap="square" rtlCol="0">
            <a:spAutoFit/>
          </a:bodyPr>
          <a:lstStyle/>
          <a:p>
            <a:pPr algn="ctr"/>
            <a:r>
              <a:rPr lang="en-US" sz="2000" dirty="0"/>
              <a:t>Post-training VAS</a:t>
            </a:r>
          </a:p>
        </p:txBody>
      </p:sp>
      <p:sp>
        <p:nvSpPr>
          <p:cNvPr id="31" name="TextBox 30">
            <a:extLst>
              <a:ext uri="{FF2B5EF4-FFF2-40B4-BE49-F238E27FC236}">
                <a16:creationId xmlns:a16="http://schemas.microsoft.com/office/drawing/2014/main" id="{FD992896-9929-0A31-2BF0-63FC74D5BF38}"/>
              </a:ext>
            </a:extLst>
          </p:cNvPr>
          <p:cNvSpPr txBox="1"/>
          <p:nvPr/>
        </p:nvSpPr>
        <p:spPr>
          <a:xfrm>
            <a:off x="1207235" y="3255319"/>
            <a:ext cx="2173923" cy="707886"/>
          </a:xfrm>
          <a:prstGeom prst="rect">
            <a:avLst/>
          </a:prstGeom>
          <a:noFill/>
        </p:spPr>
        <p:txBody>
          <a:bodyPr wrap="square" rtlCol="0">
            <a:spAutoFit/>
          </a:bodyPr>
          <a:lstStyle/>
          <a:p>
            <a:pPr algn="ctr"/>
            <a:r>
              <a:rPr lang="en-US" sz="2000" dirty="0"/>
              <a:t>Discrimination training*</a:t>
            </a:r>
          </a:p>
        </p:txBody>
      </p:sp>
      <p:sp>
        <p:nvSpPr>
          <p:cNvPr id="32" name="TextBox 31">
            <a:extLst>
              <a:ext uri="{FF2B5EF4-FFF2-40B4-BE49-F238E27FC236}">
                <a16:creationId xmlns:a16="http://schemas.microsoft.com/office/drawing/2014/main" id="{8A433F82-83D2-03B6-297C-09B4DA958640}"/>
              </a:ext>
            </a:extLst>
          </p:cNvPr>
          <p:cNvSpPr txBox="1"/>
          <p:nvPr/>
        </p:nvSpPr>
        <p:spPr>
          <a:xfrm>
            <a:off x="5614217" y="3623150"/>
            <a:ext cx="3737433" cy="923330"/>
          </a:xfrm>
          <a:prstGeom prst="rect">
            <a:avLst/>
          </a:prstGeom>
          <a:noFill/>
        </p:spPr>
        <p:txBody>
          <a:bodyPr wrap="none" rtlCol="0">
            <a:spAutoFit/>
          </a:bodyPr>
          <a:lstStyle/>
          <a:p>
            <a:pPr algn="ctr"/>
            <a:r>
              <a:rPr lang="en-US" dirty="0"/>
              <a:t>Low LD group: Japanese only</a:t>
            </a:r>
          </a:p>
          <a:p>
            <a:pPr algn="ctr"/>
            <a:r>
              <a:rPr lang="en-US" dirty="0"/>
              <a:t>High LD group: Japanese and Arabic</a:t>
            </a:r>
          </a:p>
          <a:p>
            <a:pPr algn="ctr"/>
            <a:r>
              <a:rPr lang="en-US" b="1" dirty="0"/>
              <a:t>*Control group: No training</a:t>
            </a:r>
          </a:p>
        </p:txBody>
      </p:sp>
      <p:sp>
        <p:nvSpPr>
          <p:cNvPr id="3" name="TextBox 2">
            <a:extLst>
              <a:ext uri="{FF2B5EF4-FFF2-40B4-BE49-F238E27FC236}">
                <a16:creationId xmlns:a16="http://schemas.microsoft.com/office/drawing/2014/main" id="{143577DD-67D1-635C-2ED9-6047167341BB}"/>
              </a:ext>
            </a:extLst>
          </p:cNvPr>
          <p:cNvSpPr txBox="1"/>
          <p:nvPr/>
        </p:nvSpPr>
        <p:spPr>
          <a:xfrm rot="16200000">
            <a:off x="-130394" y="3890322"/>
            <a:ext cx="1335302" cy="400110"/>
          </a:xfrm>
          <a:prstGeom prst="rect">
            <a:avLst/>
          </a:prstGeom>
          <a:noFill/>
        </p:spPr>
        <p:txBody>
          <a:bodyPr wrap="none" rtlCol="0">
            <a:spAutoFit/>
          </a:bodyPr>
          <a:lstStyle/>
          <a:p>
            <a:pPr algn="ctr"/>
            <a:r>
              <a:rPr lang="en-US" sz="2000" dirty="0"/>
              <a:t>Weeks 2-4</a:t>
            </a:r>
          </a:p>
        </p:txBody>
      </p:sp>
      <p:pic>
        <p:nvPicPr>
          <p:cNvPr id="11" name="Graphic 10" descr="Clipboard Mixed with solid fill">
            <a:extLst>
              <a:ext uri="{FF2B5EF4-FFF2-40B4-BE49-F238E27FC236}">
                <a16:creationId xmlns:a16="http://schemas.microsoft.com/office/drawing/2014/main" id="{8FBD6A3C-A568-F301-E698-19FD5D59848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78033" y="2082727"/>
            <a:ext cx="914400" cy="914400"/>
          </a:xfrm>
          <a:prstGeom prst="rect">
            <a:avLst/>
          </a:prstGeom>
        </p:spPr>
      </p:pic>
      <p:sp>
        <p:nvSpPr>
          <p:cNvPr id="13" name="TextBox 12">
            <a:extLst>
              <a:ext uri="{FF2B5EF4-FFF2-40B4-BE49-F238E27FC236}">
                <a16:creationId xmlns:a16="http://schemas.microsoft.com/office/drawing/2014/main" id="{A25E68FD-07F9-92BA-5EF0-7060D8A600A1}"/>
              </a:ext>
            </a:extLst>
          </p:cNvPr>
          <p:cNvSpPr txBox="1"/>
          <p:nvPr/>
        </p:nvSpPr>
        <p:spPr>
          <a:xfrm>
            <a:off x="1773505" y="1440620"/>
            <a:ext cx="1183036" cy="707886"/>
          </a:xfrm>
          <a:prstGeom prst="rect">
            <a:avLst/>
          </a:prstGeom>
          <a:noFill/>
        </p:spPr>
        <p:txBody>
          <a:bodyPr wrap="square" rtlCol="0">
            <a:spAutoFit/>
          </a:bodyPr>
          <a:lstStyle/>
          <a:p>
            <a:pPr algn="ctr"/>
            <a:r>
              <a:rPr lang="en-US" sz="2000" dirty="0"/>
              <a:t>MCPD pre-test</a:t>
            </a:r>
          </a:p>
        </p:txBody>
      </p:sp>
      <p:sp>
        <p:nvSpPr>
          <p:cNvPr id="14" name="TextBox 13">
            <a:extLst>
              <a:ext uri="{FF2B5EF4-FFF2-40B4-BE49-F238E27FC236}">
                <a16:creationId xmlns:a16="http://schemas.microsoft.com/office/drawing/2014/main" id="{D1EEE866-009B-762F-27FC-FAB79AD6BBEA}"/>
              </a:ext>
            </a:extLst>
          </p:cNvPr>
          <p:cNvSpPr txBox="1"/>
          <p:nvPr/>
        </p:nvSpPr>
        <p:spPr>
          <a:xfrm>
            <a:off x="3060768" y="3621857"/>
            <a:ext cx="2333578" cy="923330"/>
          </a:xfrm>
          <a:prstGeom prst="rect">
            <a:avLst/>
          </a:prstGeom>
          <a:noFill/>
        </p:spPr>
        <p:txBody>
          <a:bodyPr wrap="square" rtlCol="0">
            <a:spAutoFit/>
          </a:bodyPr>
          <a:lstStyle/>
          <a:p>
            <a:pPr algn="ctr"/>
            <a:r>
              <a:rPr lang="en-US" dirty="0"/>
              <a:t>2x per week for 3 weeks</a:t>
            </a:r>
          </a:p>
          <a:p>
            <a:pPr algn="ctr"/>
            <a:r>
              <a:rPr lang="en-US" dirty="0"/>
              <a:t>288 trials per session</a:t>
            </a:r>
          </a:p>
        </p:txBody>
      </p:sp>
      <p:cxnSp>
        <p:nvCxnSpPr>
          <p:cNvPr id="15" name="Straight Arrow Connector 14">
            <a:extLst>
              <a:ext uri="{FF2B5EF4-FFF2-40B4-BE49-F238E27FC236}">
                <a16:creationId xmlns:a16="http://schemas.microsoft.com/office/drawing/2014/main" id="{088E8600-4ACB-4CE3-05CC-37448DD9C453}"/>
              </a:ext>
            </a:extLst>
          </p:cNvPr>
          <p:cNvCxnSpPr>
            <a:cxnSpLocks/>
          </p:cNvCxnSpPr>
          <p:nvPr/>
        </p:nvCxnSpPr>
        <p:spPr>
          <a:xfrm>
            <a:off x="8855521" y="6235678"/>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F8B3B19-265B-AAC5-B635-8CC94A04D213}"/>
              </a:ext>
            </a:extLst>
          </p:cNvPr>
          <p:cNvCxnSpPr>
            <a:cxnSpLocks/>
          </p:cNvCxnSpPr>
          <p:nvPr/>
        </p:nvCxnSpPr>
        <p:spPr>
          <a:xfrm>
            <a:off x="10153962" y="4122137"/>
            <a:ext cx="99225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pic>
        <p:nvPicPr>
          <p:cNvPr id="17" name="Graphic 16" descr="Clipboard Mixed with solid fill">
            <a:extLst>
              <a:ext uri="{FF2B5EF4-FFF2-40B4-BE49-F238E27FC236}">
                <a16:creationId xmlns:a16="http://schemas.microsoft.com/office/drawing/2014/main" id="{DED5A125-4CFE-9454-82A9-E5F61D4CBA7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79057" y="5752728"/>
            <a:ext cx="914400" cy="914400"/>
          </a:xfrm>
          <a:prstGeom prst="rect">
            <a:avLst/>
          </a:prstGeom>
        </p:spPr>
      </p:pic>
      <p:sp>
        <p:nvSpPr>
          <p:cNvPr id="20" name="TextBox 19">
            <a:extLst>
              <a:ext uri="{FF2B5EF4-FFF2-40B4-BE49-F238E27FC236}">
                <a16:creationId xmlns:a16="http://schemas.microsoft.com/office/drawing/2014/main" id="{B6BFEC6E-ACF9-C9BC-930E-26BE7F013057}"/>
              </a:ext>
            </a:extLst>
          </p:cNvPr>
          <p:cNvSpPr txBox="1"/>
          <p:nvPr/>
        </p:nvSpPr>
        <p:spPr>
          <a:xfrm>
            <a:off x="6999819" y="5070592"/>
            <a:ext cx="1455338" cy="707886"/>
          </a:xfrm>
          <a:prstGeom prst="rect">
            <a:avLst/>
          </a:prstGeom>
          <a:noFill/>
        </p:spPr>
        <p:txBody>
          <a:bodyPr wrap="square" rtlCol="0">
            <a:spAutoFit/>
          </a:bodyPr>
          <a:lstStyle/>
          <a:p>
            <a:pPr algn="ctr"/>
            <a:r>
              <a:rPr lang="en-US" sz="2000" dirty="0"/>
              <a:t>MCPD post-test</a:t>
            </a:r>
          </a:p>
        </p:txBody>
      </p:sp>
      <p:cxnSp>
        <p:nvCxnSpPr>
          <p:cNvPr id="21" name="Straight Connector 20">
            <a:extLst>
              <a:ext uri="{FF2B5EF4-FFF2-40B4-BE49-F238E27FC236}">
                <a16:creationId xmlns:a16="http://schemas.microsoft.com/office/drawing/2014/main" id="{C1E9C08D-80F0-9A22-6E4D-F5E277388AA3}"/>
              </a:ext>
            </a:extLst>
          </p:cNvPr>
          <p:cNvCxnSpPr/>
          <p:nvPr/>
        </p:nvCxnSpPr>
        <p:spPr>
          <a:xfrm>
            <a:off x="350505" y="1412341"/>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B874B51-3F7C-0A15-44E9-4DC8D9610FDC}"/>
              </a:ext>
            </a:extLst>
          </p:cNvPr>
          <p:cNvCxnSpPr/>
          <p:nvPr/>
        </p:nvCxnSpPr>
        <p:spPr>
          <a:xfrm>
            <a:off x="328214" y="3213115"/>
            <a:ext cx="113371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3990B38-3717-8549-07F4-59CDAE9543DF}"/>
              </a:ext>
            </a:extLst>
          </p:cNvPr>
          <p:cNvCxnSpPr/>
          <p:nvPr/>
        </p:nvCxnSpPr>
        <p:spPr>
          <a:xfrm>
            <a:off x="328270" y="4894037"/>
            <a:ext cx="11337146" cy="0"/>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48FDC7C4-3B38-606F-2648-BA1BB8DD195C}"/>
              </a:ext>
            </a:extLst>
          </p:cNvPr>
          <p:cNvSpPr txBox="1"/>
          <p:nvPr/>
        </p:nvSpPr>
        <p:spPr>
          <a:xfrm>
            <a:off x="8240094" y="2905074"/>
            <a:ext cx="1607684" cy="369332"/>
          </a:xfrm>
          <a:prstGeom prst="rect">
            <a:avLst/>
          </a:prstGeom>
          <a:noFill/>
        </p:spPr>
        <p:txBody>
          <a:bodyPr wrap="none" rtlCol="0">
            <a:spAutoFit/>
          </a:bodyPr>
          <a:lstStyle/>
          <a:p>
            <a:r>
              <a:rPr lang="en-US" dirty="0"/>
              <a:t>108 total trials</a:t>
            </a:r>
          </a:p>
        </p:txBody>
      </p:sp>
      <p:sp>
        <p:nvSpPr>
          <p:cNvPr id="37" name="TextBox 36">
            <a:extLst>
              <a:ext uri="{FF2B5EF4-FFF2-40B4-BE49-F238E27FC236}">
                <a16:creationId xmlns:a16="http://schemas.microsoft.com/office/drawing/2014/main" id="{2597AE3D-75A5-AA9C-AEE3-8F167E15962E}"/>
              </a:ext>
            </a:extLst>
          </p:cNvPr>
          <p:cNvSpPr txBox="1"/>
          <p:nvPr/>
        </p:nvSpPr>
        <p:spPr>
          <a:xfrm>
            <a:off x="1207235" y="6522148"/>
            <a:ext cx="1607684" cy="369332"/>
          </a:xfrm>
          <a:prstGeom prst="rect">
            <a:avLst/>
          </a:prstGeom>
          <a:noFill/>
        </p:spPr>
        <p:txBody>
          <a:bodyPr wrap="none" rtlCol="0">
            <a:spAutoFit/>
          </a:bodyPr>
          <a:lstStyle/>
          <a:p>
            <a:r>
              <a:rPr lang="en-US" dirty="0"/>
              <a:t>108 total trials</a:t>
            </a:r>
          </a:p>
        </p:txBody>
      </p:sp>
      <p:sp>
        <p:nvSpPr>
          <p:cNvPr id="38" name="TextBox 37">
            <a:extLst>
              <a:ext uri="{FF2B5EF4-FFF2-40B4-BE49-F238E27FC236}">
                <a16:creationId xmlns:a16="http://schemas.microsoft.com/office/drawing/2014/main" id="{FCAACFA8-E4D0-DF3F-0D1D-CECE383ABB56}"/>
              </a:ext>
            </a:extLst>
          </p:cNvPr>
          <p:cNvSpPr txBox="1"/>
          <p:nvPr/>
        </p:nvSpPr>
        <p:spPr>
          <a:xfrm>
            <a:off x="3914318" y="6533561"/>
            <a:ext cx="1607684" cy="369332"/>
          </a:xfrm>
          <a:prstGeom prst="rect">
            <a:avLst/>
          </a:prstGeom>
          <a:noFill/>
        </p:spPr>
        <p:txBody>
          <a:bodyPr wrap="none" rtlCol="0">
            <a:spAutoFit/>
          </a:bodyPr>
          <a:lstStyle/>
          <a:p>
            <a:r>
              <a:rPr lang="en-US" dirty="0"/>
              <a:t>112 total trials</a:t>
            </a:r>
          </a:p>
        </p:txBody>
      </p:sp>
      <p:sp>
        <p:nvSpPr>
          <p:cNvPr id="39" name="TextBox 38">
            <a:extLst>
              <a:ext uri="{FF2B5EF4-FFF2-40B4-BE49-F238E27FC236}">
                <a16:creationId xmlns:a16="http://schemas.microsoft.com/office/drawing/2014/main" id="{5A5F07B3-B64A-BD0D-394B-DAE614DA6D43}"/>
              </a:ext>
            </a:extLst>
          </p:cNvPr>
          <p:cNvSpPr txBox="1"/>
          <p:nvPr/>
        </p:nvSpPr>
        <p:spPr>
          <a:xfrm>
            <a:off x="4928522" y="2905074"/>
            <a:ext cx="1607684" cy="369332"/>
          </a:xfrm>
          <a:prstGeom prst="rect">
            <a:avLst/>
          </a:prstGeom>
          <a:noFill/>
        </p:spPr>
        <p:txBody>
          <a:bodyPr wrap="none" rtlCol="0">
            <a:spAutoFit/>
          </a:bodyPr>
          <a:lstStyle/>
          <a:p>
            <a:r>
              <a:rPr lang="en-US" dirty="0"/>
              <a:t>112 total trials</a:t>
            </a:r>
          </a:p>
        </p:txBody>
      </p:sp>
      <p:sp>
        <p:nvSpPr>
          <p:cNvPr id="40" name="TextBox 39">
            <a:extLst>
              <a:ext uri="{FF2B5EF4-FFF2-40B4-BE49-F238E27FC236}">
                <a16:creationId xmlns:a16="http://schemas.microsoft.com/office/drawing/2014/main" id="{A4517844-85D3-430C-147F-B2D3C604034C}"/>
              </a:ext>
            </a:extLst>
          </p:cNvPr>
          <p:cNvSpPr txBox="1"/>
          <p:nvPr/>
        </p:nvSpPr>
        <p:spPr>
          <a:xfrm>
            <a:off x="1644126" y="2905500"/>
            <a:ext cx="1484252" cy="369332"/>
          </a:xfrm>
          <a:prstGeom prst="rect">
            <a:avLst/>
          </a:prstGeom>
          <a:noFill/>
        </p:spPr>
        <p:txBody>
          <a:bodyPr wrap="none" rtlCol="0">
            <a:spAutoFit/>
          </a:bodyPr>
          <a:lstStyle/>
          <a:p>
            <a:r>
              <a:rPr lang="en-US" dirty="0"/>
              <a:t>20 total trials</a:t>
            </a:r>
          </a:p>
        </p:txBody>
      </p:sp>
      <p:sp>
        <p:nvSpPr>
          <p:cNvPr id="41" name="TextBox 40">
            <a:extLst>
              <a:ext uri="{FF2B5EF4-FFF2-40B4-BE49-F238E27FC236}">
                <a16:creationId xmlns:a16="http://schemas.microsoft.com/office/drawing/2014/main" id="{24C6778D-C2E7-C37B-0020-E1B30009E3A8}"/>
              </a:ext>
            </a:extLst>
          </p:cNvPr>
          <p:cNvSpPr txBox="1"/>
          <p:nvPr/>
        </p:nvSpPr>
        <p:spPr>
          <a:xfrm>
            <a:off x="6999819" y="6547039"/>
            <a:ext cx="1484252" cy="369332"/>
          </a:xfrm>
          <a:prstGeom prst="rect">
            <a:avLst/>
          </a:prstGeom>
          <a:noFill/>
        </p:spPr>
        <p:txBody>
          <a:bodyPr wrap="none" rtlCol="0">
            <a:spAutoFit/>
          </a:bodyPr>
          <a:lstStyle/>
          <a:p>
            <a:r>
              <a:rPr lang="en-US" dirty="0"/>
              <a:t>20 total trials</a:t>
            </a:r>
          </a:p>
        </p:txBody>
      </p:sp>
    </p:spTree>
    <p:extLst>
      <p:ext uri="{BB962C8B-B14F-4D97-AF65-F5344CB8AC3E}">
        <p14:creationId xmlns:p14="http://schemas.microsoft.com/office/powerpoint/2010/main" val="2880624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p:bldP spid="28" grpId="0"/>
      <p:bldP spid="29" grpId="0"/>
      <p:bldP spid="30" grpId="0"/>
      <p:bldP spid="31" grpId="0"/>
      <p:bldP spid="32" grpId="0"/>
      <p:bldP spid="13" grpId="0"/>
      <p:bldP spid="14" grpId="0"/>
      <p:bldP spid="20" grpId="0"/>
      <p:bldP spid="36" grpId="0"/>
      <p:bldP spid="37" grpId="0"/>
      <p:bldP spid="38" grpId="0"/>
      <p:bldP spid="39" grpId="0"/>
      <p:bldP spid="40" grpId="0"/>
      <p:bldP spid="4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73A149-A8BD-DF6B-CCDE-8310C24F1F23}"/>
              </a:ext>
            </a:extLst>
          </p:cNvPr>
          <p:cNvSpPr>
            <a:spLocks noGrp="1"/>
          </p:cNvSpPr>
          <p:nvPr>
            <p:ph type="title"/>
          </p:nvPr>
        </p:nvSpPr>
        <p:spPr/>
        <p:txBody>
          <a:bodyPr/>
          <a:lstStyle/>
          <a:p>
            <a:r>
              <a:rPr lang="en-US" dirty="0"/>
              <a:t>Request for feedback</a:t>
            </a:r>
          </a:p>
        </p:txBody>
      </p:sp>
      <p:sp>
        <p:nvSpPr>
          <p:cNvPr id="5" name="Text Placeholder 4">
            <a:extLst>
              <a:ext uri="{FF2B5EF4-FFF2-40B4-BE49-F238E27FC236}">
                <a16:creationId xmlns:a16="http://schemas.microsoft.com/office/drawing/2014/main" id="{5B49587D-C4CE-CE1F-FC64-5C74D8DCD7D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043723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10D97-2D65-4887-56D0-CF733676AC76}"/>
              </a:ext>
            </a:extLst>
          </p:cNvPr>
          <p:cNvSpPr>
            <a:spLocks noGrp="1"/>
          </p:cNvSpPr>
          <p:nvPr>
            <p:ph type="title"/>
          </p:nvPr>
        </p:nvSpPr>
        <p:spPr/>
        <p:txBody>
          <a:bodyPr/>
          <a:lstStyle/>
          <a:p>
            <a:r>
              <a:rPr lang="en-US" dirty="0"/>
              <a:t>Request for feedback</a:t>
            </a:r>
          </a:p>
        </p:txBody>
      </p:sp>
      <p:sp>
        <p:nvSpPr>
          <p:cNvPr id="3" name="Content Placeholder 2">
            <a:extLst>
              <a:ext uri="{FF2B5EF4-FFF2-40B4-BE49-F238E27FC236}">
                <a16:creationId xmlns:a16="http://schemas.microsoft.com/office/drawing/2014/main" id="{DFF14612-EB76-AFB5-95ED-1F4690E749F6}"/>
              </a:ext>
            </a:extLst>
          </p:cNvPr>
          <p:cNvSpPr>
            <a:spLocks noGrp="1"/>
          </p:cNvSpPr>
          <p:nvPr>
            <p:ph idx="1"/>
          </p:nvPr>
        </p:nvSpPr>
        <p:spPr>
          <a:xfrm>
            <a:off x="838200" y="1825625"/>
            <a:ext cx="10515600" cy="4667250"/>
          </a:xfrm>
        </p:spPr>
        <p:txBody>
          <a:bodyPr>
            <a:normAutofit fontScale="92500" lnSpcReduction="10000"/>
          </a:bodyPr>
          <a:lstStyle/>
          <a:p>
            <a:pPr marL="0" indent="0">
              <a:buNone/>
            </a:pPr>
            <a:r>
              <a:rPr lang="en-US" dirty="0"/>
              <a:t>1. LD-Q</a:t>
            </a:r>
          </a:p>
          <a:p>
            <a:pPr marL="971550" lvl="1" indent="-514350">
              <a:buAutoNum type="alphaLcPeriod"/>
            </a:pPr>
            <a:r>
              <a:rPr lang="en-US" dirty="0"/>
              <a:t>Questions of Part 2</a:t>
            </a:r>
          </a:p>
          <a:p>
            <a:pPr marL="971550" lvl="1" indent="-514350">
              <a:buAutoNum type="alphaLcPeriod"/>
            </a:pPr>
            <a:r>
              <a:rPr lang="en-US" dirty="0"/>
              <a:t>Measure of MLD using language entropy</a:t>
            </a:r>
          </a:p>
          <a:p>
            <a:pPr marL="0" indent="0">
              <a:buNone/>
            </a:pPr>
            <a:r>
              <a:rPr lang="en-US" dirty="0"/>
              <a:t>2. VAS stimuli</a:t>
            </a:r>
          </a:p>
          <a:p>
            <a:pPr marL="914400" lvl="1" indent="-457200">
              <a:buAutoNum type="alphaLcPeriod"/>
            </a:pPr>
            <a:r>
              <a:rPr lang="en-US" dirty="0"/>
              <a:t>planned manipulations (see extra slides)</a:t>
            </a:r>
          </a:p>
          <a:p>
            <a:pPr marL="914400" lvl="1" indent="-457200">
              <a:buAutoNum type="alphaLcPeriod"/>
            </a:pPr>
            <a:r>
              <a:rPr lang="en-US" dirty="0"/>
              <a:t>(procedure) position of word endpoints for experiment 1</a:t>
            </a:r>
          </a:p>
          <a:p>
            <a:pPr marL="914400" lvl="1" indent="-457200">
              <a:buAutoNum type="alphaLcPeriod"/>
            </a:pPr>
            <a:r>
              <a:rPr lang="en-US" dirty="0"/>
              <a:t>(procedure) attention checks</a:t>
            </a:r>
          </a:p>
          <a:p>
            <a:pPr marL="0" indent="0">
              <a:buNone/>
            </a:pPr>
            <a:r>
              <a:rPr lang="en-US" dirty="0"/>
              <a:t>3. Ratio of training to testing stimuli for discrimination</a:t>
            </a:r>
          </a:p>
          <a:p>
            <a:pPr marL="0" indent="0">
              <a:buNone/>
            </a:pPr>
            <a:r>
              <a:rPr lang="en-US" dirty="0"/>
              <a:t>4. Low LD vs. High LD trials – repeat Japanese trials to match trial number or shorten trial number?</a:t>
            </a:r>
          </a:p>
          <a:p>
            <a:pPr marL="0" indent="0">
              <a:buNone/>
            </a:pPr>
            <a:r>
              <a:rPr lang="en-US" dirty="0"/>
              <a:t>5. Procedure order for Experiment 2 and 3: pre-test to post-test</a:t>
            </a:r>
          </a:p>
          <a:p>
            <a:pPr marL="0" indent="0">
              <a:buNone/>
            </a:pPr>
            <a:r>
              <a:rPr lang="en-US" dirty="0"/>
              <a:t>6. MCPD listening assessment</a:t>
            </a:r>
          </a:p>
        </p:txBody>
      </p:sp>
    </p:spTree>
    <p:extLst>
      <p:ext uri="{BB962C8B-B14F-4D97-AF65-F5344CB8AC3E}">
        <p14:creationId xmlns:p14="http://schemas.microsoft.com/office/powerpoint/2010/main" val="5763276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06420-2C57-BF51-2426-96F7D0B55A52}"/>
              </a:ext>
            </a:extLst>
          </p:cNvPr>
          <p:cNvSpPr>
            <a:spLocks noGrp="1"/>
          </p:cNvSpPr>
          <p:nvPr>
            <p:ph type="title"/>
          </p:nvPr>
        </p:nvSpPr>
        <p:spPr/>
        <p:txBody>
          <a:bodyPr/>
          <a:lstStyle/>
          <a:p>
            <a:r>
              <a:rPr lang="en-US" dirty="0"/>
              <a:t>More elaboration</a:t>
            </a:r>
          </a:p>
        </p:txBody>
      </p:sp>
      <p:sp>
        <p:nvSpPr>
          <p:cNvPr id="3" name="Text Placeholder 2">
            <a:extLst>
              <a:ext uri="{FF2B5EF4-FFF2-40B4-BE49-F238E27FC236}">
                <a16:creationId xmlns:a16="http://schemas.microsoft.com/office/drawing/2014/main" id="{F3C728FD-B25C-71CC-30A7-181D6E108B1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616054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40EC-7E31-AAEE-C3A5-FB9C5AAFF88D}"/>
              </a:ext>
            </a:extLst>
          </p:cNvPr>
          <p:cNvSpPr>
            <a:spLocks noGrp="1"/>
          </p:cNvSpPr>
          <p:nvPr>
            <p:ph type="title"/>
          </p:nvPr>
        </p:nvSpPr>
        <p:spPr/>
        <p:txBody>
          <a:bodyPr>
            <a:noAutofit/>
          </a:bodyPr>
          <a:lstStyle/>
          <a:p>
            <a:r>
              <a:rPr lang="en-US" sz="3200" dirty="0"/>
              <a:t>The goal of Experiment 1 is to explore the relationship between experiential linguistic diversity and categorization gradiency of L1 and L2 speech</a:t>
            </a:r>
          </a:p>
        </p:txBody>
      </p:sp>
      <p:sp>
        <p:nvSpPr>
          <p:cNvPr id="3" name="Content Placeholder 2">
            <a:extLst>
              <a:ext uri="{FF2B5EF4-FFF2-40B4-BE49-F238E27FC236}">
                <a16:creationId xmlns:a16="http://schemas.microsoft.com/office/drawing/2014/main" id="{78EFDF56-9D7B-322E-2529-7CA33A2150CA}"/>
              </a:ext>
            </a:extLst>
          </p:cNvPr>
          <p:cNvSpPr>
            <a:spLocks noGrp="1"/>
          </p:cNvSpPr>
          <p:nvPr>
            <p:ph idx="1"/>
          </p:nvPr>
        </p:nvSpPr>
        <p:spPr>
          <a:xfrm>
            <a:off x="838200" y="2386063"/>
            <a:ext cx="10515600" cy="4811149"/>
          </a:xfrm>
        </p:spPr>
        <p:txBody>
          <a:bodyPr>
            <a:normAutofit/>
          </a:bodyPr>
          <a:lstStyle/>
          <a:p>
            <a:r>
              <a:rPr lang="en-US" dirty="0"/>
              <a:t>Purpose: explore connection between categorization gradiency and linguistic diversity background</a:t>
            </a:r>
          </a:p>
          <a:p>
            <a:r>
              <a:rPr lang="en-US" dirty="0"/>
              <a:t>Participants: L1 English listeners with any language background, naïve or not to </a:t>
            </a:r>
          </a:p>
          <a:p>
            <a:r>
              <a:rPr lang="en-US" dirty="0"/>
              <a:t>Stimuli: continuum stimuli for both L1 English and L2 Japanese</a:t>
            </a:r>
          </a:p>
          <a:p>
            <a:r>
              <a:rPr lang="en-US" dirty="0"/>
              <a:t>Procedure: VAS categorization task, linguistic diversity questionnaire</a:t>
            </a:r>
          </a:p>
          <a:p>
            <a:r>
              <a:rPr lang="en-US" dirty="0"/>
              <a:t>Data analysis: LPA for categorization and regression analysis</a:t>
            </a:r>
          </a:p>
        </p:txBody>
      </p:sp>
    </p:spTree>
    <p:extLst>
      <p:ext uri="{BB962C8B-B14F-4D97-AF65-F5344CB8AC3E}">
        <p14:creationId xmlns:p14="http://schemas.microsoft.com/office/powerpoint/2010/main" val="21403594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76A71-1813-EA2D-5714-856CF9F5E050}"/>
              </a:ext>
            </a:extLst>
          </p:cNvPr>
          <p:cNvSpPr>
            <a:spLocks noGrp="1"/>
          </p:cNvSpPr>
          <p:nvPr>
            <p:ph type="title"/>
          </p:nvPr>
        </p:nvSpPr>
        <p:spPr/>
        <p:txBody>
          <a:bodyPr/>
          <a:lstStyle/>
          <a:p>
            <a:r>
              <a:rPr lang="en-US" dirty="0"/>
              <a:t>Experiment 1 is a one-day experiment expected to take ~1 hr</a:t>
            </a:r>
          </a:p>
        </p:txBody>
      </p:sp>
      <p:pic>
        <p:nvPicPr>
          <p:cNvPr id="9" name="Graphic 8" descr="Swipe Gesture with solid fill">
            <a:extLst>
              <a:ext uri="{FF2B5EF4-FFF2-40B4-BE49-F238E27FC236}">
                <a16:creationId xmlns:a16="http://schemas.microsoft.com/office/drawing/2014/main" id="{22E04D9D-FFFD-6C93-FD05-53D567BE71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28921" y="2735535"/>
            <a:ext cx="914400" cy="914400"/>
          </a:xfrm>
          <a:prstGeom prst="rect">
            <a:avLst/>
          </a:prstGeom>
        </p:spPr>
      </p:pic>
      <p:pic>
        <p:nvPicPr>
          <p:cNvPr id="10" name="Graphic 9" descr="Clipboard with solid fill">
            <a:extLst>
              <a:ext uri="{FF2B5EF4-FFF2-40B4-BE49-F238E27FC236}">
                <a16:creationId xmlns:a16="http://schemas.microsoft.com/office/drawing/2014/main" id="{B5089F72-2F69-8E71-E572-7D56AFE583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30480" y="2731780"/>
            <a:ext cx="914400" cy="914400"/>
          </a:xfrm>
          <a:prstGeom prst="rect">
            <a:avLst/>
          </a:prstGeom>
        </p:spPr>
      </p:pic>
      <p:sp>
        <p:nvSpPr>
          <p:cNvPr id="11" name="TextBox 10">
            <a:extLst>
              <a:ext uri="{FF2B5EF4-FFF2-40B4-BE49-F238E27FC236}">
                <a16:creationId xmlns:a16="http://schemas.microsoft.com/office/drawing/2014/main" id="{A49F6EA5-9B31-3C33-9CD1-8BD59B13C277}"/>
              </a:ext>
            </a:extLst>
          </p:cNvPr>
          <p:cNvSpPr txBox="1"/>
          <p:nvPr/>
        </p:nvSpPr>
        <p:spPr>
          <a:xfrm>
            <a:off x="1210671" y="2155359"/>
            <a:ext cx="2350900" cy="523220"/>
          </a:xfrm>
          <a:prstGeom prst="rect">
            <a:avLst/>
          </a:prstGeom>
          <a:noFill/>
        </p:spPr>
        <p:txBody>
          <a:bodyPr wrap="none" rtlCol="0">
            <a:spAutoFit/>
          </a:bodyPr>
          <a:lstStyle/>
          <a:p>
            <a:r>
              <a:rPr lang="en-US" sz="2800" dirty="0"/>
              <a:t>L1 and L2 VAS</a:t>
            </a:r>
          </a:p>
        </p:txBody>
      </p:sp>
      <p:sp>
        <p:nvSpPr>
          <p:cNvPr id="12" name="TextBox 11">
            <a:extLst>
              <a:ext uri="{FF2B5EF4-FFF2-40B4-BE49-F238E27FC236}">
                <a16:creationId xmlns:a16="http://schemas.microsoft.com/office/drawing/2014/main" id="{E01F63C0-9102-FB3C-B116-35B9EFA372E8}"/>
              </a:ext>
            </a:extLst>
          </p:cNvPr>
          <p:cNvSpPr txBox="1"/>
          <p:nvPr/>
        </p:nvSpPr>
        <p:spPr>
          <a:xfrm>
            <a:off x="8989787" y="2155359"/>
            <a:ext cx="995785" cy="523220"/>
          </a:xfrm>
          <a:prstGeom prst="rect">
            <a:avLst/>
          </a:prstGeom>
          <a:noFill/>
        </p:spPr>
        <p:txBody>
          <a:bodyPr wrap="none" rtlCol="0">
            <a:spAutoFit/>
          </a:bodyPr>
          <a:lstStyle/>
          <a:p>
            <a:r>
              <a:rPr lang="en-US" sz="2800" dirty="0"/>
              <a:t>LD-Q</a:t>
            </a:r>
          </a:p>
        </p:txBody>
      </p:sp>
      <p:sp>
        <p:nvSpPr>
          <p:cNvPr id="13" name="TextBox 12">
            <a:extLst>
              <a:ext uri="{FF2B5EF4-FFF2-40B4-BE49-F238E27FC236}">
                <a16:creationId xmlns:a16="http://schemas.microsoft.com/office/drawing/2014/main" id="{76D4C97E-9A25-BC9C-9A1F-D1BE50793843}"/>
              </a:ext>
            </a:extLst>
          </p:cNvPr>
          <p:cNvSpPr txBox="1"/>
          <p:nvPr/>
        </p:nvSpPr>
        <p:spPr>
          <a:xfrm>
            <a:off x="986119" y="3908612"/>
            <a:ext cx="4751294" cy="2308324"/>
          </a:xfrm>
          <a:prstGeom prst="rect">
            <a:avLst/>
          </a:prstGeom>
          <a:noFill/>
        </p:spPr>
        <p:txBody>
          <a:bodyPr wrap="square" rtlCol="0">
            <a:spAutoFit/>
          </a:bodyPr>
          <a:lstStyle/>
          <a:p>
            <a:r>
              <a:rPr lang="en-US" dirty="0"/>
              <a:t>2 blocks of L1 English followed by 2 blocks of L2 Japanese</a:t>
            </a:r>
          </a:p>
          <a:p>
            <a:pPr marL="285750" indent="-285750">
              <a:buFont typeface="Arial" panose="020B0604020202020204" pitchFamily="34" charset="0"/>
              <a:buChar char="•"/>
            </a:pPr>
            <a:r>
              <a:rPr lang="en-US" dirty="0"/>
              <a:t>35 tokens per continua, each token presented 3 times</a:t>
            </a:r>
          </a:p>
          <a:p>
            <a:pPr marL="285750" indent="-285750">
              <a:buFont typeface="Arial" panose="020B0604020202020204" pitchFamily="34" charset="0"/>
              <a:buChar char="•"/>
            </a:pPr>
            <a:r>
              <a:rPr lang="en-US" dirty="0"/>
              <a:t>105 trials per block, 420 total trials</a:t>
            </a:r>
          </a:p>
          <a:p>
            <a:pPr marL="285750" indent="-285750">
              <a:buFont typeface="Arial" panose="020B0604020202020204" pitchFamily="34" charset="0"/>
              <a:buChar char="•"/>
            </a:pPr>
            <a:r>
              <a:rPr lang="en-US" dirty="0"/>
              <a:t>position of endpoint words randomized across participants</a:t>
            </a:r>
          </a:p>
          <a:p>
            <a:pPr marL="285750" indent="-285750">
              <a:buFont typeface="Arial" panose="020B0604020202020204" pitchFamily="34" charset="0"/>
              <a:buChar char="•"/>
            </a:pPr>
            <a:r>
              <a:rPr lang="en-US" dirty="0"/>
              <a:t>two attention checks early on</a:t>
            </a:r>
          </a:p>
        </p:txBody>
      </p:sp>
      <p:sp>
        <p:nvSpPr>
          <p:cNvPr id="14" name="5-Point Star 13">
            <a:extLst>
              <a:ext uri="{FF2B5EF4-FFF2-40B4-BE49-F238E27FC236}">
                <a16:creationId xmlns:a16="http://schemas.microsoft.com/office/drawing/2014/main" id="{EA64B499-8502-5AC2-40ED-2C18545D9065}"/>
              </a:ext>
            </a:extLst>
          </p:cNvPr>
          <p:cNvSpPr/>
          <p:nvPr/>
        </p:nvSpPr>
        <p:spPr>
          <a:xfrm>
            <a:off x="594641" y="4850123"/>
            <a:ext cx="343683" cy="28168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5-Point Star 14">
            <a:extLst>
              <a:ext uri="{FF2B5EF4-FFF2-40B4-BE49-F238E27FC236}">
                <a16:creationId xmlns:a16="http://schemas.microsoft.com/office/drawing/2014/main" id="{2012BFCE-5A00-C738-290C-8276478F81BD}"/>
              </a:ext>
            </a:extLst>
          </p:cNvPr>
          <p:cNvSpPr/>
          <p:nvPr/>
        </p:nvSpPr>
        <p:spPr>
          <a:xfrm>
            <a:off x="594640" y="5210493"/>
            <a:ext cx="343683" cy="28168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5-Point Star 15">
            <a:extLst>
              <a:ext uri="{FF2B5EF4-FFF2-40B4-BE49-F238E27FC236}">
                <a16:creationId xmlns:a16="http://schemas.microsoft.com/office/drawing/2014/main" id="{D9DFA79C-9908-7CCC-1535-0469DBAFC018}"/>
              </a:ext>
            </a:extLst>
          </p:cNvPr>
          <p:cNvSpPr/>
          <p:nvPr/>
        </p:nvSpPr>
        <p:spPr>
          <a:xfrm>
            <a:off x="594641" y="5570863"/>
            <a:ext cx="343683" cy="28168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5-Point Star 16">
            <a:extLst>
              <a:ext uri="{FF2B5EF4-FFF2-40B4-BE49-F238E27FC236}">
                <a16:creationId xmlns:a16="http://schemas.microsoft.com/office/drawing/2014/main" id="{7D3566BA-990B-0B26-438C-2E75C075116E}"/>
              </a:ext>
            </a:extLst>
          </p:cNvPr>
          <p:cNvSpPr/>
          <p:nvPr/>
        </p:nvSpPr>
        <p:spPr>
          <a:xfrm>
            <a:off x="594640" y="6009917"/>
            <a:ext cx="343683" cy="28168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692AF99-E894-9222-5BC0-3D15D1F703AE}"/>
              </a:ext>
            </a:extLst>
          </p:cNvPr>
          <p:cNvCxnSpPr/>
          <p:nvPr/>
        </p:nvCxnSpPr>
        <p:spPr>
          <a:xfrm>
            <a:off x="4533900" y="3143250"/>
            <a:ext cx="3390900"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A642537-27BF-F417-3DD9-9145C9E7C961}"/>
              </a:ext>
            </a:extLst>
          </p:cNvPr>
          <p:cNvSpPr txBox="1"/>
          <p:nvPr/>
        </p:nvSpPr>
        <p:spPr>
          <a:xfrm>
            <a:off x="6923507" y="3649980"/>
            <a:ext cx="475129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Part 1: Select questions from Language History Questionnaire  3 (LHQ3) to measure active use and exposure for known languages</a:t>
            </a:r>
          </a:p>
          <a:p>
            <a:pPr marL="742950" lvl="1" indent="-285750">
              <a:buFont typeface="Arial" panose="020B0604020202020204" pitchFamily="34" charset="0"/>
              <a:buChar char="•"/>
            </a:pPr>
            <a:r>
              <a:rPr lang="en-US" dirty="0"/>
              <a:t>Results in measure of active Multilingual Language Diversity (MLD-A)</a:t>
            </a:r>
          </a:p>
          <a:p>
            <a:pPr marL="285750" indent="-285750">
              <a:buFont typeface="Arial" panose="020B0604020202020204" pitchFamily="34" charset="0"/>
              <a:buChar char="•"/>
            </a:pPr>
            <a:r>
              <a:rPr lang="en-US" dirty="0"/>
              <a:t>Part 2: Passive language use and exposure for both known and unknown languages</a:t>
            </a:r>
          </a:p>
          <a:p>
            <a:pPr marL="742950" lvl="1" indent="-285750">
              <a:buFont typeface="Arial" panose="020B0604020202020204" pitchFamily="34" charset="0"/>
              <a:buChar char="•"/>
            </a:pPr>
            <a:r>
              <a:rPr lang="en-US" dirty="0"/>
              <a:t>Results in measure of passive MLD (MLD-P)</a:t>
            </a:r>
          </a:p>
          <a:p>
            <a:pPr marL="285750" indent="-285750">
              <a:buFont typeface="Arial" panose="020B0604020202020204" pitchFamily="34" charset="0"/>
              <a:buChar char="•"/>
            </a:pPr>
            <a:endParaRPr lang="en-US" dirty="0"/>
          </a:p>
        </p:txBody>
      </p:sp>
      <p:sp>
        <p:nvSpPr>
          <p:cNvPr id="21" name="5-Point Star 20">
            <a:extLst>
              <a:ext uri="{FF2B5EF4-FFF2-40B4-BE49-F238E27FC236}">
                <a16:creationId xmlns:a16="http://schemas.microsoft.com/office/drawing/2014/main" id="{630D5AAC-87CD-D2A8-43B8-07CBEF3375E5}"/>
              </a:ext>
            </a:extLst>
          </p:cNvPr>
          <p:cNvSpPr/>
          <p:nvPr/>
        </p:nvSpPr>
        <p:spPr>
          <a:xfrm>
            <a:off x="6610584" y="5852549"/>
            <a:ext cx="343683" cy="28168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241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93BA882-67B3-EE49-8601-A6AC79DFCA06}"/>
              </a:ext>
            </a:extLst>
          </p:cNvPr>
          <p:cNvGrpSpPr/>
          <p:nvPr/>
        </p:nvGrpSpPr>
        <p:grpSpPr>
          <a:xfrm>
            <a:off x="484094" y="663388"/>
            <a:ext cx="11331388" cy="5827059"/>
            <a:chOff x="484094" y="663388"/>
            <a:chExt cx="11331388" cy="5827059"/>
          </a:xfrm>
        </p:grpSpPr>
        <p:grpSp>
          <p:nvGrpSpPr>
            <p:cNvPr id="8" name="Group 7">
              <a:extLst>
                <a:ext uri="{FF2B5EF4-FFF2-40B4-BE49-F238E27FC236}">
                  <a16:creationId xmlns:a16="http://schemas.microsoft.com/office/drawing/2014/main" id="{519DB6AF-99A9-ADEB-BC62-EDBEC42BB466}"/>
                </a:ext>
              </a:extLst>
            </p:cNvPr>
            <p:cNvGrpSpPr/>
            <p:nvPr/>
          </p:nvGrpSpPr>
          <p:grpSpPr>
            <a:xfrm>
              <a:off x="484094" y="663388"/>
              <a:ext cx="11331388" cy="5827059"/>
              <a:chOff x="484094" y="663388"/>
              <a:chExt cx="11331388" cy="5827059"/>
            </a:xfrm>
          </p:grpSpPr>
          <p:cxnSp>
            <p:nvCxnSpPr>
              <p:cNvPr id="5" name="Straight Connector 4">
                <a:extLst>
                  <a:ext uri="{FF2B5EF4-FFF2-40B4-BE49-F238E27FC236}">
                    <a16:creationId xmlns:a16="http://schemas.microsoft.com/office/drawing/2014/main" id="{48D3EC28-2950-7839-9ADB-9049AD81BFB4}"/>
                  </a:ext>
                </a:extLst>
              </p:cNvPr>
              <p:cNvCxnSpPr>
                <a:cxnSpLocks/>
              </p:cNvCxnSpPr>
              <p:nvPr/>
            </p:nvCxnSpPr>
            <p:spPr>
              <a:xfrm>
                <a:off x="2878015" y="3516923"/>
                <a:ext cx="6435969" cy="0"/>
              </a:xfrm>
              <a:prstGeom prst="line">
                <a:avLst/>
              </a:prstGeom>
              <a:ln w="3810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2A7D0212-95BD-3433-1C9B-69D4775F2480}"/>
                  </a:ext>
                </a:extLst>
              </p:cNvPr>
              <p:cNvSpPr txBox="1"/>
              <p:nvPr/>
            </p:nvSpPr>
            <p:spPr>
              <a:xfrm>
                <a:off x="1218080" y="2916758"/>
                <a:ext cx="1107997" cy="1200329"/>
              </a:xfrm>
              <a:prstGeom prst="rect">
                <a:avLst/>
              </a:prstGeom>
              <a:noFill/>
            </p:spPr>
            <p:txBody>
              <a:bodyPr wrap="none" rtlCol="0">
                <a:spAutoFit/>
              </a:bodyPr>
              <a:lstStyle/>
              <a:p>
                <a:pPr algn="ctr"/>
                <a:r>
                  <a:rPr lang="en-US" sz="3600" dirty="0" err="1"/>
                  <a:t>とる</a:t>
                </a:r>
                <a:endParaRPr lang="en-US" sz="3600" dirty="0"/>
              </a:p>
              <a:p>
                <a:pPr algn="ctr"/>
                <a:r>
                  <a:rPr lang="en-US" sz="3600" dirty="0" err="1"/>
                  <a:t>toru</a:t>
                </a:r>
                <a:endParaRPr lang="en-US" sz="3600" dirty="0"/>
              </a:p>
            </p:txBody>
          </p:sp>
          <p:sp>
            <p:nvSpPr>
              <p:cNvPr id="3" name="TextBox 2">
                <a:extLst>
                  <a:ext uri="{FF2B5EF4-FFF2-40B4-BE49-F238E27FC236}">
                    <a16:creationId xmlns:a16="http://schemas.microsoft.com/office/drawing/2014/main" id="{372DC601-F5BC-5826-626C-F2504D50DC82}"/>
                  </a:ext>
                </a:extLst>
              </p:cNvPr>
              <p:cNvSpPr txBox="1"/>
              <p:nvPr/>
            </p:nvSpPr>
            <p:spPr>
              <a:xfrm>
                <a:off x="9865922" y="2916758"/>
                <a:ext cx="1569660" cy="1200329"/>
              </a:xfrm>
              <a:prstGeom prst="rect">
                <a:avLst/>
              </a:prstGeom>
              <a:noFill/>
            </p:spPr>
            <p:txBody>
              <a:bodyPr wrap="none" rtlCol="0">
                <a:spAutoFit/>
              </a:bodyPr>
              <a:lstStyle/>
              <a:p>
                <a:pPr algn="ctr"/>
                <a:r>
                  <a:rPr lang="en-US" sz="3600" dirty="0" err="1"/>
                  <a:t>とおる</a:t>
                </a:r>
                <a:endParaRPr lang="en-US" sz="3600" dirty="0"/>
              </a:p>
              <a:p>
                <a:pPr algn="ctr"/>
                <a:r>
                  <a:rPr lang="en-US" sz="3600" dirty="0" err="1"/>
                  <a:t>tooru</a:t>
                </a:r>
                <a:endParaRPr lang="en-US" sz="3600" dirty="0"/>
              </a:p>
            </p:txBody>
          </p:sp>
          <p:sp>
            <p:nvSpPr>
              <p:cNvPr id="4" name="Rectangle 3">
                <a:extLst>
                  <a:ext uri="{FF2B5EF4-FFF2-40B4-BE49-F238E27FC236}">
                    <a16:creationId xmlns:a16="http://schemas.microsoft.com/office/drawing/2014/main" id="{BD484007-1B01-E6AE-175C-6ED05661E52F}"/>
                  </a:ext>
                </a:extLst>
              </p:cNvPr>
              <p:cNvSpPr/>
              <p:nvPr/>
            </p:nvSpPr>
            <p:spPr>
              <a:xfrm>
                <a:off x="484094" y="663388"/>
                <a:ext cx="11331388" cy="58270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DD4FAF7F-45B4-869C-28D3-8E2332B6B61A}"/>
                </a:ext>
              </a:extLst>
            </p:cNvPr>
            <p:cNvSpPr txBox="1"/>
            <p:nvPr/>
          </p:nvSpPr>
          <p:spPr>
            <a:xfrm>
              <a:off x="3079548" y="4737865"/>
              <a:ext cx="6032902" cy="1200329"/>
            </a:xfrm>
            <a:prstGeom prst="rect">
              <a:avLst/>
            </a:prstGeom>
            <a:noFill/>
          </p:spPr>
          <p:txBody>
            <a:bodyPr wrap="square" rtlCol="0">
              <a:spAutoFit/>
            </a:bodyPr>
            <a:lstStyle/>
            <a:p>
              <a:pPr algn="ctr"/>
              <a:r>
                <a:rPr lang="en-US" sz="2400" dirty="0"/>
                <a:t>Click on the slider based on what you think the word sounded like, then press the Spacebar to continue.</a:t>
              </a:r>
            </a:p>
          </p:txBody>
        </p:sp>
      </p:grpSp>
    </p:spTree>
    <p:extLst>
      <p:ext uri="{BB962C8B-B14F-4D97-AF65-F5344CB8AC3E}">
        <p14:creationId xmlns:p14="http://schemas.microsoft.com/office/powerpoint/2010/main" val="41501635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4A2DFA4-1F45-8B3C-DDE1-A83103625F03}"/>
              </a:ext>
            </a:extLst>
          </p:cNvPr>
          <p:cNvGrpSpPr/>
          <p:nvPr/>
        </p:nvGrpSpPr>
        <p:grpSpPr>
          <a:xfrm>
            <a:off x="484094" y="663388"/>
            <a:ext cx="11331388" cy="5827059"/>
            <a:chOff x="484094" y="663388"/>
            <a:chExt cx="11331388" cy="5827059"/>
          </a:xfrm>
        </p:grpSpPr>
        <p:grpSp>
          <p:nvGrpSpPr>
            <p:cNvPr id="8" name="Group 7">
              <a:extLst>
                <a:ext uri="{FF2B5EF4-FFF2-40B4-BE49-F238E27FC236}">
                  <a16:creationId xmlns:a16="http://schemas.microsoft.com/office/drawing/2014/main" id="{519DB6AF-99A9-ADEB-BC62-EDBEC42BB466}"/>
                </a:ext>
              </a:extLst>
            </p:cNvPr>
            <p:cNvGrpSpPr/>
            <p:nvPr/>
          </p:nvGrpSpPr>
          <p:grpSpPr>
            <a:xfrm>
              <a:off x="484094" y="663388"/>
              <a:ext cx="11331388" cy="5827059"/>
              <a:chOff x="484094" y="663388"/>
              <a:chExt cx="11331388" cy="5827059"/>
            </a:xfrm>
          </p:grpSpPr>
          <p:cxnSp>
            <p:nvCxnSpPr>
              <p:cNvPr id="5" name="Straight Connector 4">
                <a:extLst>
                  <a:ext uri="{FF2B5EF4-FFF2-40B4-BE49-F238E27FC236}">
                    <a16:creationId xmlns:a16="http://schemas.microsoft.com/office/drawing/2014/main" id="{48D3EC28-2950-7839-9ADB-9049AD81BFB4}"/>
                  </a:ext>
                </a:extLst>
              </p:cNvPr>
              <p:cNvCxnSpPr>
                <a:cxnSpLocks/>
              </p:cNvCxnSpPr>
              <p:nvPr/>
            </p:nvCxnSpPr>
            <p:spPr>
              <a:xfrm>
                <a:off x="2878015" y="3516923"/>
                <a:ext cx="6435969" cy="0"/>
              </a:xfrm>
              <a:prstGeom prst="line">
                <a:avLst/>
              </a:prstGeom>
              <a:ln w="3810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2A7D0212-95BD-3433-1C9B-69D4775F2480}"/>
                  </a:ext>
                </a:extLst>
              </p:cNvPr>
              <p:cNvSpPr txBox="1"/>
              <p:nvPr/>
            </p:nvSpPr>
            <p:spPr>
              <a:xfrm>
                <a:off x="1110397" y="3105834"/>
                <a:ext cx="1172117" cy="646331"/>
              </a:xfrm>
              <a:prstGeom prst="rect">
                <a:avLst/>
              </a:prstGeom>
              <a:noFill/>
            </p:spPr>
            <p:txBody>
              <a:bodyPr wrap="none" rtlCol="0">
                <a:spAutoFit/>
              </a:bodyPr>
              <a:lstStyle/>
              <a:p>
                <a:pPr algn="ctr"/>
                <a:r>
                  <a:rPr lang="en-US" sz="3600" dirty="0"/>
                  <a:t>risen</a:t>
                </a:r>
              </a:p>
            </p:txBody>
          </p:sp>
          <p:sp>
            <p:nvSpPr>
              <p:cNvPr id="3" name="TextBox 2">
                <a:extLst>
                  <a:ext uri="{FF2B5EF4-FFF2-40B4-BE49-F238E27FC236}">
                    <a16:creationId xmlns:a16="http://schemas.microsoft.com/office/drawing/2014/main" id="{372DC601-F5BC-5826-626C-F2504D50DC82}"/>
                  </a:ext>
                </a:extLst>
              </p:cNvPr>
              <p:cNvSpPr txBox="1"/>
              <p:nvPr/>
            </p:nvSpPr>
            <p:spPr>
              <a:xfrm>
                <a:off x="9701031" y="3105833"/>
                <a:ext cx="1555362" cy="646331"/>
              </a:xfrm>
              <a:prstGeom prst="rect">
                <a:avLst/>
              </a:prstGeom>
              <a:noFill/>
            </p:spPr>
            <p:txBody>
              <a:bodyPr wrap="none" rtlCol="0">
                <a:spAutoFit/>
              </a:bodyPr>
              <a:lstStyle/>
              <a:p>
                <a:pPr algn="ctr"/>
                <a:r>
                  <a:rPr lang="en-US" sz="3600" dirty="0"/>
                  <a:t>reason</a:t>
                </a:r>
              </a:p>
            </p:txBody>
          </p:sp>
          <p:sp>
            <p:nvSpPr>
              <p:cNvPr id="4" name="Rectangle 3">
                <a:extLst>
                  <a:ext uri="{FF2B5EF4-FFF2-40B4-BE49-F238E27FC236}">
                    <a16:creationId xmlns:a16="http://schemas.microsoft.com/office/drawing/2014/main" id="{BD484007-1B01-E6AE-175C-6ED05661E52F}"/>
                  </a:ext>
                </a:extLst>
              </p:cNvPr>
              <p:cNvSpPr/>
              <p:nvPr/>
            </p:nvSpPr>
            <p:spPr>
              <a:xfrm>
                <a:off x="484094" y="663388"/>
                <a:ext cx="11331388" cy="58270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DD4FAF7F-45B4-869C-28D3-8E2332B6B61A}"/>
                </a:ext>
              </a:extLst>
            </p:cNvPr>
            <p:cNvSpPr txBox="1"/>
            <p:nvPr/>
          </p:nvSpPr>
          <p:spPr>
            <a:xfrm>
              <a:off x="3079548" y="4737865"/>
              <a:ext cx="6032902" cy="1200329"/>
            </a:xfrm>
            <a:prstGeom prst="rect">
              <a:avLst/>
            </a:prstGeom>
            <a:noFill/>
          </p:spPr>
          <p:txBody>
            <a:bodyPr wrap="square" rtlCol="0">
              <a:spAutoFit/>
            </a:bodyPr>
            <a:lstStyle/>
            <a:p>
              <a:pPr algn="ctr"/>
              <a:r>
                <a:rPr lang="en-US" sz="2400" dirty="0"/>
                <a:t>Click on the slider based on what you think the word sounded like, then press the Spacebar to continue.</a:t>
              </a:r>
            </a:p>
          </p:txBody>
        </p:sp>
      </p:grpSp>
    </p:spTree>
    <p:extLst>
      <p:ext uri="{BB962C8B-B14F-4D97-AF65-F5344CB8AC3E}">
        <p14:creationId xmlns:p14="http://schemas.microsoft.com/office/powerpoint/2010/main" val="926777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D2C97-384E-2E10-140C-E9CAF5C14AD9}"/>
              </a:ext>
            </a:extLst>
          </p:cNvPr>
          <p:cNvSpPr>
            <a:spLocks noGrp="1"/>
          </p:cNvSpPr>
          <p:nvPr>
            <p:ph type="title"/>
          </p:nvPr>
        </p:nvSpPr>
        <p:spPr/>
        <p:txBody>
          <a:bodyPr/>
          <a:lstStyle/>
          <a:p>
            <a:r>
              <a:rPr lang="en-US" dirty="0"/>
              <a:t>Linguistic diversity questionnaire</a:t>
            </a:r>
          </a:p>
        </p:txBody>
      </p:sp>
      <p:pic>
        <p:nvPicPr>
          <p:cNvPr id="5" name="Content Placeholder 4" descr="A list of text on a white background&#10;&#10;Description automatically generated">
            <a:extLst>
              <a:ext uri="{FF2B5EF4-FFF2-40B4-BE49-F238E27FC236}">
                <a16:creationId xmlns:a16="http://schemas.microsoft.com/office/drawing/2014/main" id="{885E228A-FD82-F4E0-E27E-612A774DCDC5}"/>
              </a:ext>
            </a:extLst>
          </p:cNvPr>
          <p:cNvPicPr>
            <a:picLocks noGrp="1" noChangeAspect="1"/>
          </p:cNvPicPr>
          <p:nvPr>
            <p:ph idx="1"/>
          </p:nvPr>
        </p:nvPicPr>
        <p:blipFill>
          <a:blip r:embed="rId2"/>
          <a:stretch>
            <a:fillRect/>
          </a:stretch>
        </p:blipFill>
        <p:spPr>
          <a:xfrm>
            <a:off x="2305938" y="1825625"/>
            <a:ext cx="7580123" cy="4351338"/>
          </a:xfrm>
        </p:spPr>
      </p:pic>
      <p:sp>
        <p:nvSpPr>
          <p:cNvPr id="6" name="5-Point Star 5">
            <a:extLst>
              <a:ext uri="{FF2B5EF4-FFF2-40B4-BE49-F238E27FC236}">
                <a16:creationId xmlns:a16="http://schemas.microsoft.com/office/drawing/2014/main" id="{B0032C73-DAD4-405A-A747-A258A5A55B57}"/>
              </a:ext>
            </a:extLst>
          </p:cNvPr>
          <p:cNvSpPr/>
          <p:nvPr/>
        </p:nvSpPr>
        <p:spPr>
          <a:xfrm>
            <a:off x="1962255" y="1825625"/>
            <a:ext cx="343683" cy="28168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60251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43AF9-F45A-A0F5-896D-58B5D154367C}"/>
              </a:ext>
            </a:extLst>
          </p:cNvPr>
          <p:cNvSpPr>
            <a:spLocks noGrp="1"/>
          </p:cNvSpPr>
          <p:nvPr>
            <p:ph type="title"/>
          </p:nvPr>
        </p:nvSpPr>
        <p:spPr/>
        <p:txBody>
          <a:bodyPr>
            <a:noAutofit/>
          </a:bodyPr>
          <a:lstStyle/>
          <a:p>
            <a:r>
              <a:rPr lang="en-US" sz="3200" dirty="0"/>
              <a:t>VAS stimuli vary in 7 equal steps along the primary dimension and 5 equal steps along the secondary dimension</a:t>
            </a:r>
          </a:p>
        </p:txBody>
      </p:sp>
      <p:sp>
        <p:nvSpPr>
          <p:cNvPr id="5" name="TextBox 4">
            <a:extLst>
              <a:ext uri="{FF2B5EF4-FFF2-40B4-BE49-F238E27FC236}">
                <a16:creationId xmlns:a16="http://schemas.microsoft.com/office/drawing/2014/main" id="{7D7D1D7A-BB87-F1A4-2BE2-4A60F470FD7E}"/>
              </a:ext>
            </a:extLst>
          </p:cNvPr>
          <p:cNvSpPr txBox="1"/>
          <p:nvPr/>
        </p:nvSpPr>
        <p:spPr>
          <a:xfrm>
            <a:off x="838200" y="2145315"/>
            <a:ext cx="1756378" cy="646331"/>
          </a:xfrm>
          <a:prstGeom prst="rect">
            <a:avLst/>
          </a:prstGeom>
          <a:noFill/>
        </p:spPr>
        <p:txBody>
          <a:bodyPr wrap="none" rtlCol="0">
            <a:spAutoFit/>
          </a:bodyPr>
          <a:lstStyle/>
          <a:p>
            <a:r>
              <a:rPr lang="en-US" dirty="0"/>
              <a:t>/d/ vs. /t/</a:t>
            </a:r>
          </a:p>
          <a:p>
            <a:r>
              <a:rPr lang="en-US" i="1" dirty="0"/>
              <a:t>indent</a:t>
            </a:r>
            <a:r>
              <a:rPr lang="en-US" dirty="0"/>
              <a:t> vs. </a:t>
            </a:r>
            <a:r>
              <a:rPr lang="en-US" i="1" dirty="0"/>
              <a:t>intent</a:t>
            </a:r>
          </a:p>
        </p:txBody>
      </p:sp>
      <p:sp>
        <p:nvSpPr>
          <p:cNvPr id="6" name="TextBox 5">
            <a:extLst>
              <a:ext uri="{FF2B5EF4-FFF2-40B4-BE49-F238E27FC236}">
                <a16:creationId xmlns:a16="http://schemas.microsoft.com/office/drawing/2014/main" id="{4644299B-03C2-8712-A3C2-C7D397C16821}"/>
              </a:ext>
            </a:extLst>
          </p:cNvPr>
          <p:cNvSpPr txBox="1"/>
          <p:nvPr/>
        </p:nvSpPr>
        <p:spPr>
          <a:xfrm>
            <a:off x="5986346" y="2145314"/>
            <a:ext cx="1796261" cy="646331"/>
          </a:xfrm>
          <a:prstGeom prst="rect">
            <a:avLst/>
          </a:prstGeom>
          <a:noFill/>
        </p:spPr>
        <p:txBody>
          <a:bodyPr wrap="none" rtlCol="0">
            <a:spAutoFit/>
          </a:bodyPr>
          <a:lstStyle/>
          <a:p>
            <a:r>
              <a:rPr lang="en-US" dirty="0"/>
              <a:t>/</a:t>
            </a:r>
            <a:r>
              <a:rPr lang="en-US" dirty="0" err="1"/>
              <a:t>i</a:t>
            </a:r>
            <a:r>
              <a:rPr lang="en-US" dirty="0"/>
              <a:t>/ vs. /</a:t>
            </a:r>
            <a:r>
              <a:rPr lang="en-US" dirty="0" err="1"/>
              <a:t>ɪ</a:t>
            </a:r>
            <a:r>
              <a:rPr lang="en-US" dirty="0"/>
              <a:t>/</a:t>
            </a:r>
          </a:p>
          <a:p>
            <a:r>
              <a:rPr lang="en-US" i="1" dirty="0"/>
              <a:t>reason</a:t>
            </a:r>
            <a:r>
              <a:rPr lang="en-US" dirty="0"/>
              <a:t> vs. </a:t>
            </a:r>
            <a:r>
              <a:rPr lang="en-US" i="1" dirty="0"/>
              <a:t>risen</a:t>
            </a:r>
          </a:p>
        </p:txBody>
      </p:sp>
      <p:sp>
        <p:nvSpPr>
          <p:cNvPr id="9" name="TextBox 8">
            <a:extLst>
              <a:ext uri="{FF2B5EF4-FFF2-40B4-BE49-F238E27FC236}">
                <a16:creationId xmlns:a16="http://schemas.microsoft.com/office/drawing/2014/main" id="{54096CEF-5C55-EFC6-C8B8-603025EC074D}"/>
              </a:ext>
            </a:extLst>
          </p:cNvPr>
          <p:cNvSpPr txBox="1"/>
          <p:nvPr/>
        </p:nvSpPr>
        <p:spPr>
          <a:xfrm>
            <a:off x="838200" y="3371988"/>
            <a:ext cx="4024500" cy="646331"/>
          </a:xfrm>
          <a:prstGeom prst="rect">
            <a:avLst/>
          </a:prstGeom>
          <a:noFill/>
        </p:spPr>
        <p:txBody>
          <a:bodyPr wrap="none" rtlCol="0">
            <a:spAutoFit/>
          </a:bodyPr>
          <a:lstStyle/>
          <a:p>
            <a:r>
              <a:rPr lang="en-US" dirty="0"/>
              <a:t>VOT: </a:t>
            </a:r>
          </a:p>
          <a:p>
            <a:r>
              <a:rPr lang="en-US" dirty="0"/>
              <a:t>Step 1 (/d/): 25 ms -&gt; Step 7 (/t/): 88 ms</a:t>
            </a:r>
          </a:p>
        </p:txBody>
      </p:sp>
      <p:sp>
        <p:nvSpPr>
          <p:cNvPr id="10" name="TextBox 9">
            <a:extLst>
              <a:ext uri="{FF2B5EF4-FFF2-40B4-BE49-F238E27FC236}">
                <a16:creationId xmlns:a16="http://schemas.microsoft.com/office/drawing/2014/main" id="{35436B37-13BC-C064-65D3-14997A96EDD6}"/>
              </a:ext>
            </a:extLst>
          </p:cNvPr>
          <p:cNvSpPr txBox="1"/>
          <p:nvPr/>
        </p:nvSpPr>
        <p:spPr>
          <a:xfrm>
            <a:off x="838200" y="5053288"/>
            <a:ext cx="4181594" cy="646331"/>
          </a:xfrm>
          <a:prstGeom prst="rect">
            <a:avLst/>
          </a:prstGeom>
          <a:noFill/>
        </p:spPr>
        <p:txBody>
          <a:bodyPr wrap="none" rtlCol="0">
            <a:spAutoFit/>
          </a:bodyPr>
          <a:lstStyle/>
          <a:p>
            <a:r>
              <a:rPr lang="en-US" dirty="0"/>
              <a:t>F0: </a:t>
            </a:r>
          </a:p>
          <a:p>
            <a:r>
              <a:rPr lang="en-US" dirty="0"/>
              <a:t>Step 1 (/d/): 176 Hz -&gt; Step 5 (/t/): 213 Hz</a:t>
            </a:r>
          </a:p>
        </p:txBody>
      </p:sp>
      <p:sp>
        <p:nvSpPr>
          <p:cNvPr id="11" name="TextBox 10">
            <a:extLst>
              <a:ext uri="{FF2B5EF4-FFF2-40B4-BE49-F238E27FC236}">
                <a16:creationId xmlns:a16="http://schemas.microsoft.com/office/drawing/2014/main" id="{3F573BB9-729A-7596-3F3D-890016918BF9}"/>
              </a:ext>
            </a:extLst>
          </p:cNvPr>
          <p:cNvSpPr txBox="1"/>
          <p:nvPr/>
        </p:nvSpPr>
        <p:spPr>
          <a:xfrm>
            <a:off x="5986346" y="3233488"/>
            <a:ext cx="4224233" cy="923330"/>
          </a:xfrm>
          <a:prstGeom prst="rect">
            <a:avLst/>
          </a:prstGeom>
          <a:noFill/>
        </p:spPr>
        <p:txBody>
          <a:bodyPr wrap="none" rtlCol="0">
            <a:spAutoFit/>
          </a:bodyPr>
          <a:lstStyle/>
          <a:p>
            <a:r>
              <a:rPr lang="en-US" dirty="0"/>
              <a:t>F1/F2: </a:t>
            </a:r>
          </a:p>
          <a:p>
            <a:r>
              <a:rPr lang="en-US" dirty="0"/>
              <a:t>Step 1 (/</a:t>
            </a:r>
            <a:r>
              <a:rPr lang="en-US" dirty="0" err="1"/>
              <a:t>i</a:t>
            </a:r>
            <a:r>
              <a:rPr lang="en-US" dirty="0"/>
              <a:t>/): 370 Hz -&gt; Step 7 (/</a:t>
            </a:r>
            <a:r>
              <a:rPr lang="en-US" dirty="0" err="1"/>
              <a:t>ɪ</a:t>
            </a:r>
            <a:r>
              <a:rPr lang="en-US" dirty="0"/>
              <a:t>/): 500 Hz </a:t>
            </a:r>
          </a:p>
          <a:p>
            <a:r>
              <a:rPr lang="en-US" dirty="0"/>
              <a:t>	    2830 Hz	          1960 Hz</a:t>
            </a:r>
          </a:p>
        </p:txBody>
      </p:sp>
      <p:sp>
        <p:nvSpPr>
          <p:cNvPr id="12" name="TextBox 11">
            <a:extLst>
              <a:ext uri="{FF2B5EF4-FFF2-40B4-BE49-F238E27FC236}">
                <a16:creationId xmlns:a16="http://schemas.microsoft.com/office/drawing/2014/main" id="{897AFF20-9532-31FB-A640-426E1E39B598}"/>
              </a:ext>
            </a:extLst>
          </p:cNvPr>
          <p:cNvSpPr txBox="1"/>
          <p:nvPr/>
        </p:nvSpPr>
        <p:spPr>
          <a:xfrm>
            <a:off x="6123306" y="5053288"/>
            <a:ext cx="4220322" cy="646331"/>
          </a:xfrm>
          <a:prstGeom prst="rect">
            <a:avLst/>
          </a:prstGeom>
          <a:noFill/>
        </p:spPr>
        <p:txBody>
          <a:bodyPr wrap="none" rtlCol="0">
            <a:spAutoFit/>
          </a:bodyPr>
          <a:lstStyle/>
          <a:p>
            <a:r>
              <a:rPr lang="en-US" dirty="0"/>
              <a:t>vowel duration:  </a:t>
            </a:r>
          </a:p>
          <a:p>
            <a:r>
              <a:rPr lang="en-US" dirty="0"/>
              <a:t>Step 1 (/</a:t>
            </a:r>
            <a:r>
              <a:rPr lang="en-US" dirty="0" err="1"/>
              <a:t>i</a:t>
            </a:r>
            <a:r>
              <a:rPr lang="en-US" dirty="0"/>
              <a:t>/): 240 ms -&gt; Step 5 (/</a:t>
            </a:r>
            <a:r>
              <a:rPr lang="en-US" dirty="0" err="1"/>
              <a:t>ɪ</a:t>
            </a:r>
            <a:r>
              <a:rPr lang="en-US" dirty="0"/>
              <a:t>/): 125 ms</a:t>
            </a:r>
          </a:p>
        </p:txBody>
      </p:sp>
      <p:sp>
        <p:nvSpPr>
          <p:cNvPr id="13" name="TextBox 12">
            <a:extLst>
              <a:ext uri="{FF2B5EF4-FFF2-40B4-BE49-F238E27FC236}">
                <a16:creationId xmlns:a16="http://schemas.microsoft.com/office/drawing/2014/main" id="{23618F6C-64C0-DC9A-B6CB-4F78E1A1AEF4}"/>
              </a:ext>
            </a:extLst>
          </p:cNvPr>
          <p:cNvSpPr txBox="1"/>
          <p:nvPr/>
        </p:nvSpPr>
        <p:spPr>
          <a:xfrm>
            <a:off x="838200" y="6262042"/>
            <a:ext cx="2844690" cy="461665"/>
          </a:xfrm>
          <a:prstGeom prst="rect">
            <a:avLst/>
          </a:prstGeom>
          <a:noFill/>
        </p:spPr>
        <p:txBody>
          <a:bodyPr wrap="none" rtlCol="0">
            <a:spAutoFit/>
          </a:bodyPr>
          <a:lstStyle/>
          <a:p>
            <a:r>
              <a:rPr lang="en-US" sz="2400" dirty="0"/>
              <a:t>L1 English contrasts</a:t>
            </a:r>
          </a:p>
        </p:txBody>
      </p:sp>
      <p:sp>
        <p:nvSpPr>
          <p:cNvPr id="14" name="5-Point Star 13">
            <a:extLst>
              <a:ext uri="{FF2B5EF4-FFF2-40B4-BE49-F238E27FC236}">
                <a16:creationId xmlns:a16="http://schemas.microsoft.com/office/drawing/2014/main" id="{7BFF9F12-14A3-A3FE-0468-C72021A5E8B2}"/>
              </a:ext>
            </a:extLst>
          </p:cNvPr>
          <p:cNvSpPr/>
          <p:nvPr/>
        </p:nvSpPr>
        <p:spPr>
          <a:xfrm>
            <a:off x="366041" y="746220"/>
            <a:ext cx="343683" cy="28168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81020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7BF3D04-8156-49E8-0B8D-CC1D1D7763F3}"/>
              </a:ext>
            </a:extLst>
          </p:cNvPr>
          <p:cNvCxnSpPr/>
          <p:nvPr/>
        </p:nvCxnSpPr>
        <p:spPr>
          <a:xfrm>
            <a:off x="7632607" y="1808311"/>
            <a:ext cx="0" cy="3737113"/>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7FD25A3-B123-44A2-C474-88E8AC4743AB}"/>
              </a:ext>
            </a:extLst>
          </p:cNvPr>
          <p:cNvCxnSpPr/>
          <p:nvPr/>
        </p:nvCxnSpPr>
        <p:spPr>
          <a:xfrm>
            <a:off x="587645" y="5144061"/>
            <a:ext cx="5685183"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1069694E-70EC-A65C-B042-E0786F5D166E}"/>
              </a:ext>
            </a:extLst>
          </p:cNvPr>
          <p:cNvSpPr/>
          <p:nvPr/>
        </p:nvSpPr>
        <p:spPr>
          <a:xfrm>
            <a:off x="7871150" y="3116964"/>
            <a:ext cx="3538328" cy="795130"/>
          </a:xfrm>
          <a:custGeom>
            <a:avLst/>
            <a:gdLst>
              <a:gd name="connsiteX0" fmla="*/ 0 w 3697356"/>
              <a:gd name="connsiteY0" fmla="*/ 68841 h 863971"/>
              <a:gd name="connsiteX1" fmla="*/ 1749287 w 3697356"/>
              <a:gd name="connsiteY1" fmla="*/ 29084 h 863971"/>
              <a:gd name="connsiteX2" fmla="*/ 2564295 w 3697356"/>
              <a:gd name="connsiteY2" fmla="*/ 446528 h 863971"/>
              <a:gd name="connsiteX3" fmla="*/ 3697356 w 3697356"/>
              <a:gd name="connsiteY3" fmla="*/ 863971 h 863971"/>
            </a:gdLst>
            <a:ahLst/>
            <a:cxnLst>
              <a:cxn ang="0">
                <a:pos x="connsiteX0" y="connsiteY0"/>
              </a:cxn>
              <a:cxn ang="0">
                <a:pos x="connsiteX1" y="connsiteY1"/>
              </a:cxn>
              <a:cxn ang="0">
                <a:pos x="connsiteX2" y="connsiteY2"/>
              </a:cxn>
              <a:cxn ang="0">
                <a:pos x="connsiteX3" y="connsiteY3"/>
              </a:cxn>
            </a:cxnLst>
            <a:rect l="l" t="t" r="r" b="b"/>
            <a:pathLst>
              <a:path w="3697356" h="863971">
                <a:moveTo>
                  <a:pt x="0" y="68841"/>
                </a:moveTo>
                <a:cubicBezTo>
                  <a:pt x="660952" y="17488"/>
                  <a:pt x="1321905" y="-33864"/>
                  <a:pt x="1749287" y="29084"/>
                </a:cubicBezTo>
                <a:cubicBezTo>
                  <a:pt x="2176669" y="92032"/>
                  <a:pt x="2239617" y="307380"/>
                  <a:pt x="2564295" y="446528"/>
                </a:cubicBezTo>
                <a:cubicBezTo>
                  <a:pt x="2888973" y="585676"/>
                  <a:pt x="3697356" y="863971"/>
                  <a:pt x="3697356" y="863971"/>
                </a:cubicBezTo>
              </a:path>
            </a:pathLst>
          </a:cu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F43055DD-4A21-4743-F001-96CCA5AACD8A}"/>
              </a:ext>
            </a:extLst>
          </p:cNvPr>
          <p:cNvSpPr/>
          <p:nvPr/>
        </p:nvSpPr>
        <p:spPr>
          <a:xfrm>
            <a:off x="7871147" y="3318940"/>
            <a:ext cx="3697356" cy="715727"/>
          </a:xfrm>
          <a:custGeom>
            <a:avLst/>
            <a:gdLst>
              <a:gd name="connsiteX0" fmla="*/ 0 w 3697356"/>
              <a:gd name="connsiteY0" fmla="*/ 68841 h 863971"/>
              <a:gd name="connsiteX1" fmla="*/ 1749287 w 3697356"/>
              <a:gd name="connsiteY1" fmla="*/ 29084 h 863971"/>
              <a:gd name="connsiteX2" fmla="*/ 2564295 w 3697356"/>
              <a:gd name="connsiteY2" fmla="*/ 446528 h 863971"/>
              <a:gd name="connsiteX3" fmla="*/ 3697356 w 3697356"/>
              <a:gd name="connsiteY3" fmla="*/ 863971 h 863971"/>
            </a:gdLst>
            <a:ahLst/>
            <a:cxnLst>
              <a:cxn ang="0">
                <a:pos x="connsiteX0" y="connsiteY0"/>
              </a:cxn>
              <a:cxn ang="0">
                <a:pos x="connsiteX1" y="connsiteY1"/>
              </a:cxn>
              <a:cxn ang="0">
                <a:pos x="connsiteX2" y="connsiteY2"/>
              </a:cxn>
              <a:cxn ang="0">
                <a:pos x="connsiteX3" y="connsiteY3"/>
              </a:cxn>
            </a:cxnLst>
            <a:rect l="l" t="t" r="r" b="b"/>
            <a:pathLst>
              <a:path w="3697356" h="863971">
                <a:moveTo>
                  <a:pt x="0" y="68841"/>
                </a:moveTo>
                <a:cubicBezTo>
                  <a:pt x="660952" y="17488"/>
                  <a:pt x="1321905" y="-33864"/>
                  <a:pt x="1749287" y="29084"/>
                </a:cubicBezTo>
                <a:cubicBezTo>
                  <a:pt x="2176669" y="92032"/>
                  <a:pt x="2239617" y="307380"/>
                  <a:pt x="2564295" y="446528"/>
                </a:cubicBezTo>
                <a:cubicBezTo>
                  <a:pt x="2888973" y="585676"/>
                  <a:pt x="3697356" y="863971"/>
                  <a:pt x="3697356" y="863971"/>
                </a:cubicBezTo>
              </a:path>
            </a:pathLst>
          </a:cu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01834E91-F701-A04A-0769-A9B61C5F75EE}"/>
              </a:ext>
            </a:extLst>
          </p:cNvPr>
          <p:cNvSpPr/>
          <p:nvPr/>
        </p:nvSpPr>
        <p:spPr>
          <a:xfrm>
            <a:off x="7871147" y="3517843"/>
            <a:ext cx="3826551" cy="566523"/>
          </a:xfrm>
          <a:custGeom>
            <a:avLst/>
            <a:gdLst>
              <a:gd name="connsiteX0" fmla="*/ 0 w 3697356"/>
              <a:gd name="connsiteY0" fmla="*/ 68841 h 863971"/>
              <a:gd name="connsiteX1" fmla="*/ 1749287 w 3697356"/>
              <a:gd name="connsiteY1" fmla="*/ 29084 h 863971"/>
              <a:gd name="connsiteX2" fmla="*/ 2564295 w 3697356"/>
              <a:gd name="connsiteY2" fmla="*/ 446528 h 863971"/>
              <a:gd name="connsiteX3" fmla="*/ 3697356 w 3697356"/>
              <a:gd name="connsiteY3" fmla="*/ 863971 h 863971"/>
            </a:gdLst>
            <a:ahLst/>
            <a:cxnLst>
              <a:cxn ang="0">
                <a:pos x="connsiteX0" y="connsiteY0"/>
              </a:cxn>
              <a:cxn ang="0">
                <a:pos x="connsiteX1" y="connsiteY1"/>
              </a:cxn>
              <a:cxn ang="0">
                <a:pos x="connsiteX2" y="connsiteY2"/>
              </a:cxn>
              <a:cxn ang="0">
                <a:pos x="connsiteX3" y="connsiteY3"/>
              </a:cxn>
            </a:cxnLst>
            <a:rect l="l" t="t" r="r" b="b"/>
            <a:pathLst>
              <a:path w="3697356" h="863971">
                <a:moveTo>
                  <a:pt x="0" y="68841"/>
                </a:moveTo>
                <a:cubicBezTo>
                  <a:pt x="660952" y="17488"/>
                  <a:pt x="1321905" y="-33864"/>
                  <a:pt x="1749287" y="29084"/>
                </a:cubicBezTo>
                <a:cubicBezTo>
                  <a:pt x="2176669" y="92032"/>
                  <a:pt x="2239617" y="307380"/>
                  <a:pt x="2564295" y="446528"/>
                </a:cubicBezTo>
                <a:cubicBezTo>
                  <a:pt x="2888973" y="585676"/>
                  <a:pt x="3697356" y="863971"/>
                  <a:pt x="3697356" y="863971"/>
                </a:cubicBezTo>
              </a:path>
            </a:pathLst>
          </a:custGeom>
          <a:no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8E23E402-3D2B-DA39-EFBC-8D8304C0264C}"/>
              </a:ext>
            </a:extLst>
          </p:cNvPr>
          <p:cNvSpPr/>
          <p:nvPr/>
        </p:nvSpPr>
        <p:spPr>
          <a:xfrm>
            <a:off x="7871149" y="2629950"/>
            <a:ext cx="3538330" cy="1404726"/>
          </a:xfrm>
          <a:custGeom>
            <a:avLst/>
            <a:gdLst>
              <a:gd name="connsiteX0" fmla="*/ 0 w 3697356"/>
              <a:gd name="connsiteY0" fmla="*/ 68841 h 863971"/>
              <a:gd name="connsiteX1" fmla="*/ 1749287 w 3697356"/>
              <a:gd name="connsiteY1" fmla="*/ 29084 h 863971"/>
              <a:gd name="connsiteX2" fmla="*/ 2564295 w 3697356"/>
              <a:gd name="connsiteY2" fmla="*/ 446528 h 863971"/>
              <a:gd name="connsiteX3" fmla="*/ 3697356 w 3697356"/>
              <a:gd name="connsiteY3" fmla="*/ 863971 h 863971"/>
            </a:gdLst>
            <a:ahLst/>
            <a:cxnLst>
              <a:cxn ang="0">
                <a:pos x="connsiteX0" y="connsiteY0"/>
              </a:cxn>
              <a:cxn ang="0">
                <a:pos x="connsiteX1" y="connsiteY1"/>
              </a:cxn>
              <a:cxn ang="0">
                <a:pos x="connsiteX2" y="connsiteY2"/>
              </a:cxn>
              <a:cxn ang="0">
                <a:pos x="connsiteX3" y="connsiteY3"/>
              </a:cxn>
            </a:cxnLst>
            <a:rect l="l" t="t" r="r" b="b"/>
            <a:pathLst>
              <a:path w="3697356" h="863971">
                <a:moveTo>
                  <a:pt x="0" y="68841"/>
                </a:moveTo>
                <a:cubicBezTo>
                  <a:pt x="660952" y="17488"/>
                  <a:pt x="1321905" y="-33864"/>
                  <a:pt x="1749287" y="29084"/>
                </a:cubicBezTo>
                <a:cubicBezTo>
                  <a:pt x="2176669" y="92032"/>
                  <a:pt x="2239617" y="307380"/>
                  <a:pt x="2564295" y="446528"/>
                </a:cubicBezTo>
                <a:cubicBezTo>
                  <a:pt x="2888973" y="585676"/>
                  <a:pt x="3697356" y="863971"/>
                  <a:pt x="3697356" y="863971"/>
                </a:cubicBezTo>
              </a:path>
            </a:pathLst>
          </a:cu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E79C1ACE-80DD-9C30-2D53-5A256952D21A}"/>
              </a:ext>
            </a:extLst>
          </p:cNvPr>
          <p:cNvSpPr/>
          <p:nvPr/>
        </p:nvSpPr>
        <p:spPr>
          <a:xfrm>
            <a:off x="7871147" y="2891120"/>
            <a:ext cx="3697356" cy="1143548"/>
          </a:xfrm>
          <a:custGeom>
            <a:avLst/>
            <a:gdLst>
              <a:gd name="connsiteX0" fmla="*/ 0 w 3697356"/>
              <a:gd name="connsiteY0" fmla="*/ 68841 h 863971"/>
              <a:gd name="connsiteX1" fmla="*/ 1749287 w 3697356"/>
              <a:gd name="connsiteY1" fmla="*/ 29084 h 863971"/>
              <a:gd name="connsiteX2" fmla="*/ 2564295 w 3697356"/>
              <a:gd name="connsiteY2" fmla="*/ 446528 h 863971"/>
              <a:gd name="connsiteX3" fmla="*/ 3697356 w 3697356"/>
              <a:gd name="connsiteY3" fmla="*/ 863971 h 863971"/>
            </a:gdLst>
            <a:ahLst/>
            <a:cxnLst>
              <a:cxn ang="0">
                <a:pos x="connsiteX0" y="connsiteY0"/>
              </a:cxn>
              <a:cxn ang="0">
                <a:pos x="connsiteX1" y="connsiteY1"/>
              </a:cxn>
              <a:cxn ang="0">
                <a:pos x="connsiteX2" y="connsiteY2"/>
              </a:cxn>
              <a:cxn ang="0">
                <a:pos x="connsiteX3" y="connsiteY3"/>
              </a:cxn>
            </a:cxnLst>
            <a:rect l="l" t="t" r="r" b="b"/>
            <a:pathLst>
              <a:path w="3697356" h="863971">
                <a:moveTo>
                  <a:pt x="0" y="68841"/>
                </a:moveTo>
                <a:cubicBezTo>
                  <a:pt x="660952" y="17488"/>
                  <a:pt x="1321905" y="-33864"/>
                  <a:pt x="1749287" y="29084"/>
                </a:cubicBezTo>
                <a:cubicBezTo>
                  <a:pt x="2176669" y="92032"/>
                  <a:pt x="2239617" y="307380"/>
                  <a:pt x="2564295" y="446528"/>
                </a:cubicBezTo>
                <a:cubicBezTo>
                  <a:pt x="2888973" y="585676"/>
                  <a:pt x="3697356" y="863971"/>
                  <a:pt x="3697356" y="863971"/>
                </a:cubicBezTo>
              </a:path>
            </a:pathLst>
          </a:custGeom>
          <a:no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71E8DC36-F352-914D-81F2-E63F74027712}"/>
              </a:ext>
            </a:extLst>
          </p:cNvPr>
          <p:cNvCxnSpPr/>
          <p:nvPr/>
        </p:nvCxnSpPr>
        <p:spPr>
          <a:xfrm>
            <a:off x="7413946" y="2729340"/>
            <a:ext cx="437323" cy="0"/>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DB887541-EEFD-7DDB-7598-D1F81B051670}"/>
              </a:ext>
            </a:extLst>
          </p:cNvPr>
          <p:cNvSpPr txBox="1"/>
          <p:nvPr/>
        </p:nvSpPr>
        <p:spPr>
          <a:xfrm>
            <a:off x="6420033" y="2528418"/>
            <a:ext cx="865943" cy="369332"/>
          </a:xfrm>
          <a:prstGeom prst="rect">
            <a:avLst/>
          </a:prstGeom>
          <a:noFill/>
        </p:spPr>
        <p:txBody>
          <a:bodyPr wrap="none" rtlCol="0">
            <a:spAutoFit/>
          </a:bodyPr>
          <a:lstStyle/>
          <a:p>
            <a:r>
              <a:rPr lang="en-US" dirty="0"/>
              <a:t>213 Hz</a:t>
            </a:r>
          </a:p>
        </p:txBody>
      </p:sp>
      <p:cxnSp>
        <p:nvCxnSpPr>
          <p:cNvPr id="23" name="Straight Connector 22">
            <a:extLst>
              <a:ext uri="{FF2B5EF4-FFF2-40B4-BE49-F238E27FC236}">
                <a16:creationId xmlns:a16="http://schemas.microsoft.com/office/drawing/2014/main" id="{889A51D4-0336-C7BC-D75C-24720B9295F1}"/>
              </a:ext>
            </a:extLst>
          </p:cNvPr>
          <p:cNvCxnSpPr/>
          <p:nvPr/>
        </p:nvCxnSpPr>
        <p:spPr>
          <a:xfrm>
            <a:off x="7413945" y="3554288"/>
            <a:ext cx="437323" cy="0"/>
          </a:xfrm>
          <a:prstGeom prst="line">
            <a:avLst/>
          </a:prstGeom>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5E95AB92-4B59-0785-B252-9961F2575166}"/>
              </a:ext>
            </a:extLst>
          </p:cNvPr>
          <p:cNvSpPr txBox="1"/>
          <p:nvPr/>
        </p:nvSpPr>
        <p:spPr>
          <a:xfrm>
            <a:off x="6393172" y="3372018"/>
            <a:ext cx="912429" cy="369332"/>
          </a:xfrm>
          <a:prstGeom prst="rect">
            <a:avLst/>
          </a:prstGeom>
          <a:noFill/>
        </p:spPr>
        <p:txBody>
          <a:bodyPr wrap="none" rtlCol="0">
            <a:spAutoFit/>
          </a:bodyPr>
          <a:lstStyle/>
          <a:p>
            <a:r>
              <a:rPr lang="en-US" dirty="0"/>
              <a:t> 176 Hz</a:t>
            </a:r>
          </a:p>
        </p:txBody>
      </p:sp>
      <p:sp>
        <p:nvSpPr>
          <p:cNvPr id="25" name="TextBox 24">
            <a:extLst>
              <a:ext uri="{FF2B5EF4-FFF2-40B4-BE49-F238E27FC236}">
                <a16:creationId xmlns:a16="http://schemas.microsoft.com/office/drawing/2014/main" id="{FE3A59BE-9AA3-EEB5-6D73-2314639DD39B}"/>
              </a:ext>
            </a:extLst>
          </p:cNvPr>
          <p:cNvSpPr txBox="1"/>
          <p:nvPr/>
        </p:nvSpPr>
        <p:spPr>
          <a:xfrm>
            <a:off x="10543535" y="2277861"/>
            <a:ext cx="1571777" cy="369332"/>
          </a:xfrm>
          <a:prstGeom prst="rect">
            <a:avLst/>
          </a:prstGeom>
          <a:noFill/>
        </p:spPr>
        <p:txBody>
          <a:bodyPr wrap="none" rtlCol="0">
            <a:spAutoFit/>
          </a:bodyPr>
          <a:lstStyle/>
          <a:p>
            <a:r>
              <a:rPr lang="en-US" dirty="0"/>
              <a:t>Step 5: /t/-like</a:t>
            </a:r>
          </a:p>
        </p:txBody>
      </p:sp>
      <p:sp>
        <p:nvSpPr>
          <p:cNvPr id="26" name="TextBox 25">
            <a:extLst>
              <a:ext uri="{FF2B5EF4-FFF2-40B4-BE49-F238E27FC236}">
                <a16:creationId xmlns:a16="http://schemas.microsoft.com/office/drawing/2014/main" id="{EEB50916-20F0-C2D6-60D4-1F14D2978D18}"/>
              </a:ext>
            </a:extLst>
          </p:cNvPr>
          <p:cNvSpPr txBox="1"/>
          <p:nvPr/>
        </p:nvSpPr>
        <p:spPr>
          <a:xfrm>
            <a:off x="10575532" y="4233570"/>
            <a:ext cx="1616468" cy="369332"/>
          </a:xfrm>
          <a:prstGeom prst="rect">
            <a:avLst/>
          </a:prstGeom>
          <a:noFill/>
        </p:spPr>
        <p:txBody>
          <a:bodyPr wrap="none" rtlCol="0">
            <a:spAutoFit/>
          </a:bodyPr>
          <a:lstStyle/>
          <a:p>
            <a:r>
              <a:rPr lang="en-US" dirty="0"/>
              <a:t>Step 1: /d/-like</a:t>
            </a:r>
          </a:p>
        </p:txBody>
      </p:sp>
      <p:sp>
        <p:nvSpPr>
          <p:cNvPr id="27" name="TextBox 26">
            <a:extLst>
              <a:ext uri="{FF2B5EF4-FFF2-40B4-BE49-F238E27FC236}">
                <a16:creationId xmlns:a16="http://schemas.microsoft.com/office/drawing/2014/main" id="{A9CDB387-0FB7-2E06-6898-35B4F233C10A}"/>
              </a:ext>
            </a:extLst>
          </p:cNvPr>
          <p:cNvSpPr txBox="1"/>
          <p:nvPr/>
        </p:nvSpPr>
        <p:spPr>
          <a:xfrm>
            <a:off x="8600452" y="1306290"/>
            <a:ext cx="2597827" cy="954107"/>
          </a:xfrm>
          <a:prstGeom prst="rect">
            <a:avLst/>
          </a:prstGeom>
          <a:noFill/>
        </p:spPr>
        <p:txBody>
          <a:bodyPr wrap="none" rtlCol="0">
            <a:spAutoFit/>
          </a:bodyPr>
          <a:lstStyle/>
          <a:p>
            <a:pPr algn="ctr"/>
            <a:r>
              <a:rPr lang="en-US" sz="2800" dirty="0"/>
              <a:t>Secondary cue:</a:t>
            </a:r>
          </a:p>
          <a:p>
            <a:pPr algn="ctr"/>
            <a:r>
              <a:rPr lang="en-US" sz="2800" dirty="0"/>
              <a:t>F0 onset</a:t>
            </a:r>
          </a:p>
        </p:txBody>
      </p:sp>
      <p:sp>
        <p:nvSpPr>
          <p:cNvPr id="28" name="TextBox 27">
            <a:extLst>
              <a:ext uri="{FF2B5EF4-FFF2-40B4-BE49-F238E27FC236}">
                <a16:creationId xmlns:a16="http://schemas.microsoft.com/office/drawing/2014/main" id="{01092196-6637-9471-BDCA-44245C6309C5}"/>
              </a:ext>
            </a:extLst>
          </p:cNvPr>
          <p:cNvSpPr txBox="1"/>
          <p:nvPr/>
        </p:nvSpPr>
        <p:spPr>
          <a:xfrm>
            <a:off x="2292634" y="1306290"/>
            <a:ext cx="2275207" cy="954107"/>
          </a:xfrm>
          <a:prstGeom prst="rect">
            <a:avLst/>
          </a:prstGeom>
          <a:noFill/>
        </p:spPr>
        <p:txBody>
          <a:bodyPr wrap="square" rtlCol="0">
            <a:spAutoFit/>
          </a:bodyPr>
          <a:lstStyle/>
          <a:p>
            <a:pPr algn="ctr"/>
            <a:r>
              <a:rPr lang="en-US" sz="2800" dirty="0"/>
              <a:t>Primary cue: VOT</a:t>
            </a:r>
          </a:p>
        </p:txBody>
      </p:sp>
      <p:cxnSp>
        <p:nvCxnSpPr>
          <p:cNvPr id="30" name="Straight Connector 29">
            <a:extLst>
              <a:ext uri="{FF2B5EF4-FFF2-40B4-BE49-F238E27FC236}">
                <a16:creationId xmlns:a16="http://schemas.microsoft.com/office/drawing/2014/main" id="{881492E8-4044-0FED-5C31-E90BDE2C70A0}"/>
              </a:ext>
            </a:extLst>
          </p:cNvPr>
          <p:cNvCxnSpPr/>
          <p:nvPr/>
        </p:nvCxnSpPr>
        <p:spPr>
          <a:xfrm>
            <a:off x="1192694" y="4905523"/>
            <a:ext cx="0" cy="49696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CF1C6C6-BDB4-FB0C-2B22-87C476812168}"/>
              </a:ext>
            </a:extLst>
          </p:cNvPr>
          <p:cNvCxnSpPr/>
          <p:nvPr/>
        </p:nvCxnSpPr>
        <p:spPr>
          <a:xfrm>
            <a:off x="5499076" y="4905523"/>
            <a:ext cx="0" cy="496962"/>
          </a:xfrm>
          <a:prstGeom prst="line">
            <a:avLst/>
          </a:prstGeom>
        </p:spPr>
        <p:style>
          <a:lnRef idx="2">
            <a:schemeClr val="accent1"/>
          </a:lnRef>
          <a:fillRef idx="0">
            <a:schemeClr val="accent1"/>
          </a:fillRef>
          <a:effectRef idx="1">
            <a:schemeClr val="accent1"/>
          </a:effectRef>
          <a:fontRef idx="minor">
            <a:schemeClr val="tx1"/>
          </a:fontRef>
        </p:style>
      </p:cxnSp>
      <p:pic>
        <p:nvPicPr>
          <p:cNvPr id="32" name="Picture 31">
            <a:extLst>
              <a:ext uri="{FF2B5EF4-FFF2-40B4-BE49-F238E27FC236}">
                <a16:creationId xmlns:a16="http://schemas.microsoft.com/office/drawing/2014/main" id="{1C719F80-01F5-6C68-B415-F91B6C72039D}"/>
              </a:ext>
            </a:extLst>
          </p:cNvPr>
          <p:cNvPicPr>
            <a:picLocks noChangeAspect="1"/>
          </p:cNvPicPr>
          <p:nvPr/>
        </p:nvPicPr>
        <p:blipFill>
          <a:blip r:embed="rId3"/>
          <a:stretch>
            <a:fillRect/>
          </a:stretch>
        </p:blipFill>
        <p:spPr>
          <a:xfrm>
            <a:off x="4102784" y="3100479"/>
            <a:ext cx="3012795" cy="2191124"/>
          </a:xfrm>
          <a:prstGeom prst="rect">
            <a:avLst/>
          </a:prstGeom>
        </p:spPr>
      </p:pic>
      <p:sp>
        <p:nvSpPr>
          <p:cNvPr id="33" name="TextBox 32">
            <a:extLst>
              <a:ext uri="{FF2B5EF4-FFF2-40B4-BE49-F238E27FC236}">
                <a16:creationId xmlns:a16="http://schemas.microsoft.com/office/drawing/2014/main" id="{B9A7D1CA-9D6A-636B-5209-7EF3DA69657A}"/>
              </a:ext>
            </a:extLst>
          </p:cNvPr>
          <p:cNvSpPr txBox="1"/>
          <p:nvPr/>
        </p:nvSpPr>
        <p:spPr>
          <a:xfrm>
            <a:off x="5144958" y="5519652"/>
            <a:ext cx="833883" cy="369332"/>
          </a:xfrm>
          <a:prstGeom prst="rect">
            <a:avLst/>
          </a:prstGeom>
          <a:noFill/>
        </p:spPr>
        <p:txBody>
          <a:bodyPr wrap="none" rtlCol="0">
            <a:spAutoFit/>
          </a:bodyPr>
          <a:lstStyle/>
          <a:p>
            <a:r>
              <a:rPr lang="en-US" dirty="0"/>
              <a:t>88 ms </a:t>
            </a:r>
          </a:p>
        </p:txBody>
      </p:sp>
      <p:pic>
        <p:nvPicPr>
          <p:cNvPr id="34" name="Picture 33">
            <a:extLst>
              <a:ext uri="{FF2B5EF4-FFF2-40B4-BE49-F238E27FC236}">
                <a16:creationId xmlns:a16="http://schemas.microsoft.com/office/drawing/2014/main" id="{0CF78725-82E2-E10E-8D3B-7594D2677DD9}"/>
              </a:ext>
            </a:extLst>
          </p:cNvPr>
          <p:cNvPicPr>
            <a:picLocks noChangeAspect="1"/>
          </p:cNvPicPr>
          <p:nvPr/>
        </p:nvPicPr>
        <p:blipFill>
          <a:blip r:embed="rId4"/>
          <a:stretch>
            <a:fillRect/>
          </a:stretch>
        </p:blipFill>
        <p:spPr>
          <a:xfrm>
            <a:off x="346681" y="3621514"/>
            <a:ext cx="1860323" cy="1352962"/>
          </a:xfrm>
          <a:prstGeom prst="rect">
            <a:avLst/>
          </a:prstGeom>
        </p:spPr>
      </p:pic>
      <p:sp>
        <p:nvSpPr>
          <p:cNvPr id="35" name="TextBox 34">
            <a:extLst>
              <a:ext uri="{FF2B5EF4-FFF2-40B4-BE49-F238E27FC236}">
                <a16:creationId xmlns:a16="http://schemas.microsoft.com/office/drawing/2014/main" id="{6AC8FD39-11A6-A6AB-026E-B6AC6EA47A7F}"/>
              </a:ext>
            </a:extLst>
          </p:cNvPr>
          <p:cNvSpPr txBox="1"/>
          <p:nvPr/>
        </p:nvSpPr>
        <p:spPr>
          <a:xfrm>
            <a:off x="798996" y="5527306"/>
            <a:ext cx="787395" cy="369332"/>
          </a:xfrm>
          <a:prstGeom prst="rect">
            <a:avLst/>
          </a:prstGeom>
          <a:noFill/>
        </p:spPr>
        <p:txBody>
          <a:bodyPr wrap="none" rtlCol="0">
            <a:spAutoFit/>
          </a:bodyPr>
          <a:lstStyle/>
          <a:p>
            <a:r>
              <a:rPr lang="en-US" dirty="0"/>
              <a:t>25 ms</a:t>
            </a:r>
          </a:p>
        </p:txBody>
      </p:sp>
      <p:sp>
        <p:nvSpPr>
          <p:cNvPr id="36" name="TextBox 35">
            <a:extLst>
              <a:ext uri="{FF2B5EF4-FFF2-40B4-BE49-F238E27FC236}">
                <a16:creationId xmlns:a16="http://schemas.microsoft.com/office/drawing/2014/main" id="{9F66964A-3568-14A4-C0F6-C96419B1DE2B}"/>
              </a:ext>
            </a:extLst>
          </p:cNvPr>
          <p:cNvSpPr txBox="1"/>
          <p:nvPr/>
        </p:nvSpPr>
        <p:spPr>
          <a:xfrm>
            <a:off x="587645" y="6157852"/>
            <a:ext cx="1616468" cy="369332"/>
          </a:xfrm>
          <a:prstGeom prst="rect">
            <a:avLst/>
          </a:prstGeom>
          <a:noFill/>
        </p:spPr>
        <p:txBody>
          <a:bodyPr wrap="none" rtlCol="0">
            <a:spAutoFit/>
          </a:bodyPr>
          <a:lstStyle/>
          <a:p>
            <a:r>
              <a:rPr lang="en-US" dirty="0"/>
              <a:t>Step 1: /d/-like</a:t>
            </a:r>
          </a:p>
        </p:txBody>
      </p:sp>
      <p:sp>
        <p:nvSpPr>
          <p:cNvPr id="37" name="TextBox 36">
            <a:extLst>
              <a:ext uri="{FF2B5EF4-FFF2-40B4-BE49-F238E27FC236}">
                <a16:creationId xmlns:a16="http://schemas.microsoft.com/office/drawing/2014/main" id="{CC0BDCF6-62E3-94A5-987A-5BB22AD795AE}"/>
              </a:ext>
            </a:extLst>
          </p:cNvPr>
          <p:cNvSpPr txBox="1"/>
          <p:nvPr/>
        </p:nvSpPr>
        <p:spPr>
          <a:xfrm>
            <a:off x="4803563" y="6135203"/>
            <a:ext cx="1616468" cy="369332"/>
          </a:xfrm>
          <a:prstGeom prst="rect">
            <a:avLst/>
          </a:prstGeom>
          <a:noFill/>
        </p:spPr>
        <p:txBody>
          <a:bodyPr wrap="none" rtlCol="0">
            <a:spAutoFit/>
          </a:bodyPr>
          <a:lstStyle/>
          <a:p>
            <a:r>
              <a:rPr lang="en-US" dirty="0"/>
              <a:t>Step 7: /d/-like</a:t>
            </a:r>
          </a:p>
        </p:txBody>
      </p:sp>
      <p:cxnSp>
        <p:nvCxnSpPr>
          <p:cNvPr id="39" name="Straight Connector 38">
            <a:extLst>
              <a:ext uri="{FF2B5EF4-FFF2-40B4-BE49-F238E27FC236}">
                <a16:creationId xmlns:a16="http://schemas.microsoft.com/office/drawing/2014/main" id="{FE6C9956-043C-D722-C941-90D46B7DF8E0}"/>
              </a:ext>
            </a:extLst>
          </p:cNvPr>
          <p:cNvCxnSpPr>
            <a:cxnSpLocks/>
          </p:cNvCxnSpPr>
          <p:nvPr/>
        </p:nvCxnSpPr>
        <p:spPr>
          <a:xfrm>
            <a:off x="1869593" y="4901700"/>
            <a:ext cx="0" cy="5007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A1DC3D9-4C2F-E8EB-DAAA-2CE666C781FF}"/>
              </a:ext>
            </a:extLst>
          </p:cNvPr>
          <p:cNvCxnSpPr>
            <a:cxnSpLocks/>
          </p:cNvCxnSpPr>
          <p:nvPr/>
        </p:nvCxnSpPr>
        <p:spPr>
          <a:xfrm>
            <a:off x="2544415" y="4901700"/>
            <a:ext cx="0" cy="5085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FA859AD-AD5D-53D4-524C-DD78A6713623}"/>
              </a:ext>
            </a:extLst>
          </p:cNvPr>
          <p:cNvCxnSpPr>
            <a:cxnSpLocks/>
          </p:cNvCxnSpPr>
          <p:nvPr/>
        </p:nvCxnSpPr>
        <p:spPr>
          <a:xfrm>
            <a:off x="3240154" y="4913546"/>
            <a:ext cx="0" cy="5007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D676D110-06D1-5F6E-729F-51514AF1F269}"/>
              </a:ext>
            </a:extLst>
          </p:cNvPr>
          <p:cNvCxnSpPr>
            <a:cxnSpLocks/>
          </p:cNvCxnSpPr>
          <p:nvPr/>
        </p:nvCxnSpPr>
        <p:spPr>
          <a:xfrm>
            <a:off x="3975857" y="4901700"/>
            <a:ext cx="0" cy="5007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9922410-3F48-E2F9-4DF3-A361CD6FCCBA}"/>
              </a:ext>
            </a:extLst>
          </p:cNvPr>
          <p:cNvCxnSpPr>
            <a:cxnSpLocks/>
          </p:cNvCxnSpPr>
          <p:nvPr/>
        </p:nvCxnSpPr>
        <p:spPr>
          <a:xfrm>
            <a:off x="4711146" y="4913546"/>
            <a:ext cx="0" cy="488939"/>
          </a:xfrm>
          <a:prstGeom prst="line">
            <a:avLst/>
          </a:prstGeom>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BAFC4A56-FF85-E13C-BA2B-741EC4BF3C5E}"/>
              </a:ext>
            </a:extLst>
          </p:cNvPr>
          <p:cNvSpPr txBox="1"/>
          <p:nvPr/>
        </p:nvSpPr>
        <p:spPr>
          <a:xfrm>
            <a:off x="4601537" y="358955"/>
            <a:ext cx="3342582" cy="646331"/>
          </a:xfrm>
          <a:prstGeom prst="rect">
            <a:avLst/>
          </a:prstGeom>
          <a:noFill/>
        </p:spPr>
        <p:txBody>
          <a:bodyPr wrap="none" rtlCol="0">
            <a:spAutoFit/>
          </a:bodyPr>
          <a:lstStyle/>
          <a:p>
            <a:r>
              <a:rPr lang="en-US" sz="3600" i="1" dirty="0"/>
              <a:t>indent</a:t>
            </a:r>
            <a:r>
              <a:rPr lang="en-US" sz="3600" dirty="0"/>
              <a:t> vs. </a:t>
            </a:r>
            <a:r>
              <a:rPr lang="en-US" sz="3600" i="1" dirty="0"/>
              <a:t>intent</a:t>
            </a:r>
          </a:p>
        </p:txBody>
      </p:sp>
    </p:spTree>
    <p:extLst>
      <p:ext uri="{BB962C8B-B14F-4D97-AF65-F5344CB8AC3E}">
        <p14:creationId xmlns:p14="http://schemas.microsoft.com/office/powerpoint/2010/main" val="3495911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8EBBA2F-4596-7BE5-ED9B-339E7BE74E5A}"/>
              </a:ext>
            </a:extLst>
          </p:cNvPr>
          <p:cNvSpPr txBox="1"/>
          <p:nvPr/>
        </p:nvSpPr>
        <p:spPr>
          <a:xfrm>
            <a:off x="8600452" y="1306290"/>
            <a:ext cx="2597827" cy="954107"/>
          </a:xfrm>
          <a:prstGeom prst="rect">
            <a:avLst/>
          </a:prstGeom>
          <a:noFill/>
        </p:spPr>
        <p:txBody>
          <a:bodyPr wrap="none" rtlCol="0">
            <a:spAutoFit/>
          </a:bodyPr>
          <a:lstStyle/>
          <a:p>
            <a:pPr algn="ctr"/>
            <a:r>
              <a:rPr lang="en-US" sz="2800" dirty="0"/>
              <a:t>Secondary cue:</a:t>
            </a:r>
          </a:p>
          <a:p>
            <a:pPr algn="ctr"/>
            <a:r>
              <a:rPr lang="en-US" sz="2800" dirty="0"/>
              <a:t>Vowel duration</a:t>
            </a:r>
          </a:p>
        </p:txBody>
      </p:sp>
      <p:sp>
        <p:nvSpPr>
          <p:cNvPr id="5" name="TextBox 4">
            <a:extLst>
              <a:ext uri="{FF2B5EF4-FFF2-40B4-BE49-F238E27FC236}">
                <a16:creationId xmlns:a16="http://schemas.microsoft.com/office/drawing/2014/main" id="{CA6B45AD-AA99-C5EB-4141-5B74051CCD60}"/>
              </a:ext>
            </a:extLst>
          </p:cNvPr>
          <p:cNvSpPr txBox="1"/>
          <p:nvPr/>
        </p:nvSpPr>
        <p:spPr>
          <a:xfrm>
            <a:off x="2292634" y="1306290"/>
            <a:ext cx="2597827" cy="954107"/>
          </a:xfrm>
          <a:prstGeom prst="rect">
            <a:avLst/>
          </a:prstGeom>
          <a:noFill/>
        </p:spPr>
        <p:txBody>
          <a:bodyPr wrap="square" rtlCol="0">
            <a:spAutoFit/>
          </a:bodyPr>
          <a:lstStyle/>
          <a:p>
            <a:pPr algn="ctr"/>
            <a:r>
              <a:rPr lang="en-US" sz="2800" dirty="0"/>
              <a:t>Primary cue: F1/F2 contour</a:t>
            </a:r>
          </a:p>
        </p:txBody>
      </p:sp>
      <p:sp>
        <p:nvSpPr>
          <p:cNvPr id="6" name="TextBox 5">
            <a:extLst>
              <a:ext uri="{FF2B5EF4-FFF2-40B4-BE49-F238E27FC236}">
                <a16:creationId xmlns:a16="http://schemas.microsoft.com/office/drawing/2014/main" id="{B83213F7-E262-0E0B-9A4A-B2D9444C3891}"/>
              </a:ext>
            </a:extLst>
          </p:cNvPr>
          <p:cNvSpPr txBox="1"/>
          <p:nvPr/>
        </p:nvSpPr>
        <p:spPr>
          <a:xfrm>
            <a:off x="4601537" y="358955"/>
            <a:ext cx="3287695" cy="646331"/>
          </a:xfrm>
          <a:prstGeom prst="rect">
            <a:avLst/>
          </a:prstGeom>
          <a:noFill/>
        </p:spPr>
        <p:txBody>
          <a:bodyPr wrap="none" rtlCol="0">
            <a:spAutoFit/>
          </a:bodyPr>
          <a:lstStyle/>
          <a:p>
            <a:r>
              <a:rPr lang="en-US" sz="3600" i="1" dirty="0"/>
              <a:t>reason</a:t>
            </a:r>
            <a:r>
              <a:rPr lang="en-US" sz="3600" dirty="0"/>
              <a:t> vs. </a:t>
            </a:r>
            <a:r>
              <a:rPr lang="en-US" sz="3600" i="1" dirty="0"/>
              <a:t>risen</a:t>
            </a:r>
          </a:p>
        </p:txBody>
      </p:sp>
      <p:cxnSp>
        <p:nvCxnSpPr>
          <p:cNvPr id="8" name="Straight Connector 7">
            <a:extLst>
              <a:ext uri="{FF2B5EF4-FFF2-40B4-BE49-F238E27FC236}">
                <a16:creationId xmlns:a16="http://schemas.microsoft.com/office/drawing/2014/main" id="{B27CE2F4-C399-1782-D7F0-D55DCA03CFA0}"/>
              </a:ext>
            </a:extLst>
          </p:cNvPr>
          <p:cNvCxnSpPr/>
          <p:nvPr/>
        </p:nvCxnSpPr>
        <p:spPr>
          <a:xfrm>
            <a:off x="1251405" y="2888023"/>
            <a:ext cx="0" cy="310100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9317165-1176-A9AC-8AE5-6AFBC47C6E58}"/>
              </a:ext>
            </a:extLst>
          </p:cNvPr>
          <p:cNvCxnSpPr/>
          <p:nvPr/>
        </p:nvCxnSpPr>
        <p:spPr>
          <a:xfrm>
            <a:off x="893596" y="5551710"/>
            <a:ext cx="4274235"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1E0F462-C185-F776-9C12-7AFC7B0E1E02}"/>
              </a:ext>
            </a:extLst>
          </p:cNvPr>
          <p:cNvSpPr txBox="1"/>
          <p:nvPr/>
        </p:nvSpPr>
        <p:spPr>
          <a:xfrm>
            <a:off x="2994655" y="5804365"/>
            <a:ext cx="429926" cy="369332"/>
          </a:xfrm>
          <a:prstGeom prst="rect">
            <a:avLst/>
          </a:prstGeom>
          <a:noFill/>
        </p:spPr>
        <p:txBody>
          <a:bodyPr wrap="none" rtlCol="0">
            <a:spAutoFit/>
          </a:bodyPr>
          <a:lstStyle/>
          <a:p>
            <a:r>
              <a:rPr lang="en-US" dirty="0"/>
              <a:t>F1</a:t>
            </a:r>
          </a:p>
        </p:txBody>
      </p:sp>
      <p:sp>
        <p:nvSpPr>
          <p:cNvPr id="12" name="TextBox 11">
            <a:extLst>
              <a:ext uri="{FF2B5EF4-FFF2-40B4-BE49-F238E27FC236}">
                <a16:creationId xmlns:a16="http://schemas.microsoft.com/office/drawing/2014/main" id="{93F63E9A-C8B4-33B0-6DC8-E180F200F0AE}"/>
              </a:ext>
            </a:extLst>
          </p:cNvPr>
          <p:cNvSpPr txBox="1"/>
          <p:nvPr/>
        </p:nvSpPr>
        <p:spPr>
          <a:xfrm>
            <a:off x="678633" y="4035201"/>
            <a:ext cx="429926" cy="369332"/>
          </a:xfrm>
          <a:prstGeom prst="rect">
            <a:avLst/>
          </a:prstGeom>
          <a:noFill/>
        </p:spPr>
        <p:txBody>
          <a:bodyPr wrap="none" rtlCol="0">
            <a:spAutoFit/>
          </a:bodyPr>
          <a:lstStyle/>
          <a:p>
            <a:r>
              <a:rPr lang="en-US" dirty="0"/>
              <a:t>F2</a:t>
            </a:r>
          </a:p>
        </p:txBody>
      </p:sp>
      <p:cxnSp>
        <p:nvCxnSpPr>
          <p:cNvPr id="14" name="Straight Connector 13">
            <a:extLst>
              <a:ext uri="{FF2B5EF4-FFF2-40B4-BE49-F238E27FC236}">
                <a16:creationId xmlns:a16="http://schemas.microsoft.com/office/drawing/2014/main" id="{38BDA5BE-FDAC-EC49-0F4E-9162B795CB46}"/>
              </a:ext>
            </a:extLst>
          </p:cNvPr>
          <p:cNvCxnSpPr/>
          <p:nvPr/>
        </p:nvCxnSpPr>
        <p:spPr>
          <a:xfrm>
            <a:off x="1629092" y="5412563"/>
            <a:ext cx="0" cy="252655"/>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32A41DF-806C-5664-AFC5-D3A505BE1234}"/>
              </a:ext>
            </a:extLst>
          </p:cNvPr>
          <p:cNvCxnSpPr/>
          <p:nvPr/>
        </p:nvCxnSpPr>
        <p:spPr>
          <a:xfrm>
            <a:off x="4703596" y="5425382"/>
            <a:ext cx="0" cy="252655"/>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3E731F35-A286-6506-43A2-FEDC3F9EE232}"/>
              </a:ext>
            </a:extLst>
          </p:cNvPr>
          <p:cNvSpPr txBox="1"/>
          <p:nvPr/>
        </p:nvSpPr>
        <p:spPr>
          <a:xfrm>
            <a:off x="1257087" y="5647931"/>
            <a:ext cx="865943" cy="369332"/>
          </a:xfrm>
          <a:prstGeom prst="rect">
            <a:avLst/>
          </a:prstGeom>
          <a:noFill/>
        </p:spPr>
        <p:txBody>
          <a:bodyPr wrap="none" rtlCol="0">
            <a:spAutoFit/>
          </a:bodyPr>
          <a:lstStyle/>
          <a:p>
            <a:r>
              <a:rPr lang="en-US" dirty="0"/>
              <a:t>370 Hz</a:t>
            </a:r>
          </a:p>
        </p:txBody>
      </p:sp>
      <p:sp>
        <p:nvSpPr>
          <p:cNvPr id="17" name="TextBox 16">
            <a:extLst>
              <a:ext uri="{FF2B5EF4-FFF2-40B4-BE49-F238E27FC236}">
                <a16:creationId xmlns:a16="http://schemas.microsoft.com/office/drawing/2014/main" id="{18BE0F72-F714-F4B5-E853-4EF6365A906D}"/>
              </a:ext>
            </a:extLst>
          </p:cNvPr>
          <p:cNvSpPr txBox="1"/>
          <p:nvPr/>
        </p:nvSpPr>
        <p:spPr>
          <a:xfrm>
            <a:off x="4341645" y="5682357"/>
            <a:ext cx="865943" cy="369332"/>
          </a:xfrm>
          <a:prstGeom prst="rect">
            <a:avLst/>
          </a:prstGeom>
          <a:noFill/>
        </p:spPr>
        <p:txBody>
          <a:bodyPr wrap="none" rtlCol="0">
            <a:spAutoFit/>
          </a:bodyPr>
          <a:lstStyle/>
          <a:p>
            <a:r>
              <a:rPr lang="en-US" dirty="0"/>
              <a:t>500 Hz</a:t>
            </a:r>
          </a:p>
        </p:txBody>
      </p:sp>
      <p:cxnSp>
        <p:nvCxnSpPr>
          <p:cNvPr id="19" name="Straight Connector 18">
            <a:extLst>
              <a:ext uri="{FF2B5EF4-FFF2-40B4-BE49-F238E27FC236}">
                <a16:creationId xmlns:a16="http://schemas.microsoft.com/office/drawing/2014/main" id="{BA04872C-47B0-22C8-27E7-2996E50844D8}"/>
              </a:ext>
            </a:extLst>
          </p:cNvPr>
          <p:cNvCxnSpPr>
            <a:cxnSpLocks/>
          </p:cNvCxnSpPr>
          <p:nvPr/>
        </p:nvCxnSpPr>
        <p:spPr>
          <a:xfrm>
            <a:off x="1090530" y="5193901"/>
            <a:ext cx="3217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368AB30-FBE9-52BE-8874-23AF29EADF70}"/>
              </a:ext>
            </a:extLst>
          </p:cNvPr>
          <p:cNvCxnSpPr>
            <a:cxnSpLocks/>
          </p:cNvCxnSpPr>
          <p:nvPr/>
        </p:nvCxnSpPr>
        <p:spPr>
          <a:xfrm>
            <a:off x="1101933" y="3199448"/>
            <a:ext cx="321750" cy="0"/>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90F549BE-3559-02DC-8BC1-ECF334C03FA2}"/>
              </a:ext>
            </a:extLst>
          </p:cNvPr>
          <p:cNvSpPr txBox="1"/>
          <p:nvPr/>
        </p:nvSpPr>
        <p:spPr>
          <a:xfrm>
            <a:off x="101157" y="5003474"/>
            <a:ext cx="989373" cy="369332"/>
          </a:xfrm>
          <a:prstGeom prst="rect">
            <a:avLst/>
          </a:prstGeom>
          <a:noFill/>
        </p:spPr>
        <p:txBody>
          <a:bodyPr wrap="none" rtlCol="0">
            <a:spAutoFit/>
          </a:bodyPr>
          <a:lstStyle/>
          <a:p>
            <a:r>
              <a:rPr lang="en-US" dirty="0"/>
              <a:t>1960 Hz</a:t>
            </a:r>
          </a:p>
        </p:txBody>
      </p:sp>
      <p:sp>
        <p:nvSpPr>
          <p:cNvPr id="24" name="TextBox 23">
            <a:extLst>
              <a:ext uri="{FF2B5EF4-FFF2-40B4-BE49-F238E27FC236}">
                <a16:creationId xmlns:a16="http://schemas.microsoft.com/office/drawing/2014/main" id="{8132810D-69F9-A7C7-ECB4-3AE9310599F6}"/>
              </a:ext>
            </a:extLst>
          </p:cNvPr>
          <p:cNvSpPr txBox="1"/>
          <p:nvPr/>
        </p:nvSpPr>
        <p:spPr>
          <a:xfrm>
            <a:off x="119186" y="3014782"/>
            <a:ext cx="989373" cy="369332"/>
          </a:xfrm>
          <a:prstGeom prst="rect">
            <a:avLst/>
          </a:prstGeom>
          <a:noFill/>
        </p:spPr>
        <p:txBody>
          <a:bodyPr wrap="none" rtlCol="0">
            <a:spAutoFit/>
          </a:bodyPr>
          <a:lstStyle/>
          <a:p>
            <a:r>
              <a:rPr lang="en-US" dirty="0"/>
              <a:t>2830 Hz</a:t>
            </a:r>
          </a:p>
        </p:txBody>
      </p:sp>
      <p:sp>
        <p:nvSpPr>
          <p:cNvPr id="35" name="Oval 34">
            <a:extLst>
              <a:ext uri="{FF2B5EF4-FFF2-40B4-BE49-F238E27FC236}">
                <a16:creationId xmlns:a16="http://schemas.microsoft.com/office/drawing/2014/main" id="{34D360D8-D048-C2E6-7518-63DEB5C14948}"/>
              </a:ext>
            </a:extLst>
          </p:cNvPr>
          <p:cNvSpPr/>
          <p:nvPr/>
        </p:nvSpPr>
        <p:spPr>
          <a:xfrm>
            <a:off x="1491958" y="3059670"/>
            <a:ext cx="321739" cy="36933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732E06D5-FE84-55FC-920F-FE21583D096B}"/>
              </a:ext>
            </a:extLst>
          </p:cNvPr>
          <p:cNvSpPr txBox="1"/>
          <p:nvPr/>
        </p:nvSpPr>
        <p:spPr>
          <a:xfrm>
            <a:off x="1881972" y="2703357"/>
            <a:ext cx="1554977" cy="369332"/>
          </a:xfrm>
          <a:prstGeom prst="rect">
            <a:avLst/>
          </a:prstGeom>
          <a:noFill/>
        </p:spPr>
        <p:txBody>
          <a:bodyPr wrap="none" rtlCol="0">
            <a:spAutoFit/>
          </a:bodyPr>
          <a:lstStyle/>
          <a:p>
            <a:r>
              <a:rPr lang="en-US" dirty="0"/>
              <a:t>Step 1: /</a:t>
            </a:r>
            <a:r>
              <a:rPr lang="en-US" dirty="0" err="1"/>
              <a:t>i</a:t>
            </a:r>
            <a:r>
              <a:rPr lang="en-US" dirty="0"/>
              <a:t>/-like</a:t>
            </a:r>
          </a:p>
        </p:txBody>
      </p:sp>
      <p:sp>
        <p:nvSpPr>
          <p:cNvPr id="37" name="Oval 36">
            <a:extLst>
              <a:ext uri="{FF2B5EF4-FFF2-40B4-BE49-F238E27FC236}">
                <a16:creationId xmlns:a16="http://schemas.microsoft.com/office/drawing/2014/main" id="{099AA938-E42F-4177-35AB-CAC084B37FBF}"/>
              </a:ext>
            </a:extLst>
          </p:cNvPr>
          <p:cNvSpPr/>
          <p:nvPr/>
        </p:nvSpPr>
        <p:spPr>
          <a:xfrm>
            <a:off x="4558502" y="5006272"/>
            <a:ext cx="321739" cy="369330"/>
          </a:xfrm>
          <a:prstGeom prst="ellipse">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A5C522F0-F509-7779-A7A5-E6BAA37D0E72}"/>
              </a:ext>
            </a:extLst>
          </p:cNvPr>
          <p:cNvSpPr txBox="1"/>
          <p:nvPr/>
        </p:nvSpPr>
        <p:spPr>
          <a:xfrm>
            <a:off x="4890461" y="4730976"/>
            <a:ext cx="1582228" cy="369332"/>
          </a:xfrm>
          <a:prstGeom prst="rect">
            <a:avLst/>
          </a:prstGeom>
          <a:noFill/>
        </p:spPr>
        <p:txBody>
          <a:bodyPr wrap="none" rtlCol="0">
            <a:spAutoFit/>
          </a:bodyPr>
          <a:lstStyle/>
          <a:p>
            <a:r>
              <a:rPr lang="en-US" dirty="0"/>
              <a:t>Step 7: /</a:t>
            </a:r>
            <a:r>
              <a:rPr lang="en-US" dirty="0" err="1"/>
              <a:t>ɪ</a:t>
            </a:r>
            <a:r>
              <a:rPr lang="en-US" dirty="0"/>
              <a:t>/-like</a:t>
            </a:r>
          </a:p>
        </p:txBody>
      </p:sp>
      <p:sp>
        <p:nvSpPr>
          <p:cNvPr id="39" name="Oval 38">
            <a:extLst>
              <a:ext uri="{FF2B5EF4-FFF2-40B4-BE49-F238E27FC236}">
                <a16:creationId xmlns:a16="http://schemas.microsoft.com/office/drawing/2014/main" id="{90E74419-11B1-AE94-1029-25460C426268}"/>
              </a:ext>
            </a:extLst>
          </p:cNvPr>
          <p:cNvSpPr/>
          <p:nvPr/>
        </p:nvSpPr>
        <p:spPr>
          <a:xfrm>
            <a:off x="2498590" y="3557798"/>
            <a:ext cx="321739" cy="369330"/>
          </a:xfrm>
          <a:prstGeom prst="ellipse">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619ABB0-F254-587B-BAB0-CB9D06433063}"/>
              </a:ext>
            </a:extLst>
          </p:cNvPr>
          <p:cNvSpPr/>
          <p:nvPr/>
        </p:nvSpPr>
        <p:spPr>
          <a:xfrm>
            <a:off x="3014864" y="3884979"/>
            <a:ext cx="321739" cy="369330"/>
          </a:xfrm>
          <a:prstGeom prst="ellipse">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A72C4D4-BF8A-0C59-01DD-B84942CF0D2D}"/>
              </a:ext>
            </a:extLst>
          </p:cNvPr>
          <p:cNvSpPr/>
          <p:nvPr/>
        </p:nvSpPr>
        <p:spPr>
          <a:xfrm>
            <a:off x="3498469" y="4229125"/>
            <a:ext cx="321739" cy="369330"/>
          </a:xfrm>
          <a:prstGeom prst="ellipse">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67276FA-AF59-73D0-DF41-5E7B9EC5422B}"/>
              </a:ext>
            </a:extLst>
          </p:cNvPr>
          <p:cNvSpPr/>
          <p:nvPr/>
        </p:nvSpPr>
        <p:spPr>
          <a:xfrm>
            <a:off x="4019906" y="4560245"/>
            <a:ext cx="321739" cy="369330"/>
          </a:xfrm>
          <a:prstGeom prst="ellips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A06EBEB-15E4-3F7E-58F7-15A3FC870C72}"/>
              </a:ext>
            </a:extLst>
          </p:cNvPr>
          <p:cNvSpPr/>
          <p:nvPr/>
        </p:nvSpPr>
        <p:spPr>
          <a:xfrm>
            <a:off x="2035782" y="3264004"/>
            <a:ext cx="321739" cy="36933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2B8CC5CD-CFC6-F546-F4AE-5CCB92C628B3}"/>
              </a:ext>
            </a:extLst>
          </p:cNvPr>
          <p:cNvPicPr>
            <a:picLocks noChangeAspect="1"/>
          </p:cNvPicPr>
          <p:nvPr/>
        </p:nvPicPr>
        <p:blipFill>
          <a:blip r:embed="rId3"/>
          <a:stretch>
            <a:fillRect/>
          </a:stretch>
        </p:blipFill>
        <p:spPr>
          <a:xfrm>
            <a:off x="10274835" y="3471874"/>
            <a:ext cx="1831286" cy="1331844"/>
          </a:xfrm>
          <a:prstGeom prst="rect">
            <a:avLst/>
          </a:prstGeom>
        </p:spPr>
      </p:pic>
      <p:pic>
        <p:nvPicPr>
          <p:cNvPr id="46" name="Picture 45">
            <a:extLst>
              <a:ext uri="{FF2B5EF4-FFF2-40B4-BE49-F238E27FC236}">
                <a16:creationId xmlns:a16="http://schemas.microsoft.com/office/drawing/2014/main" id="{86702347-7239-0CC7-4BEB-D4C44F943DE7}"/>
              </a:ext>
            </a:extLst>
          </p:cNvPr>
          <p:cNvPicPr>
            <a:picLocks noChangeAspect="1"/>
          </p:cNvPicPr>
          <p:nvPr/>
        </p:nvPicPr>
        <p:blipFill>
          <a:blip r:embed="rId4"/>
          <a:stretch>
            <a:fillRect/>
          </a:stretch>
        </p:blipFill>
        <p:spPr>
          <a:xfrm>
            <a:off x="6390969" y="3576977"/>
            <a:ext cx="2609757" cy="1331844"/>
          </a:xfrm>
          <a:prstGeom prst="rect">
            <a:avLst/>
          </a:prstGeom>
        </p:spPr>
      </p:pic>
      <p:cxnSp>
        <p:nvCxnSpPr>
          <p:cNvPr id="48" name="Straight Connector 47">
            <a:extLst>
              <a:ext uri="{FF2B5EF4-FFF2-40B4-BE49-F238E27FC236}">
                <a16:creationId xmlns:a16="http://schemas.microsoft.com/office/drawing/2014/main" id="{7221C436-485E-64FC-EBD2-C065638BE96F}"/>
              </a:ext>
            </a:extLst>
          </p:cNvPr>
          <p:cNvCxnSpPr>
            <a:cxnSpLocks/>
          </p:cNvCxnSpPr>
          <p:nvPr/>
        </p:nvCxnSpPr>
        <p:spPr>
          <a:xfrm>
            <a:off x="7096539" y="5100308"/>
            <a:ext cx="483041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163391E3-861E-B1B9-9E15-87689F5394BF}"/>
              </a:ext>
            </a:extLst>
          </p:cNvPr>
          <p:cNvCxnSpPr/>
          <p:nvPr/>
        </p:nvCxnSpPr>
        <p:spPr>
          <a:xfrm>
            <a:off x="7732643" y="4923962"/>
            <a:ext cx="0" cy="369332"/>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E345FCCF-B884-9DAC-6DB4-536728A4278D}"/>
              </a:ext>
            </a:extLst>
          </p:cNvPr>
          <p:cNvCxnSpPr/>
          <p:nvPr/>
        </p:nvCxnSpPr>
        <p:spPr>
          <a:xfrm>
            <a:off x="8600452" y="4915642"/>
            <a:ext cx="0" cy="369332"/>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A34EAF2E-9582-2F5A-D55B-7A9A544EF5D2}"/>
              </a:ext>
            </a:extLst>
          </p:cNvPr>
          <p:cNvCxnSpPr/>
          <p:nvPr/>
        </p:nvCxnSpPr>
        <p:spPr>
          <a:xfrm>
            <a:off x="10322392" y="4915642"/>
            <a:ext cx="0" cy="369332"/>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714886CF-AE57-896D-2823-3588AF7880BA}"/>
              </a:ext>
            </a:extLst>
          </p:cNvPr>
          <p:cNvCxnSpPr/>
          <p:nvPr/>
        </p:nvCxnSpPr>
        <p:spPr>
          <a:xfrm>
            <a:off x="9441281" y="4923962"/>
            <a:ext cx="0" cy="369332"/>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8CA3FF0D-ACDC-36CD-7FBD-F0CDA628F6D0}"/>
              </a:ext>
            </a:extLst>
          </p:cNvPr>
          <p:cNvCxnSpPr/>
          <p:nvPr/>
        </p:nvCxnSpPr>
        <p:spPr>
          <a:xfrm>
            <a:off x="11198279" y="4917250"/>
            <a:ext cx="0" cy="369332"/>
          </a:xfrm>
          <a:prstGeom prst="line">
            <a:avLst/>
          </a:prstGeom>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53B0E41F-A468-042A-BCA1-4B369183D013}"/>
              </a:ext>
            </a:extLst>
          </p:cNvPr>
          <p:cNvSpPr txBox="1"/>
          <p:nvPr/>
        </p:nvSpPr>
        <p:spPr>
          <a:xfrm>
            <a:off x="7000611" y="5683713"/>
            <a:ext cx="1554977" cy="369332"/>
          </a:xfrm>
          <a:prstGeom prst="rect">
            <a:avLst/>
          </a:prstGeom>
          <a:noFill/>
        </p:spPr>
        <p:txBody>
          <a:bodyPr wrap="none" rtlCol="0">
            <a:spAutoFit/>
          </a:bodyPr>
          <a:lstStyle/>
          <a:p>
            <a:r>
              <a:rPr lang="en-US" dirty="0"/>
              <a:t>Step 1: /</a:t>
            </a:r>
            <a:r>
              <a:rPr lang="en-US" dirty="0" err="1"/>
              <a:t>i</a:t>
            </a:r>
            <a:r>
              <a:rPr lang="en-US" dirty="0"/>
              <a:t>/-like</a:t>
            </a:r>
          </a:p>
        </p:txBody>
      </p:sp>
      <p:sp>
        <p:nvSpPr>
          <p:cNvPr id="57" name="TextBox 56">
            <a:extLst>
              <a:ext uri="{FF2B5EF4-FFF2-40B4-BE49-F238E27FC236}">
                <a16:creationId xmlns:a16="http://schemas.microsoft.com/office/drawing/2014/main" id="{7765C610-B541-91F5-06DD-CB8FDCCF86E8}"/>
              </a:ext>
            </a:extLst>
          </p:cNvPr>
          <p:cNvSpPr txBox="1"/>
          <p:nvPr/>
        </p:nvSpPr>
        <p:spPr>
          <a:xfrm>
            <a:off x="10531694" y="5678037"/>
            <a:ext cx="1582228" cy="369332"/>
          </a:xfrm>
          <a:prstGeom prst="rect">
            <a:avLst/>
          </a:prstGeom>
          <a:noFill/>
        </p:spPr>
        <p:txBody>
          <a:bodyPr wrap="none" rtlCol="0">
            <a:spAutoFit/>
          </a:bodyPr>
          <a:lstStyle/>
          <a:p>
            <a:r>
              <a:rPr lang="en-US" dirty="0"/>
              <a:t>Step 5: /</a:t>
            </a:r>
            <a:r>
              <a:rPr lang="en-US" dirty="0" err="1"/>
              <a:t>ɪ</a:t>
            </a:r>
            <a:r>
              <a:rPr lang="en-US" dirty="0"/>
              <a:t>/-like</a:t>
            </a:r>
          </a:p>
        </p:txBody>
      </p:sp>
      <p:sp>
        <p:nvSpPr>
          <p:cNvPr id="58" name="TextBox 57">
            <a:extLst>
              <a:ext uri="{FF2B5EF4-FFF2-40B4-BE49-F238E27FC236}">
                <a16:creationId xmlns:a16="http://schemas.microsoft.com/office/drawing/2014/main" id="{227FD324-8F83-EFAA-8897-D174384B6651}"/>
              </a:ext>
            </a:extLst>
          </p:cNvPr>
          <p:cNvSpPr txBox="1"/>
          <p:nvPr/>
        </p:nvSpPr>
        <p:spPr>
          <a:xfrm>
            <a:off x="7271673" y="5275997"/>
            <a:ext cx="910827" cy="369332"/>
          </a:xfrm>
          <a:prstGeom prst="rect">
            <a:avLst/>
          </a:prstGeom>
          <a:noFill/>
        </p:spPr>
        <p:txBody>
          <a:bodyPr wrap="none" rtlCol="0">
            <a:spAutoFit/>
          </a:bodyPr>
          <a:lstStyle/>
          <a:p>
            <a:r>
              <a:rPr lang="en-US" dirty="0"/>
              <a:t>240 ms</a:t>
            </a:r>
          </a:p>
        </p:txBody>
      </p:sp>
      <p:sp>
        <p:nvSpPr>
          <p:cNvPr id="59" name="TextBox 58">
            <a:extLst>
              <a:ext uri="{FF2B5EF4-FFF2-40B4-BE49-F238E27FC236}">
                <a16:creationId xmlns:a16="http://schemas.microsoft.com/office/drawing/2014/main" id="{D1434203-58EE-412A-9188-37BBC2267D49}"/>
              </a:ext>
            </a:extLst>
          </p:cNvPr>
          <p:cNvSpPr txBox="1"/>
          <p:nvPr/>
        </p:nvSpPr>
        <p:spPr>
          <a:xfrm>
            <a:off x="10850168" y="5308705"/>
            <a:ext cx="910827" cy="369332"/>
          </a:xfrm>
          <a:prstGeom prst="rect">
            <a:avLst/>
          </a:prstGeom>
          <a:noFill/>
        </p:spPr>
        <p:txBody>
          <a:bodyPr wrap="none" rtlCol="0">
            <a:spAutoFit/>
          </a:bodyPr>
          <a:lstStyle/>
          <a:p>
            <a:r>
              <a:rPr lang="en-US" dirty="0"/>
              <a:t>125 ms</a:t>
            </a:r>
          </a:p>
        </p:txBody>
      </p:sp>
    </p:spTree>
    <p:extLst>
      <p:ext uri="{BB962C8B-B14F-4D97-AF65-F5344CB8AC3E}">
        <p14:creationId xmlns:p14="http://schemas.microsoft.com/office/powerpoint/2010/main" val="17941970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EE88ED-5F0A-F580-1BF0-DB85209C9A86}"/>
              </a:ext>
            </a:extLst>
          </p:cNvPr>
          <p:cNvSpPr txBox="1"/>
          <p:nvPr/>
        </p:nvSpPr>
        <p:spPr>
          <a:xfrm>
            <a:off x="6720181" y="1320493"/>
            <a:ext cx="5471819" cy="954107"/>
          </a:xfrm>
          <a:prstGeom prst="rect">
            <a:avLst/>
          </a:prstGeom>
          <a:noFill/>
        </p:spPr>
        <p:txBody>
          <a:bodyPr wrap="none" rtlCol="0">
            <a:spAutoFit/>
          </a:bodyPr>
          <a:lstStyle/>
          <a:p>
            <a:pPr algn="ctr"/>
            <a:r>
              <a:rPr lang="en-US" sz="2800" dirty="0"/>
              <a:t>Secondary cue:</a:t>
            </a:r>
          </a:p>
          <a:p>
            <a:pPr algn="ctr"/>
            <a:r>
              <a:rPr lang="en-US" sz="2800" dirty="0"/>
              <a:t>pre- to post-vowel pitch difference</a:t>
            </a:r>
          </a:p>
        </p:txBody>
      </p:sp>
      <p:sp>
        <p:nvSpPr>
          <p:cNvPr id="5" name="TextBox 4">
            <a:extLst>
              <a:ext uri="{FF2B5EF4-FFF2-40B4-BE49-F238E27FC236}">
                <a16:creationId xmlns:a16="http://schemas.microsoft.com/office/drawing/2014/main" id="{B3E9818D-DF47-F72E-FE0B-D5E7C86B3DC0}"/>
              </a:ext>
            </a:extLst>
          </p:cNvPr>
          <p:cNvSpPr txBox="1"/>
          <p:nvPr/>
        </p:nvSpPr>
        <p:spPr>
          <a:xfrm>
            <a:off x="1391478" y="1306290"/>
            <a:ext cx="3210059" cy="954107"/>
          </a:xfrm>
          <a:prstGeom prst="rect">
            <a:avLst/>
          </a:prstGeom>
          <a:noFill/>
        </p:spPr>
        <p:txBody>
          <a:bodyPr wrap="square" rtlCol="0">
            <a:spAutoFit/>
          </a:bodyPr>
          <a:lstStyle/>
          <a:p>
            <a:pPr algn="ctr"/>
            <a:r>
              <a:rPr lang="en-US" sz="2800" dirty="0"/>
              <a:t>Primary cue: </a:t>
            </a:r>
          </a:p>
          <a:p>
            <a:pPr algn="ctr"/>
            <a:r>
              <a:rPr lang="en-US" sz="2800" dirty="0"/>
              <a:t>closure duration</a:t>
            </a:r>
          </a:p>
        </p:txBody>
      </p:sp>
      <p:sp>
        <p:nvSpPr>
          <p:cNvPr id="6" name="TextBox 5">
            <a:extLst>
              <a:ext uri="{FF2B5EF4-FFF2-40B4-BE49-F238E27FC236}">
                <a16:creationId xmlns:a16="http://schemas.microsoft.com/office/drawing/2014/main" id="{BB5C100B-1C32-B7F8-B535-0AFEB88E42FA}"/>
              </a:ext>
            </a:extLst>
          </p:cNvPr>
          <p:cNvSpPr txBox="1"/>
          <p:nvPr/>
        </p:nvSpPr>
        <p:spPr>
          <a:xfrm>
            <a:off x="4601537" y="358955"/>
            <a:ext cx="2771977" cy="646331"/>
          </a:xfrm>
          <a:prstGeom prst="rect">
            <a:avLst/>
          </a:prstGeom>
          <a:noFill/>
        </p:spPr>
        <p:txBody>
          <a:bodyPr wrap="none" rtlCol="0">
            <a:spAutoFit/>
          </a:bodyPr>
          <a:lstStyle/>
          <a:p>
            <a:r>
              <a:rPr lang="en-US" sz="3600" i="1" dirty="0"/>
              <a:t>kata</a:t>
            </a:r>
            <a:r>
              <a:rPr lang="en-US" sz="3600" dirty="0"/>
              <a:t> vs. </a:t>
            </a:r>
            <a:r>
              <a:rPr lang="en-US" sz="3600" i="1" dirty="0" err="1"/>
              <a:t>katta</a:t>
            </a:r>
            <a:endParaRPr lang="en-US" sz="3600" i="1" dirty="0"/>
          </a:p>
        </p:txBody>
      </p:sp>
      <p:sp>
        <p:nvSpPr>
          <p:cNvPr id="7" name="TextBox 6">
            <a:extLst>
              <a:ext uri="{FF2B5EF4-FFF2-40B4-BE49-F238E27FC236}">
                <a16:creationId xmlns:a16="http://schemas.microsoft.com/office/drawing/2014/main" id="{3FB4FA0D-A861-10A9-BB1A-57DB733AEB26}"/>
              </a:ext>
            </a:extLst>
          </p:cNvPr>
          <p:cNvSpPr txBox="1"/>
          <p:nvPr/>
        </p:nvSpPr>
        <p:spPr>
          <a:xfrm>
            <a:off x="6720181" y="3081130"/>
            <a:ext cx="587020" cy="523220"/>
          </a:xfrm>
          <a:prstGeom prst="rect">
            <a:avLst/>
          </a:prstGeom>
          <a:noFill/>
        </p:spPr>
        <p:txBody>
          <a:bodyPr wrap="none" rtlCol="0">
            <a:spAutoFit/>
          </a:bodyPr>
          <a:lstStyle/>
          <a:p>
            <a:r>
              <a:rPr lang="en-US" sz="2800" dirty="0"/>
              <a:t>V1</a:t>
            </a:r>
          </a:p>
        </p:txBody>
      </p:sp>
      <p:sp>
        <p:nvSpPr>
          <p:cNvPr id="8" name="TextBox 7">
            <a:extLst>
              <a:ext uri="{FF2B5EF4-FFF2-40B4-BE49-F238E27FC236}">
                <a16:creationId xmlns:a16="http://schemas.microsoft.com/office/drawing/2014/main" id="{48E290F7-1797-9F38-0C90-7647B06786F9}"/>
              </a:ext>
            </a:extLst>
          </p:cNvPr>
          <p:cNvSpPr txBox="1"/>
          <p:nvPr/>
        </p:nvSpPr>
        <p:spPr>
          <a:xfrm>
            <a:off x="10331398" y="3081130"/>
            <a:ext cx="587020" cy="523220"/>
          </a:xfrm>
          <a:prstGeom prst="rect">
            <a:avLst/>
          </a:prstGeom>
          <a:noFill/>
        </p:spPr>
        <p:txBody>
          <a:bodyPr wrap="none" rtlCol="0">
            <a:spAutoFit/>
          </a:bodyPr>
          <a:lstStyle/>
          <a:p>
            <a:r>
              <a:rPr lang="en-US" sz="2800" dirty="0"/>
              <a:t>V2</a:t>
            </a:r>
          </a:p>
        </p:txBody>
      </p:sp>
      <p:sp>
        <p:nvSpPr>
          <p:cNvPr id="10" name="Freeform 9">
            <a:extLst>
              <a:ext uri="{FF2B5EF4-FFF2-40B4-BE49-F238E27FC236}">
                <a16:creationId xmlns:a16="http://schemas.microsoft.com/office/drawing/2014/main" id="{0E0D23FE-4152-F594-FF0F-BD8B09986C51}"/>
              </a:ext>
            </a:extLst>
          </p:cNvPr>
          <p:cNvSpPr/>
          <p:nvPr/>
        </p:nvSpPr>
        <p:spPr>
          <a:xfrm>
            <a:off x="6301409" y="3935744"/>
            <a:ext cx="1669774" cy="119421"/>
          </a:xfrm>
          <a:custGeom>
            <a:avLst/>
            <a:gdLst>
              <a:gd name="connsiteX0" fmla="*/ 0 w 1669774"/>
              <a:gd name="connsiteY0" fmla="*/ 99543 h 119421"/>
              <a:gd name="connsiteX1" fmla="*/ 675861 w 1669774"/>
              <a:gd name="connsiteY1" fmla="*/ 152 h 119421"/>
              <a:gd name="connsiteX2" fmla="*/ 1669774 w 1669774"/>
              <a:gd name="connsiteY2" fmla="*/ 119421 h 119421"/>
            </a:gdLst>
            <a:ahLst/>
            <a:cxnLst>
              <a:cxn ang="0">
                <a:pos x="connsiteX0" y="connsiteY0"/>
              </a:cxn>
              <a:cxn ang="0">
                <a:pos x="connsiteX1" y="connsiteY1"/>
              </a:cxn>
              <a:cxn ang="0">
                <a:pos x="connsiteX2" y="connsiteY2"/>
              </a:cxn>
            </a:cxnLst>
            <a:rect l="l" t="t" r="r" b="b"/>
            <a:pathLst>
              <a:path w="1669774" h="119421">
                <a:moveTo>
                  <a:pt x="0" y="99543"/>
                </a:moveTo>
                <a:cubicBezTo>
                  <a:pt x="198782" y="48191"/>
                  <a:pt x="397565" y="-3161"/>
                  <a:pt x="675861" y="152"/>
                </a:cubicBezTo>
                <a:cubicBezTo>
                  <a:pt x="954157" y="3465"/>
                  <a:pt x="1311965" y="61443"/>
                  <a:pt x="1669774" y="119421"/>
                </a:cubicBezTo>
              </a:path>
            </a:pathLst>
          </a:custGeom>
          <a:no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CE612624-0A82-B5B1-41D5-017B69B91151}"/>
              </a:ext>
            </a:extLst>
          </p:cNvPr>
          <p:cNvSpPr/>
          <p:nvPr/>
        </p:nvSpPr>
        <p:spPr>
          <a:xfrm>
            <a:off x="6301409" y="4410880"/>
            <a:ext cx="1669774" cy="119421"/>
          </a:xfrm>
          <a:custGeom>
            <a:avLst/>
            <a:gdLst>
              <a:gd name="connsiteX0" fmla="*/ 0 w 1669774"/>
              <a:gd name="connsiteY0" fmla="*/ 99543 h 119421"/>
              <a:gd name="connsiteX1" fmla="*/ 675861 w 1669774"/>
              <a:gd name="connsiteY1" fmla="*/ 152 h 119421"/>
              <a:gd name="connsiteX2" fmla="*/ 1669774 w 1669774"/>
              <a:gd name="connsiteY2" fmla="*/ 119421 h 119421"/>
            </a:gdLst>
            <a:ahLst/>
            <a:cxnLst>
              <a:cxn ang="0">
                <a:pos x="connsiteX0" y="connsiteY0"/>
              </a:cxn>
              <a:cxn ang="0">
                <a:pos x="connsiteX1" y="connsiteY1"/>
              </a:cxn>
              <a:cxn ang="0">
                <a:pos x="connsiteX2" y="connsiteY2"/>
              </a:cxn>
            </a:cxnLst>
            <a:rect l="l" t="t" r="r" b="b"/>
            <a:pathLst>
              <a:path w="1669774" h="119421">
                <a:moveTo>
                  <a:pt x="0" y="99543"/>
                </a:moveTo>
                <a:cubicBezTo>
                  <a:pt x="198782" y="48191"/>
                  <a:pt x="397565" y="-3161"/>
                  <a:pt x="675861" y="152"/>
                </a:cubicBezTo>
                <a:cubicBezTo>
                  <a:pt x="954157" y="3465"/>
                  <a:pt x="1311965" y="61443"/>
                  <a:pt x="1669774" y="119421"/>
                </a:cubicBezTo>
              </a:path>
            </a:pathLst>
          </a:cu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264C447E-805F-6ADD-C843-AA1FB9477104}"/>
              </a:ext>
            </a:extLst>
          </p:cNvPr>
          <p:cNvSpPr/>
          <p:nvPr/>
        </p:nvSpPr>
        <p:spPr>
          <a:xfrm>
            <a:off x="9879496" y="4835836"/>
            <a:ext cx="1550504" cy="516835"/>
          </a:xfrm>
          <a:custGeom>
            <a:avLst/>
            <a:gdLst>
              <a:gd name="connsiteX0" fmla="*/ 0 w 1550504"/>
              <a:gd name="connsiteY0" fmla="*/ 0 h 516835"/>
              <a:gd name="connsiteX1" fmla="*/ 894521 w 1550504"/>
              <a:gd name="connsiteY1" fmla="*/ 119270 h 516835"/>
              <a:gd name="connsiteX2" fmla="*/ 1550504 w 1550504"/>
              <a:gd name="connsiteY2" fmla="*/ 516835 h 516835"/>
            </a:gdLst>
            <a:ahLst/>
            <a:cxnLst>
              <a:cxn ang="0">
                <a:pos x="connsiteX0" y="connsiteY0"/>
              </a:cxn>
              <a:cxn ang="0">
                <a:pos x="connsiteX1" y="connsiteY1"/>
              </a:cxn>
              <a:cxn ang="0">
                <a:pos x="connsiteX2" y="connsiteY2"/>
              </a:cxn>
            </a:cxnLst>
            <a:rect l="l" t="t" r="r" b="b"/>
            <a:pathLst>
              <a:path w="1550504" h="516835">
                <a:moveTo>
                  <a:pt x="0" y="0"/>
                </a:moveTo>
                <a:cubicBezTo>
                  <a:pt x="318052" y="16565"/>
                  <a:pt x="636104" y="33131"/>
                  <a:pt x="894521" y="119270"/>
                </a:cubicBezTo>
                <a:cubicBezTo>
                  <a:pt x="1152938" y="205409"/>
                  <a:pt x="1351721" y="361122"/>
                  <a:pt x="1550504" y="516835"/>
                </a:cubicBezTo>
              </a:path>
            </a:pathLst>
          </a:cu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77C42515-40EF-0491-3E57-2E00C03F60DE}"/>
              </a:ext>
            </a:extLst>
          </p:cNvPr>
          <p:cNvSpPr/>
          <p:nvPr/>
        </p:nvSpPr>
        <p:spPr>
          <a:xfrm>
            <a:off x="9879496" y="5582883"/>
            <a:ext cx="1550504" cy="516835"/>
          </a:xfrm>
          <a:custGeom>
            <a:avLst/>
            <a:gdLst>
              <a:gd name="connsiteX0" fmla="*/ 0 w 1550504"/>
              <a:gd name="connsiteY0" fmla="*/ 0 h 516835"/>
              <a:gd name="connsiteX1" fmla="*/ 894521 w 1550504"/>
              <a:gd name="connsiteY1" fmla="*/ 119270 h 516835"/>
              <a:gd name="connsiteX2" fmla="*/ 1550504 w 1550504"/>
              <a:gd name="connsiteY2" fmla="*/ 516835 h 516835"/>
            </a:gdLst>
            <a:ahLst/>
            <a:cxnLst>
              <a:cxn ang="0">
                <a:pos x="connsiteX0" y="connsiteY0"/>
              </a:cxn>
              <a:cxn ang="0">
                <a:pos x="connsiteX1" y="connsiteY1"/>
              </a:cxn>
              <a:cxn ang="0">
                <a:pos x="connsiteX2" y="connsiteY2"/>
              </a:cxn>
            </a:cxnLst>
            <a:rect l="l" t="t" r="r" b="b"/>
            <a:pathLst>
              <a:path w="1550504" h="516835">
                <a:moveTo>
                  <a:pt x="0" y="0"/>
                </a:moveTo>
                <a:cubicBezTo>
                  <a:pt x="318052" y="16565"/>
                  <a:pt x="636104" y="33131"/>
                  <a:pt x="894521" y="119270"/>
                </a:cubicBezTo>
                <a:cubicBezTo>
                  <a:pt x="1152938" y="205409"/>
                  <a:pt x="1351721" y="361122"/>
                  <a:pt x="1550504" y="516835"/>
                </a:cubicBezTo>
              </a:path>
            </a:pathLst>
          </a:custGeom>
          <a:no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92E31B15-864F-DE21-0598-135199963CAE}"/>
              </a:ext>
            </a:extLst>
          </p:cNvPr>
          <p:cNvCxnSpPr/>
          <p:nvPr/>
        </p:nvCxnSpPr>
        <p:spPr>
          <a:xfrm flipV="1">
            <a:off x="7136296" y="4055165"/>
            <a:ext cx="0" cy="3180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F70FB163-D6A6-1552-4DFD-D5A5FAB06C3C}"/>
              </a:ext>
            </a:extLst>
          </p:cNvPr>
          <p:cNvCxnSpPr/>
          <p:nvPr/>
        </p:nvCxnSpPr>
        <p:spPr>
          <a:xfrm>
            <a:off x="10654748" y="5094254"/>
            <a:ext cx="0" cy="4886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A81FAECD-843E-DC6F-70A1-84B96C76AB9C}"/>
              </a:ext>
            </a:extLst>
          </p:cNvPr>
          <p:cNvCxnSpPr/>
          <p:nvPr/>
        </p:nvCxnSpPr>
        <p:spPr>
          <a:xfrm>
            <a:off x="5987525" y="3776870"/>
            <a:ext cx="0" cy="2524539"/>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22E7DDE-5DBE-F596-E65E-7527D6B546AF}"/>
              </a:ext>
            </a:extLst>
          </p:cNvPr>
          <p:cNvSpPr txBox="1"/>
          <p:nvPr/>
        </p:nvSpPr>
        <p:spPr>
          <a:xfrm rot="16200000">
            <a:off x="5488497" y="4785331"/>
            <a:ext cx="429926" cy="369332"/>
          </a:xfrm>
          <a:prstGeom prst="rect">
            <a:avLst/>
          </a:prstGeom>
          <a:noFill/>
        </p:spPr>
        <p:txBody>
          <a:bodyPr wrap="none" rtlCol="0">
            <a:spAutoFit/>
          </a:bodyPr>
          <a:lstStyle/>
          <a:p>
            <a:r>
              <a:rPr lang="en-US" dirty="0"/>
              <a:t>F0</a:t>
            </a:r>
          </a:p>
        </p:txBody>
      </p:sp>
      <p:sp>
        <p:nvSpPr>
          <p:cNvPr id="21" name="TextBox 20">
            <a:extLst>
              <a:ext uri="{FF2B5EF4-FFF2-40B4-BE49-F238E27FC236}">
                <a16:creationId xmlns:a16="http://schemas.microsoft.com/office/drawing/2014/main" id="{CC0C624A-ACA9-8C92-87E1-0F3CAD8BC2B0}"/>
              </a:ext>
            </a:extLst>
          </p:cNvPr>
          <p:cNvSpPr txBox="1"/>
          <p:nvPr/>
        </p:nvSpPr>
        <p:spPr>
          <a:xfrm>
            <a:off x="6373823" y="4595708"/>
            <a:ext cx="1571777" cy="369332"/>
          </a:xfrm>
          <a:prstGeom prst="rect">
            <a:avLst/>
          </a:prstGeom>
          <a:noFill/>
        </p:spPr>
        <p:txBody>
          <a:bodyPr wrap="none" rtlCol="0">
            <a:spAutoFit/>
          </a:bodyPr>
          <a:lstStyle/>
          <a:p>
            <a:r>
              <a:rPr lang="en-US" dirty="0"/>
              <a:t>Step 1: /t/-like</a:t>
            </a:r>
          </a:p>
        </p:txBody>
      </p:sp>
      <p:sp>
        <p:nvSpPr>
          <p:cNvPr id="22" name="TextBox 21">
            <a:extLst>
              <a:ext uri="{FF2B5EF4-FFF2-40B4-BE49-F238E27FC236}">
                <a16:creationId xmlns:a16="http://schemas.microsoft.com/office/drawing/2014/main" id="{8EB15653-95BB-D0F1-F7BE-416B033EBB7C}"/>
              </a:ext>
            </a:extLst>
          </p:cNvPr>
          <p:cNvSpPr txBox="1"/>
          <p:nvPr/>
        </p:nvSpPr>
        <p:spPr>
          <a:xfrm>
            <a:off x="10132529" y="4466504"/>
            <a:ext cx="1571777" cy="369332"/>
          </a:xfrm>
          <a:prstGeom prst="rect">
            <a:avLst/>
          </a:prstGeom>
          <a:noFill/>
        </p:spPr>
        <p:txBody>
          <a:bodyPr wrap="none" rtlCol="0">
            <a:spAutoFit/>
          </a:bodyPr>
          <a:lstStyle/>
          <a:p>
            <a:r>
              <a:rPr lang="en-US" dirty="0"/>
              <a:t>Step 1: /t/-like</a:t>
            </a:r>
          </a:p>
        </p:txBody>
      </p:sp>
      <p:sp>
        <p:nvSpPr>
          <p:cNvPr id="23" name="TextBox 22">
            <a:extLst>
              <a:ext uri="{FF2B5EF4-FFF2-40B4-BE49-F238E27FC236}">
                <a16:creationId xmlns:a16="http://schemas.microsoft.com/office/drawing/2014/main" id="{61595CD9-FB1D-34AA-76BD-E735E2337DF1}"/>
              </a:ext>
            </a:extLst>
          </p:cNvPr>
          <p:cNvSpPr txBox="1"/>
          <p:nvPr/>
        </p:nvSpPr>
        <p:spPr>
          <a:xfrm>
            <a:off x="6193710" y="3566412"/>
            <a:ext cx="1647118" cy="369332"/>
          </a:xfrm>
          <a:prstGeom prst="rect">
            <a:avLst/>
          </a:prstGeom>
          <a:noFill/>
        </p:spPr>
        <p:txBody>
          <a:bodyPr wrap="none" rtlCol="0">
            <a:spAutoFit/>
          </a:bodyPr>
          <a:lstStyle/>
          <a:p>
            <a:r>
              <a:rPr lang="en-US" dirty="0"/>
              <a:t>Step 5: /</a:t>
            </a:r>
            <a:r>
              <a:rPr lang="en-US" dirty="0" err="1"/>
              <a:t>tt</a:t>
            </a:r>
            <a:r>
              <a:rPr lang="en-US" dirty="0"/>
              <a:t>/-like</a:t>
            </a:r>
          </a:p>
        </p:txBody>
      </p:sp>
      <p:sp>
        <p:nvSpPr>
          <p:cNvPr id="24" name="TextBox 23">
            <a:extLst>
              <a:ext uri="{FF2B5EF4-FFF2-40B4-BE49-F238E27FC236}">
                <a16:creationId xmlns:a16="http://schemas.microsoft.com/office/drawing/2014/main" id="{11AC3821-686E-661D-9172-028254584F10}"/>
              </a:ext>
            </a:extLst>
          </p:cNvPr>
          <p:cNvSpPr txBox="1"/>
          <p:nvPr/>
        </p:nvSpPr>
        <p:spPr>
          <a:xfrm>
            <a:off x="10094858" y="6096508"/>
            <a:ext cx="1647118" cy="369332"/>
          </a:xfrm>
          <a:prstGeom prst="rect">
            <a:avLst/>
          </a:prstGeom>
          <a:noFill/>
        </p:spPr>
        <p:txBody>
          <a:bodyPr wrap="none" rtlCol="0">
            <a:spAutoFit/>
          </a:bodyPr>
          <a:lstStyle/>
          <a:p>
            <a:r>
              <a:rPr lang="en-US" dirty="0"/>
              <a:t>Step 5: /</a:t>
            </a:r>
            <a:r>
              <a:rPr lang="en-US" dirty="0" err="1"/>
              <a:t>tt</a:t>
            </a:r>
            <a:r>
              <a:rPr lang="en-US" dirty="0"/>
              <a:t>/-like</a:t>
            </a:r>
          </a:p>
        </p:txBody>
      </p:sp>
      <p:cxnSp>
        <p:nvCxnSpPr>
          <p:cNvPr id="26" name="Straight Connector 25">
            <a:extLst>
              <a:ext uri="{FF2B5EF4-FFF2-40B4-BE49-F238E27FC236}">
                <a16:creationId xmlns:a16="http://schemas.microsoft.com/office/drawing/2014/main" id="{406AEAF1-52BE-6B5C-3B90-18672ADDAD13}"/>
              </a:ext>
            </a:extLst>
          </p:cNvPr>
          <p:cNvCxnSpPr>
            <a:cxnSpLocks/>
          </p:cNvCxnSpPr>
          <p:nvPr/>
        </p:nvCxnSpPr>
        <p:spPr>
          <a:xfrm flipV="1">
            <a:off x="6096000" y="3584335"/>
            <a:ext cx="1710196" cy="137"/>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27C024D-0CAC-2CD9-94A7-1899AF898BF4}"/>
              </a:ext>
            </a:extLst>
          </p:cNvPr>
          <p:cNvCxnSpPr>
            <a:cxnSpLocks/>
          </p:cNvCxnSpPr>
          <p:nvPr/>
        </p:nvCxnSpPr>
        <p:spPr>
          <a:xfrm flipV="1">
            <a:off x="7908509" y="3579892"/>
            <a:ext cx="1710196" cy="137"/>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6DEF7E48-7198-11E1-B9FD-E611053DE91F}"/>
              </a:ext>
            </a:extLst>
          </p:cNvPr>
          <p:cNvCxnSpPr>
            <a:cxnSpLocks/>
          </p:cNvCxnSpPr>
          <p:nvPr/>
        </p:nvCxnSpPr>
        <p:spPr>
          <a:xfrm flipV="1">
            <a:off x="9600155" y="3575027"/>
            <a:ext cx="1710196" cy="137"/>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539C2161-4908-E2A5-821C-4C0135CAD368}"/>
              </a:ext>
            </a:extLst>
          </p:cNvPr>
          <p:cNvSpPr txBox="1"/>
          <p:nvPr/>
        </p:nvSpPr>
        <p:spPr>
          <a:xfrm>
            <a:off x="8246241" y="2982294"/>
            <a:ext cx="1345112" cy="523220"/>
          </a:xfrm>
          <a:prstGeom prst="rect">
            <a:avLst/>
          </a:prstGeom>
          <a:noFill/>
        </p:spPr>
        <p:txBody>
          <a:bodyPr wrap="none" rtlCol="0">
            <a:spAutoFit/>
          </a:bodyPr>
          <a:lstStyle/>
          <a:p>
            <a:r>
              <a:rPr lang="en-US" sz="2800" dirty="0"/>
              <a:t>closure</a:t>
            </a:r>
          </a:p>
        </p:txBody>
      </p:sp>
      <p:cxnSp>
        <p:nvCxnSpPr>
          <p:cNvPr id="32" name="Straight Connector 31">
            <a:extLst>
              <a:ext uri="{FF2B5EF4-FFF2-40B4-BE49-F238E27FC236}">
                <a16:creationId xmlns:a16="http://schemas.microsoft.com/office/drawing/2014/main" id="{C6CDC32B-ACA9-EBEA-B0BD-8F559D6FE1A4}"/>
              </a:ext>
            </a:extLst>
          </p:cNvPr>
          <p:cNvCxnSpPr>
            <a:cxnSpLocks/>
          </p:cNvCxnSpPr>
          <p:nvPr/>
        </p:nvCxnSpPr>
        <p:spPr>
          <a:xfrm flipH="1" flipV="1">
            <a:off x="8019894" y="3539099"/>
            <a:ext cx="27352" cy="276231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675FB9F-CACF-EEAA-D4F4-2554849277FC}"/>
              </a:ext>
            </a:extLst>
          </p:cNvPr>
          <p:cNvCxnSpPr>
            <a:cxnSpLocks/>
          </p:cNvCxnSpPr>
          <p:nvPr/>
        </p:nvCxnSpPr>
        <p:spPr>
          <a:xfrm flipV="1">
            <a:off x="9843614" y="3577709"/>
            <a:ext cx="4156" cy="272370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50BCBD9D-7354-90E8-08A7-08CEC9E5D3E9}"/>
              </a:ext>
            </a:extLst>
          </p:cNvPr>
          <p:cNvCxnSpPr/>
          <p:nvPr/>
        </p:nvCxnSpPr>
        <p:spPr>
          <a:xfrm>
            <a:off x="337930" y="4965040"/>
            <a:ext cx="45521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10C8E2B-E21B-4A39-03C9-8A4C87E9FCCC}"/>
              </a:ext>
            </a:extLst>
          </p:cNvPr>
          <p:cNvCxnSpPr/>
          <p:nvPr/>
        </p:nvCxnSpPr>
        <p:spPr>
          <a:xfrm>
            <a:off x="854765" y="4790478"/>
            <a:ext cx="0" cy="349124"/>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9EE8EF2B-A7E9-41F2-4F73-296E5DF2E49D}"/>
              </a:ext>
            </a:extLst>
          </p:cNvPr>
          <p:cNvCxnSpPr/>
          <p:nvPr/>
        </p:nvCxnSpPr>
        <p:spPr>
          <a:xfrm>
            <a:off x="4571439" y="4790478"/>
            <a:ext cx="0" cy="349124"/>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63F946A-32CA-5B8B-6281-BE8B522F796F}"/>
              </a:ext>
            </a:extLst>
          </p:cNvPr>
          <p:cNvCxnSpPr/>
          <p:nvPr/>
        </p:nvCxnSpPr>
        <p:spPr>
          <a:xfrm>
            <a:off x="1391478" y="4790478"/>
            <a:ext cx="0" cy="349124"/>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6234E3B-6CB1-71FF-F023-03656B991B2E}"/>
              </a:ext>
            </a:extLst>
          </p:cNvPr>
          <p:cNvCxnSpPr/>
          <p:nvPr/>
        </p:nvCxnSpPr>
        <p:spPr>
          <a:xfrm>
            <a:off x="1974574" y="4790478"/>
            <a:ext cx="0" cy="349124"/>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D4342D39-FCAC-432B-8FF4-9D1783CB258B}"/>
              </a:ext>
            </a:extLst>
          </p:cNvPr>
          <p:cNvCxnSpPr/>
          <p:nvPr/>
        </p:nvCxnSpPr>
        <p:spPr>
          <a:xfrm>
            <a:off x="3220277" y="4791555"/>
            <a:ext cx="0" cy="349124"/>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C1A718B-903A-03AC-A13D-07CE174CB6D1}"/>
              </a:ext>
            </a:extLst>
          </p:cNvPr>
          <p:cNvCxnSpPr/>
          <p:nvPr/>
        </p:nvCxnSpPr>
        <p:spPr>
          <a:xfrm>
            <a:off x="2517913" y="4790478"/>
            <a:ext cx="0" cy="349124"/>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3FCC945A-5D39-35C8-118F-DFA1C7D3311E}"/>
              </a:ext>
            </a:extLst>
          </p:cNvPr>
          <p:cNvCxnSpPr>
            <a:cxnSpLocks/>
          </p:cNvCxnSpPr>
          <p:nvPr/>
        </p:nvCxnSpPr>
        <p:spPr>
          <a:xfrm>
            <a:off x="3863010" y="4790478"/>
            <a:ext cx="0" cy="349124"/>
          </a:xfrm>
          <a:prstGeom prst="line">
            <a:avLst/>
          </a:prstGeom>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4042224C-6F81-0DD9-742B-0C8DA67221D8}"/>
              </a:ext>
            </a:extLst>
          </p:cNvPr>
          <p:cNvSpPr txBox="1"/>
          <p:nvPr/>
        </p:nvSpPr>
        <p:spPr>
          <a:xfrm>
            <a:off x="200111" y="5841117"/>
            <a:ext cx="1571777" cy="369332"/>
          </a:xfrm>
          <a:prstGeom prst="rect">
            <a:avLst/>
          </a:prstGeom>
          <a:noFill/>
        </p:spPr>
        <p:txBody>
          <a:bodyPr wrap="none" rtlCol="0">
            <a:spAutoFit/>
          </a:bodyPr>
          <a:lstStyle/>
          <a:p>
            <a:r>
              <a:rPr lang="en-US" dirty="0"/>
              <a:t>Step 1: /t/-like</a:t>
            </a:r>
          </a:p>
        </p:txBody>
      </p:sp>
      <p:sp>
        <p:nvSpPr>
          <p:cNvPr id="50" name="TextBox 49">
            <a:extLst>
              <a:ext uri="{FF2B5EF4-FFF2-40B4-BE49-F238E27FC236}">
                <a16:creationId xmlns:a16="http://schemas.microsoft.com/office/drawing/2014/main" id="{25A7C2F0-9110-B8B6-5E9F-649E6CDECF27}"/>
              </a:ext>
            </a:extLst>
          </p:cNvPr>
          <p:cNvSpPr txBox="1"/>
          <p:nvPr/>
        </p:nvSpPr>
        <p:spPr>
          <a:xfrm>
            <a:off x="3893763" y="5825478"/>
            <a:ext cx="1647118" cy="369332"/>
          </a:xfrm>
          <a:prstGeom prst="rect">
            <a:avLst/>
          </a:prstGeom>
          <a:noFill/>
        </p:spPr>
        <p:txBody>
          <a:bodyPr wrap="none" rtlCol="0">
            <a:spAutoFit/>
          </a:bodyPr>
          <a:lstStyle/>
          <a:p>
            <a:r>
              <a:rPr lang="en-US" dirty="0"/>
              <a:t>Step 7: /</a:t>
            </a:r>
            <a:r>
              <a:rPr lang="en-US" dirty="0" err="1"/>
              <a:t>tt</a:t>
            </a:r>
            <a:r>
              <a:rPr lang="en-US" dirty="0"/>
              <a:t>/-like</a:t>
            </a:r>
          </a:p>
        </p:txBody>
      </p:sp>
      <p:sp>
        <p:nvSpPr>
          <p:cNvPr id="52" name="TextBox 51">
            <a:extLst>
              <a:ext uri="{FF2B5EF4-FFF2-40B4-BE49-F238E27FC236}">
                <a16:creationId xmlns:a16="http://schemas.microsoft.com/office/drawing/2014/main" id="{355EC788-2616-B9C1-3CA0-6DBED573ED51}"/>
              </a:ext>
            </a:extLst>
          </p:cNvPr>
          <p:cNvSpPr txBox="1"/>
          <p:nvPr/>
        </p:nvSpPr>
        <p:spPr>
          <a:xfrm>
            <a:off x="4146123" y="5297874"/>
            <a:ext cx="910827" cy="369332"/>
          </a:xfrm>
          <a:prstGeom prst="rect">
            <a:avLst/>
          </a:prstGeom>
          <a:noFill/>
        </p:spPr>
        <p:txBody>
          <a:bodyPr wrap="none" rtlCol="0">
            <a:spAutoFit/>
          </a:bodyPr>
          <a:lstStyle/>
          <a:p>
            <a:r>
              <a:rPr lang="en-US" dirty="0"/>
              <a:t>170 ms</a:t>
            </a:r>
          </a:p>
        </p:txBody>
      </p:sp>
      <p:sp>
        <p:nvSpPr>
          <p:cNvPr id="53" name="TextBox 52">
            <a:extLst>
              <a:ext uri="{FF2B5EF4-FFF2-40B4-BE49-F238E27FC236}">
                <a16:creationId xmlns:a16="http://schemas.microsoft.com/office/drawing/2014/main" id="{D0260800-4A53-E4E8-D73F-3B02AA814884}"/>
              </a:ext>
            </a:extLst>
          </p:cNvPr>
          <p:cNvSpPr txBox="1"/>
          <p:nvPr/>
        </p:nvSpPr>
        <p:spPr>
          <a:xfrm>
            <a:off x="480651" y="5313087"/>
            <a:ext cx="910827" cy="369332"/>
          </a:xfrm>
          <a:prstGeom prst="rect">
            <a:avLst/>
          </a:prstGeom>
          <a:noFill/>
        </p:spPr>
        <p:txBody>
          <a:bodyPr wrap="none" rtlCol="0">
            <a:spAutoFit/>
          </a:bodyPr>
          <a:lstStyle/>
          <a:p>
            <a:r>
              <a:rPr lang="en-US" dirty="0"/>
              <a:t>105 ms</a:t>
            </a:r>
          </a:p>
        </p:txBody>
      </p:sp>
    </p:spTree>
    <p:extLst>
      <p:ext uri="{BB962C8B-B14F-4D97-AF65-F5344CB8AC3E}">
        <p14:creationId xmlns:p14="http://schemas.microsoft.com/office/powerpoint/2010/main" val="2609865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AEE88ED-5F0A-F580-1BF0-DB85209C9A86}"/>
              </a:ext>
            </a:extLst>
          </p:cNvPr>
          <p:cNvSpPr txBox="1"/>
          <p:nvPr/>
        </p:nvSpPr>
        <p:spPr>
          <a:xfrm>
            <a:off x="8600452" y="1306290"/>
            <a:ext cx="2597827" cy="954107"/>
          </a:xfrm>
          <a:prstGeom prst="rect">
            <a:avLst/>
          </a:prstGeom>
          <a:noFill/>
        </p:spPr>
        <p:txBody>
          <a:bodyPr wrap="none" rtlCol="0">
            <a:spAutoFit/>
          </a:bodyPr>
          <a:lstStyle/>
          <a:p>
            <a:pPr algn="ctr"/>
            <a:r>
              <a:rPr lang="en-US" sz="2800" dirty="0"/>
              <a:t>Secondary cue:</a:t>
            </a:r>
          </a:p>
          <a:p>
            <a:pPr algn="ctr"/>
            <a:r>
              <a:rPr lang="en-US" sz="2800" dirty="0"/>
              <a:t>F0 contour</a:t>
            </a:r>
          </a:p>
        </p:txBody>
      </p:sp>
      <p:sp>
        <p:nvSpPr>
          <p:cNvPr id="5" name="TextBox 4">
            <a:extLst>
              <a:ext uri="{FF2B5EF4-FFF2-40B4-BE49-F238E27FC236}">
                <a16:creationId xmlns:a16="http://schemas.microsoft.com/office/drawing/2014/main" id="{B3E9818D-DF47-F72E-FE0B-D5E7C86B3DC0}"/>
              </a:ext>
            </a:extLst>
          </p:cNvPr>
          <p:cNvSpPr txBox="1"/>
          <p:nvPr/>
        </p:nvSpPr>
        <p:spPr>
          <a:xfrm>
            <a:off x="1391478" y="1306290"/>
            <a:ext cx="3210059" cy="954107"/>
          </a:xfrm>
          <a:prstGeom prst="rect">
            <a:avLst/>
          </a:prstGeom>
          <a:noFill/>
        </p:spPr>
        <p:txBody>
          <a:bodyPr wrap="square" rtlCol="0">
            <a:spAutoFit/>
          </a:bodyPr>
          <a:lstStyle/>
          <a:p>
            <a:pPr algn="ctr"/>
            <a:r>
              <a:rPr lang="en-US" sz="2800" dirty="0"/>
              <a:t>Primary cue: </a:t>
            </a:r>
          </a:p>
          <a:p>
            <a:pPr algn="ctr"/>
            <a:r>
              <a:rPr lang="en-US" sz="2800" dirty="0"/>
              <a:t>vowel duration</a:t>
            </a:r>
          </a:p>
        </p:txBody>
      </p:sp>
      <p:sp>
        <p:nvSpPr>
          <p:cNvPr id="6" name="TextBox 5">
            <a:extLst>
              <a:ext uri="{FF2B5EF4-FFF2-40B4-BE49-F238E27FC236}">
                <a16:creationId xmlns:a16="http://schemas.microsoft.com/office/drawing/2014/main" id="{BB5C100B-1C32-B7F8-B535-0AFEB88E42FA}"/>
              </a:ext>
            </a:extLst>
          </p:cNvPr>
          <p:cNvSpPr txBox="1"/>
          <p:nvPr/>
        </p:nvSpPr>
        <p:spPr>
          <a:xfrm>
            <a:off x="4601537" y="358955"/>
            <a:ext cx="2795317" cy="646331"/>
          </a:xfrm>
          <a:prstGeom prst="rect">
            <a:avLst/>
          </a:prstGeom>
          <a:noFill/>
        </p:spPr>
        <p:txBody>
          <a:bodyPr wrap="none" rtlCol="0">
            <a:spAutoFit/>
          </a:bodyPr>
          <a:lstStyle/>
          <a:p>
            <a:r>
              <a:rPr lang="en-US" sz="3600" i="1" dirty="0" err="1"/>
              <a:t>toru</a:t>
            </a:r>
            <a:r>
              <a:rPr lang="en-US" sz="3600" dirty="0"/>
              <a:t> vs. </a:t>
            </a:r>
            <a:r>
              <a:rPr lang="en-US" sz="3600" i="1" dirty="0" err="1"/>
              <a:t>tooru</a:t>
            </a:r>
            <a:endParaRPr lang="en-US" sz="3600" i="1" dirty="0"/>
          </a:p>
        </p:txBody>
      </p:sp>
    </p:spTree>
    <p:extLst>
      <p:ext uri="{BB962C8B-B14F-4D97-AF65-F5344CB8AC3E}">
        <p14:creationId xmlns:p14="http://schemas.microsoft.com/office/powerpoint/2010/main" val="42605031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43AF9-F45A-A0F5-896D-58B5D154367C}"/>
              </a:ext>
            </a:extLst>
          </p:cNvPr>
          <p:cNvSpPr>
            <a:spLocks noGrp="1"/>
          </p:cNvSpPr>
          <p:nvPr>
            <p:ph type="title"/>
          </p:nvPr>
        </p:nvSpPr>
        <p:spPr/>
        <p:txBody>
          <a:bodyPr>
            <a:noAutofit/>
          </a:bodyPr>
          <a:lstStyle/>
          <a:p>
            <a:r>
              <a:rPr lang="en-US" sz="3200" dirty="0"/>
              <a:t>VAS stimuli vary in 7 equal steps along the primary dimension and 5 equal steps along the secondary dimension</a:t>
            </a:r>
          </a:p>
        </p:txBody>
      </p:sp>
      <p:sp>
        <p:nvSpPr>
          <p:cNvPr id="7" name="TextBox 6">
            <a:extLst>
              <a:ext uri="{FF2B5EF4-FFF2-40B4-BE49-F238E27FC236}">
                <a16:creationId xmlns:a16="http://schemas.microsoft.com/office/drawing/2014/main" id="{B9B3629D-D93D-88F9-7B19-5E406D8619B2}"/>
              </a:ext>
            </a:extLst>
          </p:cNvPr>
          <p:cNvSpPr txBox="1"/>
          <p:nvPr/>
        </p:nvSpPr>
        <p:spPr>
          <a:xfrm>
            <a:off x="838200" y="1821735"/>
            <a:ext cx="1478290" cy="646331"/>
          </a:xfrm>
          <a:prstGeom prst="rect">
            <a:avLst/>
          </a:prstGeom>
          <a:noFill/>
        </p:spPr>
        <p:txBody>
          <a:bodyPr wrap="none" rtlCol="0">
            <a:spAutoFit/>
          </a:bodyPr>
          <a:lstStyle/>
          <a:p>
            <a:r>
              <a:rPr lang="en-US" dirty="0"/>
              <a:t>/t/ vs. /</a:t>
            </a:r>
            <a:r>
              <a:rPr lang="en-US" dirty="0" err="1"/>
              <a:t>tt</a:t>
            </a:r>
            <a:r>
              <a:rPr lang="en-US" dirty="0"/>
              <a:t>/</a:t>
            </a:r>
          </a:p>
          <a:p>
            <a:r>
              <a:rPr lang="en-US" i="1" dirty="0"/>
              <a:t>kata</a:t>
            </a:r>
            <a:r>
              <a:rPr lang="en-US" dirty="0"/>
              <a:t> vs. </a:t>
            </a:r>
            <a:r>
              <a:rPr lang="en-US" i="1" dirty="0" err="1"/>
              <a:t>katta</a:t>
            </a:r>
            <a:endParaRPr lang="en-US" i="1" dirty="0"/>
          </a:p>
        </p:txBody>
      </p:sp>
      <p:sp>
        <p:nvSpPr>
          <p:cNvPr id="8" name="TextBox 7">
            <a:extLst>
              <a:ext uri="{FF2B5EF4-FFF2-40B4-BE49-F238E27FC236}">
                <a16:creationId xmlns:a16="http://schemas.microsoft.com/office/drawing/2014/main" id="{E20D8E02-99DE-7FC5-8548-3CF97C86A17F}"/>
              </a:ext>
            </a:extLst>
          </p:cNvPr>
          <p:cNvSpPr txBox="1"/>
          <p:nvPr/>
        </p:nvSpPr>
        <p:spPr>
          <a:xfrm>
            <a:off x="6096000" y="1821735"/>
            <a:ext cx="1484317" cy="646331"/>
          </a:xfrm>
          <a:prstGeom prst="rect">
            <a:avLst/>
          </a:prstGeom>
          <a:noFill/>
        </p:spPr>
        <p:txBody>
          <a:bodyPr wrap="none" rtlCol="0">
            <a:spAutoFit/>
          </a:bodyPr>
          <a:lstStyle/>
          <a:p>
            <a:r>
              <a:rPr lang="en-US" dirty="0"/>
              <a:t>/o/ vs. /</a:t>
            </a:r>
            <a:r>
              <a:rPr lang="en-US" dirty="0" err="1"/>
              <a:t>oo</a:t>
            </a:r>
            <a:r>
              <a:rPr lang="en-US" dirty="0"/>
              <a:t>/</a:t>
            </a:r>
          </a:p>
          <a:p>
            <a:r>
              <a:rPr lang="en-US" i="1" dirty="0" err="1"/>
              <a:t>toru</a:t>
            </a:r>
            <a:r>
              <a:rPr lang="en-US" dirty="0"/>
              <a:t> vs. </a:t>
            </a:r>
            <a:r>
              <a:rPr lang="en-US" i="1" dirty="0" err="1"/>
              <a:t>tooru</a:t>
            </a:r>
            <a:endParaRPr lang="en-US" i="1" dirty="0"/>
          </a:p>
        </p:txBody>
      </p:sp>
      <p:sp>
        <p:nvSpPr>
          <p:cNvPr id="3" name="TextBox 2">
            <a:extLst>
              <a:ext uri="{FF2B5EF4-FFF2-40B4-BE49-F238E27FC236}">
                <a16:creationId xmlns:a16="http://schemas.microsoft.com/office/drawing/2014/main" id="{C03D654B-D596-38D4-B2E2-B8C5A86CC256}"/>
              </a:ext>
            </a:extLst>
          </p:cNvPr>
          <p:cNvSpPr txBox="1"/>
          <p:nvPr/>
        </p:nvSpPr>
        <p:spPr>
          <a:xfrm>
            <a:off x="6096000" y="2941319"/>
            <a:ext cx="4519635" cy="646331"/>
          </a:xfrm>
          <a:prstGeom prst="rect">
            <a:avLst/>
          </a:prstGeom>
          <a:noFill/>
        </p:spPr>
        <p:txBody>
          <a:bodyPr wrap="none" rtlCol="0">
            <a:spAutoFit/>
          </a:bodyPr>
          <a:lstStyle/>
          <a:p>
            <a:r>
              <a:rPr lang="en-US" dirty="0"/>
              <a:t>vowel duration:</a:t>
            </a:r>
          </a:p>
          <a:p>
            <a:r>
              <a:rPr lang="en-US" dirty="0"/>
              <a:t>Step 1 (/o/) : 90 ms  -&gt; Step 7 (/</a:t>
            </a:r>
            <a:r>
              <a:rPr lang="en-US" dirty="0" err="1"/>
              <a:t>oo</a:t>
            </a:r>
            <a:r>
              <a:rPr lang="en-US" dirty="0"/>
              <a:t>/): 285 ms </a:t>
            </a:r>
          </a:p>
        </p:txBody>
      </p:sp>
      <p:sp>
        <p:nvSpPr>
          <p:cNvPr id="4" name="TextBox 3">
            <a:extLst>
              <a:ext uri="{FF2B5EF4-FFF2-40B4-BE49-F238E27FC236}">
                <a16:creationId xmlns:a16="http://schemas.microsoft.com/office/drawing/2014/main" id="{31526748-866E-29BC-B836-8C01291E8DEE}"/>
              </a:ext>
            </a:extLst>
          </p:cNvPr>
          <p:cNvSpPr txBox="1"/>
          <p:nvPr/>
        </p:nvSpPr>
        <p:spPr>
          <a:xfrm>
            <a:off x="6248399" y="4389935"/>
            <a:ext cx="4968241" cy="1200329"/>
          </a:xfrm>
          <a:prstGeom prst="rect">
            <a:avLst/>
          </a:prstGeom>
          <a:noFill/>
        </p:spPr>
        <p:txBody>
          <a:bodyPr wrap="square" rtlCol="0">
            <a:spAutoFit/>
          </a:bodyPr>
          <a:lstStyle/>
          <a:p>
            <a:r>
              <a:rPr lang="en-US" dirty="0"/>
              <a:t>pitch contour (for CV1CV2 where V1 is o or </a:t>
            </a:r>
            <a:r>
              <a:rPr lang="en-US" dirty="0" err="1"/>
              <a:t>oo</a:t>
            </a:r>
            <a:r>
              <a:rPr lang="en-US" dirty="0"/>
              <a:t>)</a:t>
            </a:r>
          </a:p>
          <a:p>
            <a:r>
              <a:rPr lang="en-US" dirty="0"/>
              <a:t>(from V1 onset -&gt; V1 maximum -&gt; V1 offset -&gt; V2 onset -&gt; V2 offset):</a:t>
            </a:r>
          </a:p>
          <a:p>
            <a:r>
              <a:rPr lang="en-US" dirty="0"/>
              <a:t>Step 1 (/o/): -&gt; Step 5 (/</a:t>
            </a:r>
            <a:r>
              <a:rPr lang="en-US" dirty="0" err="1"/>
              <a:t>oo</a:t>
            </a:r>
            <a:r>
              <a:rPr lang="en-US" dirty="0"/>
              <a:t>/):</a:t>
            </a:r>
          </a:p>
        </p:txBody>
      </p:sp>
      <p:sp>
        <p:nvSpPr>
          <p:cNvPr id="9" name="TextBox 8">
            <a:extLst>
              <a:ext uri="{FF2B5EF4-FFF2-40B4-BE49-F238E27FC236}">
                <a16:creationId xmlns:a16="http://schemas.microsoft.com/office/drawing/2014/main" id="{3FEE2D02-7723-7973-4C0F-A8A9C7A29A5F}"/>
              </a:ext>
            </a:extLst>
          </p:cNvPr>
          <p:cNvSpPr txBox="1"/>
          <p:nvPr/>
        </p:nvSpPr>
        <p:spPr>
          <a:xfrm>
            <a:off x="838200" y="2941320"/>
            <a:ext cx="4348498" cy="646331"/>
          </a:xfrm>
          <a:prstGeom prst="rect">
            <a:avLst/>
          </a:prstGeom>
          <a:noFill/>
        </p:spPr>
        <p:txBody>
          <a:bodyPr wrap="none" rtlCol="0">
            <a:spAutoFit/>
          </a:bodyPr>
          <a:lstStyle/>
          <a:p>
            <a:r>
              <a:rPr lang="en-US" dirty="0"/>
              <a:t>closure duration</a:t>
            </a:r>
          </a:p>
          <a:p>
            <a:r>
              <a:rPr lang="en-US" dirty="0"/>
              <a:t>Step 1 (/t/): 105 ms -&gt; Step 7 (/</a:t>
            </a:r>
            <a:r>
              <a:rPr lang="en-US" dirty="0" err="1"/>
              <a:t>tt</a:t>
            </a:r>
            <a:r>
              <a:rPr lang="en-US" dirty="0"/>
              <a:t>/): 190 ms </a:t>
            </a:r>
          </a:p>
        </p:txBody>
      </p:sp>
      <p:sp>
        <p:nvSpPr>
          <p:cNvPr id="10" name="TextBox 9">
            <a:extLst>
              <a:ext uri="{FF2B5EF4-FFF2-40B4-BE49-F238E27FC236}">
                <a16:creationId xmlns:a16="http://schemas.microsoft.com/office/drawing/2014/main" id="{63A35CB8-C241-A7DC-0FFA-6C7A0E42B665}"/>
              </a:ext>
            </a:extLst>
          </p:cNvPr>
          <p:cNvSpPr txBox="1"/>
          <p:nvPr/>
        </p:nvSpPr>
        <p:spPr>
          <a:xfrm>
            <a:off x="838200" y="6262042"/>
            <a:ext cx="3128036" cy="461665"/>
          </a:xfrm>
          <a:prstGeom prst="rect">
            <a:avLst/>
          </a:prstGeom>
          <a:noFill/>
        </p:spPr>
        <p:txBody>
          <a:bodyPr wrap="none" rtlCol="0">
            <a:spAutoFit/>
          </a:bodyPr>
          <a:lstStyle/>
          <a:p>
            <a:r>
              <a:rPr lang="en-US" sz="2400" dirty="0"/>
              <a:t>L2 Japanese contrasts</a:t>
            </a:r>
          </a:p>
        </p:txBody>
      </p:sp>
      <p:sp>
        <p:nvSpPr>
          <p:cNvPr id="11" name="TextBox 10">
            <a:extLst>
              <a:ext uri="{FF2B5EF4-FFF2-40B4-BE49-F238E27FC236}">
                <a16:creationId xmlns:a16="http://schemas.microsoft.com/office/drawing/2014/main" id="{C30C7EB7-90D2-8E62-3069-179511EE05BA}"/>
              </a:ext>
            </a:extLst>
          </p:cNvPr>
          <p:cNvSpPr txBox="1"/>
          <p:nvPr/>
        </p:nvSpPr>
        <p:spPr>
          <a:xfrm>
            <a:off x="838200" y="4135069"/>
            <a:ext cx="3488776" cy="1754326"/>
          </a:xfrm>
          <a:prstGeom prst="rect">
            <a:avLst/>
          </a:prstGeom>
          <a:noFill/>
        </p:spPr>
        <p:txBody>
          <a:bodyPr wrap="none" rtlCol="0">
            <a:spAutoFit/>
          </a:bodyPr>
          <a:lstStyle/>
          <a:p>
            <a:r>
              <a:rPr lang="en-US" dirty="0"/>
              <a:t>V1-V2 pitch difference: </a:t>
            </a:r>
          </a:p>
          <a:p>
            <a:r>
              <a:rPr lang="en-US" dirty="0"/>
              <a:t>(for C1V1C2V2 where C2 is t or </a:t>
            </a:r>
            <a:r>
              <a:rPr lang="en-US" dirty="0" err="1"/>
              <a:t>tt</a:t>
            </a:r>
            <a:r>
              <a:rPr lang="en-US" dirty="0"/>
              <a:t>)</a:t>
            </a:r>
          </a:p>
          <a:p>
            <a:r>
              <a:rPr lang="en-US" dirty="0"/>
              <a:t>Step 1 (/t/) -&gt; Step 5 (/</a:t>
            </a:r>
            <a:r>
              <a:rPr lang="en-US" dirty="0" err="1"/>
              <a:t>tt</a:t>
            </a:r>
            <a:r>
              <a:rPr lang="en-US" dirty="0"/>
              <a:t>/)</a:t>
            </a:r>
          </a:p>
          <a:p>
            <a:endParaRPr lang="en-US" dirty="0"/>
          </a:p>
          <a:p>
            <a:r>
              <a:rPr lang="en-US" dirty="0"/>
              <a:t>kata V1 295-315-310 V2 207-117</a:t>
            </a:r>
          </a:p>
          <a:p>
            <a:r>
              <a:rPr lang="en-US" dirty="0" err="1"/>
              <a:t>katta</a:t>
            </a:r>
            <a:r>
              <a:rPr lang="en-US" dirty="0"/>
              <a:t>: V1 310-330-325 V2 177-73</a:t>
            </a:r>
          </a:p>
        </p:txBody>
      </p:sp>
      <p:sp>
        <p:nvSpPr>
          <p:cNvPr id="12" name="5-Point Star 11">
            <a:extLst>
              <a:ext uri="{FF2B5EF4-FFF2-40B4-BE49-F238E27FC236}">
                <a16:creationId xmlns:a16="http://schemas.microsoft.com/office/drawing/2014/main" id="{1BFF723D-9061-A38C-D9DA-47DFFE4A8D5B}"/>
              </a:ext>
            </a:extLst>
          </p:cNvPr>
          <p:cNvSpPr/>
          <p:nvPr/>
        </p:nvSpPr>
        <p:spPr>
          <a:xfrm>
            <a:off x="479558" y="746220"/>
            <a:ext cx="343683" cy="28168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58363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FA4AF-B9A5-93D8-2A28-CFA341136048}"/>
              </a:ext>
            </a:extLst>
          </p:cNvPr>
          <p:cNvSpPr>
            <a:spLocks noGrp="1"/>
          </p:cNvSpPr>
          <p:nvPr>
            <p:ph type="title"/>
          </p:nvPr>
        </p:nvSpPr>
        <p:spPr/>
        <p:txBody>
          <a:bodyPr/>
          <a:lstStyle/>
          <a:p>
            <a:r>
              <a:rPr lang="en-US" dirty="0"/>
              <a:t>Experiment 1 Planned Analyses</a:t>
            </a:r>
          </a:p>
        </p:txBody>
      </p:sp>
      <p:pic>
        <p:nvPicPr>
          <p:cNvPr id="5" name="Content Placeholder 4" descr="A table with text on it&#10;&#10;Description automatically generated">
            <a:extLst>
              <a:ext uri="{FF2B5EF4-FFF2-40B4-BE49-F238E27FC236}">
                <a16:creationId xmlns:a16="http://schemas.microsoft.com/office/drawing/2014/main" id="{8A551EE3-E4A5-77F9-AD61-AFCAF90C180F}"/>
              </a:ext>
            </a:extLst>
          </p:cNvPr>
          <p:cNvPicPr>
            <a:picLocks noGrp="1" noChangeAspect="1"/>
          </p:cNvPicPr>
          <p:nvPr>
            <p:ph idx="1"/>
          </p:nvPr>
        </p:nvPicPr>
        <p:blipFill>
          <a:blip r:embed="rId2"/>
          <a:stretch>
            <a:fillRect/>
          </a:stretch>
        </p:blipFill>
        <p:spPr>
          <a:xfrm>
            <a:off x="693573" y="2366548"/>
            <a:ext cx="10804853" cy="3860006"/>
          </a:xfrm>
        </p:spPr>
      </p:pic>
    </p:spTree>
    <p:extLst>
      <p:ext uri="{BB962C8B-B14F-4D97-AF65-F5344CB8AC3E}">
        <p14:creationId xmlns:p14="http://schemas.microsoft.com/office/powerpoint/2010/main" val="29679661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50A73-1F6E-B1F2-1E5B-FDAD3817EFA5}"/>
              </a:ext>
            </a:extLst>
          </p:cNvPr>
          <p:cNvSpPr>
            <a:spLocks noGrp="1"/>
          </p:cNvSpPr>
          <p:nvPr>
            <p:ph type="title"/>
          </p:nvPr>
        </p:nvSpPr>
        <p:spPr/>
        <p:txBody>
          <a:bodyPr/>
          <a:lstStyle/>
          <a:p>
            <a:r>
              <a:rPr lang="en-US" dirty="0"/>
              <a:t>Discrimination stimuli characteristics</a:t>
            </a:r>
          </a:p>
        </p:txBody>
      </p:sp>
      <p:sp>
        <p:nvSpPr>
          <p:cNvPr id="3" name="Content Placeholder 2">
            <a:extLst>
              <a:ext uri="{FF2B5EF4-FFF2-40B4-BE49-F238E27FC236}">
                <a16:creationId xmlns:a16="http://schemas.microsoft.com/office/drawing/2014/main" id="{E68F4129-1AB5-235F-FE7A-765BD9FA612D}"/>
              </a:ext>
            </a:extLst>
          </p:cNvPr>
          <p:cNvSpPr>
            <a:spLocks noGrp="1"/>
          </p:cNvSpPr>
          <p:nvPr>
            <p:ph idx="1"/>
          </p:nvPr>
        </p:nvSpPr>
        <p:spPr/>
        <p:txBody>
          <a:bodyPr/>
          <a:lstStyle/>
          <a:p>
            <a:r>
              <a:rPr lang="en-US" dirty="0"/>
              <a:t>Arabic + Japanese</a:t>
            </a:r>
          </a:p>
          <a:p>
            <a:r>
              <a:rPr lang="en-US" dirty="0"/>
              <a:t>AA, AB, BB, BA trial types, each trial type repeated twice</a:t>
            </a:r>
          </a:p>
          <a:p>
            <a:r>
              <a:rPr lang="en-US" dirty="0"/>
              <a:t>288 training trials </a:t>
            </a:r>
          </a:p>
          <a:p>
            <a:pPr lvl="1"/>
            <a:r>
              <a:rPr lang="en-US" dirty="0"/>
              <a:t>High LD (Arabic + Japanese): 18 minimal pairs x 8 repetitions x 2 languages</a:t>
            </a:r>
          </a:p>
          <a:p>
            <a:pPr lvl="1"/>
            <a:r>
              <a:rPr lang="en-US" dirty="0"/>
              <a:t>Low LD (Japanese only): 18 minimal pairs x 16 repetitions</a:t>
            </a:r>
          </a:p>
          <a:p>
            <a:r>
              <a:rPr lang="en-US" dirty="0"/>
              <a:t>108 test trials: Japanese only</a:t>
            </a:r>
          </a:p>
          <a:p>
            <a:pPr lvl="1"/>
            <a:r>
              <a:rPr lang="en-US" dirty="0"/>
              <a:t>27 minimal pairs x 4 trial types</a:t>
            </a:r>
          </a:p>
        </p:txBody>
      </p:sp>
    </p:spTree>
    <p:extLst>
      <p:ext uri="{BB962C8B-B14F-4D97-AF65-F5344CB8AC3E}">
        <p14:creationId xmlns:p14="http://schemas.microsoft.com/office/powerpoint/2010/main" val="140234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E8E0ED3E-D9F5-2BCB-CA9F-BBBE4F23D42C}"/>
              </a:ext>
            </a:extLst>
          </p:cNvPr>
          <p:cNvPicPr>
            <a:picLocks noChangeAspect="1"/>
          </p:cNvPicPr>
          <p:nvPr/>
        </p:nvPicPr>
        <p:blipFill>
          <a:blip r:embed="rId3"/>
          <a:stretch>
            <a:fillRect/>
          </a:stretch>
        </p:blipFill>
        <p:spPr>
          <a:xfrm>
            <a:off x="314752" y="2254612"/>
            <a:ext cx="1950478" cy="1004924"/>
          </a:xfrm>
          <a:prstGeom prst="rect">
            <a:avLst/>
          </a:prstGeom>
        </p:spPr>
      </p:pic>
      <p:pic>
        <p:nvPicPr>
          <p:cNvPr id="48" name="Picture 47">
            <a:extLst>
              <a:ext uri="{FF2B5EF4-FFF2-40B4-BE49-F238E27FC236}">
                <a16:creationId xmlns:a16="http://schemas.microsoft.com/office/drawing/2014/main" id="{CFEE1F1B-E763-FDA7-17E5-69264401786B}"/>
              </a:ext>
            </a:extLst>
          </p:cNvPr>
          <p:cNvPicPr>
            <a:picLocks noChangeAspect="1"/>
          </p:cNvPicPr>
          <p:nvPr/>
        </p:nvPicPr>
        <p:blipFill>
          <a:blip r:embed="rId4"/>
          <a:stretch>
            <a:fillRect/>
          </a:stretch>
        </p:blipFill>
        <p:spPr>
          <a:xfrm>
            <a:off x="1795899" y="2649837"/>
            <a:ext cx="1847098" cy="1004924"/>
          </a:xfrm>
          <a:prstGeom prst="rect">
            <a:avLst/>
          </a:prstGeom>
        </p:spPr>
      </p:pic>
      <p:pic>
        <p:nvPicPr>
          <p:cNvPr id="49" name="Picture 48">
            <a:extLst>
              <a:ext uri="{FF2B5EF4-FFF2-40B4-BE49-F238E27FC236}">
                <a16:creationId xmlns:a16="http://schemas.microsoft.com/office/drawing/2014/main" id="{B585C72A-5E3D-788D-E9AA-A4D3E9CF5237}"/>
              </a:ext>
            </a:extLst>
          </p:cNvPr>
          <p:cNvPicPr>
            <a:picLocks noChangeAspect="1"/>
          </p:cNvPicPr>
          <p:nvPr/>
        </p:nvPicPr>
        <p:blipFill>
          <a:blip r:embed="rId4"/>
          <a:stretch>
            <a:fillRect/>
          </a:stretch>
        </p:blipFill>
        <p:spPr>
          <a:xfrm>
            <a:off x="3195350" y="3014193"/>
            <a:ext cx="1847097" cy="1004924"/>
          </a:xfrm>
          <a:prstGeom prst="rect">
            <a:avLst/>
          </a:prstGeom>
        </p:spPr>
      </p:pic>
      <p:pic>
        <p:nvPicPr>
          <p:cNvPr id="50" name="Picture 49">
            <a:extLst>
              <a:ext uri="{FF2B5EF4-FFF2-40B4-BE49-F238E27FC236}">
                <a16:creationId xmlns:a16="http://schemas.microsoft.com/office/drawing/2014/main" id="{B3D8E9F9-A17F-51F9-F300-2A350CE76C92}"/>
              </a:ext>
            </a:extLst>
          </p:cNvPr>
          <p:cNvPicPr>
            <a:picLocks noChangeAspect="1"/>
          </p:cNvPicPr>
          <p:nvPr/>
        </p:nvPicPr>
        <p:blipFill>
          <a:blip r:embed="rId4"/>
          <a:stretch>
            <a:fillRect/>
          </a:stretch>
        </p:blipFill>
        <p:spPr>
          <a:xfrm>
            <a:off x="4573117" y="3385761"/>
            <a:ext cx="1847097" cy="1004924"/>
          </a:xfrm>
          <a:prstGeom prst="rect">
            <a:avLst/>
          </a:prstGeom>
        </p:spPr>
      </p:pic>
      <p:sp>
        <p:nvSpPr>
          <p:cNvPr id="51" name="TextBox 50">
            <a:extLst>
              <a:ext uri="{FF2B5EF4-FFF2-40B4-BE49-F238E27FC236}">
                <a16:creationId xmlns:a16="http://schemas.microsoft.com/office/drawing/2014/main" id="{408E8A15-D52B-8557-73F3-FB17B5A0067F}"/>
              </a:ext>
            </a:extLst>
          </p:cNvPr>
          <p:cNvSpPr txBox="1"/>
          <p:nvPr/>
        </p:nvSpPr>
        <p:spPr>
          <a:xfrm>
            <a:off x="2353001" y="2416375"/>
            <a:ext cx="732893" cy="233462"/>
          </a:xfrm>
          <a:prstGeom prst="rect">
            <a:avLst/>
          </a:prstGeom>
          <a:noFill/>
        </p:spPr>
        <p:txBody>
          <a:bodyPr wrap="none" rtlCol="0">
            <a:spAutoFit/>
          </a:bodyPr>
          <a:lstStyle/>
          <a:p>
            <a:pPr defTabSz="465539">
              <a:spcAft>
                <a:spcPts val="413"/>
              </a:spcAft>
            </a:pPr>
            <a:r>
              <a:rPr lang="en-US" sz="917" kern="1200" dirty="0">
                <a:solidFill>
                  <a:schemeClr val="tx1"/>
                </a:solidFill>
                <a:latin typeface="+mn-lt"/>
                <a:ea typeface="+mn-ea"/>
                <a:cs typeface="+mn-cs"/>
              </a:rPr>
              <a:t>Stimulus A</a:t>
            </a:r>
            <a:endParaRPr lang="en-US" dirty="0"/>
          </a:p>
        </p:txBody>
      </p:sp>
      <p:sp>
        <p:nvSpPr>
          <p:cNvPr id="52" name="TextBox 51">
            <a:extLst>
              <a:ext uri="{FF2B5EF4-FFF2-40B4-BE49-F238E27FC236}">
                <a16:creationId xmlns:a16="http://schemas.microsoft.com/office/drawing/2014/main" id="{3DEAEF07-9DAB-0C23-0E66-071243FA9AA9}"/>
              </a:ext>
            </a:extLst>
          </p:cNvPr>
          <p:cNvSpPr txBox="1"/>
          <p:nvPr/>
        </p:nvSpPr>
        <p:spPr>
          <a:xfrm>
            <a:off x="3746377" y="2775984"/>
            <a:ext cx="740908" cy="233462"/>
          </a:xfrm>
          <a:prstGeom prst="rect">
            <a:avLst/>
          </a:prstGeom>
          <a:noFill/>
        </p:spPr>
        <p:txBody>
          <a:bodyPr wrap="none" rtlCol="0">
            <a:spAutoFit/>
          </a:bodyPr>
          <a:lstStyle/>
          <a:p>
            <a:pPr defTabSz="465539">
              <a:spcAft>
                <a:spcPts val="413"/>
              </a:spcAft>
            </a:pPr>
            <a:r>
              <a:rPr lang="en-US" sz="917" kern="1200">
                <a:solidFill>
                  <a:schemeClr val="tx1"/>
                </a:solidFill>
                <a:latin typeface="+mn-lt"/>
                <a:ea typeface="+mn-ea"/>
                <a:cs typeface="+mn-cs"/>
              </a:rPr>
              <a:t>ISI: 500 ms</a:t>
            </a:r>
            <a:endParaRPr lang="en-US"/>
          </a:p>
        </p:txBody>
      </p:sp>
      <p:sp>
        <p:nvSpPr>
          <p:cNvPr id="53" name="TextBox 52">
            <a:extLst>
              <a:ext uri="{FF2B5EF4-FFF2-40B4-BE49-F238E27FC236}">
                <a16:creationId xmlns:a16="http://schemas.microsoft.com/office/drawing/2014/main" id="{B1369BE7-17D0-BAB1-D9F5-116A0B23524A}"/>
              </a:ext>
            </a:extLst>
          </p:cNvPr>
          <p:cNvSpPr txBox="1"/>
          <p:nvPr/>
        </p:nvSpPr>
        <p:spPr>
          <a:xfrm>
            <a:off x="5124144" y="3158079"/>
            <a:ext cx="729687" cy="233462"/>
          </a:xfrm>
          <a:prstGeom prst="rect">
            <a:avLst/>
          </a:prstGeom>
          <a:noFill/>
        </p:spPr>
        <p:txBody>
          <a:bodyPr wrap="none" rtlCol="0">
            <a:spAutoFit/>
          </a:bodyPr>
          <a:lstStyle/>
          <a:p>
            <a:pPr defTabSz="465539">
              <a:spcAft>
                <a:spcPts val="413"/>
              </a:spcAft>
            </a:pPr>
            <a:r>
              <a:rPr lang="en-US" sz="917" kern="1200" dirty="0">
                <a:solidFill>
                  <a:schemeClr val="tx1"/>
                </a:solidFill>
                <a:latin typeface="+mn-lt"/>
                <a:ea typeface="+mn-ea"/>
                <a:cs typeface="+mn-cs"/>
              </a:rPr>
              <a:t>Stimulus X</a:t>
            </a:r>
            <a:endParaRPr lang="en-US" dirty="0"/>
          </a:p>
        </p:txBody>
      </p:sp>
      <p:pic>
        <p:nvPicPr>
          <p:cNvPr id="31" name="Picture 30">
            <a:extLst>
              <a:ext uri="{FF2B5EF4-FFF2-40B4-BE49-F238E27FC236}">
                <a16:creationId xmlns:a16="http://schemas.microsoft.com/office/drawing/2014/main" id="{A99A6EEF-CA7B-1607-5BF8-C4181A9B55B6}"/>
              </a:ext>
            </a:extLst>
          </p:cNvPr>
          <p:cNvPicPr>
            <a:picLocks noChangeAspect="1"/>
          </p:cNvPicPr>
          <p:nvPr/>
        </p:nvPicPr>
        <p:blipFill>
          <a:blip r:embed="rId5"/>
          <a:stretch>
            <a:fillRect/>
          </a:stretch>
        </p:blipFill>
        <p:spPr>
          <a:xfrm>
            <a:off x="6021432" y="3757348"/>
            <a:ext cx="1847097" cy="1007507"/>
          </a:xfrm>
          <a:prstGeom prst="rect">
            <a:avLst/>
          </a:prstGeom>
        </p:spPr>
      </p:pic>
      <p:sp>
        <p:nvSpPr>
          <p:cNvPr id="54" name="TextBox 53">
            <a:extLst>
              <a:ext uri="{FF2B5EF4-FFF2-40B4-BE49-F238E27FC236}">
                <a16:creationId xmlns:a16="http://schemas.microsoft.com/office/drawing/2014/main" id="{CCB111A0-5E94-C5D1-D16B-EE0C2957123D}"/>
              </a:ext>
            </a:extLst>
          </p:cNvPr>
          <p:cNvSpPr txBox="1"/>
          <p:nvPr/>
        </p:nvSpPr>
        <p:spPr>
          <a:xfrm>
            <a:off x="891172" y="2052019"/>
            <a:ext cx="1011815" cy="233462"/>
          </a:xfrm>
          <a:prstGeom prst="rect">
            <a:avLst/>
          </a:prstGeom>
          <a:noFill/>
        </p:spPr>
        <p:txBody>
          <a:bodyPr wrap="none" rtlCol="0">
            <a:spAutoFit/>
          </a:bodyPr>
          <a:lstStyle/>
          <a:p>
            <a:pPr defTabSz="465539">
              <a:spcAft>
                <a:spcPts val="413"/>
              </a:spcAft>
            </a:pPr>
            <a:r>
              <a:rPr lang="en-US" sz="917" kern="1200" dirty="0">
                <a:solidFill>
                  <a:schemeClr val="tx1"/>
                </a:solidFill>
                <a:latin typeface="+mn-lt"/>
                <a:ea typeface="+mn-ea"/>
                <a:cs typeface="+mn-cs"/>
              </a:rPr>
              <a:t>Fixation: 500 ms</a:t>
            </a:r>
            <a:endParaRPr lang="en-US" dirty="0"/>
          </a:p>
        </p:txBody>
      </p:sp>
      <p:sp>
        <p:nvSpPr>
          <p:cNvPr id="64" name="TextBox 63">
            <a:extLst>
              <a:ext uri="{FF2B5EF4-FFF2-40B4-BE49-F238E27FC236}">
                <a16:creationId xmlns:a16="http://schemas.microsoft.com/office/drawing/2014/main" id="{DF6DAB04-195F-AA94-107D-EE2EDC7A83A3}"/>
              </a:ext>
            </a:extLst>
          </p:cNvPr>
          <p:cNvSpPr txBox="1"/>
          <p:nvPr/>
        </p:nvSpPr>
        <p:spPr>
          <a:xfrm>
            <a:off x="6600174" y="3523695"/>
            <a:ext cx="689612" cy="233462"/>
          </a:xfrm>
          <a:prstGeom prst="rect">
            <a:avLst/>
          </a:prstGeom>
          <a:noFill/>
        </p:spPr>
        <p:txBody>
          <a:bodyPr wrap="none" rtlCol="0">
            <a:spAutoFit/>
          </a:bodyPr>
          <a:lstStyle/>
          <a:p>
            <a:pPr defTabSz="465539">
              <a:spcAft>
                <a:spcPts val="413"/>
              </a:spcAft>
            </a:pPr>
            <a:r>
              <a:rPr lang="en-US" sz="917" kern="1200" dirty="0">
                <a:solidFill>
                  <a:schemeClr val="tx1"/>
                </a:solidFill>
                <a:latin typeface="+mn-lt"/>
                <a:ea typeface="+mn-ea"/>
                <a:cs typeface="+mn-cs"/>
              </a:rPr>
              <a:t>Response</a:t>
            </a:r>
            <a:endParaRPr lang="en-US" dirty="0"/>
          </a:p>
        </p:txBody>
      </p:sp>
      <p:sp>
        <p:nvSpPr>
          <p:cNvPr id="65" name="TextBox 64">
            <a:extLst>
              <a:ext uri="{FF2B5EF4-FFF2-40B4-BE49-F238E27FC236}">
                <a16:creationId xmlns:a16="http://schemas.microsoft.com/office/drawing/2014/main" id="{2F9E01C0-3E4E-EB68-E5D7-C7BD56E59A87}"/>
              </a:ext>
            </a:extLst>
          </p:cNvPr>
          <p:cNvSpPr txBox="1"/>
          <p:nvPr/>
        </p:nvSpPr>
        <p:spPr>
          <a:xfrm>
            <a:off x="9530097" y="4016239"/>
            <a:ext cx="684803" cy="233462"/>
          </a:xfrm>
          <a:prstGeom prst="rect">
            <a:avLst/>
          </a:prstGeom>
          <a:noFill/>
        </p:spPr>
        <p:txBody>
          <a:bodyPr wrap="none" rtlCol="0">
            <a:spAutoFit/>
          </a:bodyPr>
          <a:lstStyle/>
          <a:p>
            <a:pPr defTabSz="465539">
              <a:spcAft>
                <a:spcPts val="413"/>
              </a:spcAft>
            </a:pPr>
            <a:r>
              <a:rPr lang="en-US" sz="917" kern="1200" dirty="0">
                <a:solidFill>
                  <a:schemeClr val="tx1"/>
                </a:solidFill>
                <a:latin typeface="+mn-lt"/>
                <a:ea typeface="+mn-ea"/>
                <a:cs typeface="+mn-cs"/>
              </a:rPr>
              <a:t>Feedback</a:t>
            </a:r>
            <a:endParaRPr lang="en-US" dirty="0"/>
          </a:p>
        </p:txBody>
      </p:sp>
      <p:sp>
        <p:nvSpPr>
          <p:cNvPr id="66" name="TextBox 65">
            <a:extLst>
              <a:ext uri="{FF2B5EF4-FFF2-40B4-BE49-F238E27FC236}">
                <a16:creationId xmlns:a16="http://schemas.microsoft.com/office/drawing/2014/main" id="{4E66E5F2-D7FD-E4A0-B02B-80031459A74A}"/>
              </a:ext>
            </a:extLst>
          </p:cNvPr>
          <p:cNvSpPr txBox="1"/>
          <p:nvPr/>
        </p:nvSpPr>
        <p:spPr>
          <a:xfrm>
            <a:off x="9701618" y="4629270"/>
            <a:ext cx="341760" cy="233462"/>
          </a:xfrm>
          <a:prstGeom prst="rect">
            <a:avLst/>
          </a:prstGeom>
          <a:noFill/>
        </p:spPr>
        <p:txBody>
          <a:bodyPr wrap="none" rtlCol="0">
            <a:spAutoFit/>
          </a:bodyPr>
          <a:lstStyle/>
          <a:p>
            <a:pPr defTabSz="465539">
              <a:spcAft>
                <a:spcPts val="413"/>
              </a:spcAft>
            </a:pPr>
            <a:r>
              <a:rPr lang="en-US" sz="917" kern="1200" dirty="0">
                <a:solidFill>
                  <a:schemeClr val="tx1"/>
                </a:solidFill>
                <a:latin typeface="+mn-lt"/>
                <a:ea typeface="+mn-ea"/>
                <a:cs typeface="+mn-cs"/>
              </a:rPr>
              <a:t>OR</a:t>
            </a:r>
            <a:endParaRPr lang="en-US" dirty="0"/>
          </a:p>
        </p:txBody>
      </p:sp>
      <p:pic>
        <p:nvPicPr>
          <p:cNvPr id="67" name="Graphic 66" descr="Volume with solid fill">
            <a:extLst>
              <a:ext uri="{FF2B5EF4-FFF2-40B4-BE49-F238E27FC236}">
                <a16:creationId xmlns:a16="http://schemas.microsoft.com/office/drawing/2014/main" id="{79B33749-A17D-D669-AA91-25CC88A6322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61021" y="2993873"/>
            <a:ext cx="316851" cy="316851"/>
          </a:xfrm>
          <a:prstGeom prst="rect">
            <a:avLst/>
          </a:prstGeom>
        </p:spPr>
      </p:pic>
      <p:pic>
        <p:nvPicPr>
          <p:cNvPr id="69" name="Graphic 68" descr="Volume with solid fill">
            <a:extLst>
              <a:ext uri="{FF2B5EF4-FFF2-40B4-BE49-F238E27FC236}">
                <a16:creationId xmlns:a16="http://schemas.microsoft.com/office/drawing/2014/main" id="{12EE8F80-AEC5-A3A2-1537-52CDEA075D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32600" y="3729797"/>
            <a:ext cx="316851" cy="316851"/>
          </a:xfrm>
          <a:prstGeom prst="rect">
            <a:avLst/>
          </a:prstGeom>
        </p:spPr>
      </p:pic>
      <p:cxnSp>
        <p:nvCxnSpPr>
          <p:cNvPr id="72" name="Straight Arrow Connector 71">
            <a:extLst>
              <a:ext uri="{FF2B5EF4-FFF2-40B4-BE49-F238E27FC236}">
                <a16:creationId xmlns:a16="http://schemas.microsoft.com/office/drawing/2014/main" id="{FA5E1E33-03F4-73DB-0FE5-22C68BC1322E}"/>
              </a:ext>
            </a:extLst>
          </p:cNvPr>
          <p:cNvCxnSpPr>
            <a:cxnSpLocks/>
          </p:cNvCxnSpPr>
          <p:nvPr/>
        </p:nvCxnSpPr>
        <p:spPr>
          <a:xfrm>
            <a:off x="304800" y="3269030"/>
            <a:ext cx="10252364" cy="2757697"/>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93" name="Picture 92">
            <a:extLst>
              <a:ext uri="{FF2B5EF4-FFF2-40B4-BE49-F238E27FC236}">
                <a16:creationId xmlns:a16="http://schemas.microsoft.com/office/drawing/2014/main" id="{FD01F3CA-3F98-33F8-822E-6D732936CDA0}"/>
              </a:ext>
            </a:extLst>
          </p:cNvPr>
          <p:cNvPicPr>
            <a:picLocks noChangeAspect="1"/>
          </p:cNvPicPr>
          <p:nvPr/>
        </p:nvPicPr>
        <p:blipFill>
          <a:blip r:embed="rId8"/>
          <a:stretch>
            <a:fillRect/>
          </a:stretch>
        </p:blipFill>
        <p:spPr>
          <a:xfrm>
            <a:off x="7750398" y="4241379"/>
            <a:ext cx="1951220" cy="1007507"/>
          </a:xfrm>
          <a:prstGeom prst="rect">
            <a:avLst/>
          </a:prstGeom>
        </p:spPr>
      </p:pic>
      <p:pic>
        <p:nvPicPr>
          <p:cNvPr id="105" name="Picture 104">
            <a:extLst>
              <a:ext uri="{FF2B5EF4-FFF2-40B4-BE49-F238E27FC236}">
                <a16:creationId xmlns:a16="http://schemas.microsoft.com/office/drawing/2014/main" id="{5781423A-B4F1-84FA-7620-9F6ABC7C0353}"/>
              </a:ext>
            </a:extLst>
          </p:cNvPr>
          <p:cNvPicPr>
            <a:picLocks noChangeAspect="1"/>
          </p:cNvPicPr>
          <p:nvPr/>
        </p:nvPicPr>
        <p:blipFill>
          <a:blip r:embed="rId9"/>
          <a:stretch>
            <a:fillRect/>
          </a:stretch>
        </p:blipFill>
        <p:spPr>
          <a:xfrm>
            <a:off x="10043378" y="4254242"/>
            <a:ext cx="1951220" cy="1007507"/>
          </a:xfrm>
          <a:prstGeom prst="rect">
            <a:avLst/>
          </a:prstGeom>
        </p:spPr>
      </p:pic>
    </p:spTree>
    <p:extLst>
      <p:ext uri="{BB962C8B-B14F-4D97-AF65-F5344CB8AC3E}">
        <p14:creationId xmlns:p14="http://schemas.microsoft.com/office/powerpoint/2010/main" val="21098023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DCF2B-8F62-09CD-C2BF-F9966A38010E}"/>
              </a:ext>
            </a:extLst>
          </p:cNvPr>
          <p:cNvSpPr>
            <a:spLocks noGrp="1"/>
          </p:cNvSpPr>
          <p:nvPr>
            <p:ph type="title"/>
          </p:nvPr>
        </p:nvSpPr>
        <p:spPr/>
        <p:txBody>
          <a:bodyPr/>
          <a:lstStyle/>
          <a:p>
            <a:r>
              <a:rPr lang="en-US" dirty="0"/>
              <a:t>Experiment 2 Planned Analyses</a:t>
            </a:r>
          </a:p>
        </p:txBody>
      </p:sp>
      <p:pic>
        <p:nvPicPr>
          <p:cNvPr id="5" name="Content Placeholder 4" descr="A table with text on it&#10;&#10;Description automatically generated">
            <a:extLst>
              <a:ext uri="{FF2B5EF4-FFF2-40B4-BE49-F238E27FC236}">
                <a16:creationId xmlns:a16="http://schemas.microsoft.com/office/drawing/2014/main" id="{04312744-1FE5-5D6C-B235-E4E53E7849A5}"/>
              </a:ext>
            </a:extLst>
          </p:cNvPr>
          <p:cNvPicPr>
            <a:picLocks noGrp="1" noChangeAspect="1"/>
          </p:cNvPicPr>
          <p:nvPr>
            <p:ph idx="1"/>
          </p:nvPr>
        </p:nvPicPr>
        <p:blipFill>
          <a:blip r:embed="rId2"/>
          <a:stretch>
            <a:fillRect/>
          </a:stretch>
        </p:blipFill>
        <p:spPr>
          <a:xfrm>
            <a:off x="1000287" y="1866666"/>
            <a:ext cx="10353513" cy="3249902"/>
          </a:xfrm>
        </p:spPr>
      </p:pic>
      <p:sp>
        <p:nvSpPr>
          <p:cNvPr id="6" name="TextBox 5">
            <a:extLst>
              <a:ext uri="{FF2B5EF4-FFF2-40B4-BE49-F238E27FC236}">
                <a16:creationId xmlns:a16="http://schemas.microsoft.com/office/drawing/2014/main" id="{148B39B8-BC88-766F-6FC9-2D1DCF2633DD}"/>
              </a:ext>
            </a:extLst>
          </p:cNvPr>
          <p:cNvSpPr txBox="1"/>
          <p:nvPr/>
        </p:nvSpPr>
        <p:spPr>
          <a:xfrm>
            <a:off x="698090" y="5292546"/>
            <a:ext cx="10795819" cy="1200329"/>
          </a:xfrm>
          <a:prstGeom prst="rect">
            <a:avLst/>
          </a:prstGeom>
          <a:noFill/>
        </p:spPr>
        <p:txBody>
          <a:bodyPr wrap="square" rtlCol="0">
            <a:spAutoFit/>
          </a:bodyPr>
          <a:lstStyle/>
          <a:p>
            <a:r>
              <a:rPr lang="en-US" sz="2400" dirty="0"/>
              <a:t>Multivariate regression analysis: [d-prime, RT] ~ time*experimental-condition + time*L1-profile + time*L2-profile + MLD-A +  MLD-P + (1|Participant ID) + (1|Stimulus Pair) </a:t>
            </a:r>
          </a:p>
        </p:txBody>
      </p:sp>
    </p:spTree>
    <p:extLst>
      <p:ext uri="{BB962C8B-B14F-4D97-AF65-F5344CB8AC3E}">
        <p14:creationId xmlns:p14="http://schemas.microsoft.com/office/powerpoint/2010/main" val="40213441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0C623-85C9-0B98-EE18-E400700C6929}"/>
              </a:ext>
            </a:extLst>
          </p:cNvPr>
          <p:cNvSpPr>
            <a:spLocks noGrp="1"/>
          </p:cNvSpPr>
          <p:nvPr>
            <p:ph type="title"/>
          </p:nvPr>
        </p:nvSpPr>
        <p:spPr/>
        <p:txBody>
          <a:bodyPr/>
          <a:lstStyle/>
          <a:p>
            <a:r>
              <a:rPr lang="en-US" dirty="0"/>
              <a:t>Partial dictation stimuli</a:t>
            </a:r>
          </a:p>
        </p:txBody>
      </p:sp>
      <p:sp>
        <p:nvSpPr>
          <p:cNvPr id="3" name="Content Placeholder 2">
            <a:extLst>
              <a:ext uri="{FF2B5EF4-FFF2-40B4-BE49-F238E27FC236}">
                <a16:creationId xmlns:a16="http://schemas.microsoft.com/office/drawing/2014/main" id="{8BF7E290-E0AC-0928-BD15-9216733653E8}"/>
              </a:ext>
            </a:extLst>
          </p:cNvPr>
          <p:cNvSpPr>
            <a:spLocks noGrp="1"/>
          </p:cNvSpPr>
          <p:nvPr>
            <p:ph idx="1"/>
          </p:nvPr>
        </p:nvSpPr>
        <p:spPr/>
        <p:txBody>
          <a:bodyPr>
            <a:normAutofit fontScale="92500"/>
          </a:bodyPr>
          <a:lstStyle/>
          <a:p>
            <a:r>
              <a:rPr lang="en-US" dirty="0"/>
              <a:t>20 sentences, each with one blank</a:t>
            </a:r>
          </a:p>
          <a:p>
            <a:r>
              <a:rPr lang="en-US" dirty="0"/>
              <a:t>10 words from training, 10 words from testing (balanced across 10 vowels and 10 consonants, 10 short segments and 10 long segments)</a:t>
            </a:r>
          </a:p>
          <a:p>
            <a:r>
              <a:rPr lang="en-US" dirty="0"/>
              <a:t>Correct answer, competing distractor (other half of minimal pair), two non-competing distractors that are phonetically or phonologically similar</a:t>
            </a:r>
          </a:p>
          <a:p>
            <a:r>
              <a:rPr lang="en-US" dirty="0"/>
              <a:t>Most words will be unfamiliar to learners, participants will be instructed just to listen, it’s okay if they don’t know what the word means</a:t>
            </a:r>
          </a:p>
          <a:p>
            <a:r>
              <a:rPr lang="en-US" dirty="0"/>
              <a:t>Learners must know how to read hiragana</a:t>
            </a:r>
          </a:p>
          <a:p>
            <a:endParaRPr lang="en-US" dirty="0"/>
          </a:p>
          <a:p>
            <a:endParaRPr lang="en-US" dirty="0"/>
          </a:p>
        </p:txBody>
      </p:sp>
    </p:spTree>
    <p:extLst>
      <p:ext uri="{BB962C8B-B14F-4D97-AF65-F5344CB8AC3E}">
        <p14:creationId xmlns:p14="http://schemas.microsoft.com/office/powerpoint/2010/main" val="23335140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D54B28-3CF1-E555-1BC7-383C8B45899F}"/>
              </a:ext>
            </a:extLst>
          </p:cNvPr>
          <p:cNvSpPr txBox="1"/>
          <p:nvPr/>
        </p:nvSpPr>
        <p:spPr>
          <a:xfrm>
            <a:off x="2288022" y="550275"/>
            <a:ext cx="7615949" cy="1200329"/>
          </a:xfrm>
          <a:prstGeom prst="rect">
            <a:avLst/>
          </a:prstGeom>
          <a:noFill/>
        </p:spPr>
        <p:txBody>
          <a:bodyPr wrap="square" rtlCol="0">
            <a:spAutoFit/>
          </a:bodyPr>
          <a:lstStyle/>
          <a:p>
            <a:pPr algn="ctr"/>
            <a:r>
              <a:rPr lang="en-US" sz="2400" dirty="0"/>
              <a:t>Read the sentence and listen to the recording, then choose the best option that fills in the blank. </a:t>
            </a:r>
          </a:p>
          <a:p>
            <a:pPr algn="ctr"/>
            <a:r>
              <a:rPr lang="en-US" sz="2400" dirty="0"/>
              <a:t>You may listen to the recording up to two times.</a:t>
            </a:r>
          </a:p>
        </p:txBody>
      </p:sp>
      <p:sp>
        <p:nvSpPr>
          <p:cNvPr id="3" name="TextBox 2">
            <a:extLst>
              <a:ext uri="{FF2B5EF4-FFF2-40B4-BE49-F238E27FC236}">
                <a16:creationId xmlns:a16="http://schemas.microsoft.com/office/drawing/2014/main" id="{F8C23AAC-9F88-0CA5-D000-14788381B14E}"/>
              </a:ext>
            </a:extLst>
          </p:cNvPr>
          <p:cNvSpPr txBox="1"/>
          <p:nvPr/>
        </p:nvSpPr>
        <p:spPr>
          <a:xfrm>
            <a:off x="2197957" y="2276627"/>
            <a:ext cx="3898040" cy="584775"/>
          </a:xfrm>
          <a:prstGeom prst="rect">
            <a:avLst/>
          </a:prstGeom>
          <a:noFill/>
        </p:spPr>
        <p:txBody>
          <a:bodyPr wrap="square" rtlCol="0">
            <a:spAutoFit/>
          </a:bodyPr>
          <a:lstStyle/>
          <a:p>
            <a:pPr algn="ctr"/>
            <a:r>
              <a:rPr lang="en-US" sz="3200" dirty="0" err="1"/>
              <a:t>きのうかれが</a:t>
            </a:r>
            <a:r>
              <a:rPr lang="en-US" sz="3200" dirty="0"/>
              <a:t>（</a:t>
            </a:r>
            <a:r>
              <a:rPr lang="ja-JP" altLang="en-US" sz="3200"/>
              <a:t>　</a:t>
            </a:r>
            <a:r>
              <a:rPr lang="en-US" sz="3200" dirty="0"/>
              <a:t>）</a:t>
            </a:r>
          </a:p>
        </p:txBody>
      </p:sp>
      <p:sp>
        <p:nvSpPr>
          <p:cNvPr id="5" name="TextBox 4">
            <a:extLst>
              <a:ext uri="{FF2B5EF4-FFF2-40B4-BE49-F238E27FC236}">
                <a16:creationId xmlns:a16="http://schemas.microsoft.com/office/drawing/2014/main" id="{220021ED-F3C5-3561-EC2E-32BC7A983452}"/>
              </a:ext>
            </a:extLst>
          </p:cNvPr>
          <p:cNvSpPr txBox="1"/>
          <p:nvPr/>
        </p:nvSpPr>
        <p:spPr>
          <a:xfrm>
            <a:off x="4804649" y="3536783"/>
            <a:ext cx="2582697" cy="2062103"/>
          </a:xfrm>
          <a:prstGeom prst="rect">
            <a:avLst/>
          </a:prstGeom>
          <a:noFill/>
        </p:spPr>
        <p:txBody>
          <a:bodyPr wrap="square" rtlCol="0">
            <a:spAutoFit/>
          </a:bodyPr>
          <a:lstStyle/>
          <a:p>
            <a:pPr marL="22225">
              <a:buFont typeface="Courier New" panose="02070309020205020404" pitchFamily="49" charset="0"/>
              <a:buChar char="o"/>
            </a:pPr>
            <a:r>
              <a:rPr lang="ja-JP" altLang="en-US" sz="3200"/>
              <a:t>　</a:t>
            </a:r>
            <a:r>
              <a:rPr lang="en-US" sz="3200" dirty="0" err="1"/>
              <a:t>きいた</a:t>
            </a:r>
            <a:endParaRPr lang="en-US" sz="3200" dirty="0"/>
          </a:p>
          <a:p>
            <a:pPr marL="22225">
              <a:buFont typeface="Courier New" panose="02070309020205020404" pitchFamily="49" charset="0"/>
              <a:buChar char="o"/>
            </a:pPr>
            <a:r>
              <a:rPr lang="ja-JP" altLang="en-US" sz="3200"/>
              <a:t>　</a:t>
            </a:r>
            <a:r>
              <a:rPr lang="en-US" sz="3200" dirty="0" err="1"/>
              <a:t>きえた</a:t>
            </a:r>
            <a:endParaRPr lang="en-US" sz="3200" dirty="0"/>
          </a:p>
          <a:p>
            <a:pPr marL="22225">
              <a:buFont typeface="Courier New" panose="02070309020205020404" pitchFamily="49" charset="0"/>
              <a:buChar char="o"/>
            </a:pPr>
            <a:r>
              <a:rPr lang="ja-JP" altLang="en-US" sz="3200"/>
              <a:t>　</a:t>
            </a:r>
            <a:r>
              <a:rPr lang="en-US" sz="3200" dirty="0" err="1"/>
              <a:t>きた</a:t>
            </a:r>
            <a:endParaRPr lang="en-US" sz="3200" dirty="0"/>
          </a:p>
          <a:p>
            <a:pPr marL="22225">
              <a:buFont typeface="Courier New" panose="02070309020205020404" pitchFamily="49" charset="0"/>
              <a:buChar char="o"/>
            </a:pPr>
            <a:r>
              <a:rPr lang="ja-JP" altLang="en-US" sz="3200"/>
              <a:t>　</a:t>
            </a:r>
            <a:r>
              <a:rPr lang="en-US" sz="3200" dirty="0" err="1"/>
              <a:t>きった</a:t>
            </a:r>
            <a:endParaRPr lang="en-US" sz="3200" dirty="0"/>
          </a:p>
        </p:txBody>
      </p:sp>
      <p:pic>
        <p:nvPicPr>
          <p:cNvPr id="6" name="Picture 5" descr="A red rectangle with white text&#10;&#10;Description automatically generated">
            <a:extLst>
              <a:ext uri="{FF2B5EF4-FFF2-40B4-BE49-F238E27FC236}">
                <a16:creationId xmlns:a16="http://schemas.microsoft.com/office/drawing/2014/main" id="{9B72F201-8D8A-EB2A-18A3-F760F725AC02}"/>
              </a:ext>
            </a:extLst>
          </p:cNvPr>
          <p:cNvPicPr>
            <a:picLocks noChangeAspect="1"/>
          </p:cNvPicPr>
          <p:nvPr/>
        </p:nvPicPr>
        <p:blipFill>
          <a:blip r:embed="rId2"/>
          <a:stretch>
            <a:fillRect/>
          </a:stretch>
        </p:blipFill>
        <p:spPr>
          <a:xfrm>
            <a:off x="7199777" y="2088295"/>
            <a:ext cx="1399989" cy="961438"/>
          </a:xfrm>
          <a:prstGeom prst="rect">
            <a:avLst/>
          </a:prstGeom>
        </p:spPr>
      </p:pic>
      <p:sp>
        <p:nvSpPr>
          <p:cNvPr id="7" name="TextBox 6">
            <a:extLst>
              <a:ext uri="{FF2B5EF4-FFF2-40B4-BE49-F238E27FC236}">
                <a16:creationId xmlns:a16="http://schemas.microsoft.com/office/drawing/2014/main" id="{162AC45D-70D3-034D-6FBB-51F117EB8D1C}"/>
              </a:ext>
            </a:extLst>
          </p:cNvPr>
          <p:cNvSpPr txBox="1"/>
          <p:nvPr/>
        </p:nvSpPr>
        <p:spPr>
          <a:xfrm>
            <a:off x="3079545" y="6005534"/>
            <a:ext cx="6032902" cy="461665"/>
          </a:xfrm>
          <a:prstGeom prst="rect">
            <a:avLst/>
          </a:prstGeom>
          <a:noFill/>
        </p:spPr>
        <p:txBody>
          <a:bodyPr wrap="square" rtlCol="0">
            <a:spAutoFit/>
          </a:bodyPr>
          <a:lstStyle/>
          <a:p>
            <a:pPr algn="ctr"/>
            <a:r>
              <a:rPr lang="en-US" sz="2400" dirty="0"/>
              <a:t>Press the Spacebar to continue.</a:t>
            </a:r>
          </a:p>
        </p:txBody>
      </p:sp>
      <p:sp>
        <p:nvSpPr>
          <p:cNvPr id="8" name="Rectangle 7">
            <a:extLst>
              <a:ext uri="{FF2B5EF4-FFF2-40B4-BE49-F238E27FC236}">
                <a16:creationId xmlns:a16="http://schemas.microsoft.com/office/drawing/2014/main" id="{CDF23C4F-79CB-10F0-DC7E-3763D675FE5B}"/>
              </a:ext>
            </a:extLst>
          </p:cNvPr>
          <p:cNvSpPr/>
          <p:nvPr/>
        </p:nvSpPr>
        <p:spPr>
          <a:xfrm>
            <a:off x="484094" y="260131"/>
            <a:ext cx="11331388" cy="633773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1059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CFD8-DEC2-34D9-708A-1AC0C714BB4D}"/>
              </a:ext>
            </a:extLst>
          </p:cNvPr>
          <p:cNvSpPr>
            <a:spLocks noGrp="1"/>
          </p:cNvSpPr>
          <p:nvPr>
            <p:ph type="title"/>
          </p:nvPr>
        </p:nvSpPr>
        <p:spPr/>
        <p:txBody>
          <a:bodyPr/>
          <a:lstStyle/>
          <a:p>
            <a:r>
              <a:rPr lang="en-US" dirty="0"/>
              <a:t>Experiment 3 Planned Analyses</a:t>
            </a:r>
          </a:p>
        </p:txBody>
      </p:sp>
      <p:pic>
        <p:nvPicPr>
          <p:cNvPr id="5" name="Content Placeholder 4" descr="A white rectangular box with black text&#10;&#10;Description automatically generated">
            <a:extLst>
              <a:ext uri="{FF2B5EF4-FFF2-40B4-BE49-F238E27FC236}">
                <a16:creationId xmlns:a16="http://schemas.microsoft.com/office/drawing/2014/main" id="{9B03462C-CF21-EB30-F078-9FA34E4B0D1E}"/>
              </a:ext>
            </a:extLst>
          </p:cNvPr>
          <p:cNvPicPr>
            <a:picLocks noGrp="1" noChangeAspect="1"/>
          </p:cNvPicPr>
          <p:nvPr>
            <p:ph idx="1"/>
          </p:nvPr>
        </p:nvPicPr>
        <p:blipFill>
          <a:blip r:embed="rId2"/>
          <a:stretch>
            <a:fillRect/>
          </a:stretch>
        </p:blipFill>
        <p:spPr>
          <a:xfrm>
            <a:off x="2287096" y="1400697"/>
            <a:ext cx="7617805" cy="2369076"/>
          </a:xfrm>
        </p:spPr>
      </p:pic>
      <p:pic>
        <p:nvPicPr>
          <p:cNvPr id="7" name="Picture 6" descr="A white rectangular box with black text&#10;&#10;Description automatically generated">
            <a:extLst>
              <a:ext uri="{FF2B5EF4-FFF2-40B4-BE49-F238E27FC236}">
                <a16:creationId xmlns:a16="http://schemas.microsoft.com/office/drawing/2014/main" id="{A7AE2C5C-39E3-CEA9-8352-0E3134848424}"/>
              </a:ext>
            </a:extLst>
          </p:cNvPr>
          <p:cNvPicPr>
            <a:picLocks noChangeAspect="1"/>
          </p:cNvPicPr>
          <p:nvPr/>
        </p:nvPicPr>
        <p:blipFill>
          <a:blip r:embed="rId3"/>
          <a:stretch>
            <a:fillRect/>
          </a:stretch>
        </p:blipFill>
        <p:spPr>
          <a:xfrm>
            <a:off x="2631394" y="3769773"/>
            <a:ext cx="6929210" cy="3088227"/>
          </a:xfrm>
          <a:prstGeom prst="rect">
            <a:avLst/>
          </a:prstGeom>
        </p:spPr>
      </p:pic>
    </p:spTree>
    <p:extLst>
      <p:ext uri="{BB962C8B-B14F-4D97-AF65-F5344CB8AC3E}">
        <p14:creationId xmlns:p14="http://schemas.microsoft.com/office/powerpoint/2010/main" val="38495385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11C4A6-3B64-45F5-2312-3A4BF992C669}"/>
              </a:ext>
            </a:extLst>
          </p:cNvPr>
          <p:cNvSpPr>
            <a:spLocks noGrp="1"/>
          </p:cNvSpPr>
          <p:nvPr>
            <p:ph type="title"/>
          </p:nvPr>
        </p:nvSpPr>
        <p:spPr/>
        <p:txBody>
          <a:bodyPr>
            <a:normAutofit/>
          </a:bodyPr>
          <a:lstStyle/>
          <a:p>
            <a:r>
              <a:rPr lang="en-US" dirty="0"/>
              <a:t>Implications and applications</a:t>
            </a:r>
          </a:p>
        </p:txBody>
      </p:sp>
      <p:sp>
        <p:nvSpPr>
          <p:cNvPr id="5" name="Content Placeholder 4">
            <a:extLst>
              <a:ext uri="{FF2B5EF4-FFF2-40B4-BE49-F238E27FC236}">
                <a16:creationId xmlns:a16="http://schemas.microsoft.com/office/drawing/2014/main" id="{9A8EC5BE-F7E3-3E28-8F4E-52DA58971C24}"/>
              </a:ext>
            </a:extLst>
          </p:cNvPr>
          <p:cNvSpPr>
            <a:spLocks noGrp="1"/>
          </p:cNvSpPr>
          <p:nvPr>
            <p:ph idx="1"/>
          </p:nvPr>
        </p:nvSpPr>
        <p:spPr>
          <a:xfrm>
            <a:off x="838200" y="1825624"/>
            <a:ext cx="10515600" cy="5032375"/>
          </a:xfrm>
        </p:spPr>
        <p:txBody>
          <a:bodyPr>
            <a:normAutofit/>
          </a:bodyPr>
          <a:lstStyle/>
          <a:p>
            <a:pPr marL="0" indent="0">
              <a:buNone/>
            </a:pPr>
            <a:r>
              <a:rPr lang="en-US" b="1" dirty="0"/>
              <a:t>Theoretical:</a:t>
            </a:r>
            <a:r>
              <a:rPr lang="en-US" dirty="0"/>
              <a:t> Understand role of gradient encoding in mechanisms of category learning</a:t>
            </a:r>
          </a:p>
          <a:p>
            <a:pPr marL="0" indent="0">
              <a:buNone/>
            </a:pPr>
            <a:r>
              <a:rPr lang="en-US" b="1" dirty="0"/>
              <a:t>Behavioral:</a:t>
            </a:r>
            <a:r>
              <a:rPr lang="en-US" dirty="0"/>
              <a:t> Directly benefits perception and comprehension, indirect benefits production and pronunciation</a:t>
            </a:r>
          </a:p>
          <a:p>
            <a:pPr marL="0" indent="0">
              <a:buNone/>
            </a:pPr>
            <a:r>
              <a:rPr lang="en-US" b="1" dirty="0"/>
              <a:t>Motivational: </a:t>
            </a:r>
            <a:r>
              <a:rPr lang="en-US" dirty="0"/>
              <a:t>Helps overcome earliest obstacles in language learning (learning new sounds) – reduces attrition</a:t>
            </a:r>
          </a:p>
          <a:p>
            <a:pPr marL="0" indent="0">
              <a:buNone/>
            </a:pPr>
            <a:r>
              <a:rPr lang="en-US" b="1" dirty="0"/>
              <a:t>Pedagogical:</a:t>
            </a:r>
            <a:r>
              <a:rPr lang="en-US" dirty="0"/>
              <a:t> Easy addition to classroom as supplemental activity</a:t>
            </a:r>
          </a:p>
          <a:p>
            <a:pPr marL="0" indent="0">
              <a:buNone/>
            </a:pPr>
            <a:r>
              <a:rPr lang="en-US" b="1" dirty="0"/>
              <a:t>Practical: </a:t>
            </a:r>
            <a:r>
              <a:rPr lang="en-US" dirty="0"/>
              <a:t>Low effort approach to gaining language learning experience </a:t>
            </a:r>
          </a:p>
          <a:p>
            <a:pPr marL="0" indent="0">
              <a:buNone/>
            </a:pPr>
            <a:r>
              <a:rPr lang="en-US" b="1" dirty="0"/>
              <a:t>Broader: </a:t>
            </a:r>
            <a:r>
              <a:rPr lang="en-US" dirty="0"/>
              <a:t> Encourages exposure to linguistic diversity, highlights importance of globalization</a:t>
            </a:r>
            <a:endParaRPr lang="en-US" b="1" dirty="0"/>
          </a:p>
        </p:txBody>
      </p:sp>
    </p:spTree>
    <p:extLst>
      <p:ext uri="{BB962C8B-B14F-4D97-AF65-F5344CB8AC3E}">
        <p14:creationId xmlns:p14="http://schemas.microsoft.com/office/powerpoint/2010/main" val="11270922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8.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78626</TotalTime>
  <Words>4257</Words>
  <Application>Microsoft Macintosh PowerPoint</Application>
  <PresentationFormat>Widescreen</PresentationFormat>
  <Paragraphs>447</Paragraphs>
  <Slides>60</Slides>
  <Notes>34</Notes>
  <HiddenSlides>7</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Yu Gothic</vt:lpstr>
      <vt:lpstr>Aptos</vt:lpstr>
      <vt:lpstr>Aptos Display</vt:lpstr>
      <vt:lpstr>Arial</vt:lpstr>
      <vt:lpstr>Calibri</vt:lpstr>
      <vt:lpstr>Courier New</vt:lpstr>
      <vt:lpstr>Times New Roman</vt:lpstr>
      <vt:lpstr>Office Theme</vt:lpstr>
      <vt:lpstr>Gradient categorization, linguistic diversity, and second language acquisition:  Evidence from the use of multilingual training items in the perceptual learning of L2 phonemic contrasts </vt:lpstr>
      <vt:lpstr>Agenda</vt:lpstr>
      <vt:lpstr>Quick literature review and motivation</vt:lpstr>
      <vt:lpstr>Learning new speech categories is difficult for adult learners, who face interference from their already-mapped L1 speech categories </vt:lpstr>
      <vt:lpstr>Learning new speech categories is difficult for adult learners, who face interference from their already-mapped L1 speech categories </vt:lpstr>
      <vt:lpstr>Learning new speech categories is difficult for adult learners, who face interference from their already-mapped L1 speech categories </vt:lpstr>
      <vt:lpstr>Learning new speech categories is difficult for adult learners, who face interference from their already-mapped L1 speech categories </vt:lpstr>
      <vt:lpstr>Learning new speech categories is difficult for adult learners, who face interference from their already-mapped L1 speech categories </vt:lpstr>
      <vt:lpstr>Degree of categorization gradiency can be measured from visual analog scale (VAS) slope and response variability</vt:lpstr>
      <vt:lpstr>Some individuals respond more categorically, while others respond more gradiently</vt:lpstr>
      <vt:lpstr>More gradient categorization is typically associated with increased secondary cue integration in L1 speech perception</vt:lpstr>
      <vt:lpstr>Multiple cue integration, cue sensitivity, and perceptual flexibility is advantageous for learning novel L2 speech categories</vt:lpstr>
      <vt:lpstr>Children with more linguistically diverse and larger social networks are more likely to show gradient categorization</vt:lpstr>
      <vt:lpstr>There may be a bidirectional relationship between gradient categorization and mutlilingualism, connected through perceptual flexibility </vt:lpstr>
      <vt:lpstr>There is a perceptual advantage from having experience with languages that have a similar phonemic contrast as the target novel contrast or use a similar primary acoustic cue</vt:lpstr>
      <vt:lpstr>What are the roles of gradient categorization and linguistic diversity in L2 speech category learning? </vt:lpstr>
      <vt:lpstr>Research questions</vt:lpstr>
      <vt:lpstr>PowerPoint Presentation</vt:lpstr>
      <vt:lpstr>PowerPoint Presentation</vt:lpstr>
      <vt:lpstr>PowerPoint Presentation</vt:lpstr>
      <vt:lpstr>Linguistic targets</vt:lpstr>
      <vt:lpstr>To answer these research questions, I target L1 English listeners and train them to perceive L2 Japanese length contrasts</vt:lpstr>
      <vt:lpstr>Minimal pairs from both languages will be used for training with segments that are shared between languages</vt:lpstr>
      <vt:lpstr>Proposed methodology</vt:lpstr>
      <vt:lpstr>(I know this is a block of text rn)</vt:lpstr>
      <vt:lpstr>Experiment 1</vt:lpstr>
      <vt:lpstr>The goal of Experiment 1 is to explore the relationship between experiential linguistic diversity and categorization gradiency of L1 and L2 speech</vt:lpstr>
      <vt:lpstr>Experiment 1 is a one-day experiment expected to take ~1 hr</vt:lpstr>
      <vt:lpstr>Experiment 2</vt:lpstr>
      <vt:lpstr>Experiment 2</vt:lpstr>
      <vt:lpstr>The goal of Experiment 2 is to train naïve listeners to learn Japanese length contrasts using a linguistic diversity perceptual training task and measure changes in categorization and L2 perception</vt:lpstr>
      <vt:lpstr>The goal of Experiment 2 is to train naïve listeners to learn Japanese length contrasts using a linguistic diversity perceptual training task and measure changes in categorization gradiency and L2 perception</vt:lpstr>
      <vt:lpstr>Experiment 2 is a two-day experiment expected to take ~2 hr total</vt:lpstr>
      <vt:lpstr>Experiment 3</vt:lpstr>
      <vt:lpstr>Experiment 3</vt:lpstr>
      <vt:lpstr>The goal of Experiment 3 is to supplement L2 Japanese classroom instruction with linguistic diversity perceptual training and measure changes in categorization gradiency, L2 perception, and L2 listening</vt:lpstr>
      <vt:lpstr>The goal of Experiment 3 is to supplement L2 Japanese classroom instruction with linguistic diversity perceptual training and measure changes in categorization gradiency, L2 perception, and L2 listening</vt:lpstr>
      <vt:lpstr>Experiment 3 is a longitudinal experiment across 4 weeks</vt:lpstr>
      <vt:lpstr>Request for feedback</vt:lpstr>
      <vt:lpstr>Request for feedback</vt:lpstr>
      <vt:lpstr>More elaboration</vt:lpstr>
      <vt:lpstr>The goal of Experiment 1 is to explore the relationship between experiential linguistic diversity and categorization gradiency of L1 and L2 speech</vt:lpstr>
      <vt:lpstr>Experiment 1 is a one-day experiment expected to take ~1 hr</vt:lpstr>
      <vt:lpstr>PowerPoint Presentation</vt:lpstr>
      <vt:lpstr>PowerPoint Presentation</vt:lpstr>
      <vt:lpstr>Linguistic diversity questionnaire</vt:lpstr>
      <vt:lpstr>VAS stimuli vary in 7 equal steps along the primary dimension and 5 equal steps along the secondary dimension</vt:lpstr>
      <vt:lpstr>PowerPoint Presentation</vt:lpstr>
      <vt:lpstr>PowerPoint Presentation</vt:lpstr>
      <vt:lpstr>PowerPoint Presentation</vt:lpstr>
      <vt:lpstr>PowerPoint Presentation</vt:lpstr>
      <vt:lpstr>VAS stimuli vary in 7 equal steps along the primary dimension and 5 equal steps along the secondary dimension</vt:lpstr>
      <vt:lpstr>Experiment 1 Planned Analyses</vt:lpstr>
      <vt:lpstr>Discrimination stimuli characteristics</vt:lpstr>
      <vt:lpstr>PowerPoint Presentation</vt:lpstr>
      <vt:lpstr>Experiment 2 Planned Analyses</vt:lpstr>
      <vt:lpstr>Partial dictation stimuli</vt:lpstr>
      <vt:lpstr>PowerPoint Presentation</vt:lpstr>
      <vt:lpstr>Experiment 3 Planned Analyses</vt:lpstr>
      <vt:lpstr>Implications and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Chisom Obiamalu Obasih</dc:creator>
  <cp:lastModifiedBy>Chisom Obiamalu Obasih</cp:lastModifiedBy>
  <cp:revision>36</cp:revision>
  <dcterms:created xsi:type="dcterms:W3CDTF">2024-03-11T16:57:40Z</dcterms:created>
  <dcterms:modified xsi:type="dcterms:W3CDTF">2024-10-29T02:46:45Z</dcterms:modified>
</cp:coreProperties>
</file>